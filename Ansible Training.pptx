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499" r:id="rId231"/>
    <p:sldId id="500" r:id="rId232"/>
    <p:sldId id="501" r:id="rId233"/>
    <p:sldId id="502" r:id="rId234"/>
    <p:sldId id="503" r:id="rId235"/>
    <p:sldId id="504" r:id="rId236"/>
    <p:sldId id="505" r:id="rId237"/>
    <p:sldId id="506" r:id="rId238"/>
    <p:sldId id="507" r:id="rId239"/>
    <p:sldId id="508" r:id="rId240"/>
    <p:sldId id="509" r:id="rId241"/>
    <p:sldId id="510" r:id="rId242"/>
    <p:sldId id="511" r:id="rId243"/>
    <p:sldId id="512" r:id="rId244"/>
    <p:sldId id="513" r:id="rId245"/>
    <p:sldId id="514" r:id="rId246"/>
    <p:sldId id="515" r:id="rId247"/>
    <p:sldId id="516" r:id="rId248"/>
    <p:sldId id="517" r:id="rId249"/>
    <p:sldId id="518" r:id="rId250"/>
    <p:sldId id="519" r:id="rId251"/>
    <p:sldId id="520" r:id="rId252"/>
    <p:sldId id="521" r:id="rId253"/>
    <p:sldId id="522" r:id="rId254"/>
    <p:sldId id="523" r:id="rId255"/>
    <p:sldId id="524" r:id="rId256"/>
    <p:sldId id="525" r:id="rId257"/>
    <p:sldId id="526" r:id="rId258"/>
    <p:sldId id="527" r:id="rId259"/>
    <p:sldId id="528" r:id="rId260"/>
    <p:sldId id="529" r:id="rId261"/>
    <p:sldId id="530" r:id="rId262"/>
    <p:sldId id="531" r:id="rId263"/>
    <p:sldId id="532" r:id="rId264"/>
    <p:sldId id="533" r:id="rId265"/>
    <p:sldId id="534" r:id="rId266"/>
    <p:sldId id="535" r:id="rId267"/>
    <p:sldId id="536" r:id="rId268"/>
    <p:sldId id="537" r:id="rId269"/>
    <p:sldId id="538" r:id="rId270"/>
    <p:sldId id="539" r:id="rId271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Execution Environments" id="{8A58518C-FAB9-464A-9706-9CCEB4E26760}">
          <p14:sldIdLst>
            <p14:sldId id="499"/>
            <p14:sldId id="500"/>
            <p14:sldId id="501"/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Event-Driven Ansible" id="{ACD97C53-9E9B-4A01-AF65-FF6DD7B02EFF}">
          <p14:sldIdLst>
            <p14:sldId id="509"/>
            <p14:sldId id="510"/>
            <p14:sldId id="511"/>
            <p14:sldId id="512"/>
            <p14:sldId id="513"/>
            <p14:sldId id="514"/>
            <p14:sldId id="515"/>
            <p14:sldId id="516"/>
            <p14:sldId id="517"/>
            <p14:sldId id="518"/>
            <p14:sldId id="519"/>
            <p14:sldId id="520"/>
            <p14:sldId id="521"/>
            <p14:sldId id="522"/>
            <p14:sldId id="523"/>
            <p14:sldId id="524"/>
            <p14:sldId id="525"/>
            <p14:sldId id="526"/>
            <p14:sldId id="527"/>
            <p14:sldId id="528"/>
            <p14:sldId id="529"/>
            <p14:sldId id="530"/>
            <p14:sldId id="531"/>
            <p14:sldId id="532"/>
            <p14:sldId id="533"/>
            <p14:sldId id="534"/>
            <p14:sldId id="535"/>
            <p14:sldId id="536"/>
            <p14:sldId id="537"/>
            <p14:sldId id="538"/>
            <p14:sldId id="5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projects/ansible/latest/collections/cisco/ise/index.html#plugins-in-cisco-ise" TargetMode="External"/><Relationship Id="rId28" Type="http://schemas.openxmlformats.org/officeDocument/2006/relationships/hyperlink" Target="https://docs.ansible.com/projects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projects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projects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v0.2.0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07/10/2026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2420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4621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5" name="Espace réservé du contenu 1">
            <a:extLst>
              <a:ext uri="{FF2B5EF4-FFF2-40B4-BE49-F238E27FC236}">
                <a16:creationId xmlns:a16="http://schemas.microsoft.com/office/drawing/2014/main" id="{92509D87-6616-46F9-A119-BAB65F0C2AE7}"/>
              </a:ext>
            </a:extLst>
          </p:cNvPr>
          <p:cNvSpPr txBox="1">
            <a:spLocks/>
          </p:cNvSpPr>
          <p:nvPr/>
        </p:nvSpPr>
        <p:spPr>
          <a:xfrm>
            <a:off x="6822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4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https://docs.ansible.com/projects/ansible/latest/playbook_guide/playbooks_templating.html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https://docs.ansible.com/projects/ansible/latest/dev_guide/developing_modules_general.html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25295D-C669-4227-831C-46C26B8A8E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845BA7-8ADC-4952-B95F-BAFD2F587932}"/>
              </a:ext>
            </a:extLst>
          </p:cNvPr>
          <p:cNvSpPr txBox="1"/>
          <p:nvPr/>
        </p:nvSpPr>
        <p:spPr>
          <a:xfrm>
            <a:off x="342900" y="1000000"/>
            <a:ext cx="8458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Run Ansible in a container image: the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ansible-builder builds it, ansible-navigator runs it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330E440C-D925-4197-9758-438F44E3A8DD}"/>
              </a:ext>
            </a:extLst>
          </p:cNvPr>
          <p:cNvSpPr txBox="1"/>
          <p:nvPr/>
        </p:nvSpPr>
        <p:spPr>
          <a:xfrm>
            <a:off x="342900" y="27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https://docs.ansible.com/projects/ansible/latest/getting_started_ee/index.html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33098B7-E16A-47C4-AE41-CD571A98C38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Execution Environments?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84731-C127-4C63-9264-791CC24AC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problem: "it works on my machine"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Python, ansible-core and collection versions differ from one control node to another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Dependencies pile up on the control node and conflict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solution: an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A container image that acts as the Ansible control node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Contains ansible-core, ansible-runner, Python, collections and their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same runtime everywhere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 a laptop, in CI, and in AWX / automation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One versioned artifact: build once, run anywhere a container engine runs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7E23FA2-7B84-44A8-B1E1-85FE0BCE4F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an EE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843FCD61-ADA1-41F0-9094-1BF315AAF2C2}"/>
              </a:ext>
            </a:extLst>
          </p:cNvPr>
          <p:cNvSpPr/>
          <p:nvPr/>
        </p:nvSpPr>
        <p:spPr>
          <a:xfrm>
            <a:off x="400000" y="1100000"/>
            <a:ext cx="4300000" cy="58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System dependencies (bindep)</a:t>
            </a:r>
          </a:p>
        </p:txBody>
      </p:sp>
      <p:sp>
        <p:nvSpPr>
          <p:cNvPr id="11" name="Layer 10">
            <a:extLst>
              <a:ext uri="{FF2B5EF4-FFF2-40B4-BE49-F238E27FC236}">
                <a16:creationId xmlns:a16="http://schemas.microsoft.com/office/drawing/2014/main" id="{D4D03041-565F-4D9D-B31D-80358EB4F8FD}"/>
              </a:ext>
            </a:extLst>
          </p:cNvPr>
          <p:cNvSpPr/>
          <p:nvPr/>
        </p:nvSpPr>
        <p:spPr>
          <a:xfrm>
            <a:off x="400000" y="1740000"/>
            <a:ext cx="4300000" cy="58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Python dependencies</a:t>
            </a:r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18D1967F-FF99-4DDC-9F79-F1FF0CD1B3B4}"/>
              </a:ext>
            </a:extLst>
          </p:cNvPr>
          <p:cNvSpPr/>
          <p:nvPr/>
        </p:nvSpPr>
        <p:spPr>
          <a:xfrm>
            <a:off x="400000" y="2380000"/>
            <a:ext cx="4300000" cy="58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Collections</a:t>
            </a:r>
          </a:p>
        </p:txBody>
      </p:sp>
      <p:sp>
        <p:nvSpPr>
          <p:cNvPr id="13" name="Layer 12">
            <a:extLst>
              <a:ext uri="{FF2B5EF4-FFF2-40B4-BE49-F238E27FC236}">
                <a16:creationId xmlns:a16="http://schemas.microsoft.com/office/drawing/2014/main" id="{C15F3EE7-A688-4C68-9D35-A28D4197CA8C}"/>
              </a:ext>
            </a:extLst>
          </p:cNvPr>
          <p:cNvSpPr/>
          <p:nvPr/>
        </p:nvSpPr>
        <p:spPr>
          <a:xfrm>
            <a:off x="400000" y="3020000"/>
            <a:ext cx="4300000" cy="58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ansible-runner</a:t>
            </a:r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6156D4E7-3F10-47DF-A72F-4F51D2CF31E5}"/>
              </a:ext>
            </a:extLst>
          </p:cNvPr>
          <p:cNvSpPr/>
          <p:nvPr/>
        </p:nvSpPr>
        <p:spPr>
          <a:xfrm>
            <a:off x="400000" y="3660000"/>
            <a:ext cx="4300000" cy="580000"/>
          </a:xfrm>
          <a:prstGeom prst="rect">
            <a:avLst/>
          </a:prstGeom>
          <a:solidFill>
            <a:srgbClr val="8EBAE1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ansible-core</a:t>
            </a:r>
          </a:p>
        </p:txBody>
      </p:sp>
      <p:sp>
        <p:nvSpPr>
          <p:cNvPr id="15" name="Layer 14">
            <a:extLst>
              <a:ext uri="{FF2B5EF4-FFF2-40B4-BE49-F238E27FC236}">
                <a16:creationId xmlns:a16="http://schemas.microsoft.com/office/drawing/2014/main" id="{EF65B978-376C-44F7-8FEE-9C742D583F3D}"/>
              </a:ext>
            </a:extLst>
          </p:cNvPr>
          <p:cNvSpPr/>
          <p:nvPr/>
        </p:nvSpPr>
        <p:spPr>
          <a:xfrm>
            <a:off x="400000" y="4300000"/>
            <a:ext cx="4300000" cy="580000"/>
          </a:xfrm>
          <a:prstGeom prst="rect">
            <a:avLst/>
          </a:prstGeom>
          <a:solidFill>
            <a:srgbClr val="77ACD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Base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BC2599-2A76-42A3-9A1C-DA08209D14A2}"/>
              </a:ext>
            </a:extLst>
          </p:cNvPr>
          <p:cNvSpPr txBox="1"/>
          <p:nvPr/>
        </p:nvSpPr>
        <p:spPr>
          <a:xfrm>
            <a:off x="4950000" y="1000000"/>
            <a:ext cx="395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Built layer by layer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Bottom: a base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Top: what your content needs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Community images exist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GitHub Container Registry: ansible-community/community-ee-minimal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CEC1298-93F0-49D2-914F-CE3302F1353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execution-environment.yml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93272E9-87EC-411D-A230-65E92229C9D5}"/>
              </a:ext>
            </a:extLst>
          </p:cNvPr>
          <p:cNvSpPr txBox="1"/>
          <p:nvPr/>
        </p:nvSpPr>
        <p:spPr>
          <a:xfrm>
            <a:off x="342900" y="900000"/>
            <a:ext cx="50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galaxy: requirements.yml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python: requirements.txt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system: bindep.txt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36D217-98E1-4F43-95F8-D3BD29D4F2BF}"/>
              </a:ext>
            </a:extLst>
          </p:cNvPr>
          <p:cNvSpPr txBox="1"/>
          <p:nvPr/>
        </p:nvSpPr>
        <p:spPr>
          <a:xfrm>
            <a:off x="5450000" y="900000"/>
            <a:ext cx="345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version: 3 needs Ansible Builder 3.x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Pin a recent Python and ansible-core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ansible-core 2.20 needs Python 3.12 or later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python_interpreter installs it in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Referenced files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requirements.yml, requirements.txt and bindep.txt are expected next to this file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 available: additional_build_steps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DBBC416-23A1-4C67-A968-55AC6D52BBE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build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60E162-0348-4CC1-BEDC-7591B0E2D27E}"/>
              </a:ext>
            </a:extLst>
          </p:cNvPr>
          <p:cNvSpPr txBox="1"/>
          <p:nvPr/>
        </p:nvSpPr>
        <p:spPr>
          <a:xfrm>
            <a:off x="342900" y="1000000"/>
            <a:ext cx="8458200" cy="18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ansible-builder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--tag=my_ee:1.0 --file=execution-environment.yml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# Build context only, no image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create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331F0F-D75C-4E24-B32E-7D4349BBF57F}"/>
              </a:ext>
            </a:extLst>
          </p:cNvPr>
          <p:cNvSpPr txBox="1"/>
          <p:nvPr/>
        </p:nvSpPr>
        <p:spPr>
          <a:xfrm>
            <a:off x="342900" y="3000000"/>
            <a:ext cx="8458200" cy="2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build: reads the definition, creates the build context and builds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create: writes the build instructions and context without building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Podman is the default container runtime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Use --container-runtime=docker for Docker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Without --file, execution-environment.yml is used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EAF58E1-11FA-46C4-96D3-A817611988B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C862C-2EAB-43DD-A7EF-A96991372646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 text-based user interface (TUI) to run and explore Ansible content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Subcommands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run: run a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replay: explore a previous run from its artifact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images: explore EE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exec: run a command inside an 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also: collections, doc, inventory, config, settings, lint, builder, welcome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Two modes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interactive (default): browse results, then drill down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stdout: classic output, like ansible-playbook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Settings in ansible-navigator.yml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6FFEFF2-6EF7-4927-87AE-064F163A747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ansible-navigator: run a 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697B4D3-2561-4F02-A01E-8009120FD25A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ansible-navigator run site.yml -i inventory.yml \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    --eei my_ee:1.0 --mode stdout --pull-policy never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5A5376E-813D-4FD8-AAF4-C1676A5422A0}"/>
              </a:ext>
            </a:extLst>
          </p:cNvPr>
          <p:cNvSpPr txBox="1"/>
          <p:nvPr/>
        </p:nvSpPr>
        <p:spPr>
          <a:xfrm>
            <a:off x="342900" y="2200000"/>
            <a:ext cx="43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# ansible-navigator.yml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ansible-navigator: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execution-environment: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image: my_ee:1.0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pull: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policy: never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mode: stdout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playbook-artifact: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enable: 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94017F-BA2A-45F0-B816-173CF4F90A62}"/>
              </a:ext>
            </a:extLst>
          </p:cNvPr>
          <p:cNvSpPr txBox="1"/>
          <p:nvPr/>
        </p:nvSpPr>
        <p:spPr>
          <a:xfrm>
            <a:off x="4850000" y="2200000"/>
            <a:ext cx="4050000" cy="3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--eei: EE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--pull-policy never: use the local image, do not download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The EE was built locally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playbook artifact is saved for each run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ansible-navigator replay &lt;artifact&gt;.json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0C962DE-80A0-4755-8DAE-1DE13A4DF4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ansible-dev-tools &amp; ansible-creator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A36271-5490-4700-A2D3-6DB797EDD68E}"/>
              </a:ext>
            </a:extLst>
          </p:cNvPr>
          <p:cNvSpPr txBox="1"/>
          <p:nvPr/>
        </p:nvSpPr>
        <p:spPr>
          <a:xfrm>
            <a:off x="342900" y="800000"/>
            <a:ext cx="43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ansible-dev-tools: one package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ansible-builder, ansible-core, ansible-creator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ansible-dev-environment, ansible-lint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ansible-navigator, ansible-sign, molecule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pytest-ansible, tox-ansible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63CE49-EE55-4D23-B40E-1B642D440D59}"/>
              </a:ext>
            </a:extLst>
          </p:cNvPr>
          <p:cNvSpPr txBox="1"/>
          <p:nvPr/>
        </p:nvSpPr>
        <p:spPr>
          <a:xfrm>
            <a:off x="4800000" y="800000"/>
            <a:ext cx="41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ansible-creator: scaffold content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Arguments may vary between versions: check ansible-creator init --help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GitHub Container Registry: ansible/community-ansible-dev-tools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9E7C900-D1DE-4CB0-819B-009F30BB5ED1}"/>
              </a:ext>
            </a:extLst>
          </p:cNvPr>
          <p:cNvSpPr txBox="1"/>
          <p:nvPr/>
        </p:nvSpPr>
        <p:spPr>
          <a:xfrm>
            <a:off x="342900" y="41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ansible-dev-tools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adt --version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collection my_namespace.my_collection ./collections/ansible_collections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playbook my_namespace.my_project ./my_project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7E0D9DE-AA25-421E-9B03-2EDD6349D5E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build and use an EE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DE5DC-DC65-4B05-8E17-D0D37452DDF5}"/>
              </a:ext>
            </a:extLst>
          </p:cNvPr>
          <p:cNvSpPr txBox="1"/>
          <p:nvPr/>
        </p:nvSpPr>
        <p:spPr>
          <a:xfrm>
            <a:off x="342900" y="900000"/>
            <a:ext cx="8458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Build an EE and run a playbook in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Write an execution-environment.yml (version 3) with a recent Python, ansible-core 2.20 and the collection community.general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Build the image my_ee:1.0 with ansible-builder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List it with ansible-navigator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Show the ansible-core version inside the EE: ansible-navigator exec --eei my_ee:1.0 -- ansible --version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 a playbook that calls ansible.builtin.ping on localhost inside the EE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Prerequisite: Podman or Docker installed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26EB51B-F447-46CC-BD52-835F3EC663D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6B9AA57-872E-4386-A15A-C57A5A884306}"/>
              </a:ext>
            </a:extLst>
          </p:cNvPr>
          <p:cNvSpPr txBox="1"/>
          <p:nvPr/>
        </p:nvSpPr>
        <p:spPr>
          <a:xfrm>
            <a:off x="342900" y="900000"/>
            <a:ext cx="4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execution-environment.yml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community.general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BB299AB-7F05-4706-A251-7A48653F1782}"/>
              </a:ext>
            </a:extLst>
          </p:cNvPr>
          <p:cNvSpPr txBox="1"/>
          <p:nvPr/>
        </p:nvSpPr>
        <p:spPr>
          <a:xfrm>
            <a:off x="4800000" y="900000"/>
            <a:ext cx="41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ping.yml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Ping localhost from the EE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Check the connection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ansible.builtin.ping: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ansible-builder build --tag=my_ee:1.0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images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run ping.yml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--eei my_ee:1.0 --pull-policy never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--mode stdout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exec --eei my_ee:1.0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 ansible --version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63ED42-3D93-4346-8D78-45D102BB7D1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74ECAB-20E1-465C-B3D4-C8574BCE3938}"/>
              </a:ext>
            </a:extLst>
          </p:cNvPr>
          <p:cNvSpPr txBox="1"/>
          <p:nvPr/>
        </p:nvSpPr>
        <p:spPr>
          <a:xfrm>
            <a:off x="342900" y="10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Run automation when an event happens, not only when someone starts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Sources produce events, rules decide, actions run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C3FA07E-F654-456E-BD54-99AC0D8FF590}"/>
              </a:ext>
            </a:extLst>
          </p:cNvPr>
          <p:cNvSpPr txBox="1"/>
          <p:nvPr/>
        </p:nvSpPr>
        <p:spPr>
          <a:xfrm>
            <a:off x="342900" y="28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https://docs.ansible.com/projects/rulebook/en/stable/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41E90A-2164-4424-834B-2A5C5119F45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event-driven?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0C1624-2759-45B1-A789-E788ECB16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Scheduled or manual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playbook runs when a person or a schedule starts it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Event-driven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rulebook waits for events and runs automation as soon as one matches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Typical use cases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Remediation: restart a failed service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Ticket enrichment: add context to a new ticket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Reaction to monitoring alerts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playbooks you already have are reused as actions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53F06E-FE97-480B-902F-168383B9D40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Architecture: source, rule, action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5D015444-5EF5-4800-B6CE-4B534EA80C22}"/>
              </a:ext>
            </a:extLst>
          </p:cNvPr>
          <p:cNvSpPr/>
          <p:nvPr/>
        </p:nvSpPr>
        <p:spPr>
          <a:xfrm>
            <a:off x="342900" y="1300000"/>
            <a:ext cx="2400000" cy="100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Event source</a:t>
            </a:r>
          </a:p>
        </p:txBody>
      </p:sp>
      <p:sp>
        <p:nvSpPr>
          <p:cNvPr id="11" name="Arrow 10">
            <a:extLst>
              <a:ext uri="{FF2B5EF4-FFF2-40B4-BE49-F238E27FC236}">
                <a16:creationId xmlns:a16="http://schemas.microsoft.com/office/drawing/2014/main" id="{7CA6E82C-0496-43B1-8B55-0FF401DA6522}"/>
              </a:ext>
            </a:extLst>
          </p:cNvPr>
          <p:cNvSpPr/>
          <p:nvPr/>
        </p:nvSpPr>
        <p:spPr>
          <a:xfrm>
            <a:off x="274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EA35995C-93C6-49E6-B261-0EA1823DC719}"/>
              </a:ext>
            </a:extLst>
          </p:cNvPr>
          <p:cNvSpPr/>
          <p:nvPr/>
        </p:nvSpPr>
        <p:spPr>
          <a:xfrm>
            <a:off x="3192900" y="1300000"/>
            <a:ext cx="2400000" cy="100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Rulebook: rules</a:t>
            </a:r>
          </a:p>
        </p:txBody>
      </p:sp>
      <p:sp>
        <p:nvSpPr>
          <p:cNvPr id="13" name="Arrow 12">
            <a:extLst>
              <a:ext uri="{FF2B5EF4-FFF2-40B4-BE49-F238E27FC236}">
                <a16:creationId xmlns:a16="http://schemas.microsoft.com/office/drawing/2014/main" id="{D87B5A79-EDC9-4F65-85C4-1729D0482627}"/>
              </a:ext>
            </a:extLst>
          </p:cNvPr>
          <p:cNvSpPr/>
          <p:nvPr/>
        </p:nvSpPr>
        <p:spPr>
          <a:xfrm>
            <a:off x="559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08400512-9542-4EA5-8F57-6EB948956AF4}"/>
              </a:ext>
            </a:extLst>
          </p:cNvPr>
          <p:cNvSpPr/>
          <p:nvPr/>
        </p:nvSpPr>
        <p:spPr>
          <a:xfrm>
            <a:off x="6042900" y="1300000"/>
            <a:ext cx="2400000" cy="100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Action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C3DB9-D9EB-43F5-9CF2-5565F1763A9A}"/>
              </a:ext>
            </a:extLst>
          </p:cNvPr>
          <p:cNvSpPr txBox="1"/>
          <p:nvPr/>
        </p:nvSpPr>
        <p:spPr>
          <a:xfrm>
            <a:off x="3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webhook, Kafka, Alertmanager, file watch...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D75A65-4BB7-4FAA-A2CF-2F047E6C4CEB}"/>
              </a:ext>
            </a:extLst>
          </p:cNvPr>
          <p:cNvSpPr txBox="1"/>
          <p:nvPr/>
        </p:nvSpPr>
        <p:spPr>
          <a:xfrm>
            <a:off x="319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condition: does the event match?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1AE0A6-3BF5-4F4C-AEBC-6D76642DCDDB}"/>
              </a:ext>
            </a:extLst>
          </p:cNvPr>
          <p:cNvSpPr txBox="1"/>
          <p:nvPr/>
        </p:nvSpPr>
        <p:spPr>
          <a:xfrm>
            <a:off x="60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run_playbook, run_job_template, debug...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61594-F9BF-4C55-BD95-202A53D8E099}"/>
              </a:ext>
            </a:extLst>
          </p:cNvPr>
          <p:cNvSpPr txBox="1"/>
          <p:nvPr/>
        </p:nvSpPr>
        <p:spPr>
          <a:xfrm>
            <a:off x="342900" y="43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ansible-rulebook is the process that connects the three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If the condition matches the event, then the action runs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7859A91-5AF7-46B8-B8CA-413063E747E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Components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77EAC6-C7E9-4225-B38B-14EEAE98C581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ansible-rulebook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command-line tool that runs rulebooks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Event sources and filters: webhook, range, generic, kafka...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Decision environment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container image, like an execution environment, that holds ansible-rulebook, collections and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EDA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Event Driven Ansible Controller: a server that manages and runs rulebooks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73E822-4727-416C-9299-D6A74774C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Installation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452C659-B590-4723-83A8-4962CF5A4F96}"/>
              </a:ext>
            </a:extLst>
          </p:cNvPr>
          <p:cNvSpPr txBox="1"/>
          <p:nvPr/>
        </p:nvSpPr>
        <p:spPr>
          <a:xfrm>
            <a:off x="342900" y="900000"/>
            <a:ext cx="8458200" cy="26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Optional: a virtual environment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python3 -m venv .venv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. .venv/bin/activate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Fedora-like system (Ubuntu: openjdk-17-jdk)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dnf --assumeyes install java-17-openjdk python3-pip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export JAVA_HOME=/usr/lib/jvm/jre-17-openjdk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ansible-rulebook ansible ansible-runner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ansible-galaxy collection install ansible.eda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--version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B0F697-8A78-4719-BDF6-8CAE1974EF1E}"/>
              </a:ext>
            </a:extLst>
          </p:cNvPr>
          <p:cNvSpPr txBox="1"/>
          <p:nvPr/>
        </p:nvSpPr>
        <p:spPr>
          <a:xfrm>
            <a:off x="342900" y="3650000"/>
            <a:ext cx="84582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Python 3.9 or later and Java 17 or later (JDK) are required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Set JAVA_HOME when several Java versions are installed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The collection brings the event sources and filters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Its Python dependencies are listed in its requirements.txt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alternative: podman pull quay.io/ansible/ansible-rulebook:latest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90ACADF-959D-4B75-B498-AD5CBB7E62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 ruleset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BF04185-68BF-468F-9A56-1017E5FAAB2D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 name: My ruleset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React to a down service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4CD86-85B4-4893-8DEA-5B6862A8E3D3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rulebook is a list of rulesets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name: unique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hosts: used by run_playbook and run_module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sources: where events come from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rules: condition + action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Optional: gather_facts, default_events_ttl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84B606-4140-42AB-9098-5F7084DF9B6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Your first rulebook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BDD17A41-6180-41A9-B0C5-80E561CDA43A}"/>
              </a:ext>
            </a:extLst>
          </p:cNvPr>
          <p:cNvSpPr txBox="1"/>
          <p:nvPr/>
        </p:nvSpPr>
        <p:spPr>
          <a:xfrm>
            <a:off x="342900" y="900000"/>
            <a:ext cx="50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First rulebook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every event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event.meta is defined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"Received: {{ event.payload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493BA7C-B514-4BF7-B447-5325E23C97FC}"/>
              </a:ext>
            </a:extLst>
          </p:cNvPr>
          <p:cNvSpPr txBox="1"/>
          <p:nvPr/>
        </p:nvSpPr>
        <p:spPr>
          <a:xfrm>
            <a:off x="342900" y="3950000"/>
            <a:ext cx="5000000" cy="1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inventory.yml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all: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localhost: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ansible_connection: local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47AE5070-EDCD-4DFD-AC8A-B04124A60678}"/>
              </a:ext>
            </a:extLst>
          </p:cNvPr>
          <p:cNvSpPr txBox="1"/>
          <p:nvPr/>
        </p:nvSpPr>
        <p:spPr>
          <a:xfrm>
            <a:off x="5450000" y="900000"/>
            <a:ext cx="3450000" cy="2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--rulebook first.yml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-i inventory.yml</a:t>
            </a:r>
          </a:p>
          <a:p>
            <a:pPr algn="l"/>
            <a:endParaRPr lang="en-US" sz="1000"/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# In another terminal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"down"}'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2C81D6-A8A1-477C-B814-1F46DFD1BBE8}"/>
              </a:ext>
            </a:extLst>
          </p:cNvPr>
          <p:cNvSpPr txBox="1"/>
          <p:nvPr/>
        </p:nvSpPr>
        <p:spPr>
          <a:xfrm>
            <a:off x="5450000" y="3950000"/>
            <a:ext cx="345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The rule fires and debug prints the message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--rulebook needs -i (an inventory)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91DD6F-3ED2-4CAB-8709-A2B906EA612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 sources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9CA9DD-9E8E-4DE8-9BDF-D54548104731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Sources of the 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webhook: receive JSON over HTTP POST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kafka: receive events from a Kafka topic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alertmanager: alerts from Alertmanager or a compatible system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url_check: poll URLs and send their status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file_watch: watch file system changes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journald: tail systemd journald logs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range and generic: generate test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In a rulebook: ansible.eda.&lt;source&gt; with its options under sources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ansible-rulebook also has builtin sources: eda.builtin.range, generic, webhook, pg_listener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C6080EC-820F-4F46-9E4C-778940F902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Source: webhook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E9DB6B4-B496-4813-AF54-CD45D220AE67}"/>
              </a:ext>
            </a:extLst>
          </p:cNvPr>
          <p:cNvSpPr txBox="1"/>
          <p:nvPr/>
        </p:nvSpPr>
        <p:spPr>
          <a:xfrm>
            <a:off x="342900" y="900000"/>
            <a:ext cx="4900000" cy="33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Authenticated webhook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with a 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token: my-secret-token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157588-6767-4B05-BECD-9739F5DBA9D6}"/>
              </a:ext>
            </a:extLst>
          </p:cNvPr>
          <p:cNvSpPr txBox="1"/>
          <p:nvPr/>
        </p:nvSpPr>
        <p:spPr>
          <a:xfrm>
            <a:off x="5350000" y="900000"/>
            <a:ext cx="355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host: default 0.0.0.0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127.0.0.1 keeps it local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port: required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token: clients send a Bearer token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hmac_secret, hmac_algo, hmac_header: signed payloads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certfile, keyfile: TLS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C4AD947-B9D9-40FF-90B3-18676EBCE213}"/>
              </a:ext>
            </a:extLst>
          </p:cNvPr>
          <p:cNvSpPr txBox="1"/>
          <p:nvPr/>
        </p:nvSpPr>
        <p:spPr>
          <a:xfrm>
            <a:off x="342900" y="4450000"/>
            <a:ext cx="8458200" cy="15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-H "Authorization: Bearer my-secret-token"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"down", "service": "web"}'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my-secret-token is a demo value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A2B624-C5FB-45FC-8C36-9A8BBBF221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Testing sources and event filters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FA770E8-A396-4B7A-978C-103E61232274}"/>
              </a:ext>
            </a:extLst>
          </p:cNvPr>
          <p:cNvSpPr txBox="1"/>
          <p:nvPr/>
        </p:nvSpPr>
        <p:spPr>
          <a:xfrm>
            <a:off x="342900" y="900000"/>
            <a:ext cx="5200000" cy="4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Test with generic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Fake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ansible.eda.generic: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payload: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up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filters: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- ansible.eda.json_filter: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exclude_keys: [service]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what is left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3FE282-0032-491B-920A-C86235546EFA}"/>
              </a:ext>
            </a:extLst>
          </p:cNvPr>
          <p:cNvSpPr txBox="1"/>
          <p:nvPr/>
        </p:nvSpPr>
        <p:spPr>
          <a:xfrm>
            <a:off x="5700000" y="900000"/>
            <a:ext cx="32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generic: events written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range: events with an index i (option limit)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When a source ends, the rulebook ends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Filters change events before rules see them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json_filter: remove or keep keys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insert_hosts_to_meta: set the hosts of an 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Builtin copies exist as eda.builtin.*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48CEE2-6146-4855-8E25-5CE5541A13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Structure of an event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E07193A-DF85-4264-BB94-5C4A108C560D}"/>
              </a:ext>
            </a:extLst>
          </p:cNvPr>
          <p:cNvSpPr txBox="1"/>
          <p:nvPr/>
        </p:nvSpPr>
        <p:spPr>
          <a:xfrm>
            <a:off x="342900" y="900000"/>
            <a:ext cx="4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"payload":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"status": "down",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"service": "web"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"meta":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"endpoint": "alert",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"headers": { ...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53C2A6-36DE-4E12-AAE5-542FAFA077C1}"/>
              </a:ext>
            </a:extLst>
          </p:cNvPr>
          <p:cNvSpPr txBox="1"/>
          <p:nvPr/>
        </p:nvSpPr>
        <p:spPr>
          <a:xfrm>
            <a:off x="4850000" y="900000"/>
            <a:ext cx="405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webhook event structure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event.payload: the JSON body sent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event.meta: endpoint and request headers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Each source defines its own event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range: event.i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See real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debug action without msg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ansible-rulebook --print-events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7499D4-EE74-4C15-8DC5-97E9EEC1F89F}"/>
              </a:ext>
            </a:extLst>
          </p:cNvPr>
          <p:cNvSpPr txBox="1"/>
          <p:nvPr/>
        </p:nvSpPr>
        <p:spPr>
          <a:xfrm>
            <a:off x="342900" y="46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In a rule: event.payload.status, event.meta.endpoint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523A0E-5673-4612-90A1-38C6378033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the basics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8DF1962-1F77-4F03-83A9-AEC3E8A572DA}"/>
              </a:ext>
            </a:extLst>
          </p:cNvPr>
          <p:cNvSpPr txBox="1"/>
          <p:nvPr/>
        </p:nvSpPr>
        <p:spPr>
          <a:xfrm>
            <a:off x="342900" y="900000"/>
            <a:ext cx="5300000" cy="3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Conditions basics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9DA58C-613E-4C1F-901C-5448DC3B32B9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condition decides if the rule fires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event = the event being tested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Dot or bracket notation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event.payload["status"]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Types: integers, strings, booleans, floats, null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1874D0-C6D8-48EF-B614-CBBF6B11186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operators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0532C6B0-4856-4DAA-AE3E-F152A028C132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Operators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Disk almost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 &gt; 90 and event.payload.env == "prod"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Known service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event.payload.service in ["web", "db"]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Urgent tag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event.payload.tags contains "urgent"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Has a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defined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913621-7F3F-4F8F-80E9-D4A86FAF7FAA}"/>
              </a:ext>
            </a:extLst>
          </p:cNvPr>
          <p:cNvSpPr txBox="1"/>
          <p:nvPr/>
        </p:nvSpPr>
        <p:spPr>
          <a:xfrm>
            <a:off x="5800000" y="900000"/>
            <a:ext cx="31000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Compare: == != &lt; &gt; &lt;= &gt;=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Combine: and, or, not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in: value is in a list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contains: list has a value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defined, is not defined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07F233FB-8BFB-47FA-9895-F36071B4257A}"/>
              </a:ext>
            </a:extLst>
          </p:cNvPr>
          <p:cNvSpPr txBox="1"/>
          <p:nvPr/>
        </p:nvSpPr>
        <p:spPr>
          <a:xfrm>
            <a:off x="5800000" y="3800000"/>
            <a:ext cx="31000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disk almost full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'{"disk": 95, "env": "prod"}'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known service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'{"service": "web"}'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urgent tag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'{"tags": ["urgent"]}'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has a message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'{"message": "hello"}'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8B1413-0661-4DD9-AD80-F5A8A7E4CD4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strings and selectattr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F3D5AFAF-889D-45D6-BD01-F66104F36662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Strings and lists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Web 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event.payload.host is match("web",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Timeout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search("timeout",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Version 2.x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event.payload.version is regex("^2\.[0-9]+")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 full disk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event.payload.disks is selectattr('used', '&gt;=', 90)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53E73E-1471-4EBC-A625-036079077E35}"/>
              </a:ext>
            </a:extLst>
          </p:cNvPr>
          <p:cNvSpPr txBox="1"/>
          <p:nvPr/>
        </p:nvSpPr>
        <p:spPr>
          <a:xfrm>
            <a:off x="5800000" y="900000"/>
            <a:ext cx="31000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match: pattern at the start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search: pattern anywhere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regex: regular expression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selectattr(key, operator, value)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tests the objects of a list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EB367853-3888-427E-9E5A-F36FC3C3F426}"/>
              </a:ext>
            </a:extLst>
          </p:cNvPr>
          <p:cNvSpPr txBox="1"/>
          <p:nvPr/>
        </p:nvSpPr>
        <p:spPr>
          <a:xfrm>
            <a:off x="5800000" y="3800000"/>
            <a:ext cx="31000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web host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'{"host": "web01"}'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timeout message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'{"message": "Connection timeout"}'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version 2.x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'{"version": "2.4"}'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a full disk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'{"disks": [{"used": 95}]}'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7C2B859-CED6-4F85-876F-01A53785A18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all, any, not_all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D04E034-51D6-4091-9A8E-7987968329B4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Several events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Down and disk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event.payload.disk &gt; 90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timeout: 10 seconds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events.m_0.payload.service }} is 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Any alert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any: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event.payload.severity == "critical"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940F99-74E8-4C55-97DF-4B74D7687851}"/>
              </a:ext>
            </a:extLst>
          </p:cNvPr>
          <p:cNvSpPr txBox="1"/>
          <p:nvPr/>
        </p:nvSpPr>
        <p:spPr>
          <a:xfrm>
            <a:off x="5800000" y="900000"/>
            <a:ext cx="31000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all: every condition, from different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any: one of the conditions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not_all: only some conditions matched in the timeout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events.m_0, events.m_1: matched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In the condition of an all, write event.payload...; in the action, use events.m_0...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all is not and, any is not or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D6783769-E575-40D9-9B94-9E9C354EE42E}"/>
              </a:ext>
            </a:extLst>
          </p:cNvPr>
          <p:cNvSpPr txBox="1"/>
          <p:nvPr/>
        </p:nvSpPr>
        <p:spPr>
          <a:xfrm>
            <a:off x="5800000" y="3800000"/>
            <a:ext cx="31000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all: two events within 10 seconds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'{"status": "down", "service": "web"}'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'{"disk": 95}'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any: one event is enough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'{"severity": "critical"}'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ADF99B-0F45-4FDA-A3BF-85815E54114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Facts and variables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739E387E-82E4-467E-A306-CB1EE5832203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# facts.yml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Facts and variables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Start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set_fact: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  maintenance: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Alert during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fact.maintenance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event.payload.env == vars.target_env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"Reported by {{ MY_NAME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FEBDA0CA-AD52-48F2-A90E-4D0942C9FC9A}"/>
              </a:ext>
            </a:extLst>
          </p:cNvPr>
          <p:cNvSpPr txBox="1"/>
          <p:nvPr/>
        </p:nvSpPr>
        <p:spPr>
          <a:xfrm>
            <a:off x="5800000" y="900000"/>
            <a:ext cx="3100000" cy="8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# vars.yml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target_env: prod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C8126046-F90D-4D48-8BFB-8CCD1D6E000F}"/>
              </a:ext>
            </a:extLst>
          </p:cNvPr>
          <p:cNvSpPr txBox="1"/>
          <p:nvPr/>
        </p:nvSpPr>
        <p:spPr>
          <a:xfrm>
            <a:off x="5800000" y="1800000"/>
            <a:ext cx="3100000" cy="10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MY_NAME="Bob"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ansible-rulebook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-r facts.yml -i inventory.yml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--vars vars.yml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--env-vars MY_NAME</a:t>
            </a:r>
          </a:p>
        </p:txBody>
      </p:sp>
      <p:sp>
        <p:nvSpPr>
          <p:cNvPr id="13" name="Code 12">
            <a:extLst>
              <a:ext uri="{FF2B5EF4-FFF2-40B4-BE49-F238E27FC236}">
                <a16:creationId xmlns:a16="http://schemas.microsoft.com/office/drawing/2014/main" id="{C428C1D1-D76D-484F-9BD5-16CD1BB5ACBE}"/>
              </a:ext>
            </a:extLst>
          </p:cNvPr>
          <p:cNvSpPr txBox="1"/>
          <p:nvPr/>
        </p:nvSpPr>
        <p:spPr>
          <a:xfrm>
            <a:off x="5800000" y="2900000"/>
            <a:ext cx="3100000" cy="10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'{"maintenance": true}'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'{"env": "prod"}'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4E137-DA57-4FBE-B532-CFF4377035EE}"/>
              </a:ext>
            </a:extLst>
          </p:cNvPr>
          <p:cNvSpPr txBox="1"/>
          <p:nvPr/>
        </p:nvSpPr>
        <p:spPr>
          <a:xfrm>
            <a:off x="5800000" y="4000000"/>
            <a:ext cx="3100000" cy="2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fact. = saved by set_fact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vars. in conditions, {{ }} elsewhere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--env-vars values are strings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CBCF830-CC00-4F48-B2DD-DF5EEB6033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Throttle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E8543564-90F1-4BA2-8582-B68F7FEF6471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 name: Throttle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Notify once per 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throttle: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once_within: 5 minutes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group_by_attributes: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8355B6-3D91-4CEB-A0DC-1104DDEF8CA2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 event storm would run the action many times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once_within: act on the first, ignore the next ones for the delay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once_after: wait, then act once on the group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group_by_attributes is mandatory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Single condition only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C5B0A3E-5B7C-4966-8BCF-94E965CD26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Actions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D71104-CABB-4299-9BD8-570F3E79B0E2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Run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run_playbook, run_module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run_job_template, run_workflow_template (on a controller)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Show information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debug, print_event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Feed the rules engine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set_fact, retract_fact, post_event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Stop or do nothing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shutdown, none (no action, useful for tests)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One action: action:. Several actions: actions: (run in order)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483AA89-BE93-4483-9CBA-D7996681547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9162546-2F52-479A-A301-CC05051A76BC}"/>
              </a:ext>
            </a:extLst>
          </p:cNvPr>
          <p:cNvSpPr txBox="1"/>
          <p:nvPr/>
        </p:nvSpPr>
        <p:spPr>
          <a:xfrm>
            <a:off x="342900" y="900000"/>
            <a:ext cx="5300000" cy="33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playbook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the service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run_playbook: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restart_service.yml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extra_vars: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service_name: "{{ event.payload.service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6E43C17-A65A-4133-9585-1381FA33687F}"/>
              </a:ext>
            </a:extLst>
          </p:cNvPr>
          <p:cNvSpPr txBox="1"/>
          <p:nvPr/>
        </p:nvSpPr>
        <p:spPr>
          <a:xfrm>
            <a:off x="342900" y="4300000"/>
            <a:ext cx="5300000" cy="2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# restart_service.yml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Handle the event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the event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msg: "{{ ansible_eda.event }}"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3250D5-5505-4ABC-86D5-836F4FF75D27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name: playbook path, relative to where ansible-rulebook runs, or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extra_vars: variables for the 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ansible_eda.event: the matching event, added automatically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ansible_eda.events for several matches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Also: retries, delay, verbosity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D38ECAF-E112-47CF-A9FD-62AB303A10F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run_module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2497790B-ED64-44FC-AAD6-27BEAE5A451D}"/>
              </a:ext>
            </a:extLst>
          </p:cNvPr>
          <p:cNvSpPr txBox="1"/>
          <p:nvPr/>
        </p:nvSpPr>
        <p:spPr>
          <a:xfrm>
            <a:off x="342900" y="900000"/>
            <a:ext cx="5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module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Leave a marker file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run_module: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ansible.builtin.copy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module_args: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content: "{{ event.payload.service }} is 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dest: /tmp/eda-last-down.txt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mode: "0644"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C77042-4935-4CBE-926E-21052162DB90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run_module runs one module, no playbook needed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name: the module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module_args: its arguments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Same options as run_playbook: retries, delay, extra_vars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Runs on the hosts of the ruleset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C7E8104-8B86-4AF9-A56E-766E74DD93C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Multiple actions and post_event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D3C3F162-9834-458A-9440-6F58259B6D6B}"/>
              </a:ext>
            </a:extLst>
          </p:cNvPr>
          <p:cNvSpPr txBox="1"/>
          <p:nvPr/>
        </p:nvSpPr>
        <p:spPr>
          <a:xfrm>
            <a:off x="342900" y="900000"/>
            <a:ext cx="5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Several actions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Open an incident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- 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msg: "{{ event.payload.service }} is 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- post_event: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event: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  incident: "{{ event.payload.service }}"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Handle the incident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event.incident is defined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"Incident for {{ event.incident }}"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CF6C6E-D698-487E-AEAA-6E14689CF50C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actions: runs several actions in order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each one waits for the previous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post_event sends a new event to the ruleset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another rule can react to it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Chain small rules instead of one big rule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6336BF-5C1E-40B8-9AA1-84844C033CE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run_job_template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6DC9D5B-DB3F-46C0-B9D4-EA6DA2243D8D}"/>
              </a:ext>
            </a:extLst>
          </p:cNvPr>
          <p:cNvSpPr txBox="1"/>
          <p:nvPr/>
        </p:nvSpPr>
        <p:spPr>
          <a:xfrm>
            <a:off x="342900" y="900000"/>
            <a:ext cx="5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job template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through the controller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run_job_template: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Restart service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organization: Default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job_args: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extra_vars: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  service_name: "{{ event.payload.service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AF1EC9A-E622-41A8-B456-911EC8FE4BA4}"/>
              </a:ext>
            </a:extLst>
          </p:cNvPr>
          <p:cNvSpPr txBox="1"/>
          <p:nvPr/>
        </p:nvSpPr>
        <p:spPr>
          <a:xfrm>
            <a:off x="342900" y="4550000"/>
            <a:ext cx="5300000" cy="15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\</a:t>
            </a:r>
          </a:p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    --controller-url https://controller.example.com \</a:t>
            </a:r>
          </a:p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    --controller-token &lt;token&gt;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D0651E-D2F4-496B-AEAA-A302624158F1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Runs a job template of a controller (for example AWX)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Needs --controller-url and a token, or a user and a password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To read ansible_eda in the job: enable Prompt on launch for Variables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run_workflow_template works the same way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434A5D-22F9-4B5E-866A-D0DC30AC3AE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ansible-rulebook: command line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29FE323F-3841-4C37-B087-9F22E68F38E8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--rulebook rulebook.yml --inventory inventory.yml --verbose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--vars vars.yml --env-vars MY_NAME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2CFA0B-BA6A-4497-BF69-A4BB1340091E}"/>
              </a:ext>
            </a:extLst>
          </p:cNvPr>
          <p:cNvSpPr txBox="1"/>
          <p:nvPr/>
        </p:nvSpPr>
        <p:spPr>
          <a:xfrm>
            <a:off x="342900" y="2200000"/>
            <a:ext cx="8458200" cy="4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-r, --rulebook: a file, or a rulebook of a collection by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-i, --inventory: required with --rulebook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-e, --vars: variables file; -E, --env-vars: names of environment variables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-v, -vv: more messages (maximum 2)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--print-events: print the received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-S, --source-dir: your own source plugins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--version: show the version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E205572-0E83-47FE-9AF3-360ADD53A6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Debugging a rulebook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5E621F-6CAC-4AE7-BB40-B3A39379EFED}"/>
              </a:ext>
            </a:extLst>
          </p:cNvPr>
          <p:cNvSpPr txBox="1"/>
          <p:nvPr/>
        </p:nvSpPr>
        <p:spPr>
          <a:xfrm>
            <a:off x="342900" y="900000"/>
            <a:ext cx="8458200" cy="7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-vv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574BFD6C-3ED8-48E1-9C77-0AD3EB4B54A6}"/>
              </a:ext>
            </a:extLst>
          </p:cNvPr>
          <p:cNvSpPr txBox="1"/>
          <p:nvPr/>
        </p:nvSpPr>
        <p:spPr>
          <a:xfrm>
            <a:off x="342900" y="1800000"/>
            <a:ext cx="4300000" cy="1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print_event: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pretty: true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or, with no argument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debug: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62903D-B29B-46C9-9B56-275E43554C84}"/>
              </a:ext>
            </a:extLst>
          </p:cNvPr>
          <p:cNvSpPr txBox="1"/>
          <p:nvPr/>
        </p:nvSpPr>
        <p:spPr>
          <a:xfrm>
            <a:off x="4850000" y="1800000"/>
            <a:ext cx="405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-v / -vv: engine and event details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Event debugging may need -vv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--print-events is redundant with -vv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print_event and debug show the matching 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Check the event structure first, then the condition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A26337-2075-400C-8A69-CDB3D9BCB006}"/>
              </a:ext>
            </a:extLst>
          </p:cNvPr>
          <p:cNvSpPr txBox="1"/>
          <p:nvPr/>
        </p:nvSpPr>
        <p:spPr>
          <a:xfrm>
            <a:off x="342900" y="3800000"/>
            <a:ext cx="43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No rule fires?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Compare the event with your condition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Check event or events prefix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Check the types: 90 is not "90"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5D27445-53A3-4857-97AF-C17140DBAD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Decision environments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2353BD26-83D3-4C6F-89AD-D74571C425C0}"/>
              </a:ext>
            </a:extLst>
          </p:cNvPr>
          <p:cNvSpPr txBox="1"/>
          <p:nvPr/>
        </p:nvSpPr>
        <p:spPr>
          <a:xfrm>
            <a:off x="342900" y="900000"/>
            <a:ext cx="5300000" cy="34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my_de.yml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minimal-decision-environment:latest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ansible.utils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C4D46624-32E0-411B-8AEB-D0974C0ED431}"/>
              </a:ext>
            </a:extLst>
          </p:cNvPr>
          <p:cNvSpPr txBox="1"/>
          <p:nvPr/>
        </p:nvSpPr>
        <p:spPr>
          <a:xfrm>
            <a:off x="342900" y="4450000"/>
            <a:ext cx="8458200" cy="17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--file my_de.yml --tag my_de:1.0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docker run -it --rm -v ./inventory:/tmp/inventory my_de:1.0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ansible-rulebook -r ansible.eda.hello_events -i /tmp/inventory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609473-CC0B-40A2-9FD4-A303F6072A2C}"/>
              </a:ext>
            </a:extLst>
          </p:cNvPr>
          <p:cNvSpPr txBox="1"/>
          <p:nvPr/>
        </p:nvSpPr>
        <p:spPr>
          <a:xfrm>
            <a:off x="5800000" y="900000"/>
            <a:ext cx="310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Decision environment: an execution environment for rulebooks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Built with ansible-builder, like in module m13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Start from the minimal decision environment of the ansible-rulebook project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058A6F-E0D1-489E-9805-D5DF73BB63E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EDA controller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3CA16D-0AE6-42CB-AF39-0FA5BF7A7E84}"/>
              </a:ext>
            </a:extLst>
          </p:cNvPr>
          <p:cNvSpPr txBox="1"/>
          <p:nvPr/>
        </p:nvSpPr>
        <p:spPr>
          <a:xfrm>
            <a:off x="342900" y="900000"/>
            <a:ext cx="43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EDA controller: three objects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Project: a git repository with your rulebooks (URL, branch, credential)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Decision environment: the image URL used to run them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Rulebook activation: project + rulebook + decision environment, enabled or not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token lets rulebooks launch job templates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5EEB7A83-3354-401F-A8D0-726F8543C0AA}"/>
              </a:ext>
            </a:extLst>
          </p:cNvPr>
          <p:cNvSpPr txBox="1"/>
          <p:nvPr/>
        </p:nvSpPr>
        <p:spPr>
          <a:xfrm>
            <a:off x="4800000" y="900000"/>
            <a:ext cx="4100000" cy="33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Create an activation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ansible.eda.rulebook_activation: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name: Example Activation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project: Example Project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rulebook_name: basic_short.yml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decision_environment_name: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Example Decision Environment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enabled: 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9DB254-E840-4337-BAB9-426127D4B29A}"/>
              </a:ext>
            </a:extLst>
          </p:cNvPr>
          <p:cNvSpPr txBox="1"/>
          <p:nvPr/>
        </p:nvSpPr>
        <p:spPr>
          <a:xfrm>
            <a:off x="4800000" y="4400000"/>
            <a:ext cx="4100000" cy="1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The same objects exist as modules of the ansible.eda collection (connection options not shown)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18B226F-F3A9-44ED-A4F5-EBEEE44335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7CF363-FF98-44D0-9508-96D4494ED4F5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Playbooks run by rules must be idempotent: an event can arrive twice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Use throttle to absorb event storms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Secure the webhook: token, HMAC or TLS; listen on 127.0.0.1 unless needed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Keep secrets out of rulebooks: encrypt them with ansible-vault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Keep the logic in the playbooks: rules only decide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Name every rule: names must be unique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Test with generic or range sources before a real source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Store rulebooks in git, or in a collection: extensions/eda/rulebooks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8A113F-335F-477C-97A5-222ECD837D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webhook remediation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F86863-FFC8-4D86-8FF7-E25EF0CDE718}"/>
              </a:ext>
            </a:extLst>
          </p:cNvPr>
          <p:cNvSpPr txBox="1"/>
          <p:nvPr/>
        </p:nvSpPr>
        <p:spPr>
          <a:xfrm>
            <a:off x="342900" y="800000"/>
            <a:ext cx="8458200" cy="11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An event arrives on a local webhook; a rule reacts and runs a playbook that simulates the restart of a service. Nothing real is restarted: the playbook only prints a message and writes a marker file in /tmp.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821C32-4904-4A9E-ACD6-CBFB9844DAA4}"/>
              </a:ext>
            </a:extLst>
          </p:cNvPr>
          <p:cNvSpPr txBox="1"/>
          <p:nvPr/>
        </p:nvSpPr>
        <p:spPr>
          <a:xfrm>
            <a:off x="342900" y="2050000"/>
            <a:ext cx="410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Prerequisites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Java 17 or later (required by ansible-rulebook): java 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ansible-rulebook, ansible and ansible-runner: pip install ansible-rulebook ansible ansible-runner (the installation page of the Ansible Rulebook documentation lists exactly these three packages)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The ansible.eda collection: ansible-galaxy collection install ansible.eda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curl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TCP port 5000 free on 127.0.0.1 (the webhook listens on this address only)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41D37F-995E-4A8B-B665-81627F3EF084}"/>
              </a:ext>
            </a:extLst>
          </p:cNvPr>
          <p:cNvSpPr txBox="1"/>
          <p:nvPr/>
        </p:nvSpPr>
        <p:spPr>
          <a:xfrm>
            <a:off x="4600000" y="2050000"/>
            <a:ext cx="430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Statement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1. Write a rulebook with a ansible.eda.webhook source listening on 127.0.0.1, port 5000.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2. Add a rule that fires when event.payload.status equals "down" and runs the playbook remediate.yml.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3. Write remediate.yml: it prints a message naming the service received in the event (ansible_eda.event.payload.service, inserted in the playbook by the rulebook engine), then leaves a marker file /tmp/eda-lab-my_service.txt (simulated restart).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4. Start the rulebook, then send events with curl from a second terminal.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The inventory inventory.yml only contains localhost.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688C0A4-1BDB-4B67-8E4E-E123F356C00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test with curl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025DC62D-8A7B-4650-AFD6-F5DE8014A08D}"/>
              </a:ext>
            </a:extLst>
          </p:cNvPr>
          <p:cNvSpPr txBox="1"/>
          <p:nvPr/>
        </p:nvSpPr>
        <p:spPr>
          <a:xfrm>
            <a:off x="342900" y="8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Solution files are in solution/ (try the statement first)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cd solution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ansible-rulebook -r rulebook.yml -i ../inventory.yml --verbose</a:t>
            </a:r>
          </a:p>
          <a:p>
            <a:pPr algn="l"/>
            <a:endParaRPr lang="en-US" sz="850"/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In a second terminal: an event that must trigger the rule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curl -H 'Content-Type: application/json' -d '{"service": "my_service", "status": "down"}' http://127.0.0.1:5000/endpoint</a:t>
            </a:r>
          </a:p>
          <a:p>
            <a:pPr algn="l"/>
            <a:endParaRPr lang="en-US" sz="850"/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Then an event that must not trigger anything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curl -H 'Content-Type: application/json' -d '{"service": "my_service", "status": "up"}' http://127.0.0.1:5000/endpoint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79F8AC-85E9-401B-BA78-9103E031114B}"/>
              </a:ext>
            </a:extLst>
          </p:cNvPr>
          <p:cNvSpPr txBox="1"/>
          <p:nvPr/>
        </p:nvSpPr>
        <p:spPr>
          <a:xfrm>
            <a:off x="342900" y="2900000"/>
            <a:ext cx="8458200" cy="3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Expected result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First event: curl answers with HTTP 200, the rule Restart the simulated service fires, remediate.yml runs, the message Simulated restart of my_service is displayed and the file /tmp/eda-lab-my_service.txt exists.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Second event: HTTP 200 but no rule fires and no playbook runs.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Clean up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Stop the rulebook with Ctrl+C (the port is released), then: rm -f /tmp/eda-lab-my_service.txt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D7E63C8-EB00-4493-99A3-E14C0C340CE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C9384AE6-5365-46E7-BE0C-E53706F16332}"/>
              </a:ext>
            </a:extLst>
          </p:cNvPr>
          <p:cNvSpPr txBox="1"/>
          <p:nvPr/>
        </p:nvSpPr>
        <p:spPr>
          <a:xfrm>
            <a:off x="342900" y="800000"/>
            <a:ext cx="8458200" cy="2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# rulebook.yml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 name: Service watchdog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hosts: all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ansible.eda.webhook: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the simulated 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run_playbook: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remediate.yml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E9C2E742-494C-46D9-A1C3-D4A03696C18A}"/>
              </a:ext>
            </a:extLst>
          </p:cNvPr>
          <p:cNvSpPr txBox="1"/>
          <p:nvPr/>
        </p:nvSpPr>
        <p:spPr>
          <a:xfrm>
            <a:off x="342900" y="3550000"/>
            <a:ext cx="8458200" cy="28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# remediate.yml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Restart the simulated service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Announce the simulated restart of the service in the event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msg: "Simulated restart of {{ ansible_eda.event.payload.service | default('unknown service') }}"</a:t>
            </a:r>
          </a:p>
          <a:p>
            <a:pPr algn="l"/>
            <a:endParaRPr lang="en-US" sz="900"/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Leave a marker file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ansible.builtin.copy: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content: "{{ ansible_eda.event.payload.service | default('unknown service') }} restarted\n"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dest: /tmp/eda-lab-my_service.txt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mode: "0644"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EA3C903-3E47-4F96-A9E4-BB244634A63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Documentation links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0A2FB0-8FB1-4BDC-A798-0F185E0EC646}"/>
              </a:ext>
            </a:extLst>
          </p:cNvPr>
          <p:cNvSpPr txBox="1"/>
          <p:nvPr/>
        </p:nvSpPr>
        <p:spPr>
          <a:xfrm>
            <a:off x="342900" y="9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Official documentation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Rulebooks, conditions, actions, decision environments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5776966-837A-44F2-8796-C4B68CAA82FC}"/>
              </a:ext>
            </a:extLst>
          </p:cNvPr>
          <p:cNvSpPr txBox="1"/>
          <p:nvPr/>
        </p:nvSpPr>
        <p:spPr>
          <a:xfrm>
            <a:off x="342900" y="2300000"/>
            <a:ext cx="8458200" cy="2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https://docs.ansible.com/projects/rulebook/en/stable/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https://github.com/ansible/ansible-rulebook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https://github.com/ansible/event-driven-ansible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https://galaxy.ansible.com/ui/repo/published/ansible/eda/content/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https://github.com/ansible/eda-server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288766-1656-4ABB-A2F0-9B2EF18449C7}"/>
              </a:ext>
            </a:extLst>
          </p:cNvPr>
          <p:cNvSpPr txBox="1"/>
          <p:nvPr/>
        </p:nvSpPr>
        <p:spPr>
          <a:xfrm>
            <a:off x="342900" y="5100000"/>
            <a:ext cx="8458200" cy="1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ansible-rulebook, the ansible.eda collection and the EDA controller each have their own repository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264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264</vt:i4>
      </vt:variant>
    </vt:vector>
  </HeadingPairs>
  <TitlesOfParts>
    <vt:vector size="291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