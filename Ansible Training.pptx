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mf" ContentType="image/x-e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5"/>
  </p:notesMasterIdLst>
  <p:handoutMasterIdLst>
    <p:handoutMasterId r:id="rId226"/>
  </p:handoutMasterIdLst>
  <p:sldIdLst>
    <p:sldId id="256" r:id="rId2"/>
    <p:sldId id="262" r:id="rId3"/>
    <p:sldId id="261" r:id="rId4"/>
    <p:sldId id="260" r:id="rId5"/>
    <p:sldId id="264" r:id="rId6"/>
    <p:sldId id="263" r:id="rId7"/>
    <p:sldId id="420" r:id="rId8"/>
    <p:sldId id="271" r:id="rId9"/>
    <p:sldId id="270" r:id="rId10"/>
    <p:sldId id="341" r:id="rId11"/>
    <p:sldId id="272" r:id="rId12"/>
    <p:sldId id="273" r:id="rId13"/>
    <p:sldId id="275" r:id="rId14"/>
    <p:sldId id="445" r:id="rId15"/>
    <p:sldId id="276" r:id="rId16"/>
    <p:sldId id="277" r:id="rId17"/>
    <p:sldId id="278" r:id="rId18"/>
    <p:sldId id="481" r:id="rId19"/>
    <p:sldId id="482" r:id="rId20"/>
    <p:sldId id="483" r:id="rId21"/>
    <p:sldId id="484" r:id="rId22"/>
    <p:sldId id="485" r:id="rId23"/>
    <p:sldId id="486" r:id="rId24"/>
    <p:sldId id="487" r:id="rId25"/>
    <p:sldId id="480" r:id="rId26"/>
    <p:sldId id="279" r:id="rId27"/>
    <p:sldId id="280" r:id="rId28"/>
    <p:sldId id="281" r:id="rId29"/>
    <p:sldId id="411" r:id="rId30"/>
    <p:sldId id="282" r:id="rId31"/>
    <p:sldId id="446" r:id="rId32"/>
    <p:sldId id="283" r:id="rId33"/>
    <p:sldId id="291" r:id="rId34"/>
    <p:sldId id="285" r:id="rId35"/>
    <p:sldId id="286" r:id="rId36"/>
    <p:sldId id="287" r:id="rId37"/>
    <p:sldId id="288" r:id="rId38"/>
    <p:sldId id="289" r:id="rId39"/>
    <p:sldId id="290" r:id="rId40"/>
    <p:sldId id="292" r:id="rId41"/>
    <p:sldId id="299" r:id="rId42"/>
    <p:sldId id="295" r:id="rId43"/>
    <p:sldId id="294" r:id="rId44"/>
    <p:sldId id="298" r:id="rId45"/>
    <p:sldId id="467" r:id="rId46"/>
    <p:sldId id="293" r:id="rId47"/>
    <p:sldId id="468" r:id="rId48"/>
    <p:sldId id="469" r:id="rId49"/>
    <p:sldId id="470" r:id="rId50"/>
    <p:sldId id="471" r:id="rId51"/>
    <p:sldId id="472" r:id="rId52"/>
    <p:sldId id="473" r:id="rId53"/>
    <p:sldId id="479" r:id="rId54"/>
    <p:sldId id="495" r:id="rId55"/>
    <p:sldId id="409" r:id="rId56"/>
    <p:sldId id="305" r:id="rId57"/>
    <p:sldId id="447" r:id="rId58"/>
    <p:sldId id="306" r:id="rId59"/>
    <p:sldId id="497" r:id="rId60"/>
    <p:sldId id="307" r:id="rId61"/>
    <p:sldId id="412" r:id="rId62"/>
    <p:sldId id="312" r:id="rId63"/>
    <p:sldId id="496" r:id="rId64"/>
    <p:sldId id="413" r:id="rId65"/>
    <p:sldId id="414" r:id="rId66"/>
    <p:sldId id="309" r:id="rId67"/>
    <p:sldId id="498" r:id="rId68"/>
    <p:sldId id="316" r:id="rId69"/>
    <p:sldId id="450" r:id="rId70"/>
    <p:sldId id="415" r:id="rId71"/>
    <p:sldId id="317" r:id="rId72"/>
    <p:sldId id="318" r:id="rId73"/>
    <p:sldId id="319" r:id="rId74"/>
    <p:sldId id="320" r:id="rId75"/>
    <p:sldId id="416" r:id="rId76"/>
    <p:sldId id="435" r:id="rId77"/>
    <p:sldId id="300" r:id="rId78"/>
    <p:sldId id="448" r:id="rId79"/>
    <p:sldId id="301" r:id="rId80"/>
    <p:sldId id="410" r:id="rId81"/>
    <p:sldId id="433" r:id="rId82"/>
    <p:sldId id="310" r:id="rId83"/>
    <p:sldId id="449" r:id="rId84"/>
    <p:sldId id="311" r:id="rId85"/>
    <p:sldId id="313" r:id="rId86"/>
    <p:sldId id="314" r:id="rId87"/>
    <p:sldId id="475" r:id="rId88"/>
    <p:sldId id="315" r:id="rId89"/>
    <p:sldId id="434" r:id="rId90"/>
    <p:sldId id="476" r:id="rId91"/>
    <p:sldId id="321" r:id="rId92"/>
    <p:sldId id="451" r:id="rId93"/>
    <p:sldId id="322" r:id="rId94"/>
    <p:sldId id="323" r:id="rId95"/>
    <p:sldId id="324" r:id="rId96"/>
    <p:sldId id="325" r:id="rId97"/>
    <p:sldId id="326" r:id="rId98"/>
    <p:sldId id="436" r:id="rId99"/>
    <p:sldId id="327" r:id="rId100"/>
    <p:sldId id="453" r:id="rId101"/>
    <p:sldId id="328" r:id="rId102"/>
    <p:sldId id="329" r:id="rId103"/>
    <p:sldId id="330" r:id="rId104"/>
    <p:sldId id="331" r:id="rId105"/>
    <p:sldId id="407" r:id="rId106"/>
    <p:sldId id="332" r:id="rId107"/>
    <p:sldId id="333" r:id="rId108"/>
    <p:sldId id="334" r:id="rId109"/>
    <p:sldId id="428" r:id="rId110"/>
    <p:sldId id="493" r:id="rId111"/>
    <p:sldId id="408" r:id="rId112"/>
    <p:sldId id="429" r:id="rId113"/>
    <p:sldId id="421" r:id="rId114"/>
    <p:sldId id="452" r:id="rId115"/>
    <p:sldId id="422" r:id="rId116"/>
    <p:sldId id="423" r:id="rId117"/>
    <p:sldId id="424" r:id="rId118"/>
    <p:sldId id="426" r:id="rId119"/>
    <p:sldId id="427" r:id="rId120"/>
    <p:sldId id="335" r:id="rId121"/>
    <p:sldId id="454" r:id="rId122"/>
    <p:sldId id="336" r:id="rId123"/>
    <p:sldId id="337" r:id="rId124"/>
    <p:sldId id="338" r:id="rId125"/>
    <p:sldId id="339" r:id="rId126"/>
    <p:sldId id="494" r:id="rId127"/>
    <p:sldId id="340" r:id="rId128"/>
    <p:sldId id="430" r:id="rId129"/>
    <p:sldId id="342" r:id="rId130"/>
    <p:sldId id="455" r:id="rId131"/>
    <p:sldId id="343" r:id="rId132"/>
    <p:sldId id="346" r:id="rId133"/>
    <p:sldId id="344" r:id="rId134"/>
    <p:sldId id="431" r:id="rId135"/>
    <p:sldId id="345" r:id="rId136"/>
    <p:sldId id="456" r:id="rId137"/>
    <p:sldId id="348" r:id="rId138"/>
    <p:sldId id="349" r:id="rId139"/>
    <p:sldId id="350" r:id="rId140"/>
    <p:sldId id="351" r:id="rId141"/>
    <p:sldId id="432" r:id="rId142"/>
    <p:sldId id="457" r:id="rId143"/>
    <p:sldId id="464" r:id="rId144"/>
    <p:sldId id="458" r:id="rId145"/>
    <p:sldId id="352" r:id="rId146"/>
    <p:sldId id="353" r:id="rId147"/>
    <p:sldId id="417" r:id="rId148"/>
    <p:sldId id="465" r:id="rId149"/>
    <p:sldId id="466" r:id="rId150"/>
    <p:sldId id="418" r:id="rId151"/>
    <p:sldId id="354" r:id="rId152"/>
    <p:sldId id="437" r:id="rId153"/>
    <p:sldId id="355" r:id="rId154"/>
    <p:sldId id="356" r:id="rId155"/>
    <p:sldId id="357" r:id="rId156"/>
    <p:sldId id="359" r:id="rId157"/>
    <p:sldId id="362" r:id="rId158"/>
    <p:sldId id="438" r:id="rId159"/>
    <p:sldId id="488" r:id="rId160"/>
    <p:sldId id="489" r:id="rId161"/>
    <p:sldId id="490" r:id="rId162"/>
    <p:sldId id="363" r:id="rId163"/>
    <p:sldId id="459" r:id="rId164"/>
    <p:sldId id="364" r:id="rId165"/>
    <p:sldId id="365" r:id="rId166"/>
    <p:sldId id="366" r:id="rId167"/>
    <p:sldId id="460" r:id="rId168"/>
    <p:sldId id="367" r:id="rId169"/>
    <p:sldId id="368" r:id="rId170"/>
    <p:sldId id="461" r:id="rId171"/>
    <p:sldId id="377" r:id="rId172"/>
    <p:sldId id="378" r:id="rId173"/>
    <p:sldId id="462" r:id="rId174"/>
    <p:sldId id="369" r:id="rId175"/>
    <p:sldId id="375" r:id="rId176"/>
    <p:sldId id="370" r:id="rId177"/>
    <p:sldId id="371" r:id="rId178"/>
    <p:sldId id="372" r:id="rId179"/>
    <p:sldId id="376" r:id="rId180"/>
    <p:sldId id="373" r:id="rId181"/>
    <p:sldId id="374" r:id="rId182"/>
    <p:sldId id="439" r:id="rId183"/>
    <p:sldId id="380" r:id="rId184"/>
    <p:sldId id="381" r:id="rId185"/>
    <p:sldId id="478" r:id="rId186"/>
    <p:sldId id="477" r:id="rId187"/>
    <p:sldId id="382" r:id="rId188"/>
    <p:sldId id="383" r:id="rId189"/>
    <p:sldId id="384" r:id="rId190"/>
    <p:sldId id="385" r:id="rId191"/>
    <p:sldId id="386" r:id="rId192"/>
    <p:sldId id="387" r:id="rId193"/>
    <p:sldId id="388" r:id="rId194"/>
    <p:sldId id="491" r:id="rId195"/>
    <p:sldId id="389" r:id="rId196"/>
    <p:sldId id="390" r:id="rId197"/>
    <p:sldId id="391" r:id="rId198"/>
    <p:sldId id="392" r:id="rId199"/>
    <p:sldId id="393" r:id="rId200"/>
    <p:sldId id="394" r:id="rId201"/>
    <p:sldId id="395" r:id="rId202"/>
    <p:sldId id="396" r:id="rId203"/>
    <p:sldId id="397" r:id="rId204"/>
    <p:sldId id="398" r:id="rId205"/>
    <p:sldId id="399" r:id="rId206"/>
    <p:sldId id="400" r:id="rId207"/>
    <p:sldId id="401" r:id="rId208"/>
    <p:sldId id="274" r:id="rId209"/>
    <p:sldId id="402" r:id="rId210"/>
    <p:sldId id="257" r:id="rId211"/>
    <p:sldId id="258" r:id="rId212"/>
    <p:sldId id="259" r:id="rId213"/>
    <p:sldId id="403" r:id="rId214"/>
    <p:sldId id="404" r:id="rId215"/>
    <p:sldId id="405" r:id="rId216"/>
    <p:sldId id="406" r:id="rId217"/>
    <p:sldId id="419" r:id="rId218"/>
    <p:sldId id="492" r:id="rId219"/>
    <p:sldId id="440" r:id="rId220"/>
    <p:sldId id="463" r:id="rId221"/>
    <p:sldId id="441" r:id="rId222"/>
    <p:sldId id="442" r:id="rId223"/>
    <p:sldId id="443" r:id="rId22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4ADCA18-1BBA-4122-84CB-19061A42DE8D}">
          <p14:sldIdLst>
            <p14:sldId id="256"/>
            <p14:sldId id="262"/>
            <p14:sldId id="261"/>
          </p14:sldIdLst>
        </p14:section>
        <p14:section name="Introduction" id="{14B52D13-F388-44DF-9B25-51F4F9072AB4}">
          <p14:sldIdLst>
            <p14:sldId id="260"/>
            <p14:sldId id="264"/>
            <p14:sldId id="263"/>
          </p14:sldIdLst>
        </p14:section>
        <p14:section name="What is Ansible" id="{D5CB9376-B95E-4D5E-9A8E-F75F130F3059}">
          <p14:sldIdLst>
            <p14:sldId id="420"/>
            <p14:sldId id="271"/>
            <p14:sldId id="270"/>
          </p14:sldIdLst>
        </p14:section>
        <p14:section name="How does it Work" id="{36DCA999-4E1E-45A1-9BAD-95D56FA2D254}">
          <p14:sldIdLst>
            <p14:sldId id="341"/>
          </p14:sldIdLst>
        </p14:section>
        <p14:section name="Command Line" id="{3A9F5FA1-68CE-4193-B265-C6CA7B2D0B92}">
          <p14:sldIdLst>
            <p14:sldId id="272"/>
            <p14:sldId id="273"/>
          </p14:sldIdLst>
        </p14:section>
        <p14:section name="Inventory" id="{84B7E3F7-6A84-4238-914F-1DE32E32130E}">
          <p14:sldIdLst>
            <p14:sldId id="275"/>
            <p14:sldId id="445"/>
            <p14:sldId id="276"/>
            <p14:sldId id="277"/>
            <p14:sldId id="278"/>
            <p14:sldId id="481"/>
            <p14:sldId id="482"/>
            <p14:sldId id="483"/>
            <p14:sldId id="484"/>
            <p14:sldId id="485"/>
            <p14:sldId id="486"/>
            <p14:sldId id="487"/>
            <p14:sldId id="480"/>
            <p14:sldId id="279"/>
            <p14:sldId id="280"/>
            <p14:sldId id="281"/>
            <p14:sldId id="411"/>
          </p14:sldIdLst>
        </p14:section>
        <p14:section name="Playbooks" id="{E380FAE8-1A7E-4927-BAD9-2B37A83779F9}">
          <p14:sldIdLst>
            <p14:sldId id="282"/>
            <p14:sldId id="446"/>
            <p14:sldId id="283"/>
            <p14:sldId id="291"/>
            <p14:sldId id="285"/>
            <p14:sldId id="286"/>
            <p14:sldId id="287"/>
            <p14:sldId id="288"/>
            <p14:sldId id="289"/>
            <p14:sldId id="290"/>
            <p14:sldId id="292"/>
            <p14:sldId id="299"/>
            <p14:sldId id="295"/>
            <p14:sldId id="294"/>
          </p14:sldIdLst>
        </p14:section>
        <p14:section name="Modules" id="{DDE5A45D-6B6C-4A7B-B71F-720962FD5C6E}">
          <p14:sldIdLst>
            <p14:sldId id="298"/>
            <p14:sldId id="467"/>
            <p14:sldId id="293"/>
            <p14:sldId id="468"/>
            <p14:sldId id="469"/>
            <p14:sldId id="470"/>
            <p14:sldId id="471"/>
            <p14:sldId id="472"/>
            <p14:sldId id="473"/>
            <p14:sldId id="479"/>
            <p14:sldId id="495"/>
            <p14:sldId id="409"/>
          </p14:sldIdLst>
        </p14:section>
        <p14:section name="Variables" id="{2E74D13D-B60A-420D-964B-EB82E4491D44}">
          <p14:sldIdLst>
            <p14:sldId id="305"/>
            <p14:sldId id="447"/>
            <p14:sldId id="306"/>
            <p14:sldId id="497"/>
            <p14:sldId id="307"/>
            <p14:sldId id="412"/>
            <p14:sldId id="312"/>
            <p14:sldId id="496"/>
            <p14:sldId id="413"/>
            <p14:sldId id="414"/>
            <p14:sldId id="309"/>
            <p14:sldId id="498"/>
          </p14:sldIdLst>
        </p14:section>
        <p14:section name="Errors" id="{551C9D03-199D-4518-A787-76A9EF8ACF40}">
          <p14:sldIdLst>
            <p14:sldId id="316"/>
            <p14:sldId id="450"/>
            <p14:sldId id="415"/>
            <p14:sldId id="317"/>
            <p14:sldId id="318"/>
            <p14:sldId id="319"/>
            <p14:sldId id="320"/>
            <p14:sldId id="416"/>
            <p14:sldId id="435"/>
          </p14:sldIdLst>
        </p14:section>
        <p14:section name="Delegation" id="{5D28B248-090E-49B8-ADE0-830CF4E5BF1D}">
          <p14:sldIdLst>
            <p14:sldId id="300"/>
            <p14:sldId id="448"/>
            <p14:sldId id="301"/>
            <p14:sldId id="410"/>
            <p14:sldId id="433"/>
          </p14:sldIdLst>
        </p14:section>
        <p14:section name="Filters" id="{3C7C8E04-2F2F-4C03-92A3-C86B8C384C72}">
          <p14:sldIdLst>
            <p14:sldId id="310"/>
            <p14:sldId id="449"/>
            <p14:sldId id="311"/>
            <p14:sldId id="313"/>
            <p14:sldId id="314"/>
            <p14:sldId id="475"/>
            <p14:sldId id="315"/>
            <p14:sldId id="434"/>
            <p14:sldId id="476"/>
          </p14:sldIdLst>
        </p14:section>
        <p14:section name="Conditions" id="{2F65DAD7-98EF-4EDD-9592-005CD0CBD8C5}">
          <p14:sldIdLst>
            <p14:sldId id="321"/>
            <p14:sldId id="451"/>
            <p14:sldId id="322"/>
            <p14:sldId id="323"/>
            <p14:sldId id="324"/>
            <p14:sldId id="325"/>
            <p14:sldId id="326"/>
            <p14:sldId id="436"/>
          </p14:sldIdLst>
        </p14:section>
        <p14:section name="Loops" id="{F1FD2407-5017-49C9-8D88-86C49B949729}">
          <p14:sldIdLst>
            <p14:sldId id="327"/>
            <p14:sldId id="453"/>
            <p14:sldId id="328"/>
            <p14:sldId id="329"/>
            <p14:sldId id="330"/>
            <p14:sldId id="331"/>
            <p14:sldId id="407"/>
            <p14:sldId id="332"/>
            <p14:sldId id="333"/>
            <p14:sldId id="334"/>
            <p14:sldId id="428"/>
            <p14:sldId id="493"/>
            <p14:sldId id="408"/>
            <p14:sldId id="429"/>
          </p14:sldIdLst>
        </p14:section>
        <p14:section name="Tags" id="{9A8855FA-1B61-418C-AD56-00ABE1E32B59}">
          <p14:sldIdLst>
            <p14:sldId id="421"/>
            <p14:sldId id="452"/>
            <p14:sldId id="422"/>
            <p14:sldId id="423"/>
            <p14:sldId id="424"/>
            <p14:sldId id="426"/>
            <p14:sldId id="427"/>
          </p14:sldIdLst>
        </p14:section>
        <p14:section name="Templates JINJA2" id="{809A1A6A-6ADA-4BF3-B6B5-5157D7948AF0}">
          <p14:sldIdLst>
            <p14:sldId id="335"/>
            <p14:sldId id="454"/>
            <p14:sldId id="336"/>
            <p14:sldId id="337"/>
            <p14:sldId id="338"/>
            <p14:sldId id="339"/>
            <p14:sldId id="494"/>
            <p14:sldId id="340"/>
            <p14:sldId id="430"/>
          </p14:sldIdLst>
        </p14:section>
        <p14:section name="Asynchrone" id="{D46BC08D-EC19-4CCD-9112-F6597B9F99FB}">
          <p14:sldIdLst>
            <p14:sldId id="342"/>
            <p14:sldId id="455"/>
            <p14:sldId id="343"/>
            <p14:sldId id="346"/>
            <p14:sldId id="344"/>
            <p14:sldId id="431"/>
          </p14:sldIdLst>
        </p14:section>
        <p14:section name="Vault" id="{FEF3621E-C9C4-45A7-B3F6-B3C275A2B38C}">
          <p14:sldIdLst>
            <p14:sldId id="345"/>
            <p14:sldId id="456"/>
            <p14:sldId id="348"/>
            <p14:sldId id="349"/>
            <p14:sldId id="350"/>
            <p14:sldId id="351"/>
            <p14:sldId id="432"/>
          </p14:sldIdLst>
        </p14:section>
        <p14:section name="Roles and Galaxy" id="{9844A684-8C2B-4C40-8190-6A44C454FE42}">
          <p14:sldIdLst>
            <p14:sldId id="457"/>
            <p14:sldId id="464"/>
            <p14:sldId id="458"/>
            <p14:sldId id="352"/>
            <p14:sldId id="353"/>
            <p14:sldId id="417"/>
            <p14:sldId id="465"/>
            <p14:sldId id="466"/>
            <p14:sldId id="418"/>
            <p14:sldId id="354"/>
            <p14:sldId id="437"/>
            <p14:sldId id="355"/>
            <p14:sldId id="356"/>
            <p14:sldId id="357"/>
            <p14:sldId id="359"/>
            <p14:sldId id="362"/>
            <p14:sldId id="438"/>
            <p14:sldId id="488"/>
            <p14:sldId id="489"/>
            <p14:sldId id="490"/>
          </p14:sldIdLst>
        </p14:section>
        <p14:section name="Strategies" id="{34A909E4-82C1-4CF8-832C-E1B79DD35C45}">
          <p14:sldIdLst>
            <p14:sldId id="363"/>
            <p14:sldId id="459"/>
            <p14:sldId id="364"/>
            <p14:sldId id="365"/>
            <p14:sldId id="366"/>
          </p14:sldIdLst>
        </p14:section>
        <p14:section name="Extend Ansible" id="{8E1DE960-4F89-42BA-B777-3A81B6D9D15D}">
          <p14:sldIdLst>
            <p14:sldId id="460"/>
            <p14:sldId id="367"/>
            <p14:sldId id="368"/>
          </p14:sldIdLst>
        </p14:section>
        <p14:section name="Callback" id="{718B1DC8-8710-40CF-897D-9CBE8CA84D8E}">
          <p14:sldIdLst>
            <p14:sldId id="461"/>
            <p14:sldId id="377"/>
            <p14:sldId id="378"/>
          </p14:sldIdLst>
        </p14:section>
        <p14:section name="Modules" id="{675F983F-2F2F-4108-95EB-B7F76EBAF86E}">
          <p14:sldIdLst>
            <p14:sldId id="462"/>
            <p14:sldId id="369"/>
            <p14:sldId id="375"/>
            <p14:sldId id="370"/>
            <p14:sldId id="371"/>
            <p14:sldId id="372"/>
            <p14:sldId id="376"/>
            <p14:sldId id="373"/>
            <p14:sldId id="374"/>
            <p14:sldId id="439"/>
          </p14:sldIdLst>
        </p14:section>
        <p14:section name="Real Use Case" id="{80BD7BC4-036A-4582-98F7-109FA855194B}">
          <p14:sldIdLst>
            <p14:sldId id="380"/>
            <p14:sldId id="381"/>
            <p14:sldId id="478"/>
            <p14:sldId id="477"/>
            <p14:sldId id="382"/>
            <p14:sldId id="383"/>
            <p14:sldId id="384"/>
            <p14:sldId id="385"/>
            <p14:sldId id="386"/>
            <p14:sldId id="387"/>
          </p14:sldIdLst>
        </p14:section>
        <p14:section name="Best Practices" id="{4DF04B72-38BE-47D6-95A6-E24D0CD3D98F}">
          <p14:sldIdLst>
            <p14:sldId id="388"/>
            <p14:sldId id="491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274"/>
            <p14:sldId id="402"/>
            <p14:sldId id="257"/>
            <p14:sldId id="258"/>
            <p14:sldId id="259"/>
            <p14:sldId id="403"/>
            <p14:sldId id="404"/>
            <p14:sldId id="405"/>
            <p14:sldId id="406"/>
          </p14:sldIdLst>
        </p14:section>
        <p14:section name="Automation Integration" id="{8471A583-2B95-4BB7-B087-C1CEDCE3929A}">
          <p14:sldIdLst>
            <p14:sldId id="419"/>
            <p14:sldId id="492"/>
            <p14:sldId id="440"/>
            <p14:sldId id="463"/>
            <p14:sldId id="441"/>
            <p14:sldId id="442"/>
            <p14:sldId id="44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969696"/>
    <a:srgbClr val="0043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20" autoAdjust="0"/>
    <p:restoredTop sz="87376" autoAdjust="0"/>
  </p:normalViewPr>
  <p:slideViewPr>
    <p:cSldViewPr>
      <p:cViewPr>
        <p:scale>
          <a:sx n="150" d="100"/>
          <a:sy n="150" d="100"/>
        </p:scale>
        <p:origin x="120" y="-22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079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120" d="100"/>
          <a:sy n="120" d="100"/>
        </p:scale>
        <p:origin x="7680" y="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handoutMaster" Target="handoutMasters/handoutMaster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presProps" Target="pres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viewProps" Target="viewProp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theme" Target="theme/theme1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tableStyles" Target="tableStyles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AB7BC2-A632-479C-A6F6-A303F3E63018}" type="doc">
      <dgm:prSet loTypeId="urn:microsoft.com/office/officeart/2005/8/layout/hierarchy2" loCatId="hierarchy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80B35B-F4FD-4C38-BCF2-D6236072EA2F}">
      <dgm:prSet phldrT="[Text]"/>
      <dgm:spPr/>
      <dgm:t>
        <a:bodyPr/>
        <a:lstStyle/>
        <a:p>
          <a:r>
            <a:rPr lang="en-US" dirty="0"/>
            <a:t>SRC accessible via SSH?</a:t>
          </a:r>
        </a:p>
      </dgm:t>
    </dgm:pt>
    <dgm:pt modelId="{F3A66871-1B76-45FD-8DF3-3DE7E2B90B58}" type="parTrans" cxnId="{D9B12EE9-EA1F-4AF4-BECB-89B692023588}">
      <dgm:prSet/>
      <dgm:spPr/>
      <dgm:t>
        <a:bodyPr/>
        <a:lstStyle/>
        <a:p>
          <a:endParaRPr lang="en-US"/>
        </a:p>
      </dgm:t>
    </dgm:pt>
    <dgm:pt modelId="{93C31A3B-EDFE-46A6-B43C-92594734732E}" type="sibTrans" cxnId="{D9B12EE9-EA1F-4AF4-BECB-89B692023588}">
      <dgm:prSet/>
      <dgm:spPr/>
      <dgm:t>
        <a:bodyPr/>
        <a:lstStyle/>
        <a:p>
          <a:endParaRPr lang="en-US"/>
        </a:p>
      </dgm:t>
    </dgm:pt>
    <dgm:pt modelId="{1C821DA1-7EAA-4C20-BFD3-560749FA5993}">
      <dgm:prSet phldrT="[Text]"/>
      <dgm:spPr/>
      <dgm:t>
        <a:bodyPr/>
        <a:lstStyle/>
        <a:p>
          <a:r>
            <a:rPr lang="en-US" dirty="0"/>
            <a:t>DST port reachable?</a:t>
          </a:r>
        </a:p>
      </dgm:t>
    </dgm:pt>
    <dgm:pt modelId="{8D5C85FD-CABB-4DF1-AA42-9B780A52C35E}" type="parTrans" cxnId="{E7DA24CA-0C86-40E8-9B0E-605E507BB8D7}">
      <dgm:prSet/>
      <dgm:spPr/>
      <dgm:t>
        <a:bodyPr/>
        <a:lstStyle/>
        <a:p>
          <a:r>
            <a:rPr lang="en-US" dirty="0"/>
            <a:t>YES</a:t>
          </a:r>
        </a:p>
      </dgm:t>
    </dgm:pt>
    <dgm:pt modelId="{73D72368-6583-4637-A4C6-66DE867E4D96}" type="sibTrans" cxnId="{E7DA24CA-0C86-40E8-9B0E-605E507BB8D7}">
      <dgm:prSet/>
      <dgm:spPr/>
      <dgm:t>
        <a:bodyPr/>
        <a:lstStyle/>
        <a:p>
          <a:endParaRPr lang="en-US"/>
        </a:p>
      </dgm:t>
    </dgm:pt>
    <dgm:pt modelId="{D3D3F4C8-9A7D-4DB5-A533-5EB2BAF94C36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PORT IS OPEN</a:t>
          </a:r>
        </a:p>
      </dgm:t>
    </dgm:pt>
    <dgm:pt modelId="{C8E57C21-33C7-4E1C-97DD-432B39683CA5}" type="parTrans" cxnId="{6692BCBE-0746-4C29-B1E8-07503D6FBB84}">
      <dgm:prSet/>
      <dgm:spPr/>
      <dgm:t>
        <a:bodyPr/>
        <a:lstStyle/>
        <a:p>
          <a:r>
            <a:rPr lang="en-US" dirty="0"/>
            <a:t>YES</a:t>
          </a:r>
        </a:p>
      </dgm:t>
    </dgm:pt>
    <dgm:pt modelId="{CCFA1CAE-AA41-4185-AD90-434C1008F674}" type="sibTrans" cxnId="{6692BCBE-0746-4C29-B1E8-07503D6FBB84}">
      <dgm:prSet/>
      <dgm:spPr/>
      <dgm:t>
        <a:bodyPr/>
        <a:lstStyle/>
        <a:p>
          <a:endParaRPr lang="en-US"/>
        </a:p>
      </dgm:t>
    </dgm:pt>
    <dgm:pt modelId="{C4EA42DF-A999-4A8A-87B6-87551532FED6}">
      <dgm:prSet phldrT="[Text]"/>
      <dgm:spPr/>
      <dgm:t>
        <a:bodyPr/>
        <a:lstStyle/>
        <a:p>
          <a:r>
            <a:rPr lang="en-US" dirty="0"/>
            <a:t>DST Accessible via SSH?</a:t>
          </a:r>
        </a:p>
      </dgm:t>
    </dgm:pt>
    <dgm:pt modelId="{5CCE2ED3-C15F-4BAC-88FD-FD2EC2A90FED}" type="parTrans" cxnId="{8B93C041-FDD5-4681-8A47-EE0F1989A1B8}">
      <dgm:prSet/>
      <dgm:spPr/>
      <dgm:t>
        <a:bodyPr/>
        <a:lstStyle/>
        <a:p>
          <a:r>
            <a:rPr lang="en-US" dirty="0"/>
            <a:t>NO</a:t>
          </a:r>
        </a:p>
      </dgm:t>
    </dgm:pt>
    <dgm:pt modelId="{5D625431-4620-4B70-AAF7-7A9698E4E741}" type="sibTrans" cxnId="{8B93C041-FDD5-4681-8A47-EE0F1989A1B8}">
      <dgm:prSet/>
      <dgm:spPr/>
      <dgm:t>
        <a:bodyPr/>
        <a:lstStyle/>
        <a:p>
          <a:endParaRPr lang="en-US"/>
        </a:p>
      </dgm:t>
    </dgm:pt>
    <dgm:pt modelId="{270B9C55-845F-451A-9708-0E403890E6EA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SRC ERROR</a:t>
          </a:r>
        </a:p>
      </dgm:t>
    </dgm:pt>
    <dgm:pt modelId="{0C841A73-0D51-49A2-9448-408BECFE8243}" type="parTrans" cxnId="{50633E3E-ED82-4048-870B-B6DD6D478AC0}">
      <dgm:prSet/>
      <dgm:spPr/>
      <dgm:t>
        <a:bodyPr/>
        <a:lstStyle/>
        <a:p>
          <a:r>
            <a:rPr lang="en-US" dirty="0"/>
            <a:t>NO</a:t>
          </a:r>
        </a:p>
      </dgm:t>
    </dgm:pt>
    <dgm:pt modelId="{301ECAA6-28C5-4B62-86D6-80DEE5A610D4}" type="sibTrans" cxnId="{50633E3E-ED82-4048-870B-B6DD6D478AC0}">
      <dgm:prSet/>
      <dgm:spPr/>
      <dgm:t>
        <a:bodyPr/>
        <a:lstStyle/>
        <a:p>
          <a:endParaRPr lang="en-US"/>
        </a:p>
      </dgm:t>
    </dgm:pt>
    <dgm:pt modelId="{B24E666D-1E7F-4E2B-91F4-EB5255500759}">
      <dgm:prSet phldrT="[Text]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 dirty="0"/>
            <a:t>DST ERROR</a:t>
          </a:r>
        </a:p>
      </dgm:t>
    </dgm:pt>
    <dgm:pt modelId="{3A5C25BE-391E-4385-95AD-8764E6F5039E}" type="parTrans" cxnId="{8EF6B54D-2851-4E48-B2D0-1EDD5D926EE2}">
      <dgm:prSet/>
      <dgm:spPr/>
      <dgm:t>
        <a:bodyPr/>
        <a:lstStyle/>
        <a:p>
          <a:r>
            <a:rPr lang="en-US" dirty="0"/>
            <a:t>YES</a:t>
          </a:r>
        </a:p>
      </dgm:t>
    </dgm:pt>
    <dgm:pt modelId="{A1CAF69B-9D30-4FF9-89C5-0D7C35EB32A0}" type="sibTrans" cxnId="{8EF6B54D-2851-4E48-B2D0-1EDD5D926EE2}">
      <dgm:prSet/>
      <dgm:spPr/>
      <dgm:t>
        <a:bodyPr/>
        <a:lstStyle/>
        <a:p>
          <a:endParaRPr lang="en-US"/>
        </a:p>
      </dgm:t>
    </dgm:pt>
    <dgm:pt modelId="{73E86CD4-CB19-4451-BF86-56BD807C80B3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DST Port Reachable with module?</a:t>
          </a:r>
        </a:p>
      </dgm:t>
    </dgm:pt>
    <dgm:pt modelId="{30E972B7-64E5-46FA-ADAE-2E37EA7A97F4}" type="parTrans" cxnId="{6C0D779C-6C3A-4962-A858-FC58C6B77A80}">
      <dgm:prSet/>
      <dgm:spPr/>
      <dgm:t>
        <a:bodyPr/>
        <a:lstStyle/>
        <a:p>
          <a:r>
            <a:rPr lang="en-US" dirty="0"/>
            <a:t>YES</a:t>
          </a:r>
        </a:p>
      </dgm:t>
    </dgm:pt>
    <dgm:pt modelId="{B45A11CE-E6FE-40EA-9FE8-C9A3C4B27858}" type="sibTrans" cxnId="{6C0D779C-6C3A-4962-A858-FC58C6B77A80}">
      <dgm:prSet/>
      <dgm:spPr/>
      <dgm:t>
        <a:bodyPr/>
        <a:lstStyle/>
        <a:p>
          <a:endParaRPr lang="en-US"/>
        </a:p>
      </dgm:t>
    </dgm:pt>
    <dgm:pt modelId="{1A497859-B845-47B8-8064-304EBAB4B65A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dirty="0"/>
            <a:t>PORT IS  CLOSED</a:t>
          </a:r>
        </a:p>
      </dgm:t>
    </dgm:pt>
    <dgm:pt modelId="{72E03272-2CE7-43B1-9F33-E55046BCAB8F}" type="parTrans" cxnId="{594753E2-B48B-45D8-986F-3F5F94EC71D3}">
      <dgm:prSet/>
      <dgm:spPr/>
      <dgm:t>
        <a:bodyPr/>
        <a:lstStyle/>
        <a:p>
          <a:r>
            <a:rPr lang="en-US" dirty="0"/>
            <a:t>NO</a:t>
          </a:r>
        </a:p>
      </dgm:t>
    </dgm:pt>
    <dgm:pt modelId="{B4172E49-5585-48E1-81C2-CFFB21C64D30}" type="sibTrans" cxnId="{594753E2-B48B-45D8-986F-3F5F94EC71D3}">
      <dgm:prSet/>
      <dgm:spPr/>
      <dgm:t>
        <a:bodyPr/>
        <a:lstStyle/>
        <a:p>
          <a:endParaRPr lang="en-US"/>
        </a:p>
      </dgm:t>
    </dgm:pt>
    <dgm:pt modelId="{D1609598-86EF-4DA1-913B-2B53234EFD1D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PORT IS OPEN</a:t>
          </a:r>
        </a:p>
      </dgm:t>
    </dgm:pt>
    <dgm:pt modelId="{18A04876-E8A0-4A39-A8D5-506FC0C91485}" type="parTrans" cxnId="{194AF1C3-8382-40BC-B214-D679BCC7C167}">
      <dgm:prSet/>
      <dgm:spPr/>
      <dgm:t>
        <a:bodyPr/>
        <a:lstStyle/>
        <a:p>
          <a:r>
            <a:rPr lang="en-US" dirty="0"/>
            <a:t>YES</a:t>
          </a:r>
        </a:p>
      </dgm:t>
    </dgm:pt>
    <dgm:pt modelId="{EB7902C6-66E4-4626-9ADA-ED5755BF6C3C}" type="sibTrans" cxnId="{194AF1C3-8382-40BC-B214-D679BCC7C167}">
      <dgm:prSet/>
      <dgm:spPr/>
      <dgm:t>
        <a:bodyPr/>
        <a:lstStyle/>
        <a:p>
          <a:endParaRPr lang="en-US"/>
        </a:p>
      </dgm:t>
    </dgm:pt>
    <dgm:pt modelId="{FC33A585-D01D-47B8-AE9A-918BCA547CED}" type="pres">
      <dgm:prSet presAssocID="{B0AB7BC2-A632-479C-A6F6-A303F3E63018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4FF1715-168B-4E15-99DB-A08369179879}" type="pres">
      <dgm:prSet presAssocID="{AC80B35B-F4FD-4C38-BCF2-D6236072EA2F}" presName="root1" presStyleCnt="0"/>
      <dgm:spPr/>
    </dgm:pt>
    <dgm:pt modelId="{1F18F146-F9C8-4F6D-A5DA-1B1D85BCB70F}" type="pres">
      <dgm:prSet presAssocID="{AC80B35B-F4FD-4C38-BCF2-D6236072EA2F}" presName="LevelOneTextNode" presStyleLbl="node0" presStyleIdx="0" presStyleCnt="1" custLinFactNeighborX="-390" custLinFactNeighborY="-50000">
        <dgm:presLayoutVars>
          <dgm:chPref val="3"/>
        </dgm:presLayoutVars>
      </dgm:prSet>
      <dgm:spPr/>
    </dgm:pt>
    <dgm:pt modelId="{E858D86F-062C-4B51-BC39-5B0598AF3917}" type="pres">
      <dgm:prSet presAssocID="{AC80B35B-F4FD-4C38-BCF2-D6236072EA2F}" presName="level2hierChild" presStyleCnt="0"/>
      <dgm:spPr/>
    </dgm:pt>
    <dgm:pt modelId="{EA477DE6-ED4E-4B20-87CF-EE917722D3D1}" type="pres">
      <dgm:prSet presAssocID="{8D5C85FD-CABB-4DF1-AA42-9B780A52C35E}" presName="conn2-1" presStyleLbl="parChTrans1D2" presStyleIdx="0" presStyleCnt="2"/>
      <dgm:spPr/>
    </dgm:pt>
    <dgm:pt modelId="{4A1CE616-0E01-4191-AFED-39333E5BCD68}" type="pres">
      <dgm:prSet presAssocID="{8D5C85FD-CABB-4DF1-AA42-9B780A52C35E}" presName="connTx" presStyleLbl="parChTrans1D2" presStyleIdx="0" presStyleCnt="2"/>
      <dgm:spPr/>
    </dgm:pt>
    <dgm:pt modelId="{D12B47FB-6C16-4DA8-A1E9-D68933EF9EFF}" type="pres">
      <dgm:prSet presAssocID="{1C821DA1-7EAA-4C20-BFD3-560749FA5993}" presName="root2" presStyleCnt="0"/>
      <dgm:spPr/>
    </dgm:pt>
    <dgm:pt modelId="{3B9D366C-6424-4F12-B631-C7EF93928ACB}" type="pres">
      <dgm:prSet presAssocID="{1C821DA1-7EAA-4C20-BFD3-560749FA5993}" presName="LevelTwoTextNode" presStyleLbl="node2" presStyleIdx="0" presStyleCnt="2" custLinFactNeighborY="7500">
        <dgm:presLayoutVars>
          <dgm:chPref val="3"/>
        </dgm:presLayoutVars>
      </dgm:prSet>
      <dgm:spPr/>
    </dgm:pt>
    <dgm:pt modelId="{C6D6C08A-FE95-4A0C-B1B0-B64975280702}" type="pres">
      <dgm:prSet presAssocID="{1C821DA1-7EAA-4C20-BFD3-560749FA5993}" presName="level3hierChild" presStyleCnt="0"/>
      <dgm:spPr/>
    </dgm:pt>
    <dgm:pt modelId="{B024AB5E-BA2A-4796-ADDE-3E1EFD3FAB06}" type="pres">
      <dgm:prSet presAssocID="{C8E57C21-33C7-4E1C-97DD-432B39683CA5}" presName="conn2-1" presStyleLbl="parChTrans1D3" presStyleIdx="0" presStyleCnt="2"/>
      <dgm:spPr/>
    </dgm:pt>
    <dgm:pt modelId="{6329A81C-25EB-4F49-B9AD-03C9EC7B0303}" type="pres">
      <dgm:prSet presAssocID="{C8E57C21-33C7-4E1C-97DD-432B39683CA5}" presName="connTx" presStyleLbl="parChTrans1D3" presStyleIdx="0" presStyleCnt="2"/>
      <dgm:spPr/>
    </dgm:pt>
    <dgm:pt modelId="{6EFDAE4E-AC72-4AFE-8481-5283FB457604}" type="pres">
      <dgm:prSet presAssocID="{D3D3F4C8-9A7D-4DB5-A533-5EB2BAF94C36}" presName="root2" presStyleCnt="0"/>
      <dgm:spPr/>
    </dgm:pt>
    <dgm:pt modelId="{BA2FB1B9-FB38-4113-A0EF-44E5A249F36A}" type="pres">
      <dgm:prSet presAssocID="{D3D3F4C8-9A7D-4DB5-A533-5EB2BAF94C36}" presName="LevelTwoTextNode" presStyleLbl="node3" presStyleIdx="0" presStyleCnt="2" custLinFactY="100000" custLinFactNeighborX="130" custLinFactNeighborY="102403">
        <dgm:presLayoutVars>
          <dgm:chPref val="3"/>
        </dgm:presLayoutVars>
      </dgm:prSet>
      <dgm:spPr/>
    </dgm:pt>
    <dgm:pt modelId="{A3BBB096-D41E-437E-8D50-6AE0787A6667}" type="pres">
      <dgm:prSet presAssocID="{D3D3F4C8-9A7D-4DB5-A533-5EB2BAF94C36}" presName="level3hierChild" presStyleCnt="0"/>
      <dgm:spPr/>
    </dgm:pt>
    <dgm:pt modelId="{545F2178-4852-44FA-BC68-710415041768}" type="pres">
      <dgm:prSet presAssocID="{5CCE2ED3-C15F-4BAC-88FD-FD2EC2A90FED}" presName="conn2-1" presStyleLbl="parChTrans1D3" presStyleIdx="1" presStyleCnt="2"/>
      <dgm:spPr/>
    </dgm:pt>
    <dgm:pt modelId="{282643F5-0F05-46EE-8FF2-9BA73940CDCB}" type="pres">
      <dgm:prSet presAssocID="{5CCE2ED3-C15F-4BAC-88FD-FD2EC2A90FED}" presName="connTx" presStyleLbl="parChTrans1D3" presStyleIdx="1" presStyleCnt="2"/>
      <dgm:spPr/>
    </dgm:pt>
    <dgm:pt modelId="{622D4EED-F818-4778-8EE5-E03DC1AF3527}" type="pres">
      <dgm:prSet presAssocID="{C4EA42DF-A999-4A8A-87B6-87551532FED6}" presName="root2" presStyleCnt="0"/>
      <dgm:spPr/>
    </dgm:pt>
    <dgm:pt modelId="{D429F5ED-4893-4FCC-8C97-8F090F5A240B}" type="pres">
      <dgm:prSet presAssocID="{C4EA42DF-A999-4A8A-87B6-87551532FED6}" presName="LevelTwoTextNode" presStyleLbl="node3" presStyleIdx="1" presStyleCnt="2" custLinFactNeighborX="130" custLinFactNeighborY="-50000">
        <dgm:presLayoutVars>
          <dgm:chPref val="3"/>
        </dgm:presLayoutVars>
      </dgm:prSet>
      <dgm:spPr/>
    </dgm:pt>
    <dgm:pt modelId="{E954BBEF-A968-4966-A8A4-9689DD893FD2}" type="pres">
      <dgm:prSet presAssocID="{C4EA42DF-A999-4A8A-87B6-87551532FED6}" presName="level3hierChild" presStyleCnt="0"/>
      <dgm:spPr/>
    </dgm:pt>
    <dgm:pt modelId="{194B5258-BAEA-4F3B-8B30-D40F41E29378}" type="pres">
      <dgm:prSet presAssocID="{3A5C25BE-391E-4385-95AD-8764E6F5039E}" presName="conn2-1" presStyleLbl="parChTrans1D4" presStyleIdx="0" presStyleCnt="4"/>
      <dgm:spPr/>
    </dgm:pt>
    <dgm:pt modelId="{5AE5E1C5-B6FD-47C3-A855-EE8B37DCB553}" type="pres">
      <dgm:prSet presAssocID="{3A5C25BE-391E-4385-95AD-8764E6F5039E}" presName="connTx" presStyleLbl="parChTrans1D4" presStyleIdx="0" presStyleCnt="4"/>
      <dgm:spPr/>
    </dgm:pt>
    <dgm:pt modelId="{4A01DE4A-E5F1-4C56-BFBC-B8BA1BE42A4F}" type="pres">
      <dgm:prSet presAssocID="{B24E666D-1E7F-4E2B-91F4-EB5255500759}" presName="root2" presStyleCnt="0"/>
      <dgm:spPr/>
    </dgm:pt>
    <dgm:pt modelId="{A3FF0EBF-C15E-464F-A92E-7241F89AE657}" type="pres">
      <dgm:prSet presAssocID="{B24E666D-1E7F-4E2B-91F4-EB5255500759}" presName="LevelTwoTextNode" presStyleLbl="node4" presStyleIdx="0" presStyleCnt="4" custLinFactY="-41851" custLinFactNeighborY="-100000">
        <dgm:presLayoutVars>
          <dgm:chPref val="3"/>
        </dgm:presLayoutVars>
      </dgm:prSet>
      <dgm:spPr/>
    </dgm:pt>
    <dgm:pt modelId="{FCB98730-F436-42EA-9B89-020D31E1BBCA}" type="pres">
      <dgm:prSet presAssocID="{B24E666D-1E7F-4E2B-91F4-EB5255500759}" presName="level3hierChild" presStyleCnt="0"/>
      <dgm:spPr/>
    </dgm:pt>
    <dgm:pt modelId="{F943F0D9-7EAF-4FC6-BEF7-64C1EFE1995C}" type="pres">
      <dgm:prSet presAssocID="{30E972B7-64E5-46FA-ADAE-2E37EA7A97F4}" presName="conn2-1" presStyleLbl="parChTrans1D4" presStyleIdx="1" presStyleCnt="4"/>
      <dgm:spPr/>
    </dgm:pt>
    <dgm:pt modelId="{19FBE4EF-07C9-4A0C-AC37-10648B7C1037}" type="pres">
      <dgm:prSet presAssocID="{30E972B7-64E5-46FA-ADAE-2E37EA7A97F4}" presName="connTx" presStyleLbl="parChTrans1D4" presStyleIdx="1" presStyleCnt="4"/>
      <dgm:spPr/>
    </dgm:pt>
    <dgm:pt modelId="{0DDB6C2E-A220-4426-9D7F-09A09C11AAC9}" type="pres">
      <dgm:prSet presAssocID="{73E86CD4-CB19-4451-BF86-56BD807C80B3}" presName="root2" presStyleCnt="0"/>
      <dgm:spPr/>
    </dgm:pt>
    <dgm:pt modelId="{AE0E03A7-2ABA-415D-889B-8F96136B8273}" type="pres">
      <dgm:prSet presAssocID="{73E86CD4-CB19-4451-BF86-56BD807C80B3}" presName="LevelTwoTextNode" presStyleLbl="node4" presStyleIdx="1" presStyleCnt="4" custLinFactY="-7500" custLinFactNeighborY="-100000">
        <dgm:presLayoutVars>
          <dgm:chPref val="3"/>
        </dgm:presLayoutVars>
      </dgm:prSet>
      <dgm:spPr/>
    </dgm:pt>
    <dgm:pt modelId="{561AEC01-554C-4FF4-BB33-A8C184BCFE9D}" type="pres">
      <dgm:prSet presAssocID="{73E86CD4-CB19-4451-BF86-56BD807C80B3}" presName="level3hierChild" presStyleCnt="0"/>
      <dgm:spPr/>
    </dgm:pt>
    <dgm:pt modelId="{083B09E9-BD95-45D2-9464-3A21502311F8}" type="pres">
      <dgm:prSet presAssocID="{72E03272-2CE7-43B1-9F33-E55046BCAB8F}" presName="conn2-1" presStyleLbl="parChTrans1D4" presStyleIdx="2" presStyleCnt="4"/>
      <dgm:spPr/>
    </dgm:pt>
    <dgm:pt modelId="{438E07A9-E6A6-4888-8F8D-8B907B3EBD78}" type="pres">
      <dgm:prSet presAssocID="{72E03272-2CE7-43B1-9F33-E55046BCAB8F}" presName="connTx" presStyleLbl="parChTrans1D4" presStyleIdx="2" presStyleCnt="4"/>
      <dgm:spPr/>
    </dgm:pt>
    <dgm:pt modelId="{54FAC807-21FE-4157-BAAF-A99B6B5C095C}" type="pres">
      <dgm:prSet presAssocID="{1A497859-B845-47B8-8064-304EBAB4B65A}" presName="root2" presStyleCnt="0"/>
      <dgm:spPr/>
    </dgm:pt>
    <dgm:pt modelId="{1EC4CE40-BEA5-458D-8748-45F89B1E8694}" type="pres">
      <dgm:prSet presAssocID="{1A497859-B845-47B8-8064-304EBAB4B65A}" presName="LevelTwoTextNode" presStyleLbl="node4" presStyleIdx="2" presStyleCnt="4" custLinFactNeighborY="-50000">
        <dgm:presLayoutVars>
          <dgm:chPref val="3"/>
        </dgm:presLayoutVars>
      </dgm:prSet>
      <dgm:spPr/>
    </dgm:pt>
    <dgm:pt modelId="{C314AE4B-9411-4529-B1A5-71C67A5DBB78}" type="pres">
      <dgm:prSet presAssocID="{1A497859-B845-47B8-8064-304EBAB4B65A}" presName="level3hierChild" presStyleCnt="0"/>
      <dgm:spPr/>
    </dgm:pt>
    <dgm:pt modelId="{2A7446CB-E3B9-4EF3-B682-BAA356A2B9ED}" type="pres">
      <dgm:prSet presAssocID="{18A04876-E8A0-4A39-A8D5-506FC0C91485}" presName="conn2-1" presStyleLbl="parChTrans1D4" presStyleIdx="3" presStyleCnt="4"/>
      <dgm:spPr/>
    </dgm:pt>
    <dgm:pt modelId="{50C248BB-B7C2-45BA-92A5-B9EAA4E19D2B}" type="pres">
      <dgm:prSet presAssocID="{18A04876-E8A0-4A39-A8D5-506FC0C91485}" presName="connTx" presStyleLbl="parChTrans1D4" presStyleIdx="3" presStyleCnt="4"/>
      <dgm:spPr/>
    </dgm:pt>
    <dgm:pt modelId="{293D8B6F-B47E-481E-A0D8-0B531051C83A}" type="pres">
      <dgm:prSet presAssocID="{D1609598-86EF-4DA1-913B-2B53234EFD1D}" presName="root2" presStyleCnt="0"/>
      <dgm:spPr/>
    </dgm:pt>
    <dgm:pt modelId="{B82D20BD-B013-48D5-8913-D92C79E83F9E}" type="pres">
      <dgm:prSet presAssocID="{D1609598-86EF-4DA1-913B-2B53234EFD1D}" presName="LevelTwoTextNode" presStyleLbl="node4" presStyleIdx="3" presStyleCnt="4" custLinFactNeighborY="-27597">
        <dgm:presLayoutVars>
          <dgm:chPref val="3"/>
        </dgm:presLayoutVars>
      </dgm:prSet>
      <dgm:spPr/>
    </dgm:pt>
    <dgm:pt modelId="{9FDA2B45-F6D3-4A19-AC43-F33F0708F87B}" type="pres">
      <dgm:prSet presAssocID="{D1609598-86EF-4DA1-913B-2B53234EFD1D}" presName="level3hierChild" presStyleCnt="0"/>
      <dgm:spPr/>
    </dgm:pt>
    <dgm:pt modelId="{1CBF4CD8-0466-44F0-98A3-96B5617BCC4A}" type="pres">
      <dgm:prSet presAssocID="{0C841A73-0D51-49A2-9448-408BECFE8243}" presName="conn2-1" presStyleLbl="parChTrans1D2" presStyleIdx="1" presStyleCnt="2"/>
      <dgm:spPr/>
    </dgm:pt>
    <dgm:pt modelId="{C42BDC50-5C6C-42D3-85CE-211E669D37C8}" type="pres">
      <dgm:prSet presAssocID="{0C841A73-0D51-49A2-9448-408BECFE8243}" presName="connTx" presStyleLbl="parChTrans1D2" presStyleIdx="1" presStyleCnt="2"/>
      <dgm:spPr/>
    </dgm:pt>
    <dgm:pt modelId="{38D5A110-DD8D-43F7-909A-425CC7C403D8}" type="pres">
      <dgm:prSet presAssocID="{270B9C55-845F-451A-9708-0E403890E6EA}" presName="root2" presStyleCnt="0"/>
      <dgm:spPr/>
    </dgm:pt>
    <dgm:pt modelId="{B6D1ECAA-9CA3-4ADC-8BF0-56955BAC7A52}" type="pres">
      <dgm:prSet presAssocID="{270B9C55-845F-451A-9708-0E403890E6EA}" presName="LevelTwoTextNode" presStyleLbl="node2" presStyleIdx="1" presStyleCnt="2" custLinFactY="-100000" custLinFactNeighborX="0" custLinFactNeighborY="-145359">
        <dgm:presLayoutVars>
          <dgm:chPref val="3"/>
        </dgm:presLayoutVars>
      </dgm:prSet>
      <dgm:spPr/>
    </dgm:pt>
    <dgm:pt modelId="{C8DA4432-8DA9-47A3-8F69-E8656DC27B59}" type="pres">
      <dgm:prSet presAssocID="{270B9C55-845F-451A-9708-0E403890E6EA}" presName="level3hierChild" presStyleCnt="0"/>
      <dgm:spPr/>
    </dgm:pt>
  </dgm:ptLst>
  <dgm:cxnLst>
    <dgm:cxn modelId="{B933FA1A-D7D7-4F13-A961-7564EB27C394}" type="presOf" srcId="{18A04876-E8A0-4A39-A8D5-506FC0C91485}" destId="{2A7446CB-E3B9-4EF3-B682-BAA356A2B9ED}" srcOrd="0" destOrd="0" presId="urn:microsoft.com/office/officeart/2005/8/layout/hierarchy2"/>
    <dgm:cxn modelId="{C3A53E1B-E495-4380-A735-980B9B24E38F}" type="presOf" srcId="{B24E666D-1E7F-4E2B-91F4-EB5255500759}" destId="{A3FF0EBF-C15E-464F-A92E-7241F89AE657}" srcOrd="0" destOrd="0" presId="urn:microsoft.com/office/officeart/2005/8/layout/hierarchy2"/>
    <dgm:cxn modelId="{BCF2CD1B-B0C7-457C-BCDF-103FED71BE0C}" type="presOf" srcId="{30E972B7-64E5-46FA-ADAE-2E37EA7A97F4}" destId="{19FBE4EF-07C9-4A0C-AC37-10648B7C1037}" srcOrd="1" destOrd="0" presId="urn:microsoft.com/office/officeart/2005/8/layout/hierarchy2"/>
    <dgm:cxn modelId="{B75AD526-4196-4E3D-861D-074508380A73}" type="presOf" srcId="{D1609598-86EF-4DA1-913B-2B53234EFD1D}" destId="{B82D20BD-B013-48D5-8913-D92C79E83F9E}" srcOrd="0" destOrd="0" presId="urn:microsoft.com/office/officeart/2005/8/layout/hierarchy2"/>
    <dgm:cxn modelId="{50633E3E-ED82-4048-870B-B6DD6D478AC0}" srcId="{AC80B35B-F4FD-4C38-BCF2-D6236072EA2F}" destId="{270B9C55-845F-451A-9708-0E403890E6EA}" srcOrd="1" destOrd="0" parTransId="{0C841A73-0D51-49A2-9448-408BECFE8243}" sibTransId="{301ECAA6-28C5-4B62-86D6-80DEE5A610D4}"/>
    <dgm:cxn modelId="{F34D5A61-803B-4813-BDFC-B46E186D9167}" type="presOf" srcId="{C8E57C21-33C7-4E1C-97DD-432B39683CA5}" destId="{6329A81C-25EB-4F49-B9AD-03C9EC7B0303}" srcOrd="1" destOrd="0" presId="urn:microsoft.com/office/officeart/2005/8/layout/hierarchy2"/>
    <dgm:cxn modelId="{8B93C041-FDD5-4681-8A47-EE0F1989A1B8}" srcId="{1C821DA1-7EAA-4C20-BFD3-560749FA5993}" destId="{C4EA42DF-A999-4A8A-87B6-87551532FED6}" srcOrd="1" destOrd="0" parTransId="{5CCE2ED3-C15F-4BAC-88FD-FD2EC2A90FED}" sibTransId="{5D625431-4620-4B70-AAF7-7A9698E4E741}"/>
    <dgm:cxn modelId="{35935D43-3B07-41E8-B007-C50598F7E97E}" type="presOf" srcId="{D3D3F4C8-9A7D-4DB5-A533-5EB2BAF94C36}" destId="{BA2FB1B9-FB38-4113-A0EF-44E5A249F36A}" srcOrd="0" destOrd="0" presId="urn:microsoft.com/office/officeart/2005/8/layout/hierarchy2"/>
    <dgm:cxn modelId="{1DD5F64A-3075-4996-A5D5-5924BC2DEB43}" type="presOf" srcId="{72E03272-2CE7-43B1-9F33-E55046BCAB8F}" destId="{083B09E9-BD95-45D2-9464-3A21502311F8}" srcOrd="0" destOrd="0" presId="urn:microsoft.com/office/officeart/2005/8/layout/hierarchy2"/>
    <dgm:cxn modelId="{8EF6B54D-2851-4E48-B2D0-1EDD5D926EE2}" srcId="{C4EA42DF-A999-4A8A-87B6-87551532FED6}" destId="{B24E666D-1E7F-4E2B-91F4-EB5255500759}" srcOrd="0" destOrd="0" parTransId="{3A5C25BE-391E-4385-95AD-8764E6F5039E}" sibTransId="{A1CAF69B-9D30-4FF9-89C5-0D7C35EB32A0}"/>
    <dgm:cxn modelId="{F8366A6F-7AA0-4A8D-8DF3-663F48034610}" type="presOf" srcId="{8D5C85FD-CABB-4DF1-AA42-9B780A52C35E}" destId="{4A1CE616-0E01-4191-AFED-39333E5BCD68}" srcOrd="1" destOrd="0" presId="urn:microsoft.com/office/officeart/2005/8/layout/hierarchy2"/>
    <dgm:cxn modelId="{A236B370-7217-40E3-999C-F15D8D4D5F04}" type="presOf" srcId="{C8E57C21-33C7-4E1C-97DD-432B39683CA5}" destId="{B024AB5E-BA2A-4796-ADDE-3E1EFD3FAB06}" srcOrd="0" destOrd="0" presId="urn:microsoft.com/office/officeart/2005/8/layout/hierarchy2"/>
    <dgm:cxn modelId="{F0826773-B94B-4183-BCBA-70678DE93E7C}" type="presOf" srcId="{8D5C85FD-CABB-4DF1-AA42-9B780A52C35E}" destId="{EA477DE6-ED4E-4B20-87CF-EE917722D3D1}" srcOrd="0" destOrd="0" presId="urn:microsoft.com/office/officeart/2005/8/layout/hierarchy2"/>
    <dgm:cxn modelId="{CAD0CD59-2577-4A45-B1B4-2E0A30065595}" type="presOf" srcId="{AC80B35B-F4FD-4C38-BCF2-D6236072EA2F}" destId="{1F18F146-F9C8-4F6D-A5DA-1B1D85BCB70F}" srcOrd="0" destOrd="0" presId="urn:microsoft.com/office/officeart/2005/8/layout/hierarchy2"/>
    <dgm:cxn modelId="{F43D5484-79A5-4BBF-82BD-2AE6BFA52166}" type="presOf" srcId="{30E972B7-64E5-46FA-ADAE-2E37EA7A97F4}" destId="{F943F0D9-7EAF-4FC6-BEF7-64C1EFE1995C}" srcOrd="0" destOrd="0" presId="urn:microsoft.com/office/officeart/2005/8/layout/hierarchy2"/>
    <dgm:cxn modelId="{72498885-4002-4FE6-864B-0503C2D5404A}" type="presOf" srcId="{3A5C25BE-391E-4385-95AD-8764E6F5039E}" destId="{194B5258-BAEA-4F3B-8B30-D40F41E29378}" srcOrd="0" destOrd="0" presId="urn:microsoft.com/office/officeart/2005/8/layout/hierarchy2"/>
    <dgm:cxn modelId="{6C0D779C-6C3A-4962-A858-FC58C6B77A80}" srcId="{C4EA42DF-A999-4A8A-87B6-87551532FED6}" destId="{73E86CD4-CB19-4451-BF86-56BD807C80B3}" srcOrd="1" destOrd="0" parTransId="{30E972B7-64E5-46FA-ADAE-2E37EA7A97F4}" sibTransId="{B45A11CE-E6FE-40EA-9FE8-C9A3C4B27858}"/>
    <dgm:cxn modelId="{24FA0AA2-D77D-4E6D-BED5-E1D93F2C70DD}" type="presOf" srcId="{B0AB7BC2-A632-479C-A6F6-A303F3E63018}" destId="{FC33A585-D01D-47B8-AE9A-918BCA547CED}" srcOrd="0" destOrd="0" presId="urn:microsoft.com/office/officeart/2005/8/layout/hierarchy2"/>
    <dgm:cxn modelId="{E5C3B9A3-A303-4540-83EF-C69D25890778}" type="presOf" srcId="{1A497859-B845-47B8-8064-304EBAB4B65A}" destId="{1EC4CE40-BEA5-458D-8748-45F89B1E8694}" srcOrd="0" destOrd="0" presId="urn:microsoft.com/office/officeart/2005/8/layout/hierarchy2"/>
    <dgm:cxn modelId="{029E07B9-73F7-43B8-81AF-8F3741D20C78}" type="presOf" srcId="{0C841A73-0D51-49A2-9448-408BECFE8243}" destId="{C42BDC50-5C6C-42D3-85CE-211E669D37C8}" srcOrd="1" destOrd="0" presId="urn:microsoft.com/office/officeart/2005/8/layout/hierarchy2"/>
    <dgm:cxn modelId="{6692BCBE-0746-4C29-B1E8-07503D6FBB84}" srcId="{1C821DA1-7EAA-4C20-BFD3-560749FA5993}" destId="{D3D3F4C8-9A7D-4DB5-A533-5EB2BAF94C36}" srcOrd="0" destOrd="0" parTransId="{C8E57C21-33C7-4E1C-97DD-432B39683CA5}" sibTransId="{CCFA1CAE-AA41-4185-AD90-434C1008F674}"/>
    <dgm:cxn modelId="{9B6F79C2-249E-4512-A89D-DC93359038E4}" type="presOf" srcId="{0C841A73-0D51-49A2-9448-408BECFE8243}" destId="{1CBF4CD8-0466-44F0-98A3-96B5617BCC4A}" srcOrd="0" destOrd="0" presId="urn:microsoft.com/office/officeart/2005/8/layout/hierarchy2"/>
    <dgm:cxn modelId="{194AF1C3-8382-40BC-B214-D679BCC7C167}" srcId="{73E86CD4-CB19-4451-BF86-56BD807C80B3}" destId="{D1609598-86EF-4DA1-913B-2B53234EFD1D}" srcOrd="1" destOrd="0" parTransId="{18A04876-E8A0-4A39-A8D5-506FC0C91485}" sibTransId="{EB7902C6-66E4-4626-9ADA-ED5755BF6C3C}"/>
    <dgm:cxn modelId="{528407C5-7960-4B13-96D0-058A87460DFE}" type="presOf" srcId="{5CCE2ED3-C15F-4BAC-88FD-FD2EC2A90FED}" destId="{282643F5-0F05-46EE-8FF2-9BA73940CDCB}" srcOrd="1" destOrd="0" presId="urn:microsoft.com/office/officeart/2005/8/layout/hierarchy2"/>
    <dgm:cxn modelId="{08B4EDC7-A0CE-4AC4-856D-171A22F2322F}" type="presOf" srcId="{3A5C25BE-391E-4385-95AD-8764E6F5039E}" destId="{5AE5E1C5-B6FD-47C3-A855-EE8B37DCB553}" srcOrd="1" destOrd="0" presId="urn:microsoft.com/office/officeart/2005/8/layout/hierarchy2"/>
    <dgm:cxn modelId="{C5554AC9-EF63-429C-A147-8811DF0B48D9}" type="presOf" srcId="{270B9C55-845F-451A-9708-0E403890E6EA}" destId="{B6D1ECAA-9CA3-4ADC-8BF0-56955BAC7A52}" srcOrd="0" destOrd="0" presId="urn:microsoft.com/office/officeart/2005/8/layout/hierarchy2"/>
    <dgm:cxn modelId="{E7DA24CA-0C86-40E8-9B0E-605E507BB8D7}" srcId="{AC80B35B-F4FD-4C38-BCF2-D6236072EA2F}" destId="{1C821DA1-7EAA-4C20-BFD3-560749FA5993}" srcOrd="0" destOrd="0" parTransId="{8D5C85FD-CABB-4DF1-AA42-9B780A52C35E}" sibTransId="{73D72368-6583-4637-A4C6-66DE867E4D96}"/>
    <dgm:cxn modelId="{564FC7CC-AE7E-4C22-8A74-08E311426A53}" type="presOf" srcId="{C4EA42DF-A999-4A8A-87B6-87551532FED6}" destId="{D429F5ED-4893-4FCC-8C97-8F090F5A240B}" srcOrd="0" destOrd="0" presId="urn:microsoft.com/office/officeart/2005/8/layout/hierarchy2"/>
    <dgm:cxn modelId="{0C5EF3CF-718D-4E64-98C3-A10FE8F01574}" type="presOf" srcId="{72E03272-2CE7-43B1-9F33-E55046BCAB8F}" destId="{438E07A9-E6A6-4888-8F8D-8B907B3EBD78}" srcOrd="1" destOrd="0" presId="urn:microsoft.com/office/officeart/2005/8/layout/hierarchy2"/>
    <dgm:cxn modelId="{45663ED4-EFF9-45EC-8B5F-379A052D2581}" type="presOf" srcId="{73E86CD4-CB19-4451-BF86-56BD807C80B3}" destId="{AE0E03A7-2ABA-415D-889B-8F96136B8273}" srcOrd="0" destOrd="0" presId="urn:microsoft.com/office/officeart/2005/8/layout/hierarchy2"/>
    <dgm:cxn modelId="{594753E2-B48B-45D8-986F-3F5F94EC71D3}" srcId="{73E86CD4-CB19-4451-BF86-56BD807C80B3}" destId="{1A497859-B845-47B8-8064-304EBAB4B65A}" srcOrd="0" destOrd="0" parTransId="{72E03272-2CE7-43B1-9F33-E55046BCAB8F}" sibTransId="{B4172E49-5585-48E1-81C2-CFFB21C64D30}"/>
    <dgm:cxn modelId="{D9B12EE9-EA1F-4AF4-BECB-89B692023588}" srcId="{B0AB7BC2-A632-479C-A6F6-A303F3E63018}" destId="{AC80B35B-F4FD-4C38-BCF2-D6236072EA2F}" srcOrd="0" destOrd="0" parTransId="{F3A66871-1B76-45FD-8DF3-3DE7E2B90B58}" sibTransId="{93C31A3B-EDFE-46A6-B43C-92594734732E}"/>
    <dgm:cxn modelId="{91883BFA-B511-49CF-8394-928E601B3DEE}" type="presOf" srcId="{1C821DA1-7EAA-4C20-BFD3-560749FA5993}" destId="{3B9D366C-6424-4F12-B631-C7EF93928ACB}" srcOrd="0" destOrd="0" presId="urn:microsoft.com/office/officeart/2005/8/layout/hierarchy2"/>
    <dgm:cxn modelId="{414231FD-01A1-4496-A57B-34A1D4ADAA91}" type="presOf" srcId="{5CCE2ED3-C15F-4BAC-88FD-FD2EC2A90FED}" destId="{545F2178-4852-44FA-BC68-710415041768}" srcOrd="0" destOrd="0" presId="urn:microsoft.com/office/officeart/2005/8/layout/hierarchy2"/>
    <dgm:cxn modelId="{6A778DFD-618C-451A-8330-DC3E3076189A}" type="presOf" srcId="{18A04876-E8A0-4A39-A8D5-506FC0C91485}" destId="{50C248BB-B7C2-45BA-92A5-B9EAA4E19D2B}" srcOrd="1" destOrd="0" presId="urn:microsoft.com/office/officeart/2005/8/layout/hierarchy2"/>
    <dgm:cxn modelId="{6DF34316-FA59-4E15-B40D-E3FCD3EB65D7}" type="presParOf" srcId="{FC33A585-D01D-47B8-AE9A-918BCA547CED}" destId="{C4FF1715-168B-4E15-99DB-A08369179879}" srcOrd="0" destOrd="0" presId="urn:microsoft.com/office/officeart/2005/8/layout/hierarchy2"/>
    <dgm:cxn modelId="{F725069B-D5E5-468C-B233-99A4E41AF4C1}" type="presParOf" srcId="{C4FF1715-168B-4E15-99DB-A08369179879}" destId="{1F18F146-F9C8-4F6D-A5DA-1B1D85BCB70F}" srcOrd="0" destOrd="0" presId="urn:microsoft.com/office/officeart/2005/8/layout/hierarchy2"/>
    <dgm:cxn modelId="{8BA859CF-4C31-4E44-A3C0-EDDAFD81D589}" type="presParOf" srcId="{C4FF1715-168B-4E15-99DB-A08369179879}" destId="{E858D86F-062C-4B51-BC39-5B0598AF3917}" srcOrd="1" destOrd="0" presId="urn:microsoft.com/office/officeart/2005/8/layout/hierarchy2"/>
    <dgm:cxn modelId="{B5158F32-1737-4B2E-A1FA-CA9FE9B84313}" type="presParOf" srcId="{E858D86F-062C-4B51-BC39-5B0598AF3917}" destId="{EA477DE6-ED4E-4B20-87CF-EE917722D3D1}" srcOrd="0" destOrd="0" presId="urn:microsoft.com/office/officeart/2005/8/layout/hierarchy2"/>
    <dgm:cxn modelId="{B9859915-0E9B-4EF0-84F9-5F13316456CD}" type="presParOf" srcId="{EA477DE6-ED4E-4B20-87CF-EE917722D3D1}" destId="{4A1CE616-0E01-4191-AFED-39333E5BCD68}" srcOrd="0" destOrd="0" presId="urn:microsoft.com/office/officeart/2005/8/layout/hierarchy2"/>
    <dgm:cxn modelId="{F3B7E0F0-5F10-4063-8CC1-03583AB3752C}" type="presParOf" srcId="{E858D86F-062C-4B51-BC39-5B0598AF3917}" destId="{D12B47FB-6C16-4DA8-A1E9-D68933EF9EFF}" srcOrd="1" destOrd="0" presId="urn:microsoft.com/office/officeart/2005/8/layout/hierarchy2"/>
    <dgm:cxn modelId="{4C88BE4C-FEED-4B2E-9CE5-A028CE561FCA}" type="presParOf" srcId="{D12B47FB-6C16-4DA8-A1E9-D68933EF9EFF}" destId="{3B9D366C-6424-4F12-B631-C7EF93928ACB}" srcOrd="0" destOrd="0" presId="urn:microsoft.com/office/officeart/2005/8/layout/hierarchy2"/>
    <dgm:cxn modelId="{CDC3332C-77C1-4C13-9467-2B73D3A2FB9A}" type="presParOf" srcId="{D12B47FB-6C16-4DA8-A1E9-D68933EF9EFF}" destId="{C6D6C08A-FE95-4A0C-B1B0-B64975280702}" srcOrd="1" destOrd="0" presId="urn:microsoft.com/office/officeart/2005/8/layout/hierarchy2"/>
    <dgm:cxn modelId="{917E3ACF-F5B0-4FCF-BF50-7D8E1DA07528}" type="presParOf" srcId="{C6D6C08A-FE95-4A0C-B1B0-B64975280702}" destId="{B024AB5E-BA2A-4796-ADDE-3E1EFD3FAB06}" srcOrd="0" destOrd="0" presId="urn:microsoft.com/office/officeart/2005/8/layout/hierarchy2"/>
    <dgm:cxn modelId="{A5675C78-A447-40C0-93BD-68BE8BFB1508}" type="presParOf" srcId="{B024AB5E-BA2A-4796-ADDE-3E1EFD3FAB06}" destId="{6329A81C-25EB-4F49-B9AD-03C9EC7B0303}" srcOrd="0" destOrd="0" presId="urn:microsoft.com/office/officeart/2005/8/layout/hierarchy2"/>
    <dgm:cxn modelId="{A865DCFA-F961-4CE0-B843-A0EB0DBDDEE9}" type="presParOf" srcId="{C6D6C08A-FE95-4A0C-B1B0-B64975280702}" destId="{6EFDAE4E-AC72-4AFE-8481-5283FB457604}" srcOrd="1" destOrd="0" presId="urn:microsoft.com/office/officeart/2005/8/layout/hierarchy2"/>
    <dgm:cxn modelId="{89209A45-8B3E-4963-BA0D-810CC8328051}" type="presParOf" srcId="{6EFDAE4E-AC72-4AFE-8481-5283FB457604}" destId="{BA2FB1B9-FB38-4113-A0EF-44E5A249F36A}" srcOrd="0" destOrd="0" presId="urn:microsoft.com/office/officeart/2005/8/layout/hierarchy2"/>
    <dgm:cxn modelId="{CACBA768-4FFB-4525-B188-E235B34F5300}" type="presParOf" srcId="{6EFDAE4E-AC72-4AFE-8481-5283FB457604}" destId="{A3BBB096-D41E-437E-8D50-6AE0787A6667}" srcOrd="1" destOrd="0" presId="urn:microsoft.com/office/officeart/2005/8/layout/hierarchy2"/>
    <dgm:cxn modelId="{2C56713D-F591-4A98-B8B1-7201E4D1E8F5}" type="presParOf" srcId="{C6D6C08A-FE95-4A0C-B1B0-B64975280702}" destId="{545F2178-4852-44FA-BC68-710415041768}" srcOrd="2" destOrd="0" presId="urn:microsoft.com/office/officeart/2005/8/layout/hierarchy2"/>
    <dgm:cxn modelId="{AB9D35CC-55F0-4CB1-B915-69B658CE7ADA}" type="presParOf" srcId="{545F2178-4852-44FA-BC68-710415041768}" destId="{282643F5-0F05-46EE-8FF2-9BA73940CDCB}" srcOrd="0" destOrd="0" presId="urn:microsoft.com/office/officeart/2005/8/layout/hierarchy2"/>
    <dgm:cxn modelId="{98DDF8AB-18F9-4BC0-9188-B08B1046129C}" type="presParOf" srcId="{C6D6C08A-FE95-4A0C-B1B0-B64975280702}" destId="{622D4EED-F818-4778-8EE5-E03DC1AF3527}" srcOrd="3" destOrd="0" presId="urn:microsoft.com/office/officeart/2005/8/layout/hierarchy2"/>
    <dgm:cxn modelId="{C4E5420A-FFCA-4725-8B4B-77995C1F68EB}" type="presParOf" srcId="{622D4EED-F818-4778-8EE5-E03DC1AF3527}" destId="{D429F5ED-4893-4FCC-8C97-8F090F5A240B}" srcOrd="0" destOrd="0" presId="urn:microsoft.com/office/officeart/2005/8/layout/hierarchy2"/>
    <dgm:cxn modelId="{8E9B292F-586E-4EF4-9211-36D48E13832D}" type="presParOf" srcId="{622D4EED-F818-4778-8EE5-E03DC1AF3527}" destId="{E954BBEF-A968-4966-A8A4-9689DD893FD2}" srcOrd="1" destOrd="0" presId="urn:microsoft.com/office/officeart/2005/8/layout/hierarchy2"/>
    <dgm:cxn modelId="{ED924BE5-CC88-4831-87B6-A5B63C48D0E2}" type="presParOf" srcId="{E954BBEF-A968-4966-A8A4-9689DD893FD2}" destId="{194B5258-BAEA-4F3B-8B30-D40F41E29378}" srcOrd="0" destOrd="0" presId="urn:microsoft.com/office/officeart/2005/8/layout/hierarchy2"/>
    <dgm:cxn modelId="{7DE70EEC-A1C9-4B8F-B06E-4DA8A7E607AD}" type="presParOf" srcId="{194B5258-BAEA-4F3B-8B30-D40F41E29378}" destId="{5AE5E1C5-B6FD-47C3-A855-EE8B37DCB553}" srcOrd="0" destOrd="0" presId="urn:microsoft.com/office/officeart/2005/8/layout/hierarchy2"/>
    <dgm:cxn modelId="{942298F1-88B8-4669-8520-7CFAC739946D}" type="presParOf" srcId="{E954BBEF-A968-4966-A8A4-9689DD893FD2}" destId="{4A01DE4A-E5F1-4C56-BFBC-B8BA1BE42A4F}" srcOrd="1" destOrd="0" presId="urn:microsoft.com/office/officeart/2005/8/layout/hierarchy2"/>
    <dgm:cxn modelId="{114D30EB-466F-4C98-A6F0-3BB1125B0587}" type="presParOf" srcId="{4A01DE4A-E5F1-4C56-BFBC-B8BA1BE42A4F}" destId="{A3FF0EBF-C15E-464F-A92E-7241F89AE657}" srcOrd="0" destOrd="0" presId="urn:microsoft.com/office/officeart/2005/8/layout/hierarchy2"/>
    <dgm:cxn modelId="{F9DE3145-4260-4DB9-8461-1AD710B38822}" type="presParOf" srcId="{4A01DE4A-E5F1-4C56-BFBC-B8BA1BE42A4F}" destId="{FCB98730-F436-42EA-9B89-020D31E1BBCA}" srcOrd="1" destOrd="0" presId="urn:microsoft.com/office/officeart/2005/8/layout/hierarchy2"/>
    <dgm:cxn modelId="{641AB937-1209-4495-B129-F35CDD165255}" type="presParOf" srcId="{E954BBEF-A968-4966-A8A4-9689DD893FD2}" destId="{F943F0D9-7EAF-4FC6-BEF7-64C1EFE1995C}" srcOrd="2" destOrd="0" presId="urn:microsoft.com/office/officeart/2005/8/layout/hierarchy2"/>
    <dgm:cxn modelId="{21BE9451-9722-438D-8F21-3A357DA4B805}" type="presParOf" srcId="{F943F0D9-7EAF-4FC6-BEF7-64C1EFE1995C}" destId="{19FBE4EF-07C9-4A0C-AC37-10648B7C1037}" srcOrd="0" destOrd="0" presId="urn:microsoft.com/office/officeart/2005/8/layout/hierarchy2"/>
    <dgm:cxn modelId="{7B7B5D23-0357-48ED-8E5C-8D9D25122634}" type="presParOf" srcId="{E954BBEF-A968-4966-A8A4-9689DD893FD2}" destId="{0DDB6C2E-A220-4426-9D7F-09A09C11AAC9}" srcOrd="3" destOrd="0" presId="urn:microsoft.com/office/officeart/2005/8/layout/hierarchy2"/>
    <dgm:cxn modelId="{D0B35658-B0F0-4E22-8096-7AFB683AFA1A}" type="presParOf" srcId="{0DDB6C2E-A220-4426-9D7F-09A09C11AAC9}" destId="{AE0E03A7-2ABA-415D-889B-8F96136B8273}" srcOrd="0" destOrd="0" presId="urn:microsoft.com/office/officeart/2005/8/layout/hierarchy2"/>
    <dgm:cxn modelId="{AE19AD02-632B-4640-8A0C-ECB65D1732D3}" type="presParOf" srcId="{0DDB6C2E-A220-4426-9D7F-09A09C11AAC9}" destId="{561AEC01-554C-4FF4-BB33-A8C184BCFE9D}" srcOrd="1" destOrd="0" presId="urn:microsoft.com/office/officeart/2005/8/layout/hierarchy2"/>
    <dgm:cxn modelId="{B9281980-C68A-46EA-B7AD-0148152C5FAD}" type="presParOf" srcId="{561AEC01-554C-4FF4-BB33-A8C184BCFE9D}" destId="{083B09E9-BD95-45D2-9464-3A21502311F8}" srcOrd="0" destOrd="0" presId="urn:microsoft.com/office/officeart/2005/8/layout/hierarchy2"/>
    <dgm:cxn modelId="{07AA067B-F150-4E04-9F80-7956E195198C}" type="presParOf" srcId="{083B09E9-BD95-45D2-9464-3A21502311F8}" destId="{438E07A9-E6A6-4888-8F8D-8B907B3EBD78}" srcOrd="0" destOrd="0" presId="urn:microsoft.com/office/officeart/2005/8/layout/hierarchy2"/>
    <dgm:cxn modelId="{9FB676A7-D88A-4F5D-AAA2-DEC1E151C9F3}" type="presParOf" srcId="{561AEC01-554C-4FF4-BB33-A8C184BCFE9D}" destId="{54FAC807-21FE-4157-BAAF-A99B6B5C095C}" srcOrd="1" destOrd="0" presId="urn:microsoft.com/office/officeart/2005/8/layout/hierarchy2"/>
    <dgm:cxn modelId="{860B05C2-F21A-46E3-936F-DC3AA4E48B68}" type="presParOf" srcId="{54FAC807-21FE-4157-BAAF-A99B6B5C095C}" destId="{1EC4CE40-BEA5-458D-8748-45F89B1E8694}" srcOrd="0" destOrd="0" presId="urn:microsoft.com/office/officeart/2005/8/layout/hierarchy2"/>
    <dgm:cxn modelId="{FF0C5FD2-6213-40AD-B6DB-EFB4C0431604}" type="presParOf" srcId="{54FAC807-21FE-4157-BAAF-A99B6B5C095C}" destId="{C314AE4B-9411-4529-B1A5-71C67A5DBB78}" srcOrd="1" destOrd="0" presId="urn:microsoft.com/office/officeart/2005/8/layout/hierarchy2"/>
    <dgm:cxn modelId="{418571A7-CAF5-4EBB-8AB1-63D59AD737C5}" type="presParOf" srcId="{561AEC01-554C-4FF4-BB33-A8C184BCFE9D}" destId="{2A7446CB-E3B9-4EF3-B682-BAA356A2B9ED}" srcOrd="2" destOrd="0" presId="urn:microsoft.com/office/officeart/2005/8/layout/hierarchy2"/>
    <dgm:cxn modelId="{91664FEF-16AF-4CBF-A218-0A1E9A8C43DE}" type="presParOf" srcId="{2A7446CB-E3B9-4EF3-B682-BAA356A2B9ED}" destId="{50C248BB-B7C2-45BA-92A5-B9EAA4E19D2B}" srcOrd="0" destOrd="0" presId="urn:microsoft.com/office/officeart/2005/8/layout/hierarchy2"/>
    <dgm:cxn modelId="{1FEFAFAD-F955-43E2-AF56-FB93899BE7E0}" type="presParOf" srcId="{561AEC01-554C-4FF4-BB33-A8C184BCFE9D}" destId="{293D8B6F-B47E-481E-A0D8-0B531051C83A}" srcOrd="3" destOrd="0" presId="urn:microsoft.com/office/officeart/2005/8/layout/hierarchy2"/>
    <dgm:cxn modelId="{5AD9372B-0CA5-4D6E-BA18-FE4EDC5F90B1}" type="presParOf" srcId="{293D8B6F-B47E-481E-A0D8-0B531051C83A}" destId="{B82D20BD-B013-48D5-8913-D92C79E83F9E}" srcOrd="0" destOrd="0" presId="urn:microsoft.com/office/officeart/2005/8/layout/hierarchy2"/>
    <dgm:cxn modelId="{30E5DD5A-4964-4D63-B1EB-380B96D671A2}" type="presParOf" srcId="{293D8B6F-B47E-481E-A0D8-0B531051C83A}" destId="{9FDA2B45-F6D3-4A19-AC43-F33F0708F87B}" srcOrd="1" destOrd="0" presId="urn:microsoft.com/office/officeart/2005/8/layout/hierarchy2"/>
    <dgm:cxn modelId="{1B6E7C27-F1B8-4963-917C-7935E6DB5815}" type="presParOf" srcId="{E858D86F-062C-4B51-BC39-5B0598AF3917}" destId="{1CBF4CD8-0466-44F0-98A3-96B5617BCC4A}" srcOrd="2" destOrd="0" presId="urn:microsoft.com/office/officeart/2005/8/layout/hierarchy2"/>
    <dgm:cxn modelId="{DFFD4F74-CB2F-4CFA-8526-2AE2D9ABFAD8}" type="presParOf" srcId="{1CBF4CD8-0466-44F0-98A3-96B5617BCC4A}" destId="{C42BDC50-5C6C-42D3-85CE-211E669D37C8}" srcOrd="0" destOrd="0" presId="urn:microsoft.com/office/officeart/2005/8/layout/hierarchy2"/>
    <dgm:cxn modelId="{94BBB8DC-CA3B-4BAD-997A-70C4F6CFF30A}" type="presParOf" srcId="{E858D86F-062C-4B51-BC39-5B0598AF3917}" destId="{38D5A110-DD8D-43F7-909A-425CC7C403D8}" srcOrd="3" destOrd="0" presId="urn:microsoft.com/office/officeart/2005/8/layout/hierarchy2"/>
    <dgm:cxn modelId="{14AB76D9-4D37-4126-85B7-08534F7EF38A}" type="presParOf" srcId="{38D5A110-DD8D-43F7-909A-425CC7C403D8}" destId="{B6D1ECAA-9CA3-4ADC-8BF0-56955BAC7A52}" srcOrd="0" destOrd="0" presId="urn:microsoft.com/office/officeart/2005/8/layout/hierarchy2"/>
    <dgm:cxn modelId="{75D9F148-52FE-4CB1-BE77-7BCD0C440627}" type="presParOf" srcId="{38D5A110-DD8D-43F7-909A-425CC7C403D8}" destId="{C8DA4432-8DA9-47A3-8F69-E8656DC27B5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18F146-F9C8-4F6D-A5DA-1B1D85BCB70F}">
      <dsp:nvSpPr>
        <dsp:cNvPr id="0" name=""/>
        <dsp:cNvSpPr/>
      </dsp:nvSpPr>
      <dsp:spPr>
        <a:xfrm>
          <a:off x="0" y="1420812"/>
          <a:ext cx="1222374" cy="6111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SRC accessible via SSH?</a:t>
          </a:r>
        </a:p>
      </dsp:txBody>
      <dsp:txXfrm>
        <a:off x="17901" y="1438713"/>
        <a:ext cx="1186572" cy="575385"/>
      </dsp:txXfrm>
    </dsp:sp>
    <dsp:sp modelId="{EA477DE6-ED4E-4B20-87CF-EE917722D3D1}">
      <dsp:nvSpPr>
        <dsp:cNvPr id="0" name=""/>
        <dsp:cNvSpPr/>
      </dsp:nvSpPr>
      <dsp:spPr>
        <a:xfrm>
          <a:off x="1222375" y="1712871"/>
          <a:ext cx="493712" cy="27070"/>
        </a:xfrm>
        <a:custGeom>
          <a:avLst/>
          <a:gdLst/>
          <a:ahLst/>
          <a:cxnLst/>
          <a:rect l="0" t="0" r="0" b="0"/>
          <a:pathLst>
            <a:path>
              <a:moveTo>
                <a:pt x="0" y="13535"/>
              </a:moveTo>
              <a:lnTo>
                <a:pt x="130370" y="13535"/>
              </a:lnTo>
            </a:path>
            <a:path>
              <a:moveTo>
                <a:pt x="363341" y="13535"/>
              </a:moveTo>
              <a:lnTo>
                <a:pt x="493712" y="1353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YES</a:t>
          </a:r>
        </a:p>
      </dsp:txBody>
      <dsp:txXfrm>
        <a:off x="1352745" y="1664692"/>
        <a:ext cx="232970" cy="123428"/>
      </dsp:txXfrm>
    </dsp:sp>
    <dsp:sp modelId="{3B9D366C-6424-4F12-B631-C7EF93928ACB}">
      <dsp:nvSpPr>
        <dsp:cNvPr id="0" name=""/>
        <dsp:cNvSpPr/>
      </dsp:nvSpPr>
      <dsp:spPr>
        <a:xfrm>
          <a:off x="1716087" y="1420812"/>
          <a:ext cx="1222374" cy="6111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DST port reachable?</a:t>
          </a:r>
        </a:p>
      </dsp:txBody>
      <dsp:txXfrm>
        <a:off x="1733988" y="1438713"/>
        <a:ext cx="1186572" cy="575385"/>
      </dsp:txXfrm>
    </dsp:sp>
    <dsp:sp modelId="{B024AB5E-BA2A-4796-ADDE-3E1EFD3FAB06}">
      <dsp:nvSpPr>
        <dsp:cNvPr id="0" name=""/>
        <dsp:cNvSpPr/>
      </dsp:nvSpPr>
      <dsp:spPr>
        <a:xfrm rot="3582594">
          <a:off x="2697451" y="2132766"/>
          <a:ext cx="972561" cy="27070"/>
        </a:xfrm>
        <a:custGeom>
          <a:avLst/>
          <a:gdLst/>
          <a:ahLst/>
          <a:cxnLst/>
          <a:rect l="0" t="0" r="0" b="0"/>
          <a:pathLst>
            <a:path>
              <a:moveTo>
                <a:pt x="0" y="13535"/>
              </a:moveTo>
              <a:lnTo>
                <a:pt x="393583" y="13535"/>
              </a:lnTo>
            </a:path>
            <a:path>
              <a:moveTo>
                <a:pt x="578977" y="13535"/>
              </a:moveTo>
              <a:lnTo>
                <a:pt x="972561" y="1353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YES</a:t>
          </a:r>
        </a:p>
      </dsp:txBody>
      <dsp:txXfrm>
        <a:off x="3091034" y="2024731"/>
        <a:ext cx="185394" cy="243140"/>
      </dsp:txXfrm>
    </dsp:sp>
    <dsp:sp modelId="{BA2FB1B9-FB38-4113-A0EF-44E5A249F36A}">
      <dsp:nvSpPr>
        <dsp:cNvPr id="0" name=""/>
        <dsp:cNvSpPr/>
      </dsp:nvSpPr>
      <dsp:spPr>
        <a:xfrm>
          <a:off x="3429001" y="2260602"/>
          <a:ext cx="1222374" cy="611187"/>
        </a:xfrm>
        <a:prstGeom prst="roundRect">
          <a:avLst>
            <a:gd name="adj" fmla="val 10000"/>
          </a:avLst>
        </a:prstGeom>
        <a:solidFill>
          <a:schemeClr val="accent3">
            <a:lumMod val="60000"/>
            <a:lumOff val="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PORT IS OPEN</a:t>
          </a:r>
        </a:p>
      </dsp:txBody>
      <dsp:txXfrm>
        <a:off x="3446902" y="2278503"/>
        <a:ext cx="1186572" cy="575385"/>
      </dsp:txXfrm>
    </dsp:sp>
    <dsp:sp modelId="{545F2178-4852-44FA-BC68-710415041768}">
      <dsp:nvSpPr>
        <dsp:cNvPr id="0" name=""/>
        <dsp:cNvSpPr/>
      </dsp:nvSpPr>
      <dsp:spPr>
        <a:xfrm>
          <a:off x="2938462" y="1712871"/>
          <a:ext cx="490539" cy="27070"/>
        </a:xfrm>
        <a:custGeom>
          <a:avLst/>
          <a:gdLst/>
          <a:ahLst/>
          <a:cxnLst/>
          <a:rect l="0" t="0" r="0" b="0"/>
          <a:pathLst>
            <a:path>
              <a:moveTo>
                <a:pt x="0" y="13535"/>
              </a:moveTo>
              <a:lnTo>
                <a:pt x="164024" y="13535"/>
              </a:lnTo>
            </a:path>
            <a:path>
              <a:moveTo>
                <a:pt x="326515" y="13535"/>
              </a:moveTo>
              <a:lnTo>
                <a:pt x="490539" y="1353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NO</a:t>
          </a:r>
        </a:p>
      </dsp:txBody>
      <dsp:txXfrm>
        <a:off x="3102486" y="1665088"/>
        <a:ext cx="162491" cy="122634"/>
      </dsp:txXfrm>
    </dsp:sp>
    <dsp:sp modelId="{D429F5ED-4893-4FCC-8C97-8F090F5A240B}">
      <dsp:nvSpPr>
        <dsp:cNvPr id="0" name=""/>
        <dsp:cNvSpPr/>
      </dsp:nvSpPr>
      <dsp:spPr>
        <a:xfrm>
          <a:off x="3429001" y="1420812"/>
          <a:ext cx="1222374" cy="6111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DST Accessible via SSH?</a:t>
          </a:r>
        </a:p>
      </dsp:txBody>
      <dsp:txXfrm>
        <a:off x="3446902" y="1438713"/>
        <a:ext cx="1186572" cy="575385"/>
      </dsp:txXfrm>
    </dsp:sp>
    <dsp:sp modelId="{194B5258-BAEA-4F3B-8B30-D40F41E29378}">
      <dsp:nvSpPr>
        <dsp:cNvPr id="0" name=""/>
        <dsp:cNvSpPr/>
      </dsp:nvSpPr>
      <dsp:spPr>
        <a:xfrm rot="17885892">
          <a:off x="4377671" y="1256463"/>
          <a:ext cx="1034771" cy="27070"/>
        </a:xfrm>
        <a:custGeom>
          <a:avLst/>
          <a:gdLst/>
          <a:ahLst/>
          <a:cxnLst/>
          <a:rect l="0" t="0" r="0" b="0"/>
          <a:pathLst>
            <a:path>
              <a:moveTo>
                <a:pt x="0" y="13535"/>
              </a:moveTo>
              <a:lnTo>
                <a:pt x="430885" y="13535"/>
              </a:lnTo>
            </a:path>
            <a:path>
              <a:moveTo>
                <a:pt x="603885" y="13535"/>
              </a:moveTo>
              <a:lnTo>
                <a:pt x="1034771" y="1353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YES</a:t>
          </a:r>
        </a:p>
      </dsp:txBody>
      <dsp:txXfrm>
        <a:off x="4808556" y="1140652"/>
        <a:ext cx="173000" cy="258692"/>
      </dsp:txXfrm>
    </dsp:sp>
    <dsp:sp modelId="{A3FF0EBF-C15E-464F-A92E-7241F89AE657}">
      <dsp:nvSpPr>
        <dsp:cNvPr id="0" name=""/>
        <dsp:cNvSpPr/>
      </dsp:nvSpPr>
      <dsp:spPr>
        <a:xfrm>
          <a:off x="5138737" y="507997"/>
          <a:ext cx="1222374" cy="611187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DST ERROR</a:t>
          </a:r>
        </a:p>
      </dsp:txBody>
      <dsp:txXfrm>
        <a:off x="5156638" y="525898"/>
        <a:ext cx="1186572" cy="575385"/>
      </dsp:txXfrm>
    </dsp:sp>
    <dsp:sp modelId="{F943F0D9-7EAF-4FC6-BEF7-64C1EFE1995C}">
      <dsp:nvSpPr>
        <dsp:cNvPr id="0" name=""/>
        <dsp:cNvSpPr/>
      </dsp:nvSpPr>
      <dsp:spPr>
        <a:xfrm>
          <a:off x="4651376" y="1712871"/>
          <a:ext cx="487360" cy="27070"/>
        </a:xfrm>
        <a:custGeom>
          <a:avLst/>
          <a:gdLst/>
          <a:ahLst/>
          <a:cxnLst/>
          <a:rect l="0" t="0" r="0" b="0"/>
          <a:pathLst>
            <a:path>
              <a:moveTo>
                <a:pt x="0" y="13535"/>
              </a:moveTo>
              <a:lnTo>
                <a:pt x="157250" y="13535"/>
              </a:lnTo>
            </a:path>
            <a:path>
              <a:moveTo>
                <a:pt x="330110" y="13535"/>
              </a:moveTo>
              <a:lnTo>
                <a:pt x="487360" y="1353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YES</a:t>
          </a:r>
        </a:p>
      </dsp:txBody>
      <dsp:txXfrm>
        <a:off x="4808626" y="1665486"/>
        <a:ext cx="172860" cy="121840"/>
      </dsp:txXfrm>
    </dsp:sp>
    <dsp:sp modelId="{AE0E03A7-2ABA-415D-889B-8F96136B8273}">
      <dsp:nvSpPr>
        <dsp:cNvPr id="0" name=""/>
        <dsp:cNvSpPr/>
      </dsp:nvSpPr>
      <dsp:spPr>
        <a:xfrm>
          <a:off x="5138737" y="1420812"/>
          <a:ext cx="1222374" cy="611187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DST Port Reachable with module?</a:t>
          </a:r>
        </a:p>
      </dsp:txBody>
      <dsp:txXfrm>
        <a:off x="5156638" y="1438713"/>
        <a:ext cx="1186572" cy="575385"/>
      </dsp:txXfrm>
    </dsp:sp>
    <dsp:sp modelId="{083B09E9-BD95-45D2-9464-3A21502311F8}">
      <dsp:nvSpPr>
        <dsp:cNvPr id="0" name=""/>
        <dsp:cNvSpPr/>
      </dsp:nvSpPr>
      <dsp:spPr>
        <a:xfrm>
          <a:off x="6361112" y="1712871"/>
          <a:ext cx="488950" cy="27070"/>
        </a:xfrm>
        <a:custGeom>
          <a:avLst/>
          <a:gdLst/>
          <a:ahLst/>
          <a:cxnLst/>
          <a:rect l="0" t="0" r="0" b="0"/>
          <a:pathLst>
            <a:path>
              <a:moveTo>
                <a:pt x="0" y="13535"/>
              </a:moveTo>
              <a:lnTo>
                <a:pt x="163492" y="13535"/>
              </a:lnTo>
            </a:path>
            <a:path>
              <a:moveTo>
                <a:pt x="325457" y="13535"/>
              </a:moveTo>
              <a:lnTo>
                <a:pt x="488950" y="1353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NO</a:t>
          </a:r>
        </a:p>
      </dsp:txBody>
      <dsp:txXfrm>
        <a:off x="6524605" y="1665287"/>
        <a:ext cx="161964" cy="122237"/>
      </dsp:txXfrm>
    </dsp:sp>
    <dsp:sp modelId="{1EC4CE40-BEA5-458D-8748-45F89B1E8694}">
      <dsp:nvSpPr>
        <dsp:cNvPr id="0" name=""/>
        <dsp:cNvSpPr/>
      </dsp:nvSpPr>
      <dsp:spPr>
        <a:xfrm>
          <a:off x="6850062" y="1420812"/>
          <a:ext cx="1222374" cy="611187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PORT IS  CLOSED</a:t>
          </a:r>
        </a:p>
      </dsp:txBody>
      <dsp:txXfrm>
        <a:off x="6867963" y="1438713"/>
        <a:ext cx="1186572" cy="575385"/>
      </dsp:txXfrm>
    </dsp:sp>
    <dsp:sp modelId="{2A7446CB-E3B9-4EF3-B682-BAA356A2B9ED}">
      <dsp:nvSpPr>
        <dsp:cNvPr id="0" name=""/>
        <dsp:cNvSpPr/>
      </dsp:nvSpPr>
      <dsp:spPr>
        <a:xfrm rot="3587448">
          <a:off x="6119707" y="2132766"/>
          <a:ext cx="971760" cy="27070"/>
        </a:xfrm>
        <a:custGeom>
          <a:avLst/>
          <a:gdLst/>
          <a:ahLst/>
          <a:cxnLst/>
          <a:rect l="0" t="0" r="0" b="0"/>
          <a:pathLst>
            <a:path>
              <a:moveTo>
                <a:pt x="0" y="13535"/>
              </a:moveTo>
              <a:lnTo>
                <a:pt x="393259" y="13535"/>
              </a:lnTo>
            </a:path>
            <a:path>
              <a:moveTo>
                <a:pt x="578501" y="13535"/>
              </a:moveTo>
              <a:lnTo>
                <a:pt x="971760" y="1353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YES</a:t>
          </a:r>
        </a:p>
      </dsp:txBody>
      <dsp:txXfrm>
        <a:off x="6512966" y="2024831"/>
        <a:ext cx="185241" cy="242940"/>
      </dsp:txXfrm>
    </dsp:sp>
    <dsp:sp modelId="{B82D20BD-B013-48D5-8913-D92C79E83F9E}">
      <dsp:nvSpPr>
        <dsp:cNvPr id="0" name=""/>
        <dsp:cNvSpPr/>
      </dsp:nvSpPr>
      <dsp:spPr>
        <a:xfrm>
          <a:off x="6850062" y="2260602"/>
          <a:ext cx="1222374" cy="611187"/>
        </a:xfrm>
        <a:prstGeom prst="roundRect">
          <a:avLst>
            <a:gd name="adj" fmla="val 10000"/>
          </a:avLst>
        </a:prstGeom>
        <a:solidFill>
          <a:schemeClr val="accent3">
            <a:lumMod val="60000"/>
            <a:lumOff val="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PORT IS OPEN</a:t>
          </a:r>
        </a:p>
      </dsp:txBody>
      <dsp:txXfrm>
        <a:off x="6867963" y="2278503"/>
        <a:ext cx="1186572" cy="575385"/>
      </dsp:txXfrm>
    </dsp:sp>
    <dsp:sp modelId="{1CBF4CD8-0466-44F0-98A3-96B5617BCC4A}">
      <dsp:nvSpPr>
        <dsp:cNvPr id="0" name=""/>
        <dsp:cNvSpPr/>
      </dsp:nvSpPr>
      <dsp:spPr>
        <a:xfrm rot="18022104">
          <a:off x="980946" y="1291582"/>
          <a:ext cx="976569" cy="27070"/>
        </a:xfrm>
        <a:custGeom>
          <a:avLst/>
          <a:gdLst/>
          <a:ahLst/>
          <a:cxnLst/>
          <a:rect l="0" t="0" r="0" b="0"/>
          <a:pathLst>
            <a:path>
              <a:moveTo>
                <a:pt x="0" y="13535"/>
              </a:moveTo>
              <a:lnTo>
                <a:pt x="406649" y="13535"/>
              </a:lnTo>
            </a:path>
            <a:path>
              <a:moveTo>
                <a:pt x="569919" y="13535"/>
              </a:moveTo>
              <a:lnTo>
                <a:pt x="976569" y="1353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NO</a:t>
          </a:r>
        </a:p>
      </dsp:txBody>
      <dsp:txXfrm>
        <a:off x="1387596" y="1192201"/>
        <a:ext cx="163270" cy="225831"/>
      </dsp:txXfrm>
    </dsp:sp>
    <dsp:sp modelId="{B6D1ECAA-9CA3-4ADC-8BF0-56955BAC7A52}">
      <dsp:nvSpPr>
        <dsp:cNvPr id="0" name=""/>
        <dsp:cNvSpPr/>
      </dsp:nvSpPr>
      <dsp:spPr>
        <a:xfrm>
          <a:off x="1716087" y="578235"/>
          <a:ext cx="1222374" cy="611187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SRC ERROR</a:t>
          </a:r>
        </a:p>
      </dsp:txBody>
      <dsp:txXfrm>
        <a:off x="1733988" y="596136"/>
        <a:ext cx="1186572" cy="5753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D3708-3DEA-4DFB-97F4-91921DB6B4A9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E12AE7-C797-4014-A510-F6D185F38EE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10191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1C08A5-9EA6-4DB5-B3DE-EC3959B6BEE2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1CDD34-F9B8-4A67-A2A8-C8600C491E5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4893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1CDD34-F9B8-4A67-A2A8-C8600C491E5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1967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AEF9C4A7-C381-76E8-8881-55A73640E35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035A48EC-2907-4B08-A5CD-2DD1AF2916EC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1A91D1-C7CC-A838-5960-8C1777EE058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70DB4D-875D-FD59-7DF4-E66F95A7B2E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600" y="4776840"/>
            <a:ext cx="6218280" cy="4525920"/>
          </a:xfrm>
        </p:spPr>
        <p:txBody>
          <a:bodyPr anchor="ctr" anchorCtr="0"/>
          <a:lstStyle/>
          <a:p>
            <a:endParaRPr lang="fr-FR" kern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9F1352FF-A710-A26C-D5E8-92F0F44A58C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399D9386-207A-4DE4-B443-9180396BD07B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75FD41-57AA-9059-F578-672CB931689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E17954-E044-C58B-9C0F-F0D40FB8209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600" y="4776840"/>
            <a:ext cx="6218280" cy="4525920"/>
          </a:xfrm>
        </p:spPr>
        <p:txBody>
          <a:bodyPr anchor="ctr" anchorCtr="0"/>
          <a:lstStyle/>
          <a:p>
            <a:endParaRPr lang="fr-FR" kern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7">
            <a:extLst>
              <a:ext uri="{FF2B5EF4-FFF2-40B4-BE49-F238E27FC236}">
                <a16:creationId xmlns:a16="http://schemas.microsoft.com/office/drawing/2014/main" id="{FB18C54A-13CE-7821-74CA-ED18D65B6C8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C13141A6-8C0C-4703-B4B9-14E8C8BABF90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8E4FDF-82DB-7623-7871-3CB2172C0E1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256156-EFDE-1235-735B-C440E04E328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023A1AC-8EBE-FC5D-B50B-53DA0A70CC8E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D49CB16E-5122-472E-B559-5A5CCD94079F}" type="slidenum">
              <a:t>12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3EF84B-32C3-31B2-64CB-0C1E4A82BD96}"/>
              </a:ext>
            </a:extLst>
          </p:cNvPr>
          <p:cNvSpPr txBox="1"/>
          <p:nvPr/>
        </p:nvSpPr>
        <p:spPr>
          <a:xfrm>
            <a:off x="1296000" y="4299840"/>
            <a:ext cx="4536000" cy="34041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/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- hosts: 127.0.0.1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gather_facts: no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connection: local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tasks: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- hosts: all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tasks: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- name: PING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ping: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register: result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- name: resultat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debug: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  msg: "{{ result }}"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5770DF6-58EB-23E5-B41F-D2E6CE10EB9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D460BD38-9994-4AA2-A826-D1E86B00A4BD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7DFCF7-C3D0-08C0-F97E-2A8A894B7CE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1086A-FC29-CE5F-5226-95AAB9B45EC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543DD23-CF3D-F9CD-351D-DF9A1A3B3825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2D8A7FF9-3FF4-4578-B5CD-704DB13D1F5E}" type="slidenum">
              <a:t>13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92EED5E9-EF0E-6547-B2B4-18DF1EEBCDC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4E91B1C3-933A-4EF1-B414-EAA16F2CBF9D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58B361-4899-3E47-C21E-FB9F6A1C450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EC760A-6792-1BEA-B44A-A849CDB5303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600" y="4776840"/>
            <a:ext cx="6218280" cy="4525920"/>
          </a:xfrm>
        </p:spPr>
        <p:txBody>
          <a:bodyPr anchor="ctr" anchorCtr="0"/>
          <a:lstStyle/>
          <a:p>
            <a:endParaRPr lang="fr-FR" kern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BCE0FEF8-64CD-7D4D-B9D6-14ED89D873D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468ED170-4379-4A34-A8AD-3D2AAAADD324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C2551B-EAA4-E0E4-30CC-CFDDE79ABB5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B1660E-2E8B-3F36-B1C1-902F880046D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600" y="4776840"/>
            <a:ext cx="6218280" cy="4525920"/>
          </a:xfrm>
        </p:spPr>
        <p:txBody>
          <a:bodyPr anchor="ctr" anchorCtr="0"/>
          <a:lstStyle/>
          <a:p>
            <a:endParaRPr lang="fr-FR" kern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! Les groups APP1 et 2 </a:t>
            </a:r>
            <a:r>
              <a:rPr lang="en-US" dirty="0" err="1"/>
              <a:t>sont</a:t>
            </a:r>
            <a:r>
              <a:rPr lang="en-US" dirty="0"/>
              <a:t> a changer de </a:t>
            </a:r>
            <a:r>
              <a:rPr lang="en-US" dirty="0" err="1"/>
              <a:t>groupe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1CDD34-F9B8-4A67-A2A8-C8600C491E5E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59282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! Les groups APP1 et 2 </a:t>
            </a:r>
            <a:r>
              <a:rPr lang="en-US" dirty="0" err="1"/>
              <a:t>sont</a:t>
            </a:r>
            <a:r>
              <a:rPr lang="en-US" dirty="0"/>
              <a:t> a changer de </a:t>
            </a:r>
            <a:r>
              <a:rPr lang="en-US" dirty="0" err="1"/>
              <a:t>groupe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1CDD34-F9B8-4A67-A2A8-C8600C491E5E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957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! Les groups APP1 et 2 </a:t>
            </a:r>
            <a:r>
              <a:rPr lang="en-US" dirty="0" err="1"/>
              <a:t>sont</a:t>
            </a:r>
            <a:r>
              <a:rPr lang="en-US" dirty="0"/>
              <a:t> a changer de </a:t>
            </a:r>
            <a:r>
              <a:rPr lang="en-US" dirty="0" err="1"/>
              <a:t>groupe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1CDD34-F9B8-4A67-A2A8-C8600C491E5E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21719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! Les groups APP1 et 2 </a:t>
            </a:r>
            <a:r>
              <a:rPr lang="en-US" dirty="0" err="1"/>
              <a:t>sont</a:t>
            </a:r>
            <a:r>
              <a:rPr lang="en-US" dirty="0"/>
              <a:t> a changer de </a:t>
            </a:r>
            <a:r>
              <a:rPr lang="en-US" dirty="0" err="1"/>
              <a:t>groupe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1CDD34-F9B8-4A67-A2A8-C8600C491E5E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80127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! Les groups APP1 et 2 </a:t>
            </a:r>
            <a:r>
              <a:rPr lang="en-US" dirty="0" err="1"/>
              <a:t>sont</a:t>
            </a:r>
            <a:r>
              <a:rPr lang="en-US" dirty="0"/>
              <a:t> a changer de </a:t>
            </a:r>
            <a:r>
              <a:rPr lang="en-US" dirty="0" err="1"/>
              <a:t>groupe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1CDD34-F9B8-4A67-A2A8-C8600C491E5E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92442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! Les groups APP1 et 2 </a:t>
            </a:r>
            <a:r>
              <a:rPr lang="en-US" dirty="0" err="1"/>
              <a:t>sont</a:t>
            </a:r>
            <a:r>
              <a:rPr lang="en-US" dirty="0"/>
              <a:t> a changer de </a:t>
            </a:r>
            <a:r>
              <a:rPr lang="en-US" dirty="0" err="1"/>
              <a:t>groupe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1CDD34-F9B8-4A67-A2A8-C8600C491E5E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79911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! Les groups APP1 et 2 </a:t>
            </a:r>
            <a:r>
              <a:rPr lang="en-US" dirty="0" err="1"/>
              <a:t>sont</a:t>
            </a:r>
            <a:r>
              <a:rPr lang="en-US" dirty="0"/>
              <a:t> a changer de </a:t>
            </a:r>
            <a:r>
              <a:rPr lang="en-US" dirty="0" err="1"/>
              <a:t>groupe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1CDD34-F9B8-4A67-A2A8-C8600C491E5E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539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! Les groups APP1 et 2 </a:t>
            </a:r>
            <a:r>
              <a:rPr lang="en-US" dirty="0" err="1"/>
              <a:t>sont</a:t>
            </a:r>
            <a:r>
              <a:rPr lang="en-US" dirty="0"/>
              <a:t> a changer de </a:t>
            </a:r>
            <a:r>
              <a:rPr lang="en-US" dirty="0" err="1"/>
              <a:t>groupe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1CDD34-F9B8-4A67-A2A8-C8600C491E5E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3021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! Les groups APP1 et 2 </a:t>
            </a:r>
            <a:r>
              <a:rPr lang="en-US" dirty="0" err="1"/>
              <a:t>sont</a:t>
            </a:r>
            <a:r>
              <a:rPr lang="en-US" dirty="0"/>
              <a:t> a changer de </a:t>
            </a:r>
            <a:r>
              <a:rPr lang="en-US" dirty="0" err="1"/>
              <a:t>groupe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1CDD34-F9B8-4A67-A2A8-C8600C491E5E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75700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Exemple</a:t>
            </a:r>
            <a:r>
              <a:rPr lang="en-US" dirty="0"/>
              <a:t> de </a:t>
            </a:r>
            <a:r>
              <a:rPr lang="en-US" dirty="0" err="1"/>
              <a:t>inventaire</a:t>
            </a:r>
            <a:r>
              <a:rPr lang="en-US" dirty="0"/>
              <a:t> </a:t>
            </a:r>
            <a:r>
              <a:rPr lang="en-US" dirty="0" err="1"/>
              <a:t>dynamique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1CDD34-F9B8-4A67-A2A8-C8600C491E5E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59703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F450D131-40B4-ECF8-852B-4AB005E5DBE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542F8BA2-873F-4030-8692-BE09F1CD711C}" type="slidenum">
              <a:t>34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AF191B-682C-9FD1-5119-1F0F1CCB6B7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7410D-FFF1-57ED-5A20-B93F513E21B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600" y="4776840"/>
            <a:ext cx="6218280" cy="4525920"/>
          </a:xfrm>
        </p:spPr>
        <p:txBody>
          <a:bodyPr anchor="ctr" anchorCtr="0"/>
          <a:lstStyle/>
          <a:p>
            <a:endParaRPr lang="fr-FR" kern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949E9FE-EF27-7F61-CF8F-FD0F9DB56D7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9FD6833A-DED8-4346-82E0-AB4AAE44979B}" type="slidenum">
              <a:t>35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70BC1C-53D3-4F4D-03BC-29C34956757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EE1C80-079B-6080-72BB-434163D0202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lvl="0" rtl="0" hangingPunct="1">
              <a:spcBef>
                <a:spcPts val="0"/>
              </a:spcBef>
            </a:pPr>
            <a:r>
              <a:rPr lang="en-US" sz="2000" kern="1200">
                <a:latin typeface="Arial" pitchFamily="18"/>
              </a:rPr>
              <a:t>The name fields are human-readable comments. Optional, but useful as comments to the playbook. These strings also show up in automation controller / AWX, so it is easy to correlate any failures in a long running playbook.</a:t>
            </a:r>
          </a:p>
          <a:p>
            <a:pPr lvl="0" rtl="0" hangingPunct="1">
              <a:spcBef>
                <a:spcPts val="0"/>
              </a:spcBef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046D8B-2D53-590B-B61F-CFE5AA1CDFAE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6CB270C2-B40C-43CD-98C4-DA18125E7E50}" type="slidenum">
              <a:t>35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602A764-B528-6FBF-14A6-B1D6F149F56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DFC68880-D5E6-4F7E-9947-CBE7802588FB}" type="slidenum">
              <a:t>36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473DA2-28F1-4803-FB3C-23475B0FDE6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43150-705D-42CE-D436-DF96A0480C0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lvl="0" rtl="0" hangingPunct="1">
              <a:spcBef>
                <a:spcPts val="0"/>
              </a:spcBef>
            </a:pPr>
            <a:r>
              <a:rPr lang="en-US" sz="2000" kern="1200">
                <a:latin typeface="Arial" pitchFamily="18"/>
              </a:rPr>
              <a:t>Inventory call-out</a:t>
            </a:r>
          </a:p>
          <a:p>
            <a:pPr lvl="0" rtl="0" hangingPunct="1">
              <a:spcBef>
                <a:spcPts val="0"/>
              </a:spcBef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769E768-8A51-E4CB-E4E0-4641F64DB4C9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EAC2D46F-A746-4115-B2AF-0CBCBD98FFB8}" type="slidenum">
              <a:t>36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B9FD192-1CE8-795C-FBA3-68465FA6FAC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3FA649A5-C5A1-4053-9CEC-40C3780DA223}" type="slidenum">
              <a:t>37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14D421-1486-2D44-1CAE-DB67C9E9B79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27CD64-C64A-21B4-463B-D2F4F70BED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Variables can be handled in several different ways: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456840" algn="l"/>
                <a:tab pos="914040" algn="l"/>
                <a:tab pos="1371240" algn="l"/>
                <a:tab pos="1828440" algn="l"/>
                <a:tab pos="2285640" algn="l"/>
                <a:tab pos="2742840" algn="l"/>
                <a:tab pos="3200039" algn="l"/>
                <a:tab pos="3657240" algn="l"/>
                <a:tab pos="4114440" algn="l"/>
                <a:tab pos="4571640" algn="l"/>
                <a:tab pos="5028840" algn="l"/>
                <a:tab pos="5486040" algn="l"/>
                <a:tab pos="5943240" algn="l"/>
                <a:tab pos="6400440" algn="l"/>
                <a:tab pos="6857640" algn="l"/>
                <a:tab pos="7314840" algn="l"/>
                <a:tab pos="7772039" algn="l"/>
                <a:tab pos="8229239" algn="l"/>
                <a:tab pos="8686440" algn="l"/>
                <a:tab pos="9143640" algn="l"/>
                <a:tab pos="9600840" algn="l"/>
                <a:tab pos="10058040" algn="l"/>
                <a:tab pos="10515240" algn="l"/>
              </a:tabLst>
            </a:pPr>
            <a:r>
              <a:rPr lang="en-US" sz="2000" kern="1200">
                <a:latin typeface="Arial" pitchFamily="18"/>
              </a:rPr>
              <a:t>	Directly in the playbook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456840" algn="l"/>
                <a:tab pos="914040" algn="l"/>
                <a:tab pos="1371240" algn="l"/>
                <a:tab pos="1828440" algn="l"/>
                <a:tab pos="2285640" algn="l"/>
                <a:tab pos="2742840" algn="l"/>
                <a:tab pos="3200039" algn="l"/>
                <a:tab pos="3657240" algn="l"/>
                <a:tab pos="4114440" algn="l"/>
                <a:tab pos="4571640" algn="l"/>
                <a:tab pos="5028840" algn="l"/>
                <a:tab pos="5486040" algn="l"/>
                <a:tab pos="5943240" algn="l"/>
                <a:tab pos="6400440" algn="l"/>
                <a:tab pos="6857640" algn="l"/>
                <a:tab pos="7314840" algn="l"/>
                <a:tab pos="7772039" algn="l"/>
                <a:tab pos="8229239" algn="l"/>
                <a:tab pos="8686440" algn="l"/>
                <a:tab pos="9143640" algn="l"/>
                <a:tab pos="9600840" algn="l"/>
                <a:tab pos="10058040" algn="l"/>
                <a:tab pos="10515240" algn="l"/>
              </a:tabLst>
            </a:pPr>
            <a:r>
              <a:rPr lang="en-US" sz="2000" kern="1200">
                <a:latin typeface="Arial" pitchFamily="18"/>
              </a:rPr>
              <a:t>	As part of a separate vars file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456840" algn="l"/>
                <a:tab pos="914040" algn="l"/>
                <a:tab pos="1371240" algn="l"/>
                <a:tab pos="1828440" algn="l"/>
                <a:tab pos="2285640" algn="l"/>
                <a:tab pos="2742840" algn="l"/>
                <a:tab pos="3200039" algn="l"/>
                <a:tab pos="3657240" algn="l"/>
                <a:tab pos="4114440" algn="l"/>
                <a:tab pos="4571640" algn="l"/>
                <a:tab pos="5028840" algn="l"/>
                <a:tab pos="5486040" algn="l"/>
                <a:tab pos="5943240" algn="l"/>
                <a:tab pos="6400440" algn="l"/>
                <a:tab pos="6857640" algn="l"/>
                <a:tab pos="7314840" algn="l"/>
                <a:tab pos="7772039" algn="l"/>
                <a:tab pos="8229239" algn="l"/>
                <a:tab pos="8686440" algn="l"/>
                <a:tab pos="9143640" algn="l"/>
                <a:tab pos="9600840" algn="l"/>
                <a:tab pos="10058040" algn="l"/>
                <a:tab pos="10515240" algn="l"/>
              </a:tabLst>
            </a:pPr>
            <a:r>
              <a:rPr lang="en-US" sz="2000" kern="1200">
                <a:latin typeface="Arial" pitchFamily="18"/>
              </a:rPr>
              <a:t> 	Via the command line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456840" algn="l"/>
                <a:tab pos="914040" algn="l"/>
                <a:tab pos="1371240" algn="l"/>
                <a:tab pos="1828440" algn="l"/>
                <a:tab pos="2285640" algn="l"/>
                <a:tab pos="2742840" algn="l"/>
                <a:tab pos="3200039" algn="l"/>
                <a:tab pos="3657240" algn="l"/>
                <a:tab pos="4114440" algn="l"/>
                <a:tab pos="4571640" algn="l"/>
                <a:tab pos="5028840" algn="l"/>
                <a:tab pos="5486040" algn="l"/>
                <a:tab pos="5943240" algn="l"/>
                <a:tab pos="6400440" algn="l"/>
                <a:tab pos="6857640" algn="l"/>
                <a:tab pos="7314840" algn="l"/>
                <a:tab pos="7772039" algn="l"/>
                <a:tab pos="8229239" algn="l"/>
                <a:tab pos="8686440" algn="l"/>
                <a:tab pos="9143640" algn="l"/>
                <a:tab pos="9600840" algn="l"/>
                <a:tab pos="10058040" algn="l"/>
                <a:tab pos="10515240" algn="l"/>
              </a:tabLst>
            </a:pPr>
            <a:r>
              <a:rPr lang="en-US" sz="2000" kern="1200">
                <a:latin typeface="Arial" pitchFamily="18"/>
              </a:rPr>
              <a:t>	As output from a previous play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456840" algn="l"/>
                <a:tab pos="914040" algn="l"/>
                <a:tab pos="1371240" algn="l"/>
                <a:tab pos="1828440" algn="l"/>
                <a:tab pos="2285640" algn="l"/>
                <a:tab pos="2742840" algn="l"/>
                <a:tab pos="3200039" algn="l"/>
                <a:tab pos="3657240" algn="l"/>
                <a:tab pos="4114440" algn="l"/>
                <a:tab pos="4571640" algn="l"/>
                <a:tab pos="5028840" algn="l"/>
                <a:tab pos="5486040" algn="l"/>
                <a:tab pos="5943240" algn="l"/>
                <a:tab pos="6400440" algn="l"/>
                <a:tab pos="6857640" algn="l"/>
                <a:tab pos="7314840" algn="l"/>
                <a:tab pos="7772039" algn="l"/>
                <a:tab pos="8229239" algn="l"/>
                <a:tab pos="8686440" algn="l"/>
                <a:tab pos="9143640" algn="l"/>
                <a:tab pos="9600840" algn="l"/>
                <a:tab pos="10058040" algn="l"/>
                <a:tab pos="10515240" algn="l"/>
              </a:tabLst>
            </a:pPr>
            <a:r>
              <a:rPr lang="en-US" sz="2000" kern="1200">
                <a:latin typeface="Arial" pitchFamily="18"/>
              </a:rPr>
              <a:t>	Via automation controller / AWX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0241B87-5CB7-07BC-F107-BA3DEAD97273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639F4044-9B1D-4688-A662-34FF1490DCAD}" type="slidenum">
              <a:t>37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B8A357-6D12-525E-138E-6798E434231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A5EB571D-B5FE-4DA6-A701-408121AC6BC7}" type="slidenum">
              <a:t>38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A0E9D1-723A-3DD0-5F92-E34DDDF7924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6E279A-C14C-5A59-85BE-A33D32E4B50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You are not required to use root as the remote user. You can have Ansible connect and run the playbook as any user or even multiple users – as long as that user has the permission to perform the tasks in the playbook. You can even use multiple users and specify different users for different plays or tasks.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Ansible supports sudo, su, powerbroker, and other privilege escalation mechanisms.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918A6FC-8270-BEE6-726D-FB06DD9BB554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D60E327E-372A-46D7-BCEC-E32D32A3982E}" type="slidenum">
              <a:t>38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65F16CD-AF08-C2A6-E712-DA825FF1A3D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C8A1FE85-F2AA-4B52-B56F-BFC5BDA9C754}" type="slidenum">
              <a:t>39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B6520-D41C-E46C-D1F1-2A1529B04D9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CB8B59-D9C7-8782-ED5D-EFBD1D0A255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37FBBFB-1A87-7E0A-71B0-21F892A4F5A1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03E2D462-13A1-4657-A345-17C4EC5F1A0A}" type="slidenum">
              <a:t>39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AEC075F-E900-1E37-1D1A-B3CD93FAE86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6055BA3A-FBCE-4781-92A3-23B1D8C38510}" type="slidenum">
              <a:t>40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BA53B5-027B-634C-9DF5-3FCEC0B722C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5029C3-6F36-BCA6-D711-BE7928C9429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35910D6-21D7-BECB-73FF-AC0A5363A2DF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658860A-AA40-4399-927A-9884C54B3C57}" type="slidenum">
              <a:t>40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E1D9E53-D289-59B3-9C6F-C8EB16FD32A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B14BA719-6B57-462D-9C90-92EE0314A63D}" type="slidenum">
              <a:t>41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FA971F-BD72-BD8A-F129-2E9D3CADA9F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BE7B40-F57F-4C7B-0729-A90F8EB5B12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9CB2E47-A162-B412-3AF3-1464FBBE31A5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AFD2DEC5-65F7-433D-AF77-F6C1B83CAFBB}" type="slidenum">
              <a:t>41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DF51B98-B00C-31A1-0626-74DF9EC9CEB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E94A4F2B-BDAB-476D-B4F9-91C0614E01A5}" type="slidenum">
              <a:t>42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B91236-CE04-854F-84E9-F1B9EA8324F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79745-F2B7-6709-B463-89EA5C219D2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FD43EB7-4E03-4E22-5FCF-FCB340D549CF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DA678466-EE67-4787-A802-771615869F74}" type="slidenum">
              <a:t>42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18BAAC-518F-F1D3-AE70-C3B9EEFBE14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2A506B02-8197-4EF8-8502-8AC6BC86962F}" type="slidenum">
              <a:t>43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35AD28-2D43-E48B-4901-3BC5686EF8D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4D0854-4732-3A38-2C1F-D570B3F0270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 dirty="0" err="1">
                <a:latin typeface="Arial" pitchFamily="18"/>
              </a:rPr>
              <a:t>Exemple</a:t>
            </a:r>
            <a:r>
              <a:rPr lang="en-US" sz="2000" kern="1200" dirty="0">
                <a:latin typeface="Arial" pitchFamily="18"/>
              </a:rPr>
              <a:t> import / include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 dirty="0">
                <a:latin typeface="Arial" pitchFamily="18"/>
              </a:rPr>
              <a:t>Import: playbook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 dirty="0">
                <a:latin typeface="Arial" pitchFamily="18"/>
              </a:rPr>
              <a:t>Include: role et </a:t>
            </a:r>
            <a:r>
              <a:rPr lang="en-US" sz="2000" kern="1200" dirty="0" err="1">
                <a:latin typeface="Arial" pitchFamily="18"/>
              </a:rPr>
              <a:t>tache</a:t>
            </a:r>
            <a:endParaRPr lang="en-US" sz="2000" kern="1200" dirty="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 dirty="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 dirty="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 dirty="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614BD17-4BC4-ECB4-943F-48DEE11C663B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CB52F3A4-6280-43F9-B803-2604448B8C82}" type="slidenum">
              <a:t>43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86BE9447-96A0-C448-A96E-2056DCDF4C2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010D05F5-AEAF-4B03-9AF1-FF86B19AE004}" type="slidenum">
              <a:t>44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1BDC49-CDDD-86F9-BCD6-9068B0381FE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5CFB19-4B9B-6587-394E-64BE3553072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600" y="4776840"/>
            <a:ext cx="6218280" cy="4525920"/>
          </a:xfrm>
        </p:spPr>
        <p:txBody>
          <a:bodyPr anchor="ctr" anchorCtr="0"/>
          <a:lstStyle/>
          <a:p>
            <a:r>
              <a:rPr lang="fr-FR" kern="1200" dirty="0"/>
              <a:t>A revoir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3BB76BD-50E7-304C-EADB-65BB757A2D7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EE8F173B-4F0F-4660-8955-2603B4DB08A9}" type="slidenum">
              <a:t>46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750DBB-DAF5-8337-706B-3F95EEE7D31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79DFFE-D1F9-B0FC-301B-81359460B60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903B495-851F-0D59-6EFE-779402A2F4E0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8A4A064F-B392-4218-A8C3-B3DF3FDF89A2}" type="slidenum">
              <a:t>46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86BE9447-96A0-C448-A96E-2056DCDF4C2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010D05F5-AEAF-4B03-9AF1-FF86B19AE004}" type="slidenum">
              <a:t>47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1BDC49-CDDD-86F9-BCD6-9068B0381FE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5CFB19-4B9B-6587-394E-64BE3553072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600" y="4776840"/>
            <a:ext cx="6218280" cy="4525920"/>
          </a:xfrm>
        </p:spPr>
        <p:txBody>
          <a:bodyPr anchor="ctr" anchorCtr="0"/>
          <a:lstStyle/>
          <a:p>
            <a:endParaRPr lang="fr-FR" kern="1200"/>
          </a:p>
        </p:txBody>
      </p:sp>
    </p:spTree>
    <p:extLst>
      <p:ext uri="{BB962C8B-B14F-4D97-AF65-F5344CB8AC3E}">
        <p14:creationId xmlns:p14="http://schemas.microsoft.com/office/powerpoint/2010/main" val="16587725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1CDD34-F9B8-4A67-A2A8-C8600C491E5E}" type="slidenum">
              <a:rPr lang="fr-FR" smtClean="0"/>
              <a:t>55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83595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109217-CFE7-08C6-4EDB-D89E799ED50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BE0493D8-4D30-459D-8C97-535332169262}" type="slidenum">
              <a:t>56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5BC24B-5EA0-A13A-8DB0-3848A1CB4CD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04D923-2F3E-09EA-0B28-EB799D5B5A3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0B0D773-33C8-FB3E-3DAA-CBB88B6D604A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A2E9F74B-FD6F-4028-8343-56E24652EE37}" type="slidenum">
              <a:t>56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C5635DC-6946-A9FC-B110-4C63EC60D76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EDB5E4E3-8655-4ED5-B4D9-43FA20B126F3}" type="slidenum">
              <a:t>60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4712F1-433E-24FE-36D6-0C4BA21D6EF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127C9D-FE06-2EFA-32FB-3E62446D971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2DBF402-C652-0EC5-2913-52DF2AABAA46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258C9F55-95A9-4D92-979F-891119FF812A}" type="slidenum">
              <a:t>60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6AE612B-C9E2-7CB5-B47C-7FCCA496E5D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423554C9-E95F-4089-AE93-02143F01FB71}" type="slidenum">
              <a:t>62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010707-CC35-E03F-B098-28F71102F58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CA900-CEBB-08B9-97D1-F5640B7AC30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91A1A60-DB62-E89A-80FA-ADA4563B12BD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7CDFA3F1-B78B-4B9B-B658-4603A3BB00A0}" type="slidenum">
              <a:t>62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D5F00F3-DF97-C01E-87A5-0EFC97D19E7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FEDF1544-54E9-4511-9F40-7AC12D158EA7}" type="slidenum">
              <a:t>63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62802C-2606-6FF6-D852-75DDCBEECBB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F2781A-9CA8-3ABB-5694-3112DE9913D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 dirty="0" err="1">
                <a:latin typeface="Arial" pitchFamily="18"/>
              </a:rPr>
              <a:t>Exemple</a:t>
            </a:r>
            <a:r>
              <a:rPr lang="en-US" sz="2000" kern="1200" dirty="0">
                <a:latin typeface="Arial" pitchFamily="18"/>
              </a:rPr>
              <a:t> </a:t>
            </a:r>
            <a:r>
              <a:rPr lang="en-US" sz="2000" kern="1200" dirty="0" err="1">
                <a:latin typeface="Arial" pitchFamily="18"/>
              </a:rPr>
              <a:t>fichier</a:t>
            </a:r>
            <a:r>
              <a:rPr lang="en-US" sz="2000" kern="1200" dirty="0">
                <a:latin typeface="Arial" pitchFamily="18"/>
              </a:rPr>
              <a:t> </a:t>
            </a:r>
            <a:r>
              <a:rPr lang="en-US" sz="2000" kern="1200" dirty="0" err="1">
                <a:latin typeface="Arial" pitchFamily="18"/>
              </a:rPr>
              <a:t>facts.d</a:t>
            </a:r>
            <a:endParaRPr lang="en-US" sz="2000" kern="1200" dirty="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 dirty="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 dirty="0" err="1">
                <a:latin typeface="Arial" pitchFamily="18"/>
              </a:rPr>
              <a:t>Utilisation</a:t>
            </a:r>
            <a:r>
              <a:rPr lang="en-US" sz="2000" kern="1200" dirty="0">
                <a:latin typeface="Arial" pitchFamily="18"/>
              </a:rPr>
              <a:t> des variable “{{ nom }}”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 dirty="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 dirty="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 dirty="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EDC8520-68FA-227B-46A2-467E1C2D2343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0661A9EA-643D-489E-90DA-DE273583F26C}" type="slidenum">
              <a:t>63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27024233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D5F00F3-DF97-C01E-87A5-0EFC97D19E7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FEDF1544-54E9-4511-9F40-7AC12D158EA7}" type="slidenum">
              <a:t>66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62802C-2606-6FF6-D852-75DDCBEECBB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F2781A-9CA8-3ABB-5694-3112DE9913D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3200" dirty="0" err="1"/>
              <a:t>hostvars</a:t>
            </a:r>
            <a:r>
              <a:rPr lang="en-US" sz="3200" dirty="0"/>
              <a:t>[ </a:t>
            </a:r>
            <a:r>
              <a:rPr lang="en-US" sz="3200" dirty="0" err="1"/>
              <a:t>inventory_hostname</a:t>
            </a:r>
            <a:r>
              <a:rPr lang="en-US" sz="3200" dirty="0"/>
              <a:t>][‘ansible_default_ipv4’][‘address’]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3200" dirty="0" err="1"/>
              <a:t>Ansible_facts</a:t>
            </a:r>
            <a:r>
              <a:rPr lang="en-US" sz="3200" dirty="0"/>
              <a:t>[‘ansible_default_ipv4’][‘address’]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3200" dirty="0"/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 dirty="0" err="1">
                <a:latin typeface="Arial" pitchFamily="18"/>
              </a:rPr>
              <a:t>Exemple</a:t>
            </a:r>
            <a:r>
              <a:rPr lang="en-US" sz="2000" kern="1200" dirty="0">
                <a:latin typeface="Arial" pitchFamily="18"/>
              </a:rPr>
              <a:t> </a:t>
            </a:r>
            <a:r>
              <a:rPr lang="en-US" sz="2000" kern="1200" dirty="0" err="1">
                <a:latin typeface="Arial" pitchFamily="18"/>
              </a:rPr>
              <a:t>fichier</a:t>
            </a:r>
            <a:r>
              <a:rPr lang="en-US" sz="2000" kern="1200" dirty="0">
                <a:latin typeface="Arial" pitchFamily="18"/>
              </a:rPr>
              <a:t> </a:t>
            </a:r>
            <a:r>
              <a:rPr lang="en-US" sz="2000" kern="1200" dirty="0" err="1">
                <a:latin typeface="Arial" pitchFamily="18"/>
              </a:rPr>
              <a:t>facts.d</a:t>
            </a:r>
            <a:endParaRPr lang="en-US" sz="2000" kern="1200" dirty="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 dirty="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 dirty="0" err="1">
                <a:latin typeface="Arial" pitchFamily="18"/>
              </a:rPr>
              <a:t>Utilisation</a:t>
            </a:r>
            <a:r>
              <a:rPr lang="en-US" sz="2000" kern="1200" dirty="0">
                <a:latin typeface="Arial" pitchFamily="18"/>
              </a:rPr>
              <a:t> des variable “{{ nom }}”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 dirty="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 dirty="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 dirty="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EDC8520-68FA-227B-46A2-467E1C2D2343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0661A9EA-643D-489E-90DA-DE273583F26C}" type="slidenum">
              <a:t>66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D5F00F3-DF97-C01E-87A5-0EFC97D19E7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FEDF1544-54E9-4511-9F40-7AC12D158EA7}" type="slidenum">
              <a:t>67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62802C-2606-6FF6-D852-75DDCBEECBB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F2781A-9CA8-3ABB-5694-3112DE9913D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3200" dirty="0" err="1"/>
              <a:t>hostvars</a:t>
            </a:r>
            <a:r>
              <a:rPr lang="en-US" sz="3200" dirty="0"/>
              <a:t>[ </a:t>
            </a:r>
            <a:r>
              <a:rPr lang="en-US" sz="3200" dirty="0" err="1"/>
              <a:t>inventory_hostname</a:t>
            </a:r>
            <a:r>
              <a:rPr lang="en-US" sz="3200" dirty="0"/>
              <a:t>][‘ansible_default_ipv4’][‘address’]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3200" dirty="0" err="1"/>
              <a:t>Ansible_facts</a:t>
            </a:r>
            <a:r>
              <a:rPr lang="en-US" sz="3200" dirty="0"/>
              <a:t>[‘ansible_default_ipv4’][‘address’]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3200" dirty="0"/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 dirty="0" err="1">
                <a:latin typeface="Arial" pitchFamily="18"/>
              </a:rPr>
              <a:t>Exemple</a:t>
            </a:r>
            <a:r>
              <a:rPr lang="en-US" sz="2000" kern="1200" dirty="0">
                <a:latin typeface="Arial" pitchFamily="18"/>
              </a:rPr>
              <a:t> </a:t>
            </a:r>
            <a:r>
              <a:rPr lang="en-US" sz="2000" kern="1200" dirty="0" err="1">
                <a:latin typeface="Arial" pitchFamily="18"/>
              </a:rPr>
              <a:t>fichier</a:t>
            </a:r>
            <a:r>
              <a:rPr lang="en-US" sz="2000" kern="1200" dirty="0">
                <a:latin typeface="Arial" pitchFamily="18"/>
              </a:rPr>
              <a:t> </a:t>
            </a:r>
            <a:r>
              <a:rPr lang="en-US" sz="2000" kern="1200" dirty="0" err="1">
                <a:latin typeface="Arial" pitchFamily="18"/>
              </a:rPr>
              <a:t>facts.d</a:t>
            </a:r>
            <a:endParaRPr lang="en-US" sz="2000" kern="1200" dirty="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 dirty="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 dirty="0" err="1">
                <a:latin typeface="Arial" pitchFamily="18"/>
              </a:rPr>
              <a:t>Utilisation</a:t>
            </a:r>
            <a:r>
              <a:rPr lang="en-US" sz="2000" kern="1200" dirty="0">
                <a:latin typeface="Arial" pitchFamily="18"/>
              </a:rPr>
              <a:t> des variable “{{ nom }}”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 dirty="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 dirty="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 dirty="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EDC8520-68FA-227B-46A2-467E1C2D2343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0661A9EA-643D-489E-90DA-DE273583F26C}" type="slidenum">
              <a:t>67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0379513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30016E-4140-F556-5405-A0848967BA5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E5D7394B-B00E-4961-A5E7-BF4050CB8F81}" type="slidenum">
              <a:t>68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D93E65-61B6-49C8-29A4-03967A50740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BB89ED-C42F-B85F-398C-C783B62B313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0BCA4BE-F08E-AC32-BAD5-C504DAC7D6EA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DC2E5C8A-DBCA-4688-8E6C-38828B890984}" type="slidenum">
              <a:t>68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F79FF2-8F01-579D-5A14-5EAA283BFE3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4579991B-51BD-4FE8-864A-4FA414DAE481}" type="slidenum">
              <a:t>70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2F4E58-1611-BC23-347E-E998CE07C2B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23F21D-0C4B-0432-5236-573FC7C2F88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8A4508E-C5D2-CA59-9ECC-F8D48D8912C6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A9F4567E-92D5-4579-A14F-33C601A30899}" type="slidenum">
              <a:t>70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3568910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3EB89A-83CD-A576-FB91-2CB13DB0079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D9C0DE4A-65DB-44B5-94CF-D360B64FC1EE}" type="slidenum">
              <a:t>71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C44DEF-3FBA-B61D-239F-4D3DF159956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FCA45-50AC-6AA2-0A28-19CDCEFB886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3D831E1-18F9-3BBA-B005-236A81038024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E8903E82-041F-47D4-A0BD-AA09B2EE1CBC}" type="slidenum">
              <a:t>71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F79FF2-8F01-579D-5A14-5EAA283BFE3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4579991B-51BD-4FE8-864A-4FA414DAE481}" type="slidenum">
              <a:t>72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2F4E58-1611-BC23-347E-E998CE07C2B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23F21D-0C4B-0432-5236-573FC7C2F88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8A4508E-C5D2-CA59-9ECC-F8D48D8912C6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A9F4567E-92D5-4579-A14F-33C601A30899}" type="slidenum">
              <a:t>72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58ADBD-B0D6-7376-2AC0-F39CD812AF4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FC800F08-DB4F-433E-B920-E89CE5417AB0}" type="slidenum">
              <a:t>73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FFD1BC-2D97-58AA-F8BA-1E5FDE473B1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8C7D23-A8C0-98B3-EAB2-622320BBECF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BAB17A7-876C-727C-F6BE-7214FF8A39D6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EE0701E1-9A87-4328-A310-295432368245}" type="slidenum">
              <a:t>73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4617D8-6F57-3051-54F0-A7A1372FE02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11047F3C-EA03-491B-9529-911B0E80FCAB}" type="slidenum">
              <a:t>74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D8E8FD-F47C-12E0-4E56-5B69DD94A35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07041-1858-03DF-8964-B1497A1799F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30CC5A3-3D21-650C-B24A-6A284510B36C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CA1EE845-5CAE-43B6-BA9E-82489AFA0F47}" type="slidenum">
              <a:t>74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DF18E84-0FD5-5AFF-42D4-DBAC4ADA704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1DD53B3F-6F3B-4249-809F-2EBBDF82BF73}" type="slidenum">
              <a:t>75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7FAE18-2421-5EA5-C3E2-E0021D9CDC5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BAE89-D32A-328F-F4F7-7D6CD7EBBDC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4A1B55E-0F89-BF6B-6739-DFCF43A82382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F57C4DE0-FFF3-4000-B8C3-0FDBA4703496}" type="slidenum">
              <a:t>75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86269792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F7AA093-2437-637A-CF37-ED270AD3308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D24B938A-5A50-4BEC-8307-45DBBB8A2938}" type="slidenum">
              <a:t>77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CFE068-2344-73B6-6577-7F835DC4996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EA3CBF-1A74-7411-8BDD-ADF7744BAEC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20A9316-3EB1-7D23-8E0D-EF719CF47677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53871E75-D767-409D-B53D-ED59A8B545E7}" type="slidenum">
              <a:t>77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B80E30-A4D8-2C6C-39B0-0FD6BC86080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E15E9FDE-E8A0-4C6A-A0E3-C982936BF90F}" type="slidenum">
              <a:t>82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34A20B-2209-810E-A4AA-D5C6119D87D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BEC66A-8F1C-6185-7FFA-6D80A7926F1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E8D6A8B-C131-D35B-B884-50CE8AF3B5E1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8B3BD421-35ED-4942-8DF1-33B64D486734}" type="slidenum">
              <a:t>82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10C8CFF-581B-D7E7-9D11-34B28C0405A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E69DC37C-0C4C-4B81-B3E1-4DC06254FF9C}" type="slidenum">
              <a:t>84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F1D3AF-8879-5201-A3E9-314D35D0075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BE8566-DCB6-638A-62DE-0CDC2F49195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DE980BB-72D8-E0D8-3A60-2CEC1E3CDFB3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A2F55BB6-55AF-41D3-9C3E-670852387BB2}" type="slidenum">
              <a:t>84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66101B-467E-4993-8482-5F01391C109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4ACDB333-7835-410F-9D08-CE90ECC816EE}" type="slidenum">
              <a:t>85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F06D16-9ADA-B739-9BAE-230436F1C36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F0850D-358E-0E1D-023B-AD42B2EB520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C4C58F8-4FAE-968F-172C-E74234F95B1A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D79AE46B-3E1D-46F3-9CAA-5946D691633D}" type="slidenum">
              <a:t>85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44582E-0CC9-A42E-2C4E-AA148C00AED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CCC88AE2-CE96-42AE-9AF4-8432BEB7CAB2}" type="slidenum">
              <a:t>86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68F377-1D69-28CB-A217-51E27F9ACE4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21A9BD-ED18-B33A-8DA5-90DDAAA0D45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3767EB8-FCA3-9BF4-4885-D1147039EFF5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76CC0458-E907-4151-B2C0-C4EF2323B8AC}" type="slidenum">
              <a:t>86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DF18E84-0FD5-5AFF-42D4-DBAC4ADA704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1DD53B3F-6F3B-4249-809F-2EBBDF82BF73}" type="slidenum">
              <a:t>88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7FAE18-2421-5EA5-C3E2-E0021D9CDC5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BAE89-D32A-328F-F4F7-7D6CD7EBBDC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4A1B55E-0F89-BF6B-6739-DFCF43A82382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F57C4DE0-FFF3-4000-B8C3-0FDBA4703496}" type="slidenum">
              <a:t>88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E5004F-B1BC-46A8-08DB-A16D54045C6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18DCA08E-EB21-4F96-9454-37D21762EC63}" type="slidenum">
              <a:t>91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6779A1-D1C4-4AF0-C62B-48CE5744999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8888C9-70C7-41DB-7640-B53BE26B9E0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9C53B7D-0EFA-E295-B72E-D0D188339FCD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BA71D567-27A2-4A0F-802F-FC442C978457}" type="slidenum">
              <a:t>91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A6C67F-8093-7284-EE18-C14A0357E7A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5899AB40-FCEF-477B-AF57-DB59A94FA0A4}" type="slidenum">
              <a:t>93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55B0EB-7D39-11E9-0FDD-7058A6C69BC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6EABB4-AEEA-30DF-A921-E3628AD1752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02B68C9-A334-7884-88DB-C4FA33B22821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0F2203A2-843C-4DB9-958C-08ED7B1475E5}" type="slidenum">
              <a:t>93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60DBC61-56EA-53A3-B906-BBCA6D86228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CEAE0015-1730-40B1-8D43-E9AFA8682CEC}" type="slidenum">
              <a:t>94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1FC983-40B5-ADCE-9C11-6F50B4AA5AB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18720E-6000-49D8-9F9D-4F9D0EAB4EC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C14C296-D08F-82F1-E99A-F64B24EF035A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C72E7C6-DFF3-4606-8784-4B1BF3CD58B1}" type="slidenum">
              <a:t>94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190A07-6644-3C2D-11F7-B3A537F2BFD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D33B8A45-36A5-446B-8CDB-8145D108E66C}" type="slidenum">
              <a:t>95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62107F-7B67-818C-E75A-0E7484E6328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845E60-7DCF-8947-64AE-F99A59351E4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 dirty="0">
                <a:latin typeface="Arial" pitchFamily="18"/>
              </a:rPr>
              <a:t>Notify on </a:t>
            </a:r>
            <a:r>
              <a:rPr lang="en-US" sz="2000" kern="1200" dirty="0" err="1">
                <a:latin typeface="Arial" pitchFamily="18"/>
              </a:rPr>
              <a:t>chqnged</a:t>
            </a:r>
            <a:r>
              <a:rPr lang="en-US" sz="2000" kern="1200" dirty="0">
                <a:latin typeface="Arial" pitchFamily="18"/>
              </a:rPr>
              <a:t> </a:t>
            </a:r>
            <a:r>
              <a:rPr lang="en-US" sz="2000" kern="1200" dirty="0" err="1">
                <a:latin typeface="Arial" pitchFamily="18"/>
              </a:rPr>
              <a:t>ou</a:t>
            </a:r>
            <a:r>
              <a:rPr lang="en-US" sz="2000" kern="1200" dirty="0">
                <a:latin typeface="Arial" pitchFamily="18"/>
              </a:rPr>
              <a:t> failed?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7DAF40B-F302-DBB8-53CC-C8B0C83A0A8E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65FCB98A-2797-43D3-BD32-406AD500DBA4}" type="slidenum">
              <a:t>95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EDC6DAE-CB4B-77E8-D4A1-40E85DAA22F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4670229E-5C85-490B-91B5-FEF7B925F2BE}" type="slidenum">
              <a:t>96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12C09-F6CC-F407-A8C9-D2BB3767177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E5E8DC-4AE6-7A87-BBB2-896EC1634A9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370F3E6-172E-3CC9-0B8F-1D5BE709F74A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E57DBB59-97B4-49B6-B04D-8CDF3D3BBDA5}" type="slidenum">
              <a:t>96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BFD9859-E2B1-0334-2739-F8FB182CBD8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D0D622C8-A726-4882-85B5-D9F9F68C6130}" type="slidenum">
              <a:t>97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3FB5ED-834A-C7DB-B8B4-E99536DECEC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51D1C8-ED0B-E4D6-67E3-9DEA9045D4D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 dirty="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 dirty="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 dirty="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 dirty="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A43E140-E4E5-6F01-D782-80D62021FF96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BD7B593D-3F8D-4F9D-96B4-90A7D5663E26}" type="slidenum">
              <a:t>97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F3DCE3-FA33-6FDE-EDDC-BDDBA8C275C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C6FCF9DC-6BDD-46EE-A732-0AFDC5187517}" type="slidenum">
              <a:t>99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D2896D-0FC0-5734-E643-00AA31B1445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61B9F4-6FB6-AD8D-1291-F236F807F5D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13A82D1-3C48-A57C-29A6-1844A748B0E1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A9FA8A1E-5EF7-496A-85A1-36A99F762A5E}" type="slidenum">
              <a:t>99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BE678F0-209B-E5C0-F75E-8056C7CA448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F6DA063E-BEDF-4E6C-BAF1-C5D9E0C809E2}" type="slidenum">
              <a:t>101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FBB052-CDF6-500E-D03C-89A8D29B9B6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4C418C-2CCA-B461-784B-05F29DBCFBC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DD127D7-619E-8E66-08AF-984B0C84E964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ECE9DEA4-9E47-408C-96A5-B8BE12FDC8F2}" type="slidenum">
              <a:t>101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A7A485-43F3-A233-1FC2-7929DE2846F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A26186CF-A878-48C1-B34D-787F353360B2}" type="slidenum">
              <a:t>102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E981C7-892D-B1CA-BF4B-A9B1D3BFC10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C7855F-5B77-87B3-CD1F-77D8A8D11D4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CB77824-D173-8231-911F-3BDBF51266BA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DA6AB65B-7F7A-46DD-9A73-87D3FDDA4CDF}" type="slidenum">
              <a:t>102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9AE6B9F-A833-4370-354B-B4444913901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792C3112-B313-4A5C-AB71-6F5294BA856C}" type="slidenum">
              <a:t>103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EA06CE-C5FA-9692-A404-6772C3C802F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D8957-DFBA-FEAA-72D2-7E4177E7AD7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0E533B3-83DF-01C7-AB2E-083CB9A108E5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77FD2CD6-7491-4825-A4E0-087538CAB606}" type="slidenum">
              <a:t>103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D4C3EE6-BFCC-B976-56E5-F77BA99C344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0ABE2485-306B-4376-B091-D2A426A61D5F}" type="slidenum">
              <a:t>104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B0C50E-353A-CE9D-F448-042C2866D79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1345B6-90A1-703C-46B2-FF1E1F72AD6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F1F4E46-2321-14B2-7897-8EF93275E40B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EEC33323-81F2-474A-803E-EA46C67E0526}" type="slidenum">
              <a:t>104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4717F2-DC37-947F-57BC-FB83A8FBB22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992BFF31-D4A6-4A8E-8C4A-8DA6AACCA7F7}" type="slidenum">
              <a:t>106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129070-7E01-9C0C-50E0-DB94C38750A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FAEDB7-85A9-5E8E-05D8-1AE6B1D9D68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7C8E5E1-AB2F-70E7-22B0-099530CB08F6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2F98CC5C-B941-4EAF-AB46-C369D0043B24}" type="slidenum">
              <a:t>106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53D72BA-D8AB-5BB0-6F25-4DA4AD3F6AF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FFC436CD-75B3-4333-A1E2-B0BA5D13A1B0}" type="slidenum">
              <a:t>107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E07E5D-48A3-502E-045C-5FBDB7A9D23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D39BB-D21D-89A5-BD10-EECBFA9DD4B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C9994AE-E92A-C93E-964A-763B7ECA828E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A8A347-2D50-4428-8EAE-10A7B4462167}" type="slidenum">
              <a:t>107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44D028-FFD1-66AA-2412-3066694736A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CE4E1BE0-B2EE-426D-BC49-01A1C7F431D4}" type="slidenum">
              <a:t>108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1B9FEA-9573-94D6-843C-82F0AE80FC1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FED86D-8145-A735-DB03-7B8BF7EBEF6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3200" dirty="0" err="1"/>
              <a:t>hostvars</a:t>
            </a:r>
            <a:r>
              <a:rPr lang="en-US" sz="3200" dirty="0"/>
              <a:t>[</a:t>
            </a:r>
            <a:r>
              <a:rPr lang="en-US" sz="3200" dirty="0" err="1"/>
              <a:t>inventory_hostname</a:t>
            </a:r>
            <a:r>
              <a:rPr lang="en-US" sz="3200" dirty="0"/>
              <a:t>][‘ansible_default_ipv4’][‘address’] </a:t>
            </a:r>
            <a:endParaRPr lang="en-US" sz="2000" kern="1200" dirty="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 dirty="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 dirty="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4BEF125-B2D4-D5CA-8582-D56126993CE0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2F7D7A94-4D65-42D4-B342-7615F5E305E9}" type="slidenum">
              <a:t>108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Transpose into Inventory and </a:t>
            </a:r>
            <a:r>
              <a:rPr lang="en-US"/>
              <a:t>hostvars: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1CDD34-F9B8-4A67-A2A8-C8600C491E5E}" type="slidenum">
              <a:rPr lang="fr-FR" smtClean="0"/>
              <a:t>111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980861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BFD9859-E2B1-0334-2739-F8FB182CBD8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D0D622C8-A726-4882-85B5-D9F9F68C6130}" type="slidenum">
              <a:t>118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3FB5ED-834A-C7DB-B8B4-E99536DECEC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51D1C8-ED0B-E4D6-67E3-9DEA9045D4D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A43E140-E4E5-6F01-D782-80D62021FF96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BD7B593D-3F8D-4F9D-96B4-90A7D5663E26}" type="slidenum">
              <a:t>118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97178516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33114E3-1EAA-4DE6-BDED-12F6DA6CC0B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6BD4490F-5182-4D94-A5F1-F31DD480C36C}" type="slidenum">
              <a:t>120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3F63CD-BEB4-A62D-E3A5-258797FE86C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AE361-5A6E-0364-9E81-000F6DA4B1F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0514F8C-D152-A0AC-45E7-3794B58FAF73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88A0E167-137F-4307-A4FF-9585C8B4612D}" type="slidenum">
              <a:t>120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BAB20B1-DCC4-3BCB-068F-0A8A59BAA4F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82F0CFE0-11EF-4A78-B253-73F503DAB122}" type="slidenum">
              <a:t>122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8ACC4F-5764-84B9-2C69-053D6B151EE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B937E9-3E77-08CD-5198-0BCFC73E72D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9930B84-B7F4-3B61-FB67-A9546FDDCDC3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AEA1176A-2BBC-4C10-BC9D-740F1046EF70}" type="slidenum">
              <a:t>122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646A38-4AA7-7159-3305-7093D59D6E6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917DEB22-30E6-40C5-B000-960C2ECBD4C4}" type="slidenum">
              <a:t>123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159C7D-1187-5D56-CC64-C89760ED416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F27D45-E745-97B0-678D-8BE5CB200C7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1DB04EA-642E-DA34-4A43-7F6411001DD1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B8836582-C93D-43A8-81BA-AE4EA9246D9E}" type="slidenum">
              <a:t>123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47813-38CB-FFCB-1EDA-733C860AD5E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D631105E-125F-4CEF-8857-4AE89C7AED35}" type="slidenum">
              <a:t>124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86EC37-9B13-6B06-F5EC-B3789D55D8C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DB6EAB-DA4A-B23F-BED4-94F7FA272B7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6AB421A-B139-4895-EBF4-84D5BBA182C7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AC65270F-A96A-476C-A337-EC157289F3DD}" type="slidenum">
              <a:t>124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4FD2263-2F6F-26E6-CC4A-DA931796FC2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A1600A51-1973-4D80-BF09-EEAEB71007AF}" type="slidenum">
              <a:t>125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CF4F87-EDD5-96C8-417B-AB68CBD24E9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EF7C25-ECA7-2527-8279-C55DB49E128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A5FBD3B-A31D-E016-2533-AF65CB63D327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111140A7-FF13-41F6-BF69-53BDCACD7290}" type="slidenum">
              <a:t>125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4FD2263-2F6F-26E6-CC4A-DA931796FC2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A1600A51-1973-4D80-BF09-EEAEB71007AF}" type="slidenum">
              <a:t>126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CF4F87-EDD5-96C8-417B-AB68CBD24E9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EF7C25-ECA7-2527-8279-C55DB49E128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A5FBD3B-A31D-E016-2533-AF65CB63D327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111140A7-FF13-41F6-BF69-53BDCACD7290}" type="slidenum">
              <a:t>126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48922697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F1F2C9F-8F2A-DF95-BB3B-A6298A1EEC9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6F15C879-2AAC-4A89-AA24-58DBD90D9ADA}" type="slidenum">
              <a:t>127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C5EF64-4239-84EB-9A42-D60A184ED2E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A57ACE-F347-24DA-9A88-10932C93AD2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767DB5C-9052-94A4-20FE-60316B00838B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4B6C9B31-5D5E-4840-B113-7C32C9A57250}" type="slidenum">
              <a:t>127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C244BFE-50BF-8517-FEDA-185903A35F8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01FC2B93-B7AE-40E1-9B6A-F4BC66062D4D}" type="slidenum">
              <a:t>129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6C4AA1-68BC-9555-7823-B4449A8F6C0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8D512B-0FD4-817B-BAF3-9C9067A1831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6D67DB8-4B41-F8B3-2420-D4C3F6A663A7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4E483198-8C06-4003-9CC0-DB8207D54B6E}" type="slidenum">
              <a:t>129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3194FC3-B722-1707-6735-912A644146A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12D52421-33A3-485A-B94B-0E132D377E89}" type="slidenum">
              <a:t>131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5C0085-792E-183C-69C8-4A4374B8124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285F8A-A58B-A962-0156-D96B476B846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643AFA2-C5D4-03AD-B7FB-351CBDE63F6F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0D910C0E-C03E-4243-8EAD-3D37E6A9FE13}" type="slidenum">
              <a:t>131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3194FC3-B722-1707-6735-912A644146A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12D52421-33A3-485A-B94B-0E132D377E89}" type="slidenum">
              <a:t>132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5C0085-792E-183C-69C8-4A4374B8124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285F8A-A58B-A962-0156-D96B476B846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643AFA2-C5D4-03AD-B7FB-351CBDE63F6F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0D910C0E-C03E-4243-8EAD-3D37E6A9FE13}" type="slidenum">
              <a:t>132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57135090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99DCD1C-C86D-BAE9-86F3-3833B4E044C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1EDCA96C-30C9-416D-8096-55A4BDE8CE04}" type="slidenum">
              <a:t>133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986374-3247-F88F-786F-B1BF546B217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89F226-05E8-DA9D-A5D2-7EB31AE7ADC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E922B63-004D-DDB0-A677-8CFBFAC2D8D0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D735CB26-3BC3-4337-9C11-F6CDB4ED1152}" type="slidenum">
              <a:t>133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DCA5DD3-6374-47F5-9608-268B4EFDC14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3C6C9F91-C713-4AFA-911E-C0E73757001F}" type="slidenum">
              <a:t>135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1F1CB0-C813-FEB6-ED80-1C05CE1A407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71B895-F696-CB5D-4A98-F6CF91D8B65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E7D1D1C-90AB-B0C4-5CA0-7919F7B8B60C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6074A6A8-06DE-4C2D-941E-43692EBD1A94}" type="slidenum">
              <a:t>135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1E67D03-350E-76CF-5A49-9DE64697FDC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46A241C3-2703-4F0D-9E6F-C8E91251256D}" type="slidenum">
              <a:t>137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8D6617-42C4-3420-2F7E-187FCC25708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F31052-1187-D227-17A7-B61A8718A5A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6D12362-6C3D-C92D-9D51-7B8CB0904669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EAD65759-3632-4B3D-9D26-D25A6248FB9F}" type="slidenum">
              <a:t>137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EB35C5F-3CCC-3D10-C658-C7C582FD195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7227D16F-EBB5-44D4-8D2C-389F3D19ECFA}" type="slidenum">
              <a:t>138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C51801-84D1-107E-5870-1C0C8182890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43EB5F-8AE1-1E4D-36FA-584D628324E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46302C1-1E42-02ED-2E76-E351A9DF0C45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2BB59399-EECE-4CD5-B93C-C062DB0C950F}" type="slidenum">
              <a:t>138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38BF92-8FC6-9558-4EF9-4BC338E544B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CFAB7E9A-5DA8-46E2-9832-19AC5B93DAEA}" type="slidenum">
              <a:t>139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0304EB-F097-756F-8EA8-FDEF747B3C6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98DCE-8BAF-5318-9511-919CA5A65B3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6D06D36-BCEE-F778-933E-DE5691662277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D7614965-4D53-4B3E-A347-3F2093714960}" type="slidenum">
              <a:t>139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73E623-3F44-F5B5-9DD9-901A3CCDC9C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1D4462DB-DDEF-4289-88BF-5BAA1543FFA6}" type="slidenum">
              <a:t>140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954526-749B-634F-3544-EA15B0495C3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CDFE0C-980A-DA19-8189-C530390F423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CFEA714-FFF8-56A2-3420-49AE69C6450F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AF10CE9A-5E08-4596-BEA5-994FD39B5A4B}" type="slidenum">
              <a:t>140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42DD703-6AD7-DCDB-08CC-401AEF5DE3B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8DD12B55-172D-4170-A834-8AFB53667E65}" type="slidenum">
              <a:t>145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83D3A-22FC-AEB5-BE58-8DE144F5838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511B8D-5D28-83F0-FE6A-B7C286300C0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A54C3A9-8B32-868C-2C0D-DCFA408BDB43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23967FCC-6A4A-48C0-930D-9A38C57D3F31}" type="slidenum">
              <a:t>145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8133F3-FDAB-9B23-E4F3-653386B71C5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62E97C33-9D9C-4DA3-A651-F07E47C4A027}" type="slidenum">
              <a:t>146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A1DE3-BF0D-F16E-099F-7DF8358002D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B78B0C-BF1A-4F4A-7770-4A4524DB3E5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583BFCD-2ECF-7690-2B99-92A4508837E0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EE36B87B-1A81-4D5A-8994-03038F610913}" type="slidenum">
              <a:t>146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42DD703-6AD7-DCDB-08CC-401AEF5DE3B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8DD12B55-172D-4170-A834-8AFB53667E65}" type="slidenum">
              <a:t>147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83D3A-22FC-AEB5-BE58-8DE144F5838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511B8D-5D28-83F0-FE6A-B7C286300C0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A54C3A9-8B32-868C-2C0D-DCFA408BDB43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23967FCC-6A4A-48C0-930D-9A38C57D3F31}" type="slidenum">
              <a:t>147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93354276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30D8B00-8747-F2FD-EDC5-AB13F3498F9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2422D229-7868-4EBF-A579-9E688E4F0259}" type="slidenum">
              <a:t>151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4FC48-B532-508C-B9E5-96C07F560B7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FE4B86-6D36-68D7-19DC-C391D0A9017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A40C78A-270F-A519-B9FE-D5FA8F75F2F7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CB163986-A5DC-42C4-9DBE-C0F592CA1592}" type="slidenum">
              <a:t>151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034F6A-9402-C645-974B-BB40547E691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47FC2C04-1E92-4FE4-ADC3-B8E40AF2F2A2}" type="slidenum">
              <a:t>153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D9BD9D-E8C0-48D8-5E32-FEDFDA6EC69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224993-3C23-52B4-12FD-739D732FFAF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B71B6CD-F65B-4B4B-DAA8-4157387AA2F4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82B56C49-51A7-4714-A5C1-8DECAFAE57FC}" type="slidenum">
              <a:t>153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941991E-E0C9-74B4-33CF-A30D7EBCC7D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E79CDB1A-995F-414D-BBF5-F321C9AE74D8}" type="slidenum">
              <a:t>154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16717A-2624-7A51-3062-93E596CB230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296C92-9A72-75A3-156D-3453A24B5D3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DFAACF8-F122-A845-DDEA-3B4E49F1938A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AD1D0843-3175-4CB2-A58A-C6FFAE411886}" type="slidenum">
              <a:t>154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24283CE-57A3-8625-ABCE-E7A14038A1E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0A48B7AD-99E2-4A5C-A81E-44A4DA718400}" type="slidenum">
              <a:t>155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0B7E1-7288-5424-F763-084F50E5F5D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D6FD8D-A422-4E85-6522-C0C9592B2F0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AF96F26-219C-F40C-B59C-AC7D6D3E2336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466CF2BA-A798-4D3F-96D4-E04F8BBF2E6C}" type="slidenum">
              <a:t>155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24283CE-57A3-8625-ABCE-E7A14038A1E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0A48B7AD-99E2-4A5C-A81E-44A4DA718400}" type="slidenum">
              <a:t>156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0B7E1-7288-5424-F763-084F50E5F5D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D6FD8D-A422-4E85-6522-C0C9592B2F0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AF96F26-219C-F40C-B59C-AC7D6D3E2336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466CF2BA-A798-4D3F-96D4-E04F8BBF2E6C}" type="slidenum">
              <a:t>156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438228678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CB738D-73E9-1E97-0767-FD0F74942AA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72FEB794-0560-4D56-A77E-ED978040E573}" type="slidenum">
              <a:t>157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2ABA3D-1C08-7916-6BA0-CF197EA793D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8BF298-6385-908E-D4A4-4CB3B88269A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43E2FE0-BD68-7A56-3297-3D3F5F9540A9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4A80CBB4-2B16-46C4-9A6E-61DE708679B7}" type="slidenum">
              <a:t>157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CB738D-73E9-1E97-0767-FD0F74942AA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72FEB794-0560-4D56-A77E-ED978040E573}" type="slidenum">
              <a:t>159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2ABA3D-1C08-7916-6BA0-CF197EA793D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8BF298-6385-908E-D4A4-4CB3B88269A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43E2FE0-BD68-7A56-3297-3D3F5F9540A9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4A80CBB4-2B16-46C4-9A6E-61DE708679B7}" type="slidenum">
              <a:t>159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50120820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CB738D-73E9-1E97-0767-FD0F74942AA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72FEB794-0560-4D56-A77E-ED978040E573}" type="slidenum">
              <a:t>160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2ABA3D-1C08-7916-6BA0-CF197EA793D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8BF298-6385-908E-D4A4-4CB3B88269A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43E2FE0-BD68-7A56-3297-3D3F5F9540A9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4A80CBB4-2B16-46C4-9A6E-61DE708679B7}" type="slidenum">
              <a:t>160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08243314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CB738D-73E9-1E97-0767-FD0F74942AA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72FEB794-0560-4D56-A77E-ED978040E573}" type="slidenum">
              <a:t>161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2ABA3D-1C08-7916-6BA0-CF197EA793D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8BF298-6385-908E-D4A4-4CB3B88269A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43E2FE0-BD68-7A56-3297-3D3F5F9540A9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4A80CBB4-2B16-46C4-9A6E-61DE708679B7}" type="slidenum">
              <a:t>161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38712076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6F255AF-9A1F-7F08-68CD-7BB3B64EFBF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5704BB58-3A7A-4ED4-9FAA-321371594D66}" type="slidenum">
              <a:t>162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43E57A-1C33-3F67-C57B-5B2D28EFB6A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794597-C4A9-0DB6-B356-E12987F21C3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3F9104-72D9-A7F7-897F-AB50F63BE2DB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BA581367-069D-45B5-8205-8D19B7A03BC9}" type="slidenum">
              <a:t>162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B43F62E-3766-15F1-EBF1-5A52E7C2E96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9051BB69-1760-4911-AF41-739188DDBCD1}" type="slidenum">
              <a:t>164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66E06F-0585-FC17-2B21-35E55017163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5FD922-6499-FEA3-86EC-BC90FEEB0AF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F863C94-8D91-6830-FEA4-8E73986BAE8D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0A22AAF1-BC1E-4818-BDFF-747B21175E22}" type="slidenum">
              <a:t>164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B43F62E-3766-15F1-EBF1-5A52E7C2E96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9051BB69-1760-4911-AF41-739188DDBCD1}" type="slidenum">
              <a:t>165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66E06F-0585-FC17-2B21-35E55017163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5FD922-6499-FEA3-86EC-BC90FEEB0AF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F863C94-8D91-6830-FEA4-8E73986BAE8D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0A22AAF1-BC1E-4818-BDFF-747B21175E22}" type="slidenum">
              <a:t>165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942808250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B43F62E-3766-15F1-EBF1-5A52E7C2E96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9051BB69-1760-4911-AF41-739188DDBCD1}" type="slidenum">
              <a:t>166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66E06F-0585-FC17-2B21-35E55017163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5FD922-6499-FEA3-86EC-BC90FEEB0AF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F863C94-8D91-6830-FEA4-8E73986BAE8D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0A22AAF1-BC1E-4818-BDFF-747B21175E22}" type="slidenum">
              <a:t>166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541435442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38CA3BD-3F8E-A47B-9372-9FFC2E06DF1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F7778DF7-0546-4F79-9039-F8B61256C775}" type="slidenum">
              <a:t>168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6B9A1B-8D75-0674-B787-002DDB794C8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B752DE-8366-EC75-59CB-6E839CE803F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EFAB2E4-7EE1-D138-DD11-BF13B6F414B0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B8A41BF0-EA2C-44B1-9F09-E8C97A96374A}" type="slidenum">
              <a:t>168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075BA5-B0F3-D379-E3C3-E5C5563B5D3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9B98B9E4-4F98-420A-91F8-47B357835441}" type="slidenum">
              <a:t>169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4B5711-CFDB-EBED-558A-EB0F6EBB083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4C6C5E-E466-72BA-C9BF-6EA8961E9C2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0870BF6-BD3B-EBA6-FAF0-6C3BC1C1BBD9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0BF8EC45-EEE8-4C72-B3B9-7398A5DD1D09}" type="slidenum">
              <a:t>169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5349B8-A7C1-8B88-5D08-EF1B704EBE0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FB9B7A33-FCF0-42F2-A389-01788E909D78}" type="slidenum">
              <a:t>171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101910-C514-2AC6-8F71-67CF53F4D95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C2BA9-7F34-1869-60F3-C8DE58E2DA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A6A80B9-B643-917F-183B-07C3E6DB8EA4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2BE0A6BA-75A5-4B56-BDBA-FE7D13A38587}" type="slidenum">
              <a:t>171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DA8B265-3504-6102-7A7A-8F521DC13F1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E6EAB08F-F541-4B4F-8124-6FF9AD6A5F77}" type="slidenum">
              <a:t>172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FC5CF2-7B6B-FB9C-7A47-6BA33F23C81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47F3D-A05C-800F-EB1F-145A1E39A66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3895931-73C0-A44B-E164-A1BF101BA266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FB1E4EE9-BFDB-49CE-9703-E8DF537C18BA}" type="slidenum">
              <a:t>172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D4EFED4-82A7-5ACC-2F8F-7902364EF87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7D7B4AB3-2D4C-42F4-8281-F97D37C7F647}" type="slidenum">
              <a:t>174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4F8781-A4EE-3C17-160D-42F8439BA37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468200-E316-95FD-3896-AB1CE811AC7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55480A1-9410-F312-26CA-B98740A9D588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88F4DBF1-FFC8-41A7-8504-DF5082B365E4}" type="slidenum">
              <a:t>174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D4EFED4-82A7-5ACC-2F8F-7902364EF87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7D7B4AB3-2D4C-42F4-8281-F97D37C7F647}" type="slidenum">
              <a:t>175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4F8781-A4EE-3C17-160D-42F8439BA37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468200-E316-95FD-3896-AB1CE811AC7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55480A1-9410-F312-26CA-B98740A9D588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88F4DBF1-FFC8-41A7-8504-DF5082B365E4}" type="slidenum">
              <a:t>175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924448255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0FF1128-76EF-A1F5-6FCB-AC9169B870C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8EE1E43D-FDEB-4656-9979-069A024CA516}" type="slidenum">
              <a:t>176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A37998-90B5-845A-7C37-DE0BC2E622E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E85725-787E-0A9E-BE9C-CF96D6A113E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EDF7AFD-3AB4-7F4D-BADC-AA38EEE669E2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C2556D0E-1B74-43A4-9BCE-11D2565500D0}" type="slidenum">
              <a:t>176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9E586D4-2364-59D5-6C89-F05F374ADF2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376BBB1C-72B0-4ECE-A210-93ED31246A55}" type="slidenum">
              <a:t>177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FFCA42-3F4C-87ED-DBB2-4CC2E7FB734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5DB2E2-45B3-0149-4AB1-7481BEB2054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47473F9-4B0A-B178-82A8-2ACDB2B65965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6B151235-2F7E-40CD-97A2-04A9D5FC2AA0}" type="slidenum">
              <a:t>177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8F9A09-1A91-AAF5-2670-660DBA1B96C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EE525F01-9942-490A-9E18-E1B9873E6751}" type="slidenum">
              <a:t>178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BA3C61-7994-283C-894E-6784811FA25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109F27-C8AE-3D61-BF82-07374E7D488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47AADC8-1ACC-CE53-605E-B201A0B3D6F1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30726E6E-858F-40E2-8289-ED5D5C7F2EBA}" type="slidenum">
              <a:t>178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8F9A09-1A91-AAF5-2670-660DBA1B96C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EE525F01-9942-490A-9E18-E1B9873E6751}" type="slidenum">
              <a:t>179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BA3C61-7994-283C-894E-6784811FA25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109F27-C8AE-3D61-BF82-07374E7D488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47AADC8-1ACC-CE53-605E-B201A0B3D6F1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30726E6E-858F-40E2-8289-ED5D5C7F2EBA}" type="slidenum">
              <a:t>179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4819734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0036EC-818D-7EBD-86E8-6B4511D59B8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4BD40797-CB16-47DA-9946-4DC2EAC30396}" type="slidenum">
              <a:t>180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28669B-740A-4F54-1BDA-E83CC485F43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692BAB-2BFB-1859-B18D-6B9EAF42011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9EF434C-B9AC-232B-4DD6-BA7E03972DE2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D16D05FC-847A-486D-826D-538B68BA8BF0}" type="slidenum">
              <a:t>180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52E10CE-E300-D2C1-6171-D0C9EC1F9CC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06F6B5B4-37E3-42D9-BD1B-18D7262C2002}" type="slidenum">
              <a:t>181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022263-34DA-6F9F-5F98-6AC468655A5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15A112-C7B6-CEE9-CF0F-3A8DA65E000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F9D9F7A-E288-9A3A-EB3E-69B3A3D0497F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52EFDDD7-C523-4E18-8AE5-821458C9E7E5}" type="slidenum">
              <a:t>181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903ADD-9757-88A6-F2E3-CB8A8B7A984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BFF200A4-EE0F-4871-A68D-A90AD5757C75}" type="slidenum">
              <a:t>183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9D44C6-47EE-FEBF-C11A-66AC200B9C3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5DC0D8-6546-0122-5EBB-6EA08F8358E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7026BB3-37DE-4166-65B5-10EFC1AB2B2B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03F915E3-0F06-4740-AEDD-08916EBB7F8B}" type="slidenum">
              <a:t>183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2575EE9-92CB-2C2C-4DF6-2B5BAA829C6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ED822F0F-BC60-43D8-8AE5-F8104430AD9F}" type="slidenum">
              <a:t>184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DA0AE1-AD77-7B24-015A-0D69D043BD2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FA1121-3214-6325-735B-0CBCDB20B75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98BE45D-BD29-5DCC-B372-534FC7031D48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DE01550B-EC4E-4555-B279-DBC350DECA6F}" type="slidenum">
              <a:t>184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6D91450-D4F3-D328-764E-9546B06825B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3F7F1507-EB0C-4761-97AA-86576BAD39E9}" type="slidenum">
              <a:t>187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667112-3B75-DFA5-C5AE-1795B47C2EF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7BC698-9CE5-2E02-2588-6BF215F9AC9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E07A2AC-D804-70AC-6261-126217C9D36C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083BEAA-5DBB-4CBD-AE2B-BDC198AE7DCE}" type="slidenum">
              <a:t>187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310D64C-91DB-2BBB-1E94-D8B68D357FF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CE12EAA0-8C84-474D-9997-14A4D5476418}" type="slidenum">
              <a:t>188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142CB1-D76E-D5B8-2D58-4136C99D6C9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2814FB-FFA5-CDBE-920C-B192A270025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53004C3-7587-12DC-5CAE-E9C12D7EE37E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28315ECF-0151-4BAA-9499-469335276722}" type="slidenum">
              <a:t>188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D701942-7703-A4B8-5EDE-AE69F4F71BF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B33065E0-0706-4B8F-9939-9BFBAA493390}" type="slidenum">
              <a:t>189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59420F-9D76-7165-A0C7-79C032B5C50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3B330A-402C-8E0D-AB0B-4E0EB5E2846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AC86E62-E528-CB25-0A30-6B1AE01B9852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F47D4EC1-88B2-458B-B103-CA63B2CDB612}" type="slidenum">
              <a:t>189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665F0F-C7AE-BF84-8611-E184FB4281C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BF2829D2-B774-426B-8E8A-C73D7BD5A906}" type="slidenum">
              <a:t>190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5F7258-8A87-718C-AFF1-53F0C2A076D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C0FF65-DB30-67AE-DBBC-378E5C8099C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2B17B77-6B5E-D199-47B2-6D80D48183D2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D6D10582-2B60-4219-9307-816A854C61BB}" type="slidenum">
              <a:t>190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A2426D9-D566-EC7D-486C-2E2EF439C02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80F17EDB-C32A-443B-8DA3-858844EDDA46}" type="slidenum">
              <a:t>191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7563DE-AC43-DE56-CCB1-9B2B7015653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1624E-A25C-4CE5-4D97-3020A798627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51FA555-E3E0-2315-6309-D275714825B0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BF98DD4C-2AA5-47B5-A666-A87A3A032838}" type="slidenum">
              <a:t>191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771D36-5B72-C67E-A43A-74E7C8D076B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656EE82D-44AB-4A9C-B1E3-A1BE4B35A087}" type="slidenum">
              <a:t>192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DB8D44-BF87-F694-AC69-D2C8FFFCBF1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FFA38A-916A-FD26-3A13-FD8159DC394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 dirty="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 dirty="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 dirty="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 dirty="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3661246-F8E1-7DDA-265A-8A0C2A01EF2C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49A3A08F-68B7-404B-97AA-E1C8DD949DAE}" type="slidenum">
              <a:t>192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903ADD-9757-88A6-F2E3-CB8A8B7A984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BFF200A4-EE0F-4871-A68D-A90AD5757C75}" type="slidenum">
              <a:t>194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9D44C6-47EE-FEBF-C11A-66AC200B9C3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5DC0D8-6546-0122-5EBB-6EA08F8358E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7026BB3-37DE-4166-65B5-10EFC1AB2B2B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03F915E3-0F06-4740-AEDD-08916EBB7F8B}" type="slidenum">
              <a:t>194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81502420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903ADD-9757-88A6-F2E3-CB8A8B7A984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wrap="square" lIns="0" tIns="0" rIns="0" bIns="0" anchor="b" anchorCtr="0" compatLnSpc="1">
            <a:noAutofit/>
          </a:bodyPr>
          <a:lstStyle/>
          <a:p>
            <a:pPr lvl="0"/>
            <a:fld id="{BFF200A4-EE0F-4871-A68D-A90AD5757C75}" type="slidenum">
              <a:t>218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9D44C6-47EE-FEBF-C11A-66AC200B9C3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5DC0D8-6546-0122-5EBB-6EA08F8358E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399" cy="4114800"/>
          </a:xfrm>
        </p:spPr>
        <p:txBody>
          <a:bodyPr wrap="square" lIns="91440" tIns="45720" rIns="91440" bIns="45720" anchor="t" anchorCtr="0">
            <a:noAutofit/>
          </a:bodyPr>
          <a:lstStyle/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The real work. General format: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2000" kern="1200">
                <a:latin typeface="Arial" pitchFamily="18"/>
              </a:rPr>
              <a:t>&lt;&lt;module&gt;&gt;: key=value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endParaRPr lang="en-US" sz="2000" kern="1200">
              <a:latin typeface="Arial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7026BB3-37DE-4166-65B5-10EFC1AB2B2B}"/>
              </a:ext>
            </a:extLst>
          </p:cNvPr>
          <p:cNvSpPr/>
          <p:nvPr/>
        </p:nvSpPr>
        <p:spPr>
          <a:xfrm>
            <a:off x="3884759" y="8685360"/>
            <a:ext cx="29718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03F915E3-0F06-4740-AEDD-08916EBB7F8B}" type="slidenum">
              <a:t>218</a:t>
            </a:fld>
            <a:endParaRPr lang="en-US" sz="1200" b="0" i="0" u="none" strike="noStrike" cap="none" baseline="0">
              <a:ln>
                <a:noFill/>
              </a:ln>
              <a:solidFill>
                <a:srgbClr val="000000"/>
              </a:solidFill>
              <a:latin typeface="+mn-lt" pitchFamily="18"/>
              <a:ea typeface="+mn-ea" pitchFamily="2"/>
              <a:cs typeface="+mn-e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621400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749" y="1844824"/>
            <a:ext cx="6650502" cy="2493938"/>
          </a:xfrm>
          <a:prstGeom prst="rect">
            <a:avLst/>
          </a:prstGeom>
        </p:spPr>
      </p:pic>
      <p:sp>
        <p:nvSpPr>
          <p:cNvPr id="4" name="fl" descr=""/>
          <p:cNvSpPr txBox="1"/>
          <p:nvPr userDrawn="1"/>
        </p:nvSpPr>
        <p:spPr>
          <a:xfrm>
            <a:off x="0" y="665734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900" b="0" i="0" u="none" baseline="0" dirty="0">
                <a:solidFill>
                  <a:srgbClr val="00437A"/>
                </a:solidFill>
                <a:latin typeface="calibri"/>
              </a:rPr>
              <a:t/>
            </a:r>
            <a:endParaRPr lang="fr-FR" sz="900" b="0" i="0" u="none" baseline="0" dirty="0">
              <a:solidFill>
                <a:srgbClr val="00437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8374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1610147" y="3717032"/>
            <a:ext cx="5917207" cy="792088"/>
          </a:xfrm>
          <a:prstGeom prst="rect">
            <a:avLst/>
          </a:prstGeom>
        </p:spPr>
        <p:txBody>
          <a:bodyPr anchor="b"/>
          <a:lstStyle>
            <a:lvl1pPr marL="0" indent="0" algn="ctr" rtl="0" eaLnBrk="1" fontAlgn="t" latinLnBrk="0" hangingPunct="1">
              <a:buNone/>
              <a:defRPr lang="fr-FR" sz="2800" b="0" i="0" u="none" strike="noStrike">
                <a:effectLst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rtl="0" eaLnBrk="1" fontAlgn="t" latinLnBrk="0" hangingPunct="1"/>
            <a:r>
              <a:rPr lang="fr-FR" sz="2800" b="1" i="0" u="none" strike="noStrike" kern="1200" dirty="0" err="1">
                <a:solidFill>
                  <a:srgbClr val="00437A"/>
                </a:solidFill>
                <a:effectLst/>
                <a:latin typeface="+mn-lt"/>
              </a:rPr>
              <a:t>Presentation</a:t>
            </a:r>
            <a:r>
              <a:rPr lang="fr-FR" sz="2800" b="1" i="0" u="none" strike="noStrike" kern="1200" dirty="0">
                <a:solidFill>
                  <a:srgbClr val="00437A"/>
                </a:solidFill>
                <a:effectLst/>
                <a:latin typeface="+mn-lt"/>
              </a:rPr>
              <a:t> </a:t>
            </a:r>
            <a:r>
              <a:rPr lang="fr-FR" sz="2800" b="1" i="0" u="none" strike="noStrike" kern="1200" dirty="0" err="1">
                <a:solidFill>
                  <a:srgbClr val="00437A"/>
                </a:solidFill>
                <a:effectLst/>
                <a:latin typeface="+mn-lt"/>
              </a:rPr>
              <a:t>Title</a:t>
            </a:r>
            <a:endParaRPr lang="fr-FR" sz="1800" b="0" i="0" u="none" strike="noStrike" dirty="0">
              <a:effectLst/>
              <a:latin typeface="Arial"/>
            </a:endParaRP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1" hasCustomPrompt="1"/>
          </p:nvPr>
        </p:nvSpPr>
        <p:spPr>
          <a:xfrm>
            <a:off x="1610147" y="4508501"/>
            <a:ext cx="5917207" cy="43266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2000" b="1">
                <a:solidFill>
                  <a:srgbClr val="969696"/>
                </a:solidFill>
              </a:defRPr>
            </a:lvl1pPr>
          </a:lstStyle>
          <a:p>
            <a:pPr lvl="0"/>
            <a:r>
              <a:rPr lang="fr-FR" dirty="0"/>
              <a:t>Name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2" hasCustomPrompt="1"/>
          </p:nvPr>
        </p:nvSpPr>
        <p:spPr>
          <a:xfrm>
            <a:off x="1610147" y="4941168"/>
            <a:ext cx="5917207" cy="5032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>
                <a:solidFill>
                  <a:srgbClr val="969696"/>
                </a:solidFill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467" y="1431469"/>
            <a:ext cx="5320400" cy="1995149"/>
          </a:xfrm>
          <a:prstGeom prst="rect">
            <a:avLst/>
          </a:prstGeom>
        </p:spPr>
      </p:pic>
      <p:sp>
        <p:nvSpPr>
          <p:cNvPr id="7" name="fl" descr=""/>
          <p:cNvSpPr txBox="1"/>
          <p:nvPr userDrawn="1"/>
        </p:nvSpPr>
        <p:spPr>
          <a:xfrm>
            <a:off x="0" y="665734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900" b="0" i="0" u="none" baseline="0" dirty="0">
                <a:solidFill>
                  <a:srgbClr val="00437A"/>
                </a:solidFill>
                <a:latin typeface="calibri"/>
              </a:rPr>
              <a:t/>
            </a:r>
            <a:endParaRPr lang="fr-FR" sz="900" b="0" i="0" u="none" baseline="0" dirty="0">
              <a:solidFill>
                <a:srgbClr val="00437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9915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rtl="0">
              <a:defRPr b="1">
                <a:solidFill>
                  <a:srgbClr val="00437A"/>
                </a:solidFill>
              </a:defRPr>
            </a:lvl1pPr>
            <a:lvl2pPr rtl="0">
              <a:defRPr>
                <a:solidFill>
                  <a:srgbClr val="00437A"/>
                </a:solidFill>
              </a:defRPr>
            </a:lvl2pPr>
            <a:lvl3pPr rtl="0">
              <a:defRPr>
                <a:solidFill>
                  <a:srgbClr val="00437A"/>
                </a:solidFill>
              </a:defRPr>
            </a:lvl3pPr>
            <a:lvl4pPr rtl="0">
              <a:defRPr>
                <a:solidFill>
                  <a:srgbClr val="00437A"/>
                </a:solidFill>
              </a:defRPr>
            </a:lvl4pPr>
            <a:lvl5pPr rtl="0">
              <a:defRPr>
                <a:solidFill>
                  <a:srgbClr val="00437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 dirty="0"/>
          </a:p>
        </p:txBody>
      </p:sp>
      <p:sp>
        <p:nvSpPr>
          <p:cNvPr id="7" name="ZoneTexte 6"/>
          <p:cNvSpPr txBox="1"/>
          <p:nvPr userDrawn="1"/>
        </p:nvSpPr>
        <p:spPr>
          <a:xfrm>
            <a:off x="4536504" y="548680"/>
            <a:ext cx="4427984" cy="2769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fr-FR" sz="1200" b="1" dirty="0"/>
              <a:t>PRESENTATION</a:t>
            </a:r>
            <a:r>
              <a:rPr lang="fr-FR" sz="1200" b="1" baseline="0" dirty="0"/>
              <a:t> TITLE </a:t>
            </a:r>
            <a:r>
              <a:rPr lang="fr-FR" sz="1200" b="1" baseline="0" dirty="0">
                <a:solidFill>
                  <a:srgbClr val="969696"/>
                </a:solidFill>
              </a:rPr>
              <a:t>– CHANGE IN MASTER SLIDE</a:t>
            </a:r>
            <a:endParaRPr lang="fr-FR" sz="1200" b="1" dirty="0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5271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 w/ ba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5544616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437A"/>
                </a:solidFill>
              </a:defRPr>
            </a:lvl1pPr>
            <a:lvl2pPr>
              <a:defRPr>
                <a:solidFill>
                  <a:srgbClr val="00437A"/>
                </a:solidFill>
              </a:defRPr>
            </a:lvl2pPr>
            <a:lvl3pPr>
              <a:defRPr>
                <a:solidFill>
                  <a:srgbClr val="00437A"/>
                </a:solidFill>
              </a:defRPr>
            </a:lvl3pPr>
            <a:lvl4pPr>
              <a:defRPr>
                <a:solidFill>
                  <a:srgbClr val="00437A"/>
                </a:solidFill>
              </a:defRPr>
            </a:lvl4pPr>
            <a:lvl5pPr>
              <a:defRPr>
                <a:solidFill>
                  <a:srgbClr val="00437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 dirty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179512" y="55657"/>
            <a:ext cx="8208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/>
              <a:t>PRESENTATION</a:t>
            </a:r>
            <a:r>
              <a:rPr lang="fr-FR" sz="1200" b="1" baseline="0" dirty="0"/>
              <a:t> TITLE </a:t>
            </a:r>
            <a:r>
              <a:rPr lang="fr-FR" sz="1200" b="1" baseline="0" dirty="0">
                <a:solidFill>
                  <a:srgbClr val="969696"/>
                </a:solidFill>
              </a:rPr>
              <a:t>– CHANGE IN MASTER SLIDE</a:t>
            </a:r>
            <a:endParaRPr lang="fr-FR" sz="1200" b="1" dirty="0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6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 wo/ ba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5544616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437A"/>
                </a:solidFill>
              </a:defRPr>
            </a:lvl1pPr>
            <a:lvl2pPr>
              <a:defRPr>
                <a:solidFill>
                  <a:srgbClr val="00437A"/>
                </a:solidFill>
              </a:defRPr>
            </a:lvl2pPr>
            <a:lvl3pPr>
              <a:defRPr>
                <a:solidFill>
                  <a:srgbClr val="00437A"/>
                </a:solidFill>
              </a:defRPr>
            </a:lvl3pPr>
            <a:lvl4pPr>
              <a:defRPr>
                <a:solidFill>
                  <a:srgbClr val="00437A"/>
                </a:solidFill>
              </a:defRPr>
            </a:lvl4pPr>
            <a:lvl5pPr>
              <a:defRPr>
                <a:solidFill>
                  <a:srgbClr val="00437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 dirty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179512" y="55657"/>
            <a:ext cx="8208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/>
              <a:t>PRESENTATION</a:t>
            </a:r>
            <a:r>
              <a:rPr lang="fr-FR" sz="1200" b="1" baseline="0" dirty="0"/>
              <a:t> TITLE </a:t>
            </a:r>
            <a:r>
              <a:rPr lang="fr-FR" sz="1200" b="1" baseline="0" dirty="0">
                <a:solidFill>
                  <a:srgbClr val="969696"/>
                </a:solidFill>
              </a:rPr>
              <a:t>– CHANGE IN MASTER SLIDE</a:t>
            </a:r>
            <a:endParaRPr lang="fr-FR" sz="1200" b="1" dirty="0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430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02A73C8-D841-5056-52F6-B67F7FA739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/>
          </a:p>
        </p:txBody>
      </p:sp>
    </p:spTree>
    <p:extLst>
      <p:ext uri="{BB962C8B-B14F-4D97-AF65-F5344CB8AC3E}">
        <p14:creationId xmlns:p14="http://schemas.microsoft.com/office/powerpoint/2010/main" val="376016496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&amp; 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>
            <a:lvl1pPr rtl="0">
              <a:defRPr b="1">
                <a:solidFill>
                  <a:srgbClr val="00437A"/>
                </a:solidFill>
              </a:defRPr>
            </a:lvl1pPr>
            <a:lvl2pPr rtl="0">
              <a:defRPr>
                <a:solidFill>
                  <a:srgbClr val="00437A"/>
                </a:solidFill>
              </a:defRPr>
            </a:lvl2pPr>
            <a:lvl3pPr rtl="0">
              <a:defRPr>
                <a:solidFill>
                  <a:srgbClr val="00437A"/>
                </a:solidFill>
              </a:defRPr>
            </a:lvl3pPr>
            <a:lvl4pPr rtl="0">
              <a:defRPr>
                <a:solidFill>
                  <a:srgbClr val="00437A"/>
                </a:solidFill>
              </a:defRPr>
            </a:lvl4pPr>
            <a:lvl5pPr rtl="0">
              <a:defRPr>
                <a:solidFill>
                  <a:srgbClr val="00437A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4536505" y="641014"/>
            <a:ext cx="4427984" cy="2769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fr-FR" sz="1200" b="1" dirty="0"/>
              <a:t>Ansible Best Practices </a:t>
            </a:r>
            <a:r>
              <a:rPr lang="fr-FR" sz="1200" b="1" baseline="0" dirty="0">
                <a:solidFill>
                  <a:srgbClr val="969696"/>
                </a:solidFill>
              </a:rPr>
              <a:t>– </a:t>
            </a:r>
            <a:r>
              <a:rPr lang="fr-FR" sz="1200" b="1" baseline="0" dirty="0" err="1">
                <a:solidFill>
                  <a:srgbClr val="969696"/>
                </a:solidFill>
              </a:rPr>
              <a:t>Roles</a:t>
            </a:r>
            <a:endParaRPr lang="fr-FR" sz="1200" b="1" dirty="0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1256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&amp; 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>
            <a:lvl1pPr rtl="0">
              <a:defRPr b="1">
                <a:solidFill>
                  <a:srgbClr val="00437A"/>
                </a:solidFill>
              </a:defRPr>
            </a:lvl1pPr>
            <a:lvl2pPr rtl="0">
              <a:defRPr>
                <a:solidFill>
                  <a:srgbClr val="00437A"/>
                </a:solidFill>
              </a:defRPr>
            </a:lvl2pPr>
            <a:lvl3pPr rtl="0">
              <a:defRPr>
                <a:solidFill>
                  <a:srgbClr val="00437A"/>
                </a:solidFill>
              </a:defRPr>
            </a:lvl3pPr>
            <a:lvl4pPr rtl="0">
              <a:defRPr>
                <a:solidFill>
                  <a:srgbClr val="00437A"/>
                </a:solidFill>
              </a:defRPr>
            </a:lvl4pPr>
            <a:lvl5pPr rtl="0">
              <a:defRPr>
                <a:solidFill>
                  <a:srgbClr val="00437A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4536505" y="641014"/>
            <a:ext cx="4427984" cy="2769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fr-FR" sz="1200" b="1" dirty="0"/>
              <a:t>Ansible Best Practices </a:t>
            </a:r>
            <a:r>
              <a:rPr lang="fr-FR" sz="1200" b="1" baseline="0" dirty="0">
                <a:solidFill>
                  <a:srgbClr val="969696"/>
                </a:solidFill>
              </a:rPr>
              <a:t>– Speed Up</a:t>
            </a:r>
            <a:endParaRPr lang="fr-FR" sz="1200" b="1" dirty="0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666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Document Title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DB0A0-A856-47ED-96F2-708FF08380E1}" type="slidenum">
              <a:rPr lang="fr-FR" smtClean="0"/>
              <a:t>‹#›</a:t>
            </a:fld>
            <a:endParaRPr lang="fr-FR"/>
          </a:p>
        </p:txBody>
      </p:sp>
      <p:sp>
        <p:nvSpPr>
          <p:cNvPr id="3" name="fl" descr=""/>
          <p:cNvSpPr txBox="1"/>
          <p:nvPr/>
        </p:nvSpPr>
        <p:spPr>
          <a:xfrm>
            <a:off x="0" y="665734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900" b="0" i="0" u="none" baseline="0">
                <a:solidFill>
                  <a:srgbClr val="00437A"/>
                </a:solidFill>
                <a:latin typeface="calibri"/>
              </a:rPr>
              <a:t/>
            </a:r>
            <a:endParaRPr lang="fr-FR" sz="900" b="0" i="0" u="none" baseline="0">
              <a:solidFill>
                <a:srgbClr val="00437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8168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0" r:id="rId4"/>
    <p:sldLayoutId id="2147483661" r:id="rId5"/>
    <p:sldLayoutId id="2147483662" r:id="rId6"/>
    <p:sldLayoutId id="2147483663" r:id="rId7"/>
    <p:sldLayoutId id="2147483664" r:id="rId8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12" Type="http://schemas.openxmlformats.org/officeDocument/2006/relationships/image" Target="../media/image28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wmf"/><Relationship Id="rId11" Type="http://schemas.openxmlformats.org/officeDocument/2006/relationships/image" Target="../media/image27.wmf"/><Relationship Id="rId5" Type="http://schemas.openxmlformats.org/officeDocument/2006/relationships/image" Target="../media/image21.wmf"/><Relationship Id="rId10" Type="http://schemas.openxmlformats.org/officeDocument/2006/relationships/image" Target="../media/image26.wmf"/><Relationship Id="rId4" Type="http://schemas.openxmlformats.org/officeDocument/2006/relationships/image" Target="../media/image20.wmf"/><Relationship Id="rId9" Type="http://schemas.openxmlformats.org/officeDocument/2006/relationships/image" Target="../media/image25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20.wmf"/><Relationship Id="rId7" Type="http://schemas.openxmlformats.org/officeDocument/2006/relationships/image" Target="../media/image24.wmf"/><Relationship Id="rId12" Type="http://schemas.openxmlformats.org/officeDocument/2006/relationships/image" Target="../media/image27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wmf"/><Relationship Id="rId11" Type="http://schemas.openxmlformats.org/officeDocument/2006/relationships/image" Target="../media/image19.wmf"/><Relationship Id="rId5" Type="http://schemas.openxmlformats.org/officeDocument/2006/relationships/image" Target="../media/image22.wmf"/><Relationship Id="rId10" Type="http://schemas.openxmlformats.org/officeDocument/2006/relationships/image" Target="../media/image26.wmf"/><Relationship Id="rId4" Type="http://schemas.openxmlformats.org/officeDocument/2006/relationships/image" Target="../media/image21.wmf"/><Relationship Id="rId9" Type="http://schemas.openxmlformats.org/officeDocument/2006/relationships/image" Target="../media/image25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ansible.com/ansible/latest/collections/ansible/netcommon/index.html#plugins-in-ansible-netcommon" TargetMode="External"/><Relationship Id="rId13" Type="http://schemas.openxmlformats.org/officeDocument/2006/relationships/hyperlink" Target="https://docs.ansible.com/ansible/latest/collections/awx/awx/index.html#plugins-in-awx-awx" TargetMode="External"/><Relationship Id="rId18" Type="http://schemas.openxmlformats.org/officeDocument/2006/relationships/hyperlink" Target="https://docs.ansible.com/ansible/latest/collections/cisco/asa/index.html#plugins-in-cisco-asa" TargetMode="External"/><Relationship Id="rId26" Type="http://schemas.openxmlformats.org/officeDocument/2006/relationships/hyperlink" Target="https://docs.ansible.com/ansible/latest/collections/cisco/nxos/index.html#plugins-in-cisco-nxos" TargetMode="External"/><Relationship Id="rId3" Type="http://schemas.openxmlformats.org/officeDocument/2006/relationships/hyperlink" Target="https://access.redhat.com/support/policy/updates/ansible-automation-platform" TargetMode="External"/><Relationship Id="rId21" Type="http://schemas.openxmlformats.org/officeDocument/2006/relationships/hyperlink" Target="https://docs.ansible.com/ansible/latest/collections/cisco/ios/index.html#plugins-in-cisco-ios" TargetMode="External"/><Relationship Id="rId7" Type="http://schemas.openxmlformats.org/officeDocument/2006/relationships/hyperlink" Target="https://docs.ansible.com/ansible/latest/collections/ansible/builtin/index.html#plugins-in-ansible-builtin" TargetMode="External"/><Relationship Id="rId12" Type="http://schemas.openxmlformats.org/officeDocument/2006/relationships/hyperlink" Target="https://docs.ansible.com/ansible/latest/collections/arista/eos/index.html#plugins-in-arista-eos" TargetMode="External"/><Relationship Id="rId17" Type="http://schemas.openxmlformats.org/officeDocument/2006/relationships/hyperlink" Target="https://docs.ansible.com/ansible/latest/collections/cisco/aci/index.html#plugins-in-cisco-aci" TargetMode="External"/><Relationship Id="rId25" Type="http://schemas.openxmlformats.org/officeDocument/2006/relationships/hyperlink" Target="https://docs.ansible.com/ansible/latest/collections/cisco/mso/index.html#plugins-in-cisco-mso" TargetMode="External"/><Relationship Id="rId2" Type="http://schemas.openxmlformats.org/officeDocument/2006/relationships/notesSlide" Target="../notesSlides/notesSlide30.xml"/><Relationship Id="rId16" Type="http://schemas.openxmlformats.org/officeDocument/2006/relationships/hyperlink" Target="https://docs.ansible.com/ansible/latest/collections/chocolatey/chocolatey/index.html#plugins-in-chocolatey-chocolatey" TargetMode="External"/><Relationship Id="rId20" Type="http://schemas.openxmlformats.org/officeDocument/2006/relationships/hyperlink" Target="https://docs.ansible.com/ansible/latest/collections/cisco/intersight/index.html#plugins-in-cisco-intersight" TargetMode="External"/><Relationship Id="rId29" Type="http://schemas.openxmlformats.org/officeDocument/2006/relationships/hyperlink" Target="https://docs.ansible.com/ansible/latest/collections/cloudscale_ch/cloud/index.html#plugins-in-cloudscale-ch-cloud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docs.ansible.com/ansible/latest/collections/amazon/aws/index.html#plugins-in-amazon-aws" TargetMode="External"/><Relationship Id="rId11" Type="http://schemas.openxmlformats.org/officeDocument/2006/relationships/hyperlink" Target="https://docs.ansible.com/ansible/latest/collections/ansible/windows/index.html#plugins-in-ansible-windows" TargetMode="External"/><Relationship Id="rId24" Type="http://schemas.openxmlformats.org/officeDocument/2006/relationships/hyperlink" Target="https://docs.ansible.com/ansible/latest/collections/cisco/meraki/index.html#plugins-in-cisco-meraki" TargetMode="External"/><Relationship Id="rId5" Type="http://schemas.openxmlformats.org/officeDocument/2006/relationships/hyperlink" Target="https://docs.ansible.com/" TargetMode="External"/><Relationship Id="rId15" Type="http://schemas.openxmlformats.org/officeDocument/2006/relationships/hyperlink" Target="https://docs.ansible.com/ansible/latest/collections/check_point/mgmt/index.html#plugins-in-check-point-mgmt" TargetMode="External"/><Relationship Id="rId23" Type="http://schemas.openxmlformats.org/officeDocument/2006/relationships/hyperlink" Target="https://docs.ansible.com/ansible/latest/collections/cisco/ise/index.html#plugins-in-cisco-ise" TargetMode="External"/><Relationship Id="rId28" Type="http://schemas.openxmlformats.org/officeDocument/2006/relationships/hyperlink" Target="https://docs.ansible.com/ansible/latest/collections/cloud/common/index.html#plugins-in-cloud-common" TargetMode="External"/><Relationship Id="rId10" Type="http://schemas.openxmlformats.org/officeDocument/2006/relationships/hyperlink" Target="https://docs.ansible.com/ansible/latest/collections/ansible/utils/index.html#plugins-in-ansible-utils" TargetMode="External"/><Relationship Id="rId19" Type="http://schemas.openxmlformats.org/officeDocument/2006/relationships/hyperlink" Target="https://docs.ansible.com/ansible/latest/collections/cisco/dnac/index.html#plugins-in-cisco-dnac" TargetMode="External"/><Relationship Id="rId4" Type="http://schemas.openxmlformats.org/officeDocument/2006/relationships/hyperlink" Target="https://docs.ansible.com/ansible/latest/collections/index.html#collection-index" TargetMode="External"/><Relationship Id="rId9" Type="http://schemas.openxmlformats.org/officeDocument/2006/relationships/hyperlink" Target="https://docs.ansible.com/ansible/latest/collections/ansible/posix/index.html#plugins-in-ansible-posix" TargetMode="External"/><Relationship Id="rId14" Type="http://schemas.openxmlformats.org/officeDocument/2006/relationships/hyperlink" Target="https://docs.ansible.com/ansible/latest/collections/azure/azcollection/index.html#plugins-in-azure-azcollection" TargetMode="External"/><Relationship Id="rId22" Type="http://schemas.openxmlformats.org/officeDocument/2006/relationships/hyperlink" Target="https://docs.ansible.com/ansible/latest/collections/cisco/iosxr/index.html#plugins-in-cisco-iosxr" TargetMode="External"/><Relationship Id="rId27" Type="http://schemas.openxmlformats.org/officeDocument/2006/relationships/hyperlink" Target="https://docs.ansible.com/ansible/latest/collections/cisco/ucs/index.html#plugins-in-cisco-ucs" TargetMode="External"/><Relationship Id="rId30" Type="http://schemas.openxmlformats.org/officeDocument/2006/relationships/hyperlink" Target="https://docs.ansible.com/ansible/latest/collections/community/aws/index.html#plugins-in-community-aws" TargetMode="External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hyperlink" Target="https://docs.ansible.com/ansible/latest/collections/ansible/builtin/cron_module.html#ansible-collections-ansible-builtin-cron-module" TargetMode="External"/><Relationship Id="rId18" Type="http://schemas.openxmlformats.org/officeDocument/2006/relationships/hyperlink" Target="https://docs.ansible.com/ansible/latest/collections/ansible/builtin/dnf5_module.html#ansible-collections-ansible-builtin-dnf5-module" TargetMode="External"/><Relationship Id="rId26" Type="http://schemas.openxmlformats.org/officeDocument/2006/relationships/hyperlink" Target="https://docs.ansible.com/ansible/latest/collections/ansible/builtin/get_url_module.html#ansible-collections-ansible-builtin-get-url-module" TargetMode="External"/><Relationship Id="rId3" Type="http://schemas.openxmlformats.org/officeDocument/2006/relationships/hyperlink" Target="https://docs.ansible.com/ansible/latest/collections/ansible/builtin/add_host_module.html#ansible-collections-ansible-builtin-add-host-module" TargetMode="External"/><Relationship Id="rId21" Type="http://schemas.openxmlformats.org/officeDocument/2006/relationships/hyperlink" Target="https://docs.ansible.com/ansible/latest/collections/ansible/builtin/fail_module.html#ansible-collections-ansible-builtin-fail-module" TargetMode="External"/><Relationship Id="rId34" Type="http://schemas.openxmlformats.org/officeDocument/2006/relationships/hyperlink" Target="https://docs.ansible.com/ansible/latest/collections/ansible/builtin/import_tasks_module.html#ansible-collections-ansible-builtin-import-tasks-module" TargetMode="External"/><Relationship Id="rId7" Type="http://schemas.openxmlformats.org/officeDocument/2006/relationships/hyperlink" Target="https://docs.ansible.com/ansible/latest/collections/ansible/builtin/assemble_module.html#ansible-collections-ansible-builtin-assemble-module" TargetMode="External"/><Relationship Id="rId12" Type="http://schemas.openxmlformats.org/officeDocument/2006/relationships/hyperlink" Target="https://docs.ansible.com/ansible/latest/collections/ansible/builtin/copy_module.html#ansible-collections-ansible-builtin-copy-module" TargetMode="External"/><Relationship Id="rId17" Type="http://schemas.openxmlformats.org/officeDocument/2006/relationships/hyperlink" Target="https://docs.ansible.com/ansible/latest/collections/ansible/builtin/dnf_module.html#ansible-collections-ansible-builtin-dnf-module" TargetMode="External"/><Relationship Id="rId25" Type="http://schemas.openxmlformats.org/officeDocument/2006/relationships/hyperlink" Target="https://docs.ansible.com/ansible/latest/collections/ansible/builtin/gather_facts_module.html#ansible-collections-ansible-builtin-gather-facts-module" TargetMode="External"/><Relationship Id="rId33" Type="http://schemas.openxmlformats.org/officeDocument/2006/relationships/hyperlink" Target="https://docs.ansible.com/ansible/latest/collections/ansible/builtin/import_role_module.html#ansible-collections-ansible-builtin-import-role-module" TargetMode="External"/><Relationship Id="rId2" Type="http://schemas.openxmlformats.org/officeDocument/2006/relationships/hyperlink" Target="https://docs.ansible.com/ansible/latest/collections/ansible/builtin/index.html#modules" TargetMode="External"/><Relationship Id="rId16" Type="http://schemas.openxmlformats.org/officeDocument/2006/relationships/hyperlink" Target="https://docs.ansible.com/ansible/latest/collections/ansible/builtin/debug_module.html#ansible-collections-ansible-builtin-debug-module" TargetMode="External"/><Relationship Id="rId20" Type="http://schemas.openxmlformats.org/officeDocument/2006/relationships/hyperlink" Target="https://docs.ansible.com/ansible/latest/collections/ansible/builtin/expect_module.html#ansible-collections-ansible-builtin-expect-module" TargetMode="External"/><Relationship Id="rId29" Type="http://schemas.openxmlformats.org/officeDocument/2006/relationships/hyperlink" Target="https://docs.ansible.com/ansible/latest/collections/ansible/builtin/group_module.html#ansible-collections-ansible-builtin-group-module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docs.ansible.com/ansible/latest/collections/ansible/builtin/apt_repository_module.html#ansible-collections-ansible-builtin-apt-repository-module" TargetMode="External"/><Relationship Id="rId11" Type="http://schemas.openxmlformats.org/officeDocument/2006/relationships/hyperlink" Target="https://docs.ansible.com/ansible/latest/collections/ansible/builtin/command_module.html#ansible-collections-ansible-builtin-command-module" TargetMode="External"/><Relationship Id="rId24" Type="http://schemas.openxmlformats.org/officeDocument/2006/relationships/hyperlink" Target="https://docs.ansible.com/ansible/latest/collections/ansible/builtin/find_module.html#ansible-collections-ansible-builtin-find-module" TargetMode="External"/><Relationship Id="rId32" Type="http://schemas.openxmlformats.org/officeDocument/2006/relationships/hyperlink" Target="https://docs.ansible.com/ansible/latest/collections/ansible/builtin/import_playbook_module.html#ansible-collections-ansible-builtin-import-playbook-module" TargetMode="External"/><Relationship Id="rId5" Type="http://schemas.openxmlformats.org/officeDocument/2006/relationships/hyperlink" Target="https://docs.ansible.com/ansible/latest/collections/ansible/builtin/apt_key_module.html#ansible-collections-ansible-builtin-apt-key-module" TargetMode="External"/><Relationship Id="rId15" Type="http://schemas.openxmlformats.org/officeDocument/2006/relationships/hyperlink" Target="https://docs.ansible.com/ansible/latest/collections/ansible/builtin/debconf_module.html#ansible-collections-ansible-builtin-debconf-module" TargetMode="External"/><Relationship Id="rId23" Type="http://schemas.openxmlformats.org/officeDocument/2006/relationships/hyperlink" Target="https://docs.ansible.com/ansible/latest/collections/ansible/builtin/file_module.html#ansible-collections-ansible-builtin-file-module" TargetMode="External"/><Relationship Id="rId28" Type="http://schemas.openxmlformats.org/officeDocument/2006/relationships/hyperlink" Target="https://docs.ansible.com/ansible/latest/collections/ansible/builtin/git_module.html#ansible-collections-ansible-builtin-git-module" TargetMode="External"/><Relationship Id="rId10" Type="http://schemas.openxmlformats.org/officeDocument/2006/relationships/hyperlink" Target="https://docs.ansible.com/ansible/latest/collections/ansible/builtin/blockinfile_module.html#ansible-collections-ansible-builtin-blockinfile-module" TargetMode="External"/><Relationship Id="rId19" Type="http://schemas.openxmlformats.org/officeDocument/2006/relationships/hyperlink" Target="https://docs.ansible.com/ansible/latest/collections/ansible/builtin/dpkg_selections_module.html#ansible-collections-ansible-builtin-dpkg-selections-module" TargetMode="External"/><Relationship Id="rId31" Type="http://schemas.openxmlformats.org/officeDocument/2006/relationships/hyperlink" Target="https://docs.ansible.com/ansible/latest/collections/ansible/builtin/hostname_module.html#ansible-collections-ansible-builtin-hostname-module" TargetMode="External"/><Relationship Id="rId4" Type="http://schemas.openxmlformats.org/officeDocument/2006/relationships/hyperlink" Target="https://docs.ansible.com/ansible/latest/collections/ansible/builtin/apt_module.html#ansible-collections-ansible-builtin-apt-module" TargetMode="External"/><Relationship Id="rId9" Type="http://schemas.openxmlformats.org/officeDocument/2006/relationships/hyperlink" Target="https://docs.ansible.com/ansible/latest/collections/ansible/builtin/async_status_module.html#ansible-collections-ansible-builtin-async-status-module" TargetMode="External"/><Relationship Id="rId14" Type="http://schemas.openxmlformats.org/officeDocument/2006/relationships/hyperlink" Target="https://docs.ansible.com/ansible/latest/collections/ansible/builtin/deb822_repository_module.html#ansible-collections-ansible-builtin-deb822-repository-module" TargetMode="External"/><Relationship Id="rId22" Type="http://schemas.openxmlformats.org/officeDocument/2006/relationships/hyperlink" Target="https://docs.ansible.com/ansible/latest/collections/ansible/builtin/fetch_module.html#ansible-collections-ansible-builtin-fetch-module" TargetMode="External"/><Relationship Id="rId27" Type="http://schemas.openxmlformats.org/officeDocument/2006/relationships/hyperlink" Target="https://docs.ansible.com/ansible/latest/collections/ansible/builtin/getent_module.html#ansible-collections-ansible-builtin-getent-module" TargetMode="External"/><Relationship Id="rId30" Type="http://schemas.openxmlformats.org/officeDocument/2006/relationships/hyperlink" Target="https://docs.ansible.com/ansible/latest/collections/ansible/builtin/group_by_module.html#ansible-collections-ansible-builtin-group-by-module" TargetMode="External"/><Relationship Id="rId8" Type="http://schemas.openxmlformats.org/officeDocument/2006/relationships/hyperlink" Target="https://docs.ansible.com/ansible/latest/collections/ansible/builtin/assert_module.html#ansible-collections-ansible-builtin-assert-module" TargetMode="Externa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com/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com/" TargetMode="Externa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sible.com/ansible/latest/playbook_guide/playbooks_templating.html" TargetMode="Externa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hyperlink" Target="mailto:test1@prompt" TargetMode="External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6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6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6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6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6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6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6.xml"/></Relationships>
</file>

<file path=ppt/slides/_rels/slide161.xml.rels><?xml version="1.0" encoding="UTF-8" standalone="yes"?>
<Relationships xmlns="http://schemas.openxmlformats.org/package/2006/relationships"><Relationship Id="rId3" Type="http://schemas.openxmlformats.org/officeDocument/2006/relationships/hyperlink" Target="https://galaxy-test.example.com/api/galaxy%20/" TargetMode="External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6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6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6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6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6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6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6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6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repo/checknetwork-playbook" TargetMode="External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6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6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6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6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6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6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6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6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6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6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6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6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6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6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6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6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6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6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6537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>
          <a:xfrm>
            <a:off x="1613396" y="3461657"/>
            <a:ext cx="5917207" cy="792088"/>
          </a:xfrm>
        </p:spPr>
        <p:txBody>
          <a:bodyPr/>
          <a:lstStyle/>
          <a:p>
            <a:r>
              <a:rPr lang="fr-FR" dirty="0"/>
              <a:t>ANSIBLE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>
          <a:xfrm>
            <a:off x="1613396" y="4253126"/>
            <a:ext cx="5917207" cy="43266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Open Sans" pitchFamily="2"/>
              </a:rPr>
              <a:t>AUTOMATION FOR EVERYONE</a:t>
            </a:r>
          </a:p>
          <a:p>
            <a:r>
              <a:rPr lang="en-US" dirty="0">
                <a:solidFill>
                  <a:schemeClr val="bg1"/>
                </a:solidFill>
                <a:latin typeface="Open Sans" pitchFamily="2"/>
              </a:rPr>
              <a:t>V6</a:t>
            </a:r>
            <a:endParaRPr lang="fr-FR" dirty="0">
              <a:solidFill>
                <a:schemeClr val="bg1"/>
              </a:solidFill>
            </a:endParaRPr>
          </a:p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2"/>
          </p:nvPr>
        </p:nvSpPr>
        <p:spPr>
          <a:xfrm>
            <a:off x="1613395" y="5018000"/>
            <a:ext cx="5917207" cy="503238"/>
          </a:xfrm>
        </p:spPr>
        <p:txBody>
          <a:bodyPr/>
          <a:lstStyle/>
          <a:p>
            <a:r>
              <a:rPr lang="fr-FR" dirty="0"/>
              <a:t>12/05/2025</a:t>
            </a:r>
          </a:p>
        </p:txBody>
      </p:sp>
    </p:spTree>
    <p:extLst>
      <p:ext uri="{BB962C8B-B14F-4D97-AF65-F5344CB8AC3E}">
        <p14:creationId xmlns:p14="http://schemas.microsoft.com/office/powerpoint/2010/main" val="1209449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1">
            <a:extLst>
              <a:ext uri="{FF2B5EF4-FFF2-40B4-BE49-F238E27FC236}">
                <a16:creationId xmlns:a16="http://schemas.microsoft.com/office/drawing/2014/main" id="{2AD0DE72-EB48-75AD-BC9B-80CB6B9679EA}"/>
              </a:ext>
            </a:extLst>
          </p:cNvPr>
          <p:cNvSpPr txBox="1">
            <a:spLocks/>
          </p:cNvSpPr>
          <p:nvPr/>
        </p:nvSpPr>
        <p:spPr>
          <a:xfrm>
            <a:off x="218734" y="1005840"/>
            <a:ext cx="2834640" cy="5562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rgbClr val="00437A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rgbClr val="00437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rgbClr val="00437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rgbClr val="00437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rgbClr val="00437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hangingPunct="0">
              <a:lnSpc>
                <a:spcPct val="93000"/>
              </a:lnSpc>
              <a:spcBef>
                <a:spcPts val="0"/>
              </a:spcBef>
              <a:buFont typeface="Arial" pitchFamily="34" charset="0"/>
              <a:buNone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400" u="sng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Day 1</a:t>
            </a:r>
            <a:r>
              <a:rPr lang="fr-FR" sz="2400" b="0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 :</a:t>
            </a:r>
          </a:p>
          <a:p>
            <a:pPr marL="0" indent="0" hangingPunct="0">
              <a:lnSpc>
                <a:spcPct val="93000"/>
              </a:lnSpc>
              <a:spcBef>
                <a:spcPts val="0"/>
              </a:spcBef>
              <a:buFont typeface="Arial" pitchFamily="34" charset="0"/>
              <a:buNone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endParaRPr lang="fr-FR" sz="2400" b="0" dirty="0"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400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Introduction</a:t>
            </a: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400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What</a:t>
            </a:r>
            <a:r>
              <a:rPr lang="fr-FR" sz="2400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2400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is</a:t>
            </a:r>
            <a:r>
              <a:rPr lang="fr-FR" sz="2400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Ansible</a:t>
            </a: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400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How </a:t>
            </a:r>
            <a:r>
              <a:rPr lang="fr-FR" sz="2400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does</a:t>
            </a:r>
            <a:r>
              <a:rPr lang="fr-FR" sz="2400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2400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it</a:t>
            </a:r>
            <a:r>
              <a:rPr lang="fr-FR" sz="2400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Work</a:t>
            </a: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400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Commande line</a:t>
            </a: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400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Inventory</a:t>
            </a: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400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Playbooks</a:t>
            </a:r>
            <a:endParaRPr lang="fr-FR" sz="2400" dirty="0"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400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Modules</a:t>
            </a: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endParaRPr lang="fr-FR" sz="2400" dirty="0"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400050" lvl="2" indent="0" hangingPunct="0">
              <a:lnSpc>
                <a:spcPct val="93000"/>
              </a:lnSpc>
              <a:spcBef>
                <a:spcPts val="0"/>
              </a:spcBef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000" b="1" dirty="0">
                <a:solidFill>
                  <a:srgbClr val="C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Lunch Break</a:t>
            </a:r>
          </a:p>
          <a:p>
            <a:pPr marL="400050" lvl="2" indent="0" hangingPunct="0">
              <a:lnSpc>
                <a:spcPct val="93000"/>
              </a:lnSpc>
              <a:spcBef>
                <a:spcPts val="0"/>
              </a:spcBef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endParaRPr lang="fr-FR" sz="2000" b="1" dirty="0"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400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Variables</a:t>
            </a: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400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Errors</a:t>
            </a:r>
            <a:endParaRPr lang="fr-FR" sz="2400" dirty="0"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400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Delegation</a:t>
            </a:r>
            <a:endParaRPr lang="fr-FR" sz="2400" dirty="0"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endParaRPr lang="fr-FR" sz="2400" dirty="0"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indent="0" hangingPunct="0">
              <a:lnSpc>
                <a:spcPct val="93000"/>
              </a:lnSpc>
              <a:spcBef>
                <a:spcPts val="0"/>
              </a:spcBef>
              <a:buFont typeface="Arial" pitchFamily="34" charset="0"/>
              <a:buNone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endParaRPr lang="fr-FR" sz="2400" b="0" dirty="0"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77CB8BC9-BE87-0261-698F-8F0E227DD1D9}"/>
              </a:ext>
            </a:extLst>
          </p:cNvPr>
          <p:cNvSpPr txBox="1">
            <a:spLocks/>
          </p:cNvSpPr>
          <p:nvPr/>
        </p:nvSpPr>
        <p:spPr>
          <a:xfrm>
            <a:off x="3155202" y="1005840"/>
            <a:ext cx="2834640" cy="5562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rgbClr val="00437A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rgbClr val="00437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rgbClr val="00437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rgbClr val="00437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rgbClr val="00437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hangingPunct="0">
              <a:lnSpc>
                <a:spcPct val="93000"/>
              </a:lnSpc>
              <a:spcBef>
                <a:spcPts val="0"/>
              </a:spcBef>
              <a:buNone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400" u="sng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Day 2</a:t>
            </a:r>
            <a:r>
              <a:rPr lang="fr-FR" sz="2400" b="0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 :</a:t>
            </a:r>
          </a:p>
          <a:p>
            <a:pPr marL="0" indent="0" hangingPunct="0">
              <a:lnSpc>
                <a:spcPct val="93000"/>
              </a:lnSpc>
              <a:spcBef>
                <a:spcPts val="0"/>
              </a:spcBef>
              <a:buNone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endParaRPr lang="fr-FR" sz="2400" b="0" dirty="0"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400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Filters</a:t>
            </a:r>
            <a:endParaRPr lang="fr-FR" sz="2400" dirty="0"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400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Conditions</a:t>
            </a: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400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Loops</a:t>
            </a:r>
            <a:endParaRPr lang="fr-FR" sz="2400" dirty="0"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400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Tags</a:t>
            </a: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endParaRPr lang="fr-FR" sz="2400" dirty="0"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lvl="1" indent="0" algn="ctr" hangingPunct="0">
              <a:lnSpc>
                <a:spcPct val="93000"/>
              </a:lnSpc>
              <a:spcBef>
                <a:spcPts val="0"/>
              </a:spcBef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000" b="1" dirty="0">
                <a:solidFill>
                  <a:srgbClr val="C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Lunch Break</a:t>
            </a:r>
            <a:endParaRPr lang="fr-FR" sz="2000" dirty="0">
              <a:solidFill>
                <a:srgbClr val="C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endParaRPr lang="fr-FR" sz="2400" dirty="0"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400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Templates</a:t>
            </a:r>
            <a:r>
              <a:rPr lang="fr-FR" sz="2400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JINJA2</a:t>
            </a: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400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Asynch</a:t>
            </a:r>
            <a:endParaRPr lang="fr-FR" sz="2400" dirty="0"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400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Vault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C3F8B1A-6E83-7103-DD81-2943ACE738C2}"/>
              </a:ext>
            </a:extLst>
          </p:cNvPr>
          <p:cNvSpPr txBox="1">
            <a:spLocks/>
          </p:cNvSpPr>
          <p:nvPr/>
        </p:nvSpPr>
        <p:spPr>
          <a:xfrm>
            <a:off x="6091670" y="1005840"/>
            <a:ext cx="2834640" cy="5562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rgbClr val="00437A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rgbClr val="00437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rgbClr val="00437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rgbClr val="00437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rgbClr val="00437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hangingPunct="0">
              <a:lnSpc>
                <a:spcPct val="93000"/>
              </a:lnSpc>
              <a:spcBef>
                <a:spcPts val="0"/>
              </a:spcBef>
              <a:buNone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400" u="sng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Day 3</a:t>
            </a:r>
            <a:r>
              <a:rPr lang="fr-FR" sz="2400" b="0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 :</a:t>
            </a:r>
          </a:p>
          <a:p>
            <a:pPr marL="0" indent="0" hangingPunct="0">
              <a:lnSpc>
                <a:spcPct val="93000"/>
              </a:lnSpc>
              <a:spcBef>
                <a:spcPts val="0"/>
              </a:spcBef>
              <a:buNone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endParaRPr lang="fr-FR" sz="2400" b="0" dirty="0"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400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Roles</a:t>
            </a:r>
            <a:r>
              <a:rPr lang="fr-FR" sz="2400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and Galaxy</a:t>
            </a: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Clr>
                <a:srgbClr val="000000"/>
              </a:buClr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400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Strategies</a:t>
            </a:r>
            <a:endParaRPr lang="fr-FR" sz="2400" dirty="0"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Clr>
                <a:srgbClr val="000000"/>
              </a:buClr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400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Extend</a:t>
            </a:r>
            <a:r>
              <a:rPr lang="fr-FR" sz="2400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Ansible</a:t>
            </a: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Clr>
                <a:srgbClr val="000000"/>
              </a:buClr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400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Write a Module</a:t>
            </a: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Clr>
                <a:srgbClr val="000000"/>
              </a:buClr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endParaRPr lang="fr-FR" sz="2400" dirty="0"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lvl="1" indent="0" algn="ctr" hangingPunct="0">
              <a:lnSpc>
                <a:spcPct val="93000"/>
              </a:lnSpc>
              <a:spcBef>
                <a:spcPts val="0"/>
              </a:spcBef>
              <a:buClr>
                <a:srgbClr val="000000"/>
              </a:buClr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000" b="1" dirty="0">
                <a:solidFill>
                  <a:srgbClr val="C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Lunch Break</a:t>
            </a:r>
            <a:endParaRPr lang="fr-FR" sz="2000" dirty="0">
              <a:solidFill>
                <a:srgbClr val="C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Clr>
                <a:srgbClr val="000000"/>
              </a:buClr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endParaRPr lang="fr-FR" sz="2400" dirty="0"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400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Real Use Case</a:t>
            </a: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Clr>
                <a:srgbClr val="000000"/>
              </a:buClr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400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Best Practices</a:t>
            </a:r>
          </a:p>
          <a:p>
            <a:pPr marL="0" lvl="1" indent="0" hangingPunct="0">
              <a:lnSpc>
                <a:spcPct val="93000"/>
              </a:lnSpc>
              <a:spcBef>
                <a:spcPts val="0"/>
              </a:spcBef>
              <a:buClr>
                <a:srgbClr val="000000"/>
              </a:buClr>
              <a:buSzPct val="45000"/>
              <a:buFont typeface="StarSymbol"/>
              <a:buChar char="●"/>
              <a:tabLst>
                <a:tab pos="0" algn="l"/>
                <a:tab pos="457189" algn="l"/>
                <a:tab pos="914377" algn="l"/>
                <a:tab pos="1371564" algn="l"/>
                <a:tab pos="1828754" algn="l"/>
                <a:tab pos="2285943" algn="l"/>
                <a:tab pos="2743130" algn="l"/>
                <a:tab pos="3200320" algn="l"/>
                <a:tab pos="3657509" algn="l"/>
                <a:tab pos="4114697" algn="l"/>
                <a:tab pos="4571886" algn="l"/>
                <a:tab pos="5029074" algn="l"/>
                <a:tab pos="5486262" algn="l"/>
                <a:tab pos="5943451" algn="l"/>
                <a:tab pos="6400639" algn="l"/>
                <a:tab pos="6857829" algn="l"/>
                <a:tab pos="7315017" algn="l"/>
                <a:tab pos="7772206" algn="l"/>
                <a:tab pos="8229394" algn="l"/>
                <a:tab pos="8686583" algn="l"/>
                <a:tab pos="9143771" algn="l"/>
              </a:tabLst>
            </a:pPr>
            <a:r>
              <a:rPr lang="fr-FR" sz="2400" dirty="0">
                <a:solidFill>
                  <a:srgbClr val="000000"/>
                </a:solidFill>
                <a:latin typeface="Arial" pitchFamily="18"/>
              </a:rPr>
              <a:t>Automation </a:t>
            </a:r>
            <a:r>
              <a:rPr lang="fr-FR" sz="2400" dirty="0" err="1">
                <a:solidFill>
                  <a:srgbClr val="000000"/>
                </a:solidFill>
                <a:latin typeface="Arial" pitchFamily="18"/>
              </a:rPr>
              <a:t>Integration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396679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A55BC3-5B1C-1D9A-A118-B5F0EA6321DC}"/>
              </a:ext>
            </a:extLst>
          </p:cNvPr>
          <p:cNvSpPr/>
          <p:nvPr/>
        </p:nvSpPr>
        <p:spPr>
          <a:xfrm>
            <a:off x="448064" y="1156255"/>
            <a:ext cx="4724640" cy="1938239"/>
          </a:xfrm>
          <a:custGeom>
            <a:avLst/>
            <a:gdLst>
              <a:gd name="f0" fmla="val w"/>
              <a:gd name="f1" fmla="val h"/>
              <a:gd name="f2" fmla="val 0"/>
              <a:gd name="f3" fmla="val 5385"/>
              <a:gd name="f4" fmla="val 13123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23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br>
              <a:rPr lang="en-US" sz="1600" b="0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</a:b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  <a:t>It’s a </a:t>
            </a:r>
            <a:r>
              <a:rPr lang="en-US" sz="1600" b="1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  <a:t>simple automation language 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  <a:t>that </a:t>
            </a:r>
            <a:br>
              <a:rPr lang="en-US" sz="1600" b="0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</a:b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  <a:t>can perfectly describe an IT application infrastructure in Ansible Playbooks. </a:t>
            </a:r>
            <a:br>
              <a:rPr lang="en-US" sz="1600" b="0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</a:br>
            <a:br>
              <a:rPr lang="en-US" sz="1600" b="0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</a:br>
            <a:br>
              <a:rPr lang="en-US" sz="1600" b="0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</a:b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  <a:t>It’s an </a:t>
            </a:r>
            <a:r>
              <a:rPr lang="en-US" sz="1600" b="1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  <a:t>automation engine 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  <a:t>that runs </a:t>
            </a:r>
            <a:br>
              <a:rPr lang="en-US" sz="1600" b="0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</a:b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  <a:t>Ansible Playbooks.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23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br>
              <a:rPr lang="en-US" sz="1600" b="0" i="0" u="none" strike="noStrike" cap="none" baseline="0" dirty="0">
                <a:ln>
                  <a:noFill/>
                </a:ln>
                <a:solidFill>
                  <a:srgbClr val="FC3E3F"/>
                </a:solidFill>
                <a:latin typeface="Open Sans" pitchFamily="18"/>
                <a:ea typeface="Open Sans" pitchFamily="2"/>
                <a:cs typeface="Open Sans" pitchFamily="2"/>
              </a:rPr>
            </a:b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  <a:t>Ansible automation controller (Red Hat Ansible Automation Platform) and its upstream project AWX are </a:t>
            </a:r>
            <a:r>
              <a:rPr lang="en-US" sz="1600" b="1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  <a:t/>
            </a:r>
            <a:br>
              <a:rPr lang="en-US" sz="1600" b="1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</a:br>
            <a:r>
              <a:rPr lang="en-US" sz="1600" b="1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  <a:t>frameworks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  <a:t> for controlling, securing </a:t>
            </a:r>
            <a:br>
              <a:rPr lang="en-US" sz="1600" b="0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</a:b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  <a:t>and managing your Ansible </a:t>
            </a:r>
            <a:br>
              <a:rPr lang="en-US" sz="1600" b="0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</a:b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  <a:t>automation with a </a:t>
            </a:r>
            <a:r>
              <a:rPr lang="en-US" sz="1600" b="1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  <a:t>UI and restful API.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23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600" b="1" i="0" u="none" strike="noStrike" cap="none" baseline="0" dirty="0">
              <a:ln>
                <a:noFill/>
              </a:ln>
              <a:solidFill>
                <a:srgbClr val="717680"/>
              </a:solidFill>
              <a:latin typeface="Open Sans" pitchFamily="18"/>
              <a:ea typeface="Open Sans" pitchFamily="2"/>
              <a:cs typeface="Open Sans" pitchFamily="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836468-EA77-4D9A-6E0E-C4EA0EAEEB2F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4466025" y="2710376"/>
            <a:ext cx="4345200" cy="338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aption historique"/>
          <p:cNvSpPr txBox="1"/>
          <p:nvPr/>
        </p:nvSpPr>
        <p:spPr>
          <a:xfrm>
            <a:off x="4466025" y="6100000"/>
            <a:ext cx="4345200" cy="3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000" i="1" dirty="0">
                <a:solidFill>
                  <a:srgbClr val="595959"/>
                </a:solidFill>
              </a:rPr>
              <a:t>capture historique (ancienne interface)</a:t>
            </a:r>
          </a:p>
        </p:txBody>
      </p:sp>
    </p:spTree>
    <p:extLst>
      <p:ext uri="{BB962C8B-B14F-4D97-AF65-F5344CB8AC3E}">
        <p14:creationId xmlns:p14="http://schemas.microsoft.com/office/powerpoint/2010/main" val="449063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69E341D-A8FA-C7AB-D13A-E6813B097AC2}"/>
              </a:ext>
            </a:extLst>
          </p:cNvPr>
          <p:cNvSpPr/>
          <p:nvPr/>
        </p:nvSpPr>
        <p:spPr>
          <a:xfrm>
            <a:off x="214200" y="270000"/>
            <a:ext cx="6973920" cy="376200"/>
          </a:xfrm>
          <a:custGeom>
            <a:avLst/>
            <a:gdLst>
              <a:gd name="f0" fmla="val w"/>
              <a:gd name="f1" fmla="val h"/>
              <a:gd name="f2" fmla="val 0"/>
              <a:gd name="f3" fmla="val 1045"/>
              <a:gd name="f4" fmla="val 19374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23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1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USE CASES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601F13-D855-D779-88BB-B78F24D91A7E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1314360" y="1087620"/>
            <a:ext cx="488880" cy="48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4B3A03-F779-65FF-5202-9275A0113F7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077540" y="1091580"/>
            <a:ext cx="590400" cy="51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3E5D60-4FF8-14EF-4CD6-026446E5733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7401059" y="3879360"/>
            <a:ext cx="393480" cy="39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C4EF437-3DFD-47DC-2115-C13897630609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1211040" y="3841920"/>
            <a:ext cx="695520" cy="43128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408FC90-CAD0-63B2-A4E4-38339B1C72D4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7377121" y="1053420"/>
            <a:ext cx="452519" cy="55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007652F-9D13-9D9E-E185-CA06FB7208F1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4173480" y="3724304"/>
            <a:ext cx="398520" cy="520199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9C0F382-C196-BD93-6EA1-8D78FE6B8181}"/>
              </a:ext>
            </a:extLst>
          </p:cNvPr>
          <p:cNvSpPr txBox="1"/>
          <p:nvPr/>
        </p:nvSpPr>
        <p:spPr>
          <a:xfrm>
            <a:off x="458821" y="1779480"/>
            <a:ext cx="2199958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1" i="0" u="none" strike="noStrike" cap="none" baseline="0" dirty="0">
                <a:ln>
                  <a:noFill/>
                </a:ln>
                <a:solidFill>
                  <a:srgbClr val="4CB1B2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CONFIG MANAGEMENT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1" i="0" u="none" strike="noStrike" cap="none" baseline="0" dirty="0">
              <a:ln>
                <a:noFill/>
              </a:ln>
              <a:solidFill>
                <a:srgbClr val="4CB1B2"/>
              </a:solidFill>
              <a:latin typeface="Open Sans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Centralizing configuration file management and deployment is a common use case for Ansible, and it’s how many power users are first introduced to the Ansible automation platform.</a:t>
            </a:r>
            <a:br>
              <a:rPr lang="en-US" sz="1000" b="0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</a:br>
            <a:endParaRPr lang="en-US" sz="1000" b="0" i="0" u="none" strike="noStrike" cap="none" baseline="0" dirty="0">
              <a:ln>
                <a:noFill/>
              </a:ln>
              <a:solidFill>
                <a:srgbClr val="717680"/>
              </a:solidFill>
              <a:latin typeface="Open Sans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664B2A-5880-2B92-6E4B-C1319C8770FC}"/>
              </a:ext>
            </a:extLst>
          </p:cNvPr>
          <p:cNvSpPr txBox="1"/>
          <p:nvPr/>
        </p:nvSpPr>
        <p:spPr>
          <a:xfrm>
            <a:off x="3272761" y="1779480"/>
            <a:ext cx="219995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1" i="0" u="none" strike="noStrike" cap="none" baseline="0" dirty="0">
                <a:ln>
                  <a:noFill/>
                </a:ln>
                <a:solidFill>
                  <a:srgbClr val="4CB1B2"/>
                </a:solidFill>
                <a:latin typeface="Open Sans" pitchFamily="18"/>
                <a:ea typeface="Open Sans" pitchFamily="2"/>
                <a:cs typeface="Open Sans" pitchFamily="2"/>
              </a:rPr>
              <a:t>APP DEPLOYMENT</a:t>
            </a:r>
            <a:br>
              <a:rPr lang="en-US" sz="1200" b="1" i="0" u="none" strike="noStrike" cap="none" baseline="0" dirty="0">
                <a:ln>
                  <a:noFill/>
                </a:ln>
                <a:solidFill>
                  <a:srgbClr val="424C55"/>
                </a:solidFill>
                <a:latin typeface="Open Sans" pitchFamily="18"/>
                <a:ea typeface="Open Sans" pitchFamily="2"/>
                <a:cs typeface="Open Sans" pitchFamily="2"/>
              </a:rPr>
            </a:br>
            <a:br>
              <a:rPr lang="en-US" sz="1000" b="1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</a:b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  <a:t>When you define your application with Ansible, and manage the deployment with automation controller / AWX, teams are able to effectively manage the entire application lifecycle from development to production.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D0A432-8C79-656C-C1C8-FAFA933D7C4D}"/>
              </a:ext>
            </a:extLst>
          </p:cNvPr>
          <p:cNvSpPr txBox="1"/>
          <p:nvPr/>
        </p:nvSpPr>
        <p:spPr>
          <a:xfrm>
            <a:off x="6497820" y="1779480"/>
            <a:ext cx="219995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1" i="0" u="none" strike="noStrike" cap="none" baseline="0" dirty="0">
                <a:ln>
                  <a:noFill/>
                </a:ln>
                <a:solidFill>
                  <a:srgbClr val="4CB1B2"/>
                </a:solidFill>
                <a:latin typeface="Open Sans" pitchFamily="18"/>
                <a:ea typeface="Open Sans" pitchFamily="2"/>
                <a:cs typeface="Open Sans" pitchFamily="2"/>
              </a:rPr>
              <a:t>PROVISIONING</a:t>
            </a:r>
            <a:br>
              <a:rPr lang="en-US" sz="1200" b="1" i="0" u="none" strike="noStrike" cap="none" baseline="0" dirty="0">
                <a:ln>
                  <a:noFill/>
                </a:ln>
                <a:solidFill>
                  <a:srgbClr val="424C55"/>
                </a:solidFill>
                <a:latin typeface="Open Sans" pitchFamily="18"/>
                <a:ea typeface="Open Sans" pitchFamily="2"/>
                <a:cs typeface="Open Sans" pitchFamily="2"/>
              </a:rPr>
            </a:br>
            <a:br>
              <a:rPr lang="en-US" sz="1200" b="1" i="0" u="none" strike="noStrike" cap="none" baseline="0" dirty="0">
                <a:ln>
                  <a:noFill/>
                </a:ln>
                <a:solidFill>
                  <a:srgbClr val="424C55"/>
                </a:solidFill>
                <a:latin typeface="Calibri" pitchFamily="18"/>
                <a:ea typeface="Open Sans" pitchFamily="2"/>
                <a:cs typeface="Open Sans" pitchFamily="2"/>
              </a:rPr>
            </a:b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  <a:t>Your apps have to live somewhere. If you’re PXE booting and kickstarting bare-metal servers or VMs, or creating virtual or cloud instances from templates, Ansible and automation controller / AWX help streamline the process.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D2C07E-AFAA-6F0E-7CD8-FFA9A6D8C429}"/>
              </a:ext>
            </a:extLst>
          </p:cNvPr>
          <p:cNvSpPr txBox="1"/>
          <p:nvPr/>
        </p:nvSpPr>
        <p:spPr>
          <a:xfrm>
            <a:off x="458821" y="4451643"/>
            <a:ext cx="219995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1" i="0" u="none" strike="noStrike" cap="none" baseline="0" dirty="0">
                <a:ln>
                  <a:noFill/>
                </a:ln>
                <a:solidFill>
                  <a:srgbClr val="4CB1B2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CONTINUOUS DELIVERY</a:t>
            </a:r>
            <a:br>
              <a:rPr lang="en-US" sz="1200" b="1" i="0" u="none" strike="noStrike" cap="none" baseline="0" dirty="0">
                <a:ln>
                  <a:noFill/>
                </a:ln>
                <a:solidFill>
                  <a:srgbClr val="424C55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</a:br>
            <a:br>
              <a:rPr lang="en-US" sz="1000" b="1" i="0" u="none" strike="noStrike" cap="none" baseline="0" dirty="0">
                <a:ln>
                  <a:noFill/>
                </a:ln>
                <a:solidFill>
                  <a:srgbClr val="424C55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</a:b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  <a:t>Creating a CI/CD pipeline requires buy-in from numerous teams. You can’t do it without a simple automation platform that everyone in your organization can use. Ansible Playbooks keep your applications properly deployed (and managed) throughout their entire lifecycle.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5864CF-99AC-AB49-19CE-03B1DCD1F55C}"/>
              </a:ext>
            </a:extLst>
          </p:cNvPr>
          <p:cNvSpPr txBox="1"/>
          <p:nvPr/>
        </p:nvSpPr>
        <p:spPr>
          <a:xfrm>
            <a:off x="3272761" y="4451643"/>
            <a:ext cx="21999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1" i="0" u="none" strike="noStrike" cap="none" baseline="0" dirty="0">
                <a:ln>
                  <a:noFill/>
                </a:ln>
                <a:solidFill>
                  <a:srgbClr val="4CB1B2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SECURITY &amp; COMPLIANCE</a:t>
            </a:r>
            <a:br>
              <a:rPr lang="en-US" sz="1200" b="1" i="0" u="none" strike="noStrike" cap="none" baseline="0" dirty="0">
                <a:ln>
                  <a:noFill/>
                </a:ln>
                <a:solidFill>
                  <a:srgbClr val="424C55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</a:br>
            <a:endParaRPr lang="en-US" sz="1200" b="1" i="0" u="none" strike="noStrike" cap="none" baseline="0" dirty="0">
              <a:ln>
                <a:noFill/>
              </a:ln>
              <a:solidFill>
                <a:srgbClr val="424C55"/>
              </a:solidFill>
              <a:latin typeface="Open Sans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  <a:t>When you define your security policy in Ansible, scanning and remediation of site-wide security policy can be integrated into other automated processes and instead of being an afterthought, it’ll be integral in everything that is deployed.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78B1AA-BECB-20F5-B3E9-430EC3EFF3BE}"/>
              </a:ext>
            </a:extLst>
          </p:cNvPr>
          <p:cNvSpPr txBox="1"/>
          <p:nvPr/>
        </p:nvSpPr>
        <p:spPr>
          <a:xfrm>
            <a:off x="6497820" y="4451643"/>
            <a:ext cx="219995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1" i="0" u="none" strike="noStrike" cap="none" baseline="0" dirty="0">
                <a:ln>
                  <a:noFill/>
                </a:ln>
                <a:solidFill>
                  <a:srgbClr val="4CB1B2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ORCHESTRATION</a:t>
            </a:r>
            <a:br>
              <a:rPr lang="en-US" sz="1200" b="1" i="0" u="none" strike="noStrike" cap="none" baseline="0" dirty="0">
                <a:ln>
                  <a:noFill/>
                </a:ln>
                <a:solidFill>
                  <a:srgbClr val="4CB1B2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</a:br>
            <a:endParaRPr lang="en-US" sz="1200" b="1" i="0" u="none" strike="noStrike" cap="none" baseline="0" dirty="0">
              <a:ln>
                <a:noFill/>
              </a:ln>
              <a:solidFill>
                <a:srgbClr val="4CB1B2"/>
              </a:solidFill>
              <a:latin typeface="Open Sans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717680"/>
                </a:solidFill>
                <a:latin typeface="Open Sans" pitchFamily="18"/>
                <a:ea typeface="Open Sans" pitchFamily="2"/>
                <a:cs typeface="Open Sans" pitchFamily="2"/>
              </a:rPr>
              <a:t>Configurations alone don’t define your environment. You need to define how multiple configurations interact and ensure the disparate pieces can be managed as a whole. Out of complexity and chaos, Ansible brings order.</a:t>
            </a:r>
          </a:p>
        </p:txBody>
      </p:sp>
    </p:spTree>
    <p:extLst>
      <p:ext uri="{BB962C8B-B14F-4D97-AF65-F5344CB8AC3E}">
        <p14:creationId xmlns:p14="http://schemas.microsoft.com/office/powerpoint/2010/main" val="4162640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352947D-880C-9BF5-1E00-2C41CA889EF4}"/>
              </a:ext>
            </a:extLst>
          </p:cNvPr>
          <p:cNvSpPr/>
          <p:nvPr/>
        </p:nvSpPr>
        <p:spPr>
          <a:xfrm>
            <a:off x="0" y="1752600"/>
            <a:ext cx="3019320" cy="156851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200" b="1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SIMPLE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A0CC3EC-266B-BEA1-4608-62B169DB1DE6}"/>
              </a:ext>
            </a:extLst>
          </p:cNvPr>
          <p:cNvSpPr/>
          <p:nvPr/>
        </p:nvSpPr>
        <p:spPr>
          <a:xfrm>
            <a:off x="3019320" y="1752600"/>
            <a:ext cx="3014640" cy="1568519"/>
          </a:xfrm>
          <a:custGeom>
            <a:avLst/>
            <a:gdLst>
              <a:gd name="f0" fmla="val w"/>
              <a:gd name="f1" fmla="val h"/>
              <a:gd name="f2" fmla="val 0"/>
              <a:gd name="f3" fmla="val 4357"/>
              <a:gd name="f4" fmla="val 8373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200" b="1" i="0" u="none" strike="noStrike" cap="none" baseline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POWERFUL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782B3C1-FAE3-6DC3-A2C8-6098C5DA63AF}"/>
              </a:ext>
            </a:extLst>
          </p:cNvPr>
          <p:cNvSpPr/>
          <p:nvPr/>
        </p:nvSpPr>
        <p:spPr>
          <a:xfrm>
            <a:off x="6033960" y="1752600"/>
            <a:ext cx="2847960" cy="1568519"/>
          </a:xfrm>
          <a:custGeom>
            <a:avLst/>
            <a:gdLst>
              <a:gd name="f0" fmla="val w"/>
              <a:gd name="f1" fmla="val h"/>
              <a:gd name="f2" fmla="val 0"/>
              <a:gd name="f3" fmla="val 4357"/>
              <a:gd name="f4" fmla="val 7911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200" b="1" i="0" u="none" strike="noStrike" cap="none" baseline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AGENTLESS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72214B9-D2E3-52CB-536E-1A9A751FD173}"/>
              </a:ext>
            </a:extLst>
          </p:cNvPr>
          <p:cNvSpPr/>
          <p:nvPr/>
        </p:nvSpPr>
        <p:spPr>
          <a:xfrm>
            <a:off x="3249719" y="3738720"/>
            <a:ext cx="2584440" cy="2400119"/>
          </a:xfrm>
          <a:custGeom>
            <a:avLst/>
            <a:gdLst>
              <a:gd name="f0" fmla="val w"/>
              <a:gd name="f1" fmla="val h"/>
              <a:gd name="f2" fmla="val 0"/>
              <a:gd name="f3" fmla="val 7178"/>
              <a:gd name="f4" fmla="val 6670"/>
              <a:gd name="f5" fmla="val 21600"/>
              <a:gd name="f6" fmla="*/ f0 1 0"/>
              <a:gd name="f7" fmla="*/ f1 1 0"/>
              <a:gd name="f8" fmla="*/ 0 f6 1"/>
              <a:gd name="f9" fmla="*/ f3 f6 1"/>
              <a:gd name="f10" fmla="*/ f4 f7 1"/>
              <a:gd name="f11" fmla="*/ 0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8" t="f11" r="f9" b="f10"/>
            <a:pathLst>
              <a:path>
                <a:moveTo>
                  <a:pt x="f2" y="f2"/>
                </a:moveTo>
                <a:lnTo>
                  <a:pt x="f5" y="f2"/>
                </a:lnTo>
                <a:lnTo>
                  <a:pt x="f5" y="f5"/>
                </a:lnTo>
                <a:lnTo>
                  <a:pt x="f2" y="f5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38160" tIns="38160" rIns="38160" bIns="3816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ＭＳ Ｐゴシック" pitchFamily="2"/>
                <a:cs typeface="ＭＳ Ｐゴシック" pitchFamily="2"/>
              </a:rPr>
              <a:t>App deployment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ＭＳ Ｐゴシック" pitchFamily="2"/>
                <a:cs typeface="ＭＳ Ｐゴシック" pitchFamily="2"/>
              </a:rPr>
              <a:t>Configuration management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ＭＳ Ｐゴシック" pitchFamily="2"/>
                <a:cs typeface="ＭＳ Ｐゴシック" pitchFamily="2"/>
              </a:rPr>
              <a:t>Workflow orchestration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1" i="0" u="none" strike="noStrike" cap="none" baseline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ＭＳ Ｐゴシック" pitchFamily="2"/>
                <a:cs typeface="ＭＳ Ｐゴシック" pitchFamily="2"/>
              </a:rPr>
              <a:t>Orchestrate the app lifecycle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29A2EBA-C202-AFFC-2E85-2BD1ED1F1DBF}"/>
              </a:ext>
            </a:extLst>
          </p:cNvPr>
          <p:cNvSpPr/>
          <p:nvPr/>
        </p:nvSpPr>
        <p:spPr>
          <a:xfrm>
            <a:off x="431640" y="3724320"/>
            <a:ext cx="2476800" cy="2529000"/>
          </a:xfrm>
          <a:custGeom>
            <a:avLst/>
            <a:gdLst>
              <a:gd name="f0" fmla="val w"/>
              <a:gd name="f1" fmla="val h"/>
              <a:gd name="f2" fmla="val 0"/>
              <a:gd name="f3" fmla="val 6881"/>
              <a:gd name="f4" fmla="val 7025"/>
              <a:gd name="f5" fmla="val 21600"/>
              <a:gd name="f6" fmla="*/ f0 1 0"/>
              <a:gd name="f7" fmla="*/ f1 1 0"/>
              <a:gd name="f8" fmla="*/ 0 f6 1"/>
              <a:gd name="f9" fmla="*/ f3 f6 1"/>
              <a:gd name="f10" fmla="*/ f4 f7 1"/>
              <a:gd name="f11" fmla="*/ 0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8" t="f11" r="f9" b="f10"/>
            <a:pathLst>
              <a:path>
                <a:moveTo>
                  <a:pt x="f2" y="f2"/>
                </a:moveTo>
                <a:lnTo>
                  <a:pt x="f5" y="f2"/>
                </a:lnTo>
                <a:lnTo>
                  <a:pt x="f5" y="f5"/>
                </a:lnTo>
                <a:lnTo>
                  <a:pt x="f2" y="f5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38160" tIns="38160" rIns="38160" bIns="3816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ＭＳ Ｐゴシック" pitchFamily="2"/>
                <a:cs typeface="ＭＳ Ｐゴシック" pitchFamily="2"/>
              </a:rPr>
              <a:t>Human readable automation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ＭＳ Ｐゴシック" pitchFamily="2"/>
                <a:cs typeface="ＭＳ Ｐゴシック" pitchFamily="2"/>
              </a:rPr>
              <a:t>No special coding skills needed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ＭＳ Ｐゴシック" pitchFamily="2"/>
                <a:cs typeface="ＭＳ Ｐゴシック" pitchFamily="2"/>
              </a:rPr>
              <a:t>Tasks executed in order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1" i="0" u="none" strike="noStrike" cap="none" baseline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ＭＳ Ｐゴシック" pitchFamily="2"/>
                <a:cs typeface="ＭＳ Ｐゴシック" pitchFamily="2"/>
              </a:rPr>
              <a:t>Get productive quickly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C66D3A9-7EDF-8BB6-339F-A83173DD990A}"/>
              </a:ext>
            </a:extLst>
          </p:cNvPr>
          <p:cNvSpPr/>
          <p:nvPr/>
        </p:nvSpPr>
        <p:spPr>
          <a:xfrm>
            <a:off x="6280199" y="3726120"/>
            <a:ext cx="2539800" cy="2527200"/>
          </a:xfrm>
          <a:custGeom>
            <a:avLst/>
            <a:gdLst>
              <a:gd name="f0" fmla="val w"/>
              <a:gd name="f1" fmla="val h"/>
              <a:gd name="f2" fmla="val 0"/>
              <a:gd name="f3" fmla="val 7056"/>
              <a:gd name="f4" fmla="val 7020"/>
              <a:gd name="f5" fmla="val 21600"/>
              <a:gd name="f6" fmla="*/ f0 1 0"/>
              <a:gd name="f7" fmla="*/ f1 1 0"/>
              <a:gd name="f8" fmla="*/ 0 f6 1"/>
              <a:gd name="f9" fmla="*/ f3 f6 1"/>
              <a:gd name="f10" fmla="*/ f4 f7 1"/>
              <a:gd name="f11" fmla="*/ 0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8" t="f11" r="f9" b="f10"/>
            <a:pathLst>
              <a:path>
                <a:moveTo>
                  <a:pt x="f2" y="f2"/>
                </a:moveTo>
                <a:lnTo>
                  <a:pt x="f5" y="f2"/>
                </a:lnTo>
                <a:lnTo>
                  <a:pt x="f5" y="f5"/>
                </a:lnTo>
                <a:lnTo>
                  <a:pt x="f2" y="f5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38160" tIns="38160" rIns="38160" bIns="3816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ＭＳ Ｐゴシック" pitchFamily="2"/>
                <a:cs typeface="ＭＳ Ｐゴシック" pitchFamily="2"/>
              </a:rPr>
              <a:t>Agentless architecture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ＭＳ Ｐゴシック" pitchFamily="2"/>
                <a:cs typeface="ＭＳ Ｐゴシック" pitchFamily="2"/>
              </a:rPr>
              <a:t>Uses OpenSSH, WinRM &amp; PSRP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ＭＳ Ｐゴシック" pitchFamily="2"/>
                <a:cs typeface="ＭＳ Ｐゴシック" pitchFamily="2"/>
              </a:rPr>
              <a:t>No agents to exploit or update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1" i="0" u="none" strike="noStrike" cap="none" baseline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ＭＳ Ｐゴシック" pitchFamily="2"/>
                <a:cs typeface="ＭＳ Ｐゴシック" pitchFamily="2"/>
              </a:rPr>
              <a:t>More efficient &amp; more secure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62B36A45-2DEC-7CBD-CF31-128066F822D8}"/>
              </a:ext>
            </a:extLst>
          </p:cNvPr>
          <p:cNvSpPr/>
          <p:nvPr/>
        </p:nvSpPr>
        <p:spPr>
          <a:xfrm>
            <a:off x="3019320" y="1975080"/>
            <a:ext cx="1800" cy="3514680"/>
          </a:xfrm>
          <a:prstGeom prst="line">
            <a:avLst/>
          </a:prstGeom>
          <a:noFill/>
          <a:ln w="12600">
            <a:solidFill>
              <a:srgbClr val="000000">
                <a:alpha val="9000"/>
              </a:srgbClr>
            </a:solidFill>
            <a:prstDash val="solid"/>
            <a:round/>
          </a:ln>
        </p:spPr>
        <p:txBody>
          <a:bodyPr wrap="square" lIns="90000" tIns="46800" rIns="90000" bIns="46800" anchor="t" anchorCtr="0" compatLnSpc="1">
            <a:no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>
              <a:ln>
                <a:noFill/>
              </a:ln>
              <a:solidFill>
                <a:schemeClr val="bg1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DD54D394-75B5-0126-C960-47745198E4F6}"/>
              </a:ext>
            </a:extLst>
          </p:cNvPr>
          <p:cNvSpPr/>
          <p:nvPr/>
        </p:nvSpPr>
        <p:spPr>
          <a:xfrm>
            <a:off x="6033960" y="1967160"/>
            <a:ext cx="1799" cy="3514680"/>
          </a:xfrm>
          <a:prstGeom prst="line">
            <a:avLst/>
          </a:prstGeom>
          <a:noFill/>
          <a:ln w="12600">
            <a:solidFill>
              <a:srgbClr val="000000">
                <a:alpha val="9000"/>
              </a:srgbClr>
            </a:solidFill>
            <a:prstDash val="solid"/>
            <a:round/>
          </a:ln>
        </p:spPr>
        <p:txBody>
          <a:bodyPr wrap="square" lIns="90000" tIns="46800" rIns="90000" bIns="46800" anchor="t" anchorCtr="0" compatLnSpc="1">
            <a:no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>
              <a:ln>
                <a:noFill/>
              </a:ln>
              <a:solidFill>
                <a:schemeClr val="bg1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9888480-E1D7-93FB-8CF4-96691EE7F6F4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4102200" y="1854480"/>
            <a:ext cx="852480" cy="852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B2E6209-FCF3-6664-55E9-552631FCFAE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095960" y="1817759"/>
            <a:ext cx="731880" cy="957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1A5FC8-7565-ED3E-8918-DA4977E45A0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263600" y="1827480"/>
            <a:ext cx="533520" cy="94751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41EEC95-4A8D-E58D-AD6E-1E0CA2965933}"/>
              </a:ext>
            </a:extLst>
          </p:cNvPr>
          <p:cNvSpPr/>
          <p:nvPr/>
        </p:nvSpPr>
        <p:spPr>
          <a:xfrm>
            <a:off x="3032279" y="1752600"/>
            <a:ext cx="3019320" cy="156851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200" b="1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POWERFUL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6630525-9F41-B367-CBED-82380EBE5A0D}"/>
              </a:ext>
            </a:extLst>
          </p:cNvPr>
          <p:cNvSpPr/>
          <p:nvPr/>
        </p:nvSpPr>
        <p:spPr>
          <a:xfrm>
            <a:off x="5948280" y="1752600"/>
            <a:ext cx="3019320" cy="156851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1440" tIns="45720" rIns="91440" bIns="45720" anchor="b" anchorCtr="0" compatLnSpc="1">
            <a:noAutofit/>
          </a:bodyPr>
          <a:lstStyle/>
          <a:p>
            <a:pPr marL="0" marR="0" lvl="0" indent="0" algn="ctr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200" b="1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AGENTLESS</a:t>
            </a:r>
          </a:p>
        </p:txBody>
      </p:sp>
    </p:spTree>
    <p:extLst>
      <p:ext uri="{BB962C8B-B14F-4D97-AF65-F5344CB8AC3E}">
        <p14:creationId xmlns:p14="http://schemas.microsoft.com/office/powerpoint/2010/main" val="418550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1D16CDC-28C7-AB7F-5391-4A290BAAA6C0}"/>
              </a:ext>
            </a:extLst>
          </p:cNvPr>
          <p:cNvSpPr/>
          <p:nvPr/>
        </p:nvSpPr>
        <p:spPr>
          <a:xfrm>
            <a:off x="693360" y="933909"/>
            <a:ext cx="3849839" cy="306323"/>
          </a:xfrm>
          <a:custGeom>
            <a:avLst/>
            <a:gdLst>
              <a:gd name="f0" fmla="val w"/>
              <a:gd name="f1" fmla="val h"/>
              <a:gd name="f2" fmla="val 0"/>
              <a:gd name="f3" fmla="val 844"/>
              <a:gd name="f4" fmla="val 10698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0000" tIns="45000" rIns="90000" bIns="45000" anchor="t" anchorCtr="0" compatLnSpc="1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1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DATA IS WRITTEN IN YAML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3A85E6C-4ABD-1E9F-850C-EB4A571726AD}"/>
              </a:ext>
            </a:extLst>
          </p:cNvPr>
          <p:cNvSpPr/>
          <p:nvPr/>
        </p:nvSpPr>
        <p:spPr>
          <a:xfrm>
            <a:off x="1196638" y="1356063"/>
            <a:ext cx="3200400" cy="1025943"/>
          </a:xfrm>
          <a:custGeom>
            <a:avLst/>
            <a:gdLst>
              <a:gd name="f0" fmla="val w"/>
              <a:gd name="f1" fmla="val h"/>
              <a:gd name="f2" fmla="val 0"/>
              <a:gd name="f3" fmla="val 1732"/>
              <a:gd name="f4" fmla="val 8895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0000" tIns="45000" rIns="90000" bIns="45000" anchor="t" anchorCtr="0" compatLnSpc="1">
            <a:spAutoFit/>
          </a:bodyPr>
          <a:lstStyle/>
          <a:p>
            <a:pPr marL="0" marR="0" lvl="0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Tasks are executed sequentially</a:t>
            </a:r>
            <a:br>
              <a:rPr lang="en-US" sz="1400" b="0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</a:br>
            <a:r>
              <a:rPr lang="en-US" sz="1400" b="0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 Invokes Ansible modules</a:t>
            </a:r>
          </a:p>
          <a:p>
            <a:pPr marL="0" marR="0" lvl="0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dirty="0"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Idempotency</a:t>
            </a:r>
            <a:endParaRPr lang="en-US" sz="1400" b="0" i="0" u="none" strike="noStrike" cap="none" baseline="0" dirty="0">
              <a:ln>
                <a:noFill/>
              </a:ln>
              <a:solidFill>
                <a:schemeClr val="bg1"/>
              </a:solidFill>
              <a:latin typeface="Open Sans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D37C18B-B950-4F5D-3557-600D29B50E6F}"/>
              </a:ext>
            </a:extLst>
          </p:cNvPr>
          <p:cNvSpPr/>
          <p:nvPr/>
        </p:nvSpPr>
        <p:spPr>
          <a:xfrm>
            <a:off x="1196638" y="2913548"/>
            <a:ext cx="3201840" cy="1350134"/>
          </a:xfrm>
          <a:custGeom>
            <a:avLst/>
            <a:gdLst>
              <a:gd name="f0" fmla="val w"/>
              <a:gd name="f1" fmla="val h"/>
              <a:gd name="f2" fmla="val 0"/>
              <a:gd name="f3" fmla="val 3506"/>
              <a:gd name="f4" fmla="val 8895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0000" tIns="45000" rIns="90000" bIns="45000" anchor="t" anchorCtr="0" compatLnSpc="1">
            <a:spAutoFit/>
          </a:bodyPr>
          <a:lstStyle/>
          <a:p>
            <a:pPr marL="0" marR="0" lvl="0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itchFamily="2"/>
              <a:buChar char="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verpass" pitchFamily="18"/>
                <a:ea typeface="WenQuanYi Zen Hei Sharp" pitchFamily="2"/>
                <a:cs typeface="WenQuanYi Zen Hei Sharp" pitchFamily="2"/>
              </a:rPr>
              <a:t>Red Hat Enterprise Linux</a:t>
            </a:r>
          </a:p>
          <a:p>
            <a:pPr marL="0" marR="0" lvl="0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itchFamily="2"/>
              <a:buChar char="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verpass" pitchFamily="18"/>
                <a:ea typeface="WenQuanYi Zen Hei Sharp" pitchFamily="2"/>
                <a:cs typeface="WenQuanYi Zen Hei Sharp" pitchFamily="2"/>
              </a:rPr>
              <a:t>AIX</a:t>
            </a:r>
          </a:p>
          <a:p>
            <a:pPr marL="0" marR="0" lvl="0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itchFamily="2"/>
              <a:buChar char="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verpass" pitchFamily="18"/>
                <a:ea typeface="WenQuanYi Zen Hei Sharp" pitchFamily="2"/>
                <a:cs typeface="WenQuanYi Zen Hei Sharp" pitchFamily="2"/>
              </a:rPr>
              <a:t>Sun</a:t>
            </a:r>
          </a:p>
          <a:p>
            <a:pPr marL="0" marR="0" lvl="0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itchFamily="2"/>
              <a:buChar char="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verpass" pitchFamily="18"/>
                <a:ea typeface="WenQuanYi Zen Hei Sharp" pitchFamily="2"/>
                <a:cs typeface="WenQuanYi Zen Hei Sharp" pitchFamily="2"/>
              </a:rPr>
              <a:t>Windows….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B0E8E39-E2F1-1D8C-FFA7-3521FAD0DE74}"/>
              </a:ext>
            </a:extLst>
          </p:cNvPr>
          <p:cNvSpPr/>
          <p:nvPr/>
        </p:nvSpPr>
        <p:spPr>
          <a:xfrm>
            <a:off x="693360" y="2497837"/>
            <a:ext cx="3703679" cy="299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0000" tIns="486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1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Multi OS, Agentless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FA5E41E-427E-D285-03A9-DF049E17868C}"/>
              </a:ext>
            </a:extLst>
          </p:cNvPr>
          <p:cNvSpPr/>
          <p:nvPr/>
        </p:nvSpPr>
        <p:spPr>
          <a:xfrm>
            <a:off x="1194838" y="4795226"/>
            <a:ext cx="3202200" cy="703804"/>
          </a:xfrm>
          <a:custGeom>
            <a:avLst/>
            <a:gdLst>
              <a:gd name="f0" fmla="val w"/>
              <a:gd name="f1" fmla="val h"/>
              <a:gd name="f2" fmla="val 0"/>
              <a:gd name="f3" fmla="val 3508"/>
              <a:gd name="f4" fmla="val 8895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0000" tIns="45000" rIns="90000" bIns="45000" anchor="t" anchorCtr="0" compatLnSpc="1">
            <a:spAutoFit/>
          </a:bodyPr>
          <a:lstStyle/>
          <a:p>
            <a:pPr marL="0" marR="0" lvl="0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itchFamily="2"/>
              <a:buChar char="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verpass" pitchFamily="18"/>
                <a:ea typeface="WenQuanYi Zen Hei Sharp" pitchFamily="2"/>
                <a:cs typeface="WenQuanYi Zen Hei Sharp" pitchFamily="2"/>
              </a:rPr>
              <a:t>Network Appliance Big IP F5, </a:t>
            </a:r>
            <a:r>
              <a:rPr lang="fr-FR" sz="1400" b="0" i="0" u="none" strike="noStrike" cap="none" baseline="0" dirty="0" err="1">
                <a:ln>
                  <a:noFill/>
                </a:ln>
                <a:solidFill>
                  <a:schemeClr val="bg1"/>
                </a:solidFill>
                <a:latin typeface="Overpass" pitchFamily="18"/>
                <a:ea typeface="WenQuanYi Zen Hei Sharp" pitchFamily="2"/>
                <a:cs typeface="WenQuanYi Zen Hei Sharp" pitchFamily="2"/>
              </a:rPr>
              <a:t>OpenVSwitch</a:t>
            </a:r>
            <a:r>
              <a:rPr lang="fr-FR" sz="1400" b="0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verpass" pitchFamily="18"/>
                <a:ea typeface="WenQuanYi Zen Hei Sharp" pitchFamily="2"/>
                <a:cs typeface="WenQuanYi Zen Hei Sharp" pitchFamily="2"/>
              </a:rPr>
              <a:t>, Citrix, Cisco…</a:t>
            </a:r>
          </a:p>
          <a:p>
            <a:pPr marL="0" marR="0" lvl="0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pitchFamily="2"/>
              <a:buChar char="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verpass" pitchFamily="18"/>
                <a:ea typeface="WenQuanYi Zen Hei Sharp" pitchFamily="2"/>
                <a:cs typeface="WenQuanYi Zen Hei Sharp" pitchFamily="2"/>
              </a:rPr>
              <a:t>Assets</a:t>
            </a:r>
            <a:r>
              <a:rPr lang="en-US" sz="1400" b="0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verpass" pitchFamily="18"/>
                <a:ea typeface="WenQuanYi Zen Hei Sharp" pitchFamily="2"/>
                <a:cs typeface="WenQuanYi Zen Hei Sharp" pitchFamily="2"/>
              </a:rPr>
              <a:t> (storage, supervision, ...)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9A9F6FB-E5DF-D35D-BEB6-0D983D8FE9CB}"/>
              </a:ext>
            </a:extLst>
          </p:cNvPr>
          <p:cNvSpPr/>
          <p:nvPr/>
        </p:nvSpPr>
        <p:spPr>
          <a:xfrm>
            <a:off x="693359" y="4379513"/>
            <a:ext cx="3703679" cy="299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0000" tIns="486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1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Not only servers:</a:t>
            </a:r>
          </a:p>
        </p:txBody>
      </p:sp>
    </p:spTree>
    <p:extLst>
      <p:ext uri="{BB962C8B-B14F-4D97-AF65-F5344CB8AC3E}">
        <p14:creationId xmlns:p14="http://schemas.microsoft.com/office/powerpoint/2010/main" val="309534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>
            <a:extLst>
              <a:ext uri="{FF2B5EF4-FFF2-40B4-BE49-F238E27FC236}">
                <a16:creationId xmlns:a16="http://schemas.microsoft.com/office/drawing/2014/main" id="{C8F2A8A1-AD18-0BE5-0C57-0AA2EE200CF2}"/>
              </a:ext>
            </a:extLst>
          </p:cNvPr>
          <p:cNvSpPr/>
          <p:nvPr/>
        </p:nvSpPr>
        <p:spPr>
          <a:xfrm>
            <a:off x="2887441" y="1013028"/>
            <a:ext cx="1675079" cy="1582593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7F21F9F-7F28-37AA-3BE6-69B1ECA765BD}"/>
              </a:ext>
            </a:extLst>
          </p:cNvPr>
          <p:cNvGrpSpPr/>
          <p:nvPr/>
        </p:nvGrpSpPr>
        <p:grpSpPr>
          <a:xfrm>
            <a:off x="3003479" y="2818171"/>
            <a:ext cx="3652561" cy="3175349"/>
            <a:chOff x="3003479" y="2818171"/>
            <a:chExt cx="3652561" cy="3175349"/>
          </a:xfrm>
        </p:grpSpPr>
        <p:sp>
          <p:nvSpPr>
            <p:cNvPr id="53" name="Flowchart: Process 52">
              <a:extLst>
                <a:ext uri="{FF2B5EF4-FFF2-40B4-BE49-F238E27FC236}">
                  <a16:creationId xmlns:a16="http://schemas.microsoft.com/office/drawing/2014/main" id="{7D72EA7E-73BC-4BEB-6A47-BD08134F0260}"/>
                </a:ext>
              </a:extLst>
            </p:cNvPr>
            <p:cNvSpPr/>
            <p:nvPr/>
          </p:nvSpPr>
          <p:spPr>
            <a:xfrm>
              <a:off x="3003479" y="3289319"/>
              <a:ext cx="3652561" cy="2704201"/>
            </a:xfrm>
            <a:prstGeom prst="flowChartProcess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lowchart: Process 53">
              <a:extLst>
                <a:ext uri="{FF2B5EF4-FFF2-40B4-BE49-F238E27FC236}">
                  <a16:creationId xmlns:a16="http://schemas.microsoft.com/office/drawing/2014/main" id="{AF66A37F-B768-52CB-0F73-AC27EDE4E22C}"/>
                </a:ext>
              </a:extLst>
            </p:cNvPr>
            <p:cNvSpPr/>
            <p:nvPr/>
          </p:nvSpPr>
          <p:spPr>
            <a:xfrm>
              <a:off x="3003479" y="2818171"/>
              <a:ext cx="3652561" cy="488037"/>
            </a:xfrm>
            <a:prstGeom prst="flowChartProcess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ansible-core</a:t>
              </a:r>
            </a:p>
          </p:txBody>
        </p:sp>
      </p:grp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11D1469-D700-0FBD-1990-39D8B1CFF14B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HOW ANSIBLE WORKS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BC5F826-F0A3-BDE6-05B6-8318457A345B}"/>
              </a:ext>
            </a:extLst>
          </p:cNvPr>
          <p:cNvGrpSpPr/>
          <p:nvPr/>
        </p:nvGrpSpPr>
        <p:grpSpPr>
          <a:xfrm>
            <a:off x="239760" y="984433"/>
            <a:ext cx="8642160" cy="5333927"/>
            <a:chOff x="239760" y="984433"/>
            <a:chExt cx="8642160" cy="5333927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371935EB-9950-58E6-897D-77FAC85AD4E8}"/>
                </a:ext>
              </a:extLst>
            </p:cNvPr>
            <p:cNvCxnSpPr/>
            <p:nvPr/>
          </p:nvCxnSpPr>
          <p:spPr>
            <a:xfrm>
              <a:off x="3766680" y="2247840"/>
              <a:ext cx="720" cy="286200"/>
            </a:xfrm>
            <a:prstGeom prst="straightConnector1">
              <a:avLst/>
            </a:prstGeom>
            <a:noFill/>
            <a:ln w="28440">
              <a:solidFill>
                <a:srgbClr val="4CB1B2"/>
              </a:solidFill>
              <a:prstDash val="solid"/>
              <a:round/>
            </a:ln>
          </p:spPr>
        </p:cxn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654B134-1295-BD25-C0E2-5B932C23921C}"/>
                </a:ext>
              </a:extLst>
            </p:cNvPr>
            <p:cNvSpPr/>
            <p:nvPr/>
          </p:nvSpPr>
          <p:spPr>
            <a:xfrm>
              <a:off x="2971800" y="2836800"/>
              <a:ext cx="3787920" cy="312264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8681"/>
                <a:gd name="f4" fmla="val 10529"/>
                <a:gd name="f5" fmla="*/ f0 1 0"/>
                <a:gd name="f6" fmla="*/ f1 1 0"/>
                <a:gd name="f7" fmla="*/ 0 f5 1"/>
                <a:gd name="f8" fmla="*/ f4 f5 1"/>
                <a:gd name="f9" fmla="*/ f3 f6 1"/>
                <a:gd name="f10" fmla="*/ 0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7" t="f10" r="f8" b="f9"/>
              <a:pathLst>
                <a:path>
                  <a:moveTo>
                    <a:pt x="f2" y="f2"/>
                  </a:moveTo>
                  <a:lnTo>
                    <a:pt x="f4" y="f2"/>
                  </a:lnTo>
                  <a:lnTo>
                    <a:pt x="f4" y="f3"/>
                  </a:lnTo>
                  <a:lnTo>
                    <a:pt x="f2" y="f3"/>
                  </a:lnTo>
                  <a:close/>
                </a:path>
              </a:pathLst>
            </a:custGeom>
            <a:solidFill>
              <a:srgbClr val="F2F2F2"/>
            </a:solidFill>
            <a:ln w="28440">
              <a:solidFill>
                <a:srgbClr val="4CB1B2"/>
              </a:solidFill>
              <a:prstDash val="solid"/>
              <a:round/>
            </a:ln>
            <a:effectLst>
              <a:outerShdw dist="23040" dir="5400000" algn="tl">
                <a:srgbClr val="000000">
                  <a:alpha val="35000"/>
                </a:srgbClr>
              </a:outerShdw>
            </a:effectLst>
          </p:spPr>
          <p:txBody>
            <a:bodyPr wrap="none" lIns="90000" tIns="46800" rIns="90000" bIns="46800" anchor="ctr" anchorCtr="0" compatLnSpc="1">
              <a:noAutofit/>
            </a:bodyPr>
            <a:lstStyle/>
            <a:p>
              <a:pPr marL="0" marR="0" lvl="0" indent="0" algn="l" hangingPunct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fr-FR" sz="18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CD3FBB7-33B7-1377-E824-4E71E2CC4637}"/>
                </a:ext>
              </a:extLst>
            </p:cNvPr>
            <p:cNvGrpSpPr/>
            <p:nvPr/>
          </p:nvGrpSpPr>
          <p:grpSpPr>
            <a:xfrm>
              <a:off x="449280" y="1344600"/>
              <a:ext cx="8182080" cy="4802040"/>
              <a:chOff x="449280" y="1344600"/>
              <a:chExt cx="8182080" cy="4802040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779AA933-06E9-5DDE-441A-9FAFE9803EFF}"/>
                  </a:ext>
                </a:extLst>
              </p:cNvPr>
              <p:cNvSpPr/>
              <p:nvPr/>
            </p:nvSpPr>
            <p:spPr>
              <a:xfrm>
                <a:off x="2971800" y="2836800"/>
                <a:ext cx="3787920" cy="452519"/>
              </a:xfrm>
              <a:custGeom>
                <a:avLst/>
                <a:gdLst>
                  <a:gd name="f0" fmla="val w"/>
                  <a:gd name="f1" fmla="val h"/>
                  <a:gd name="f2" fmla="val 0"/>
                  <a:gd name="f3" fmla="val 1263"/>
                  <a:gd name="f4" fmla="val 10529"/>
                  <a:gd name="f5" fmla="*/ f0 1 0"/>
                  <a:gd name="f6" fmla="*/ f1 1 0"/>
                  <a:gd name="f7" fmla="*/ 0 f5 1"/>
                  <a:gd name="f8" fmla="*/ f4 f5 1"/>
                  <a:gd name="f9" fmla="*/ f3 f6 1"/>
                  <a:gd name="f10" fmla="*/ 0 f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7" t="f10" r="f8" b="f9"/>
                <a:pathLst>
                  <a:path>
                    <a:moveTo>
                      <a:pt x="f2" y="f2"/>
                    </a:moveTo>
                    <a:lnTo>
                      <a:pt x="f4" y="f2"/>
                    </a:lnTo>
                    <a:lnTo>
                      <a:pt x="f4" y="f3"/>
                    </a:lnTo>
                    <a:lnTo>
                      <a:pt x="f2" y="f3"/>
                    </a:lnTo>
                    <a:close/>
                  </a:path>
                </a:pathLst>
              </a:custGeom>
              <a:solidFill>
                <a:srgbClr val="4CB1B2"/>
              </a:solidFill>
              <a:ln>
                <a:noFill/>
                <a:prstDash val="solid"/>
              </a:ln>
              <a:effectLst>
                <a:outerShdw dist="23040" dir="5400000" algn="tl">
                  <a:srgbClr val="000000">
                    <a:alpha val="35000"/>
                  </a:srgbClr>
                </a:outerShdw>
              </a:effectLst>
            </p:spPr>
            <p:txBody>
              <a:bodyPr wrap="none" lIns="90000" tIns="46800" rIns="90000" bIns="46800" anchor="ctr" anchorCtr="0" compatLnSpc="1">
                <a:noAutofit/>
              </a:bodyPr>
              <a:lstStyle/>
              <a:p>
                <a:pPr marL="0" marR="0" lvl="0" indent="0" algn="l" hangingPunct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0" algn="l"/>
                    <a:tab pos="457200" algn="l"/>
                    <a:tab pos="914400" algn="l"/>
                    <a:tab pos="1371599" algn="l"/>
                    <a:tab pos="1828800" algn="l"/>
                    <a:tab pos="2286000" algn="l"/>
                    <a:tab pos="2743199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399" algn="l"/>
                    <a:tab pos="5943600" algn="l"/>
                    <a:tab pos="6400799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</a:pPr>
                <a:endParaRPr lang="fr-FR" sz="1800" b="0" i="0" u="none" strike="noStrike" cap="none" baseline="0">
                  <a:ln>
                    <a:noFill/>
                  </a:ln>
                  <a:solidFill>
                    <a:schemeClr val="bg1"/>
                  </a:solidFill>
                  <a:latin typeface="Arial" pitchFamily="18"/>
                  <a:ea typeface="WenQuanYi Zen Hei Sharp" pitchFamily="2"/>
                  <a:cs typeface="WenQuanYi Zen Hei Sharp" pitchFamily="2"/>
                </a:endParaRPr>
              </a:p>
            </p:txBody>
          </p:sp>
          <p:sp>
            <p:nvSpPr>
              <p:cNvPr id="8" name="Straight Connector 7">
                <a:extLst>
                  <a:ext uri="{FF2B5EF4-FFF2-40B4-BE49-F238E27FC236}">
                    <a16:creationId xmlns:a16="http://schemas.microsoft.com/office/drawing/2014/main" id="{356EDD74-D2FE-A652-5E5A-1899895F7458}"/>
                  </a:ext>
                </a:extLst>
              </p:cNvPr>
              <p:cNvSpPr/>
              <p:nvPr/>
            </p:nvSpPr>
            <p:spPr>
              <a:xfrm>
                <a:off x="7113599" y="2681280"/>
                <a:ext cx="0" cy="3465360"/>
              </a:xfrm>
              <a:prstGeom prst="line">
                <a:avLst/>
              </a:prstGeom>
              <a:noFill/>
              <a:ln w="25560">
                <a:solidFill>
                  <a:srgbClr val="D9D9D9"/>
                </a:solidFill>
                <a:custDash>
                  <a:ds d="800000" sp="300000"/>
                </a:custDash>
                <a:round/>
              </a:ln>
              <a:effectLst>
                <a:outerShdw dist="20160" dir="5400000" algn="tl">
                  <a:srgbClr val="000000">
                    <a:alpha val="38000"/>
                  </a:srgbClr>
                </a:outerShdw>
              </a:effectLst>
            </p:spPr>
            <p:txBody>
              <a:bodyPr wrap="square" lIns="90000" tIns="46800" rIns="90000" bIns="46800" anchor="t" anchorCtr="0" compatLnSpc="1">
                <a:noAutofit/>
              </a:bodyPr>
              <a:lstStyle/>
              <a:p>
                <a:pPr marL="0" marR="0" lvl="0" indent="0" algn="l" hangingPunct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0" algn="l"/>
                    <a:tab pos="457200" algn="l"/>
                    <a:tab pos="914400" algn="l"/>
                    <a:tab pos="1371599" algn="l"/>
                    <a:tab pos="1828800" algn="l"/>
                    <a:tab pos="2286000" algn="l"/>
                    <a:tab pos="2743199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399" algn="l"/>
                    <a:tab pos="5943600" algn="l"/>
                    <a:tab pos="6400799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</a:pPr>
                <a:endParaRPr lang="fr-FR" sz="1800" b="0" i="0" u="none" strike="noStrike" cap="none" baseline="0">
                  <a:ln>
                    <a:noFill/>
                  </a:ln>
                  <a:solidFill>
                    <a:schemeClr val="bg1"/>
                  </a:solidFill>
                  <a:latin typeface="Arial" pitchFamily="18"/>
                  <a:ea typeface="WenQuanYi Zen Hei Sharp" pitchFamily="2"/>
                  <a:cs typeface="WenQuanYi Zen Hei Sharp" pitchFamily="2"/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EE81089E-AE68-0A6B-24EC-D12718367863}"/>
                  </a:ext>
                </a:extLst>
              </p:cNvPr>
              <p:cNvSpPr/>
              <p:nvPr/>
            </p:nvSpPr>
            <p:spPr>
              <a:xfrm>
                <a:off x="2987640" y="2908440"/>
                <a:ext cx="3637080" cy="306323"/>
              </a:xfrm>
              <a:custGeom>
                <a:avLst/>
                <a:gdLst>
                  <a:gd name="f0" fmla="val w"/>
                  <a:gd name="f1" fmla="val h"/>
                  <a:gd name="f2" fmla="val 0"/>
                  <a:gd name="f3" fmla="val 844"/>
                  <a:gd name="f4" fmla="val 10110"/>
                  <a:gd name="f5" fmla="*/ f0 1 0"/>
                  <a:gd name="f6" fmla="*/ f1 1 0"/>
                  <a:gd name="f7" fmla="*/ 0 f5 1"/>
                  <a:gd name="f8" fmla="*/ f4 f5 1"/>
                  <a:gd name="f9" fmla="*/ f3 f6 1"/>
                  <a:gd name="f10" fmla="*/ 0 f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7" t="f10" r="f8" b="f9"/>
                <a:pathLst>
                  <a:path>
                    <a:moveTo>
                      <a:pt x="f2" y="f2"/>
                    </a:moveTo>
                    <a:lnTo>
                      <a:pt x="f4" y="f2"/>
                    </a:lnTo>
                    <a:lnTo>
                      <a:pt x="f4" y="f3"/>
                    </a:lnTo>
                    <a:lnTo>
                      <a:pt x="f2" y="f3"/>
                    </a:lnTo>
                    <a:close/>
                  </a:path>
                </a:pathLst>
              </a:custGeom>
              <a:noFill/>
              <a:ln>
                <a:noFill/>
                <a:prstDash val="solid"/>
              </a:ln>
            </p:spPr>
            <p:txBody>
              <a:bodyPr wrap="square" lIns="90000" tIns="45000" rIns="90000" bIns="45000" anchor="t" anchorCtr="0" compatLnSpc="1">
                <a:spAutoFit/>
              </a:bodyPr>
              <a:lstStyle/>
              <a:p>
                <a:pPr marL="0" marR="0" lvl="0" indent="0" algn="ctr" rtl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0" algn="l"/>
                    <a:tab pos="457200" algn="l"/>
                    <a:tab pos="914400" algn="l"/>
                    <a:tab pos="1371599" algn="l"/>
                    <a:tab pos="1828800" algn="l"/>
                    <a:tab pos="2286000" algn="l"/>
                    <a:tab pos="2743199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399" algn="l"/>
                    <a:tab pos="5943600" algn="l"/>
                    <a:tab pos="6400799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</a:pPr>
                <a:r>
                  <a:rPr lang="en-US" sz="1400" b="1" i="0" u="none" strike="noStrike" cap="none" baseline="0">
                    <a:ln>
                      <a:noFill/>
                    </a:ln>
                    <a:solidFill>
                      <a:schemeClr val="bg1"/>
                    </a:solidFill>
                    <a:latin typeface="Open Sans" pitchFamily="18"/>
                    <a:ea typeface="WenQuanYi Zen Hei Sharp" pitchFamily="2"/>
                    <a:cs typeface="WenQuanYi Zen Hei Sharp" pitchFamily="2"/>
                  </a:rPr>
                  <a:t>ANSIBLE-CORE (AUTOMATION ENGINE)</a:t>
                </a: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031DFA0B-1821-A5EA-8E0B-3B4AAD9704FF}"/>
                  </a:ext>
                </a:extLst>
              </p:cNvPr>
              <p:cNvGrpSpPr/>
              <p:nvPr/>
            </p:nvGrpSpPr>
            <p:grpSpPr>
              <a:xfrm>
                <a:off x="501480" y="4754520"/>
                <a:ext cx="1729080" cy="1166727"/>
                <a:chOff x="501480" y="4754520"/>
                <a:chExt cx="1729080" cy="1166727"/>
              </a:xfrm>
            </p:grpSpPr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33A3FEA2-3F4F-EF3B-B5D2-297E0EA6852A}"/>
                    </a:ext>
                  </a:extLst>
                </p:cNvPr>
                <p:cNvSpPr/>
                <p:nvPr/>
              </p:nvSpPr>
              <p:spPr>
                <a:xfrm>
                  <a:off x="501480" y="5676480"/>
                  <a:ext cx="1729080" cy="244767"/>
                </a:xfrm>
                <a:custGeom>
                  <a:avLst/>
                  <a:gdLst>
                    <a:gd name="f0" fmla="val w"/>
                    <a:gd name="f1" fmla="val h"/>
                    <a:gd name="f2" fmla="val 0"/>
                    <a:gd name="f3" fmla="val 673"/>
                    <a:gd name="f4" fmla="val 4807"/>
                    <a:gd name="f5" fmla="*/ f0 1 0"/>
                    <a:gd name="f6" fmla="*/ f1 1 0"/>
                    <a:gd name="f7" fmla="*/ 0 f5 1"/>
                    <a:gd name="f8" fmla="*/ f4 f5 1"/>
                    <a:gd name="f9" fmla="*/ f3 f6 1"/>
                    <a:gd name="f10" fmla="*/ 0 f6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</a:cxnLst>
                  <a:rect l="f7" t="f10" r="f8" b="f9"/>
                  <a:pathLst>
                    <a:path>
                      <a:moveTo>
                        <a:pt x="f2" y="f2"/>
                      </a:moveTo>
                      <a:lnTo>
                        <a:pt x="f4" y="f2"/>
                      </a:lnTo>
                      <a:lnTo>
                        <a:pt x="f4" y="f3"/>
                      </a:lnTo>
                      <a:lnTo>
                        <a:pt x="f2" y="f3"/>
                      </a:lnTo>
                      <a:close/>
                    </a:path>
                  </a:pathLst>
                </a:custGeom>
                <a:noFill/>
                <a:ln>
                  <a:noFill/>
                  <a:prstDash val="solid"/>
                </a:ln>
              </p:spPr>
              <p:txBody>
                <a:bodyPr wrap="square" lIns="90000" tIns="45000" rIns="90000" bIns="45000" anchor="t" anchorCtr="0" compatLnSpc="1">
                  <a:spAutoFit/>
                </a:bodyPr>
                <a:lstStyle/>
                <a:p>
                  <a:pPr marL="0" marR="0" lvl="0" indent="0" algn="ctr" rtl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>
                      <a:tab pos="0" algn="l"/>
                      <a:tab pos="457200" algn="l"/>
                      <a:tab pos="914400" algn="l"/>
                      <a:tab pos="1371599" algn="l"/>
                      <a:tab pos="1828800" algn="l"/>
                      <a:tab pos="2286000" algn="l"/>
                      <a:tab pos="2743199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399" algn="l"/>
                      <a:tab pos="5943600" algn="l"/>
                      <a:tab pos="6400799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US" sz="1000" b="1" i="0" u="none" strike="noStrike" cap="none" baseline="0">
                      <a:ln>
                        <a:noFill/>
                      </a:ln>
                      <a:solidFill>
                        <a:schemeClr val="bg1"/>
                      </a:solidFill>
                      <a:latin typeface="Open Sans" pitchFamily="18"/>
                      <a:ea typeface="WenQuanYi Zen Hei Sharp" pitchFamily="2"/>
                      <a:cs typeface="WenQuanYi Zen Hei Sharp" pitchFamily="2"/>
                    </a:rPr>
                    <a:t>ANSIBLE PLAYBOOK</a:t>
                  </a:r>
                </a:p>
              </p:txBody>
            </p:sp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627CBF4E-C552-E5B5-8BF2-06ADFD78E2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lum/>
                  <a:alphaModFix/>
                </a:blip>
                <a:srcRect/>
                <a:stretch>
                  <a:fillRect/>
                </a:stretch>
              </p:blipFill>
              <p:spPr>
                <a:xfrm>
                  <a:off x="1036800" y="4754520"/>
                  <a:ext cx="630000" cy="88379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05D2C8F0-EEE2-B3D7-14F0-BB292B2C8E53}"/>
                  </a:ext>
                </a:extLst>
              </p:cNvPr>
              <p:cNvGrpSpPr/>
              <p:nvPr/>
            </p:nvGrpSpPr>
            <p:grpSpPr>
              <a:xfrm>
                <a:off x="1274760" y="1344600"/>
                <a:ext cx="1728719" cy="1022400"/>
                <a:chOff x="1274760" y="1344600"/>
                <a:chExt cx="1728719" cy="1022400"/>
              </a:xfrm>
            </p:grpSpPr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DDAABA00-D414-430A-B983-425BF6AADC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lum/>
                  <a:alphaModFix/>
                </a:blip>
                <a:srcRect/>
                <a:stretch>
                  <a:fillRect/>
                </a:stretch>
              </p:blipFill>
              <p:spPr>
                <a:xfrm>
                  <a:off x="1385999" y="1344600"/>
                  <a:ext cx="1595160" cy="10224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446C529B-B9E7-988A-98F5-2A9D4EF413B9}"/>
                    </a:ext>
                  </a:extLst>
                </p:cNvPr>
                <p:cNvSpPr/>
                <p:nvPr/>
              </p:nvSpPr>
              <p:spPr>
                <a:xfrm>
                  <a:off x="1274760" y="1727280"/>
                  <a:ext cx="1728719" cy="398655"/>
                </a:xfrm>
                <a:custGeom>
                  <a:avLst/>
                  <a:gdLst>
                    <a:gd name="f0" fmla="val w"/>
                    <a:gd name="f1" fmla="val h"/>
                    <a:gd name="f2" fmla="val 0"/>
                    <a:gd name="f3" fmla="val 1096"/>
                    <a:gd name="f4" fmla="val 4807"/>
                    <a:gd name="f5" fmla="*/ f0 1 0"/>
                    <a:gd name="f6" fmla="*/ f1 1 0"/>
                    <a:gd name="f7" fmla="*/ 0 f5 1"/>
                    <a:gd name="f8" fmla="*/ f4 f5 1"/>
                    <a:gd name="f9" fmla="*/ f3 f6 1"/>
                    <a:gd name="f10" fmla="*/ 0 f6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</a:cxnLst>
                  <a:rect l="f7" t="f10" r="f8" b="f9"/>
                  <a:pathLst>
                    <a:path>
                      <a:moveTo>
                        <a:pt x="f2" y="f2"/>
                      </a:moveTo>
                      <a:lnTo>
                        <a:pt x="f4" y="f2"/>
                      </a:lnTo>
                      <a:lnTo>
                        <a:pt x="f4" y="f3"/>
                      </a:lnTo>
                      <a:lnTo>
                        <a:pt x="f2" y="f3"/>
                      </a:lnTo>
                      <a:close/>
                    </a:path>
                  </a:pathLst>
                </a:custGeom>
                <a:noFill/>
                <a:ln>
                  <a:noFill/>
                  <a:prstDash val="solid"/>
                </a:ln>
              </p:spPr>
              <p:txBody>
                <a:bodyPr wrap="square" lIns="90000" tIns="45000" rIns="90000" bIns="45000" anchor="t" anchorCtr="0" compatLnSpc="1">
                  <a:spAutoFit/>
                </a:bodyPr>
                <a:lstStyle/>
                <a:p>
                  <a:pPr marL="0" marR="0" lvl="0" indent="0" algn="ctr" rtl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>
                      <a:tab pos="0" algn="l"/>
                      <a:tab pos="457200" algn="l"/>
                      <a:tab pos="914400" algn="l"/>
                      <a:tab pos="1371599" algn="l"/>
                      <a:tab pos="1828800" algn="l"/>
                      <a:tab pos="2286000" algn="l"/>
                      <a:tab pos="2743199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399" algn="l"/>
                      <a:tab pos="5943600" algn="l"/>
                      <a:tab pos="6400799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US" sz="1000" b="1" i="0" u="none" strike="noStrike" cap="none" baseline="0">
                      <a:ln>
                        <a:noFill/>
                      </a:ln>
                      <a:solidFill>
                        <a:schemeClr val="bg1"/>
                      </a:solidFill>
                      <a:latin typeface="Open Sans" pitchFamily="18"/>
                      <a:ea typeface="WenQuanYi Zen Hei Sharp" pitchFamily="2"/>
                      <a:cs typeface="WenQuanYi Zen Hei Sharp" pitchFamily="2"/>
                    </a:rPr>
                    <a:t>PUBLIC / PRIVATE</a:t>
                  </a:r>
                  <a:br>
                    <a:rPr lang="en-US" sz="1000" b="1" i="0" u="none" strike="noStrike" cap="none" baseline="0">
                      <a:ln>
                        <a:noFill/>
                      </a:ln>
                      <a:solidFill>
                        <a:schemeClr val="bg1"/>
                      </a:solidFill>
                      <a:latin typeface="Open Sans" pitchFamily="18"/>
                      <a:ea typeface="WenQuanYi Zen Hei Sharp" pitchFamily="2"/>
                      <a:cs typeface="WenQuanYi Zen Hei Sharp" pitchFamily="2"/>
                    </a:rPr>
                  </a:br>
                  <a:r>
                    <a:rPr lang="en-US" sz="1000" b="1" i="0" u="none" strike="noStrike" cap="none" baseline="0">
                      <a:ln>
                        <a:noFill/>
                      </a:ln>
                      <a:solidFill>
                        <a:schemeClr val="bg1"/>
                      </a:solidFill>
                      <a:latin typeface="Open Sans" pitchFamily="18"/>
                      <a:ea typeface="WenQuanYi Zen Hei Sharp" pitchFamily="2"/>
                      <a:cs typeface="WenQuanYi Zen Hei Sharp" pitchFamily="2"/>
                    </a:rPr>
                    <a:t>CLOUD</a:t>
                  </a: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12D6B6E9-4D1E-7189-5013-F1418FAC229F}"/>
                  </a:ext>
                </a:extLst>
              </p:cNvPr>
              <p:cNvGrpSpPr/>
              <p:nvPr/>
            </p:nvGrpSpPr>
            <p:grpSpPr>
              <a:xfrm>
                <a:off x="3251159" y="1346040"/>
                <a:ext cx="993960" cy="852480"/>
                <a:chOff x="3251159" y="1346040"/>
                <a:chExt cx="993960" cy="852480"/>
              </a:xfrm>
            </p:grpSpPr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F62557ED-467D-94C8-ACD5-32FD5A3994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lum/>
                  <a:alphaModFix/>
                </a:blip>
                <a:srcRect/>
                <a:stretch>
                  <a:fillRect/>
                </a:stretch>
              </p:blipFill>
              <p:spPr>
                <a:xfrm>
                  <a:off x="3251159" y="1346040"/>
                  <a:ext cx="993960" cy="85248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4473AFE4-3C67-07F4-90A5-5974EC1DC3A5}"/>
                    </a:ext>
                  </a:extLst>
                </p:cNvPr>
                <p:cNvSpPr/>
                <p:nvPr/>
              </p:nvSpPr>
              <p:spPr>
                <a:xfrm>
                  <a:off x="3306600" y="1401840"/>
                  <a:ext cx="881280" cy="260156"/>
                </a:xfrm>
                <a:custGeom>
                  <a:avLst/>
                  <a:gdLst>
                    <a:gd name="f0" fmla="val w"/>
                    <a:gd name="f1" fmla="val h"/>
                    <a:gd name="f2" fmla="val 0"/>
                    <a:gd name="f3" fmla="val 696"/>
                    <a:gd name="f4" fmla="val 2451"/>
                    <a:gd name="f5" fmla="*/ f0 1 0"/>
                    <a:gd name="f6" fmla="*/ f1 1 0"/>
                    <a:gd name="f7" fmla="*/ 0 f5 1"/>
                    <a:gd name="f8" fmla="*/ f4 f5 1"/>
                    <a:gd name="f9" fmla="*/ f3 f6 1"/>
                    <a:gd name="f10" fmla="*/ 0 f6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</a:cxnLst>
                  <a:rect l="f7" t="f10" r="f8" b="f9"/>
                  <a:pathLst>
                    <a:path>
                      <a:moveTo>
                        <a:pt x="f2" y="f2"/>
                      </a:moveTo>
                      <a:lnTo>
                        <a:pt x="f4" y="f2"/>
                      </a:lnTo>
                      <a:lnTo>
                        <a:pt x="f4" y="f3"/>
                      </a:lnTo>
                      <a:lnTo>
                        <a:pt x="f2" y="f3"/>
                      </a:lnTo>
                      <a:close/>
                    </a:path>
                  </a:pathLst>
                </a:custGeom>
                <a:noFill/>
                <a:ln>
                  <a:noFill/>
                  <a:prstDash val="solid"/>
                </a:ln>
              </p:spPr>
              <p:txBody>
                <a:bodyPr wrap="square" lIns="90000" tIns="45000" rIns="90000" bIns="45000" anchor="t" anchorCtr="0" compatLnSpc="1">
                  <a:spAutoFit/>
                </a:bodyPr>
                <a:lstStyle/>
                <a:p>
                  <a:pPr marL="0" marR="0" lvl="0" indent="0" algn="ctr" rtl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>
                      <a:tab pos="0" algn="l"/>
                      <a:tab pos="457200" algn="l"/>
                      <a:tab pos="914400" algn="l"/>
                      <a:tab pos="1371599" algn="l"/>
                      <a:tab pos="1828800" algn="l"/>
                      <a:tab pos="2286000" algn="l"/>
                      <a:tab pos="2743199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399" algn="l"/>
                      <a:tab pos="5943600" algn="l"/>
                      <a:tab pos="6400799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US" sz="1100" b="1" i="0" u="none" strike="noStrike" cap="none" baseline="0">
                      <a:ln>
                        <a:noFill/>
                      </a:ln>
                      <a:solidFill>
                        <a:schemeClr val="bg1"/>
                      </a:solidFill>
                      <a:latin typeface="Open Sans" pitchFamily="18"/>
                      <a:ea typeface="WenQuanYi Zen Hei Sharp" pitchFamily="2"/>
                      <a:cs typeface="WenQuanYi Zen Hei Sharp" pitchFamily="2"/>
                    </a:rPr>
                    <a:t>CMDB</a:t>
                  </a:r>
                </a:p>
              </p:txBody>
            </p:sp>
          </p:grp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1D42CF6B-6DA7-2EA4-8958-805F8E0626F6}"/>
                  </a:ext>
                </a:extLst>
              </p:cNvPr>
              <p:cNvCxnSpPr/>
              <p:nvPr/>
            </p:nvCxnSpPr>
            <p:spPr>
              <a:xfrm flipV="1">
                <a:off x="1769760" y="5222520"/>
                <a:ext cx="1089360" cy="8280"/>
              </a:xfrm>
              <a:prstGeom prst="straightConnector1">
                <a:avLst/>
              </a:prstGeom>
              <a:noFill/>
              <a:ln w="28440">
                <a:solidFill>
                  <a:srgbClr val="4CB1B2"/>
                </a:solidFill>
                <a:prstDash val="solid"/>
                <a:round/>
                <a:tailEnd type="arrow"/>
              </a:ln>
            </p:spPr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465FDD4E-25FE-86B4-1E46-6689194507B6}"/>
                  </a:ext>
                </a:extLst>
              </p:cNvPr>
              <p:cNvCxnSpPr/>
              <p:nvPr/>
            </p:nvCxnSpPr>
            <p:spPr>
              <a:xfrm>
                <a:off x="6814800" y="3858840"/>
                <a:ext cx="695160" cy="719"/>
              </a:xfrm>
              <a:prstGeom prst="straightConnector1">
                <a:avLst/>
              </a:prstGeom>
              <a:noFill/>
              <a:ln w="28440">
                <a:solidFill>
                  <a:srgbClr val="4CB1B2"/>
                </a:solidFill>
                <a:prstDash val="solid"/>
                <a:round/>
                <a:tailEnd type="arrow"/>
              </a:ln>
            </p:spPr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83137869-4C0F-5AB3-4A47-620555E1D3D6}"/>
                  </a:ext>
                </a:extLst>
              </p:cNvPr>
              <p:cNvCxnSpPr/>
              <p:nvPr/>
            </p:nvCxnSpPr>
            <p:spPr>
              <a:xfrm>
                <a:off x="6814800" y="5148000"/>
                <a:ext cx="695160" cy="720"/>
              </a:xfrm>
              <a:prstGeom prst="straightConnector1">
                <a:avLst/>
              </a:prstGeom>
              <a:noFill/>
              <a:ln w="28440">
                <a:solidFill>
                  <a:srgbClr val="4CB1B2"/>
                </a:solidFill>
                <a:prstDash val="solid"/>
                <a:round/>
                <a:tailEnd type="arrow"/>
              </a:ln>
            </p:spPr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E3B25094-8C7B-F46F-5137-73DDA65ABE44}"/>
                  </a:ext>
                </a:extLst>
              </p:cNvPr>
              <p:cNvCxnSpPr/>
              <p:nvPr/>
            </p:nvCxnSpPr>
            <p:spPr>
              <a:xfrm>
                <a:off x="1417680" y="4377960"/>
                <a:ext cx="1441800" cy="720"/>
              </a:xfrm>
              <a:prstGeom prst="straightConnector1">
                <a:avLst/>
              </a:prstGeom>
              <a:noFill/>
              <a:ln w="28440">
                <a:solidFill>
                  <a:srgbClr val="4CB1B2"/>
                </a:solidFill>
                <a:prstDash val="solid"/>
                <a:round/>
                <a:tailEnd type="arrow"/>
              </a:ln>
            </p:spPr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23AEFCF4-C42A-D6B7-E5C2-5F6325840ADC}"/>
                  </a:ext>
                </a:extLst>
              </p:cNvPr>
              <p:cNvCxnSpPr/>
              <p:nvPr/>
            </p:nvCxnSpPr>
            <p:spPr>
              <a:xfrm>
                <a:off x="1285560" y="4092480"/>
                <a:ext cx="720" cy="494279"/>
              </a:xfrm>
              <a:prstGeom prst="straightConnector1">
                <a:avLst/>
              </a:prstGeom>
              <a:noFill/>
              <a:ln w="28440">
                <a:solidFill>
                  <a:srgbClr val="4CB1B2"/>
                </a:solidFill>
                <a:prstDash val="solid"/>
                <a:round/>
                <a:tailEnd type="arrow"/>
              </a:ln>
            </p:spPr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2093808D-6E12-B2DB-7980-E4704217FD4E}"/>
                  </a:ext>
                </a:extLst>
              </p:cNvPr>
              <p:cNvCxnSpPr/>
              <p:nvPr/>
            </p:nvCxnSpPr>
            <p:spPr>
              <a:xfrm>
                <a:off x="1422000" y="4098960"/>
                <a:ext cx="719" cy="286200"/>
              </a:xfrm>
              <a:prstGeom prst="straightConnector1">
                <a:avLst/>
              </a:prstGeom>
              <a:noFill/>
              <a:ln w="28440">
                <a:solidFill>
                  <a:srgbClr val="4CB1B2"/>
                </a:solidFill>
                <a:prstDash val="solid"/>
                <a:round/>
              </a:ln>
            </p:spPr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AAD3BDD0-1DD3-8FF3-DE89-67B959D51346}"/>
                  </a:ext>
                </a:extLst>
              </p:cNvPr>
              <p:cNvCxnSpPr/>
              <p:nvPr/>
            </p:nvCxnSpPr>
            <p:spPr>
              <a:xfrm flipV="1">
                <a:off x="2271240" y="3963600"/>
                <a:ext cx="590760" cy="6840"/>
              </a:xfrm>
              <a:prstGeom prst="straightConnector1">
                <a:avLst/>
              </a:prstGeom>
              <a:noFill/>
              <a:ln w="28440">
                <a:solidFill>
                  <a:srgbClr val="4CB1B2"/>
                </a:solidFill>
                <a:prstDash val="solid"/>
                <a:round/>
                <a:tailEnd type="arrow"/>
              </a:ln>
            </p:spPr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65581A01-504E-4121-65D4-B56AFB97C38A}"/>
                  </a:ext>
                </a:extLst>
              </p:cNvPr>
              <p:cNvCxnSpPr/>
              <p:nvPr/>
            </p:nvCxnSpPr>
            <p:spPr>
              <a:xfrm>
                <a:off x="2279160" y="2390760"/>
                <a:ext cx="720" cy="1589400"/>
              </a:xfrm>
              <a:prstGeom prst="straightConnector1">
                <a:avLst/>
              </a:prstGeom>
              <a:noFill/>
              <a:ln w="28440">
                <a:solidFill>
                  <a:srgbClr val="4CB1B2"/>
                </a:solidFill>
                <a:prstDash val="solid"/>
                <a:round/>
              </a:ln>
            </p:spPr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1F2BB126-1E73-C02A-1D8E-10211A72FA12}"/>
                  </a:ext>
                </a:extLst>
              </p:cNvPr>
              <p:cNvCxnSpPr/>
              <p:nvPr/>
            </p:nvCxnSpPr>
            <p:spPr>
              <a:xfrm>
                <a:off x="2582640" y="3549240"/>
                <a:ext cx="276480" cy="720"/>
              </a:xfrm>
              <a:prstGeom prst="straightConnector1">
                <a:avLst/>
              </a:prstGeom>
              <a:noFill/>
              <a:ln w="28440">
                <a:solidFill>
                  <a:srgbClr val="4CB1B2"/>
                </a:solidFill>
                <a:prstDash val="solid"/>
                <a:round/>
                <a:tailEnd type="arrow"/>
              </a:ln>
            </p:spPr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CFFDD208-F7B1-00BA-DF82-3719422E3756}"/>
                  </a:ext>
                </a:extLst>
              </p:cNvPr>
              <p:cNvCxnSpPr/>
              <p:nvPr/>
            </p:nvCxnSpPr>
            <p:spPr>
              <a:xfrm>
                <a:off x="2598480" y="2522520"/>
                <a:ext cx="720" cy="1024200"/>
              </a:xfrm>
              <a:prstGeom prst="straightConnector1">
                <a:avLst/>
              </a:prstGeom>
              <a:noFill/>
              <a:ln w="28440">
                <a:solidFill>
                  <a:srgbClr val="4CB1B2"/>
                </a:solidFill>
                <a:prstDash val="solid"/>
                <a:round/>
              </a:ln>
            </p:spPr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0ECA74F0-DA23-5BD8-3942-FD470C032F78}"/>
                  </a:ext>
                </a:extLst>
              </p:cNvPr>
              <p:cNvCxnSpPr/>
              <p:nvPr/>
            </p:nvCxnSpPr>
            <p:spPr>
              <a:xfrm flipH="1">
                <a:off x="2582640" y="2522160"/>
                <a:ext cx="1181160" cy="720"/>
              </a:xfrm>
              <a:prstGeom prst="straightConnector1">
                <a:avLst/>
              </a:prstGeom>
              <a:noFill/>
              <a:ln w="28440">
                <a:solidFill>
                  <a:srgbClr val="4CB1B2"/>
                </a:solidFill>
                <a:prstDash val="solid"/>
                <a:round/>
              </a:ln>
            </p:spPr>
          </p:cxn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8D5F994E-9951-E2EE-0FFC-01EA65B93952}"/>
                  </a:ext>
                </a:extLst>
              </p:cNvPr>
              <p:cNvGrpSpPr/>
              <p:nvPr/>
            </p:nvGrpSpPr>
            <p:grpSpPr>
              <a:xfrm>
                <a:off x="449280" y="2917800"/>
                <a:ext cx="1728719" cy="1166727"/>
                <a:chOff x="449280" y="2917800"/>
                <a:chExt cx="1728719" cy="1166727"/>
              </a:xfrm>
            </p:grpSpPr>
            <p:pic>
              <p:nvPicPr>
                <p:cNvPr id="31" name="Picture 30">
                  <a:extLst>
                    <a:ext uri="{FF2B5EF4-FFF2-40B4-BE49-F238E27FC236}">
                      <a16:creationId xmlns:a16="http://schemas.microsoft.com/office/drawing/2014/main" id="{46E7A6B1-3222-8F6B-DB4C-A6AF5EA21E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lum/>
                  <a:alphaModFix/>
                </a:blip>
                <a:srcRect/>
                <a:stretch>
                  <a:fillRect/>
                </a:stretch>
              </p:blipFill>
              <p:spPr>
                <a:xfrm>
                  <a:off x="633240" y="2917800"/>
                  <a:ext cx="1351080" cy="92015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57B1EDE0-8476-24EF-347A-BD4B808EF8B1}"/>
                    </a:ext>
                  </a:extLst>
                </p:cNvPr>
                <p:cNvSpPr/>
                <p:nvPr/>
              </p:nvSpPr>
              <p:spPr>
                <a:xfrm>
                  <a:off x="449280" y="3839760"/>
                  <a:ext cx="1728719" cy="244767"/>
                </a:xfrm>
                <a:custGeom>
                  <a:avLst/>
                  <a:gdLst>
                    <a:gd name="f0" fmla="val w"/>
                    <a:gd name="f1" fmla="val h"/>
                    <a:gd name="f2" fmla="val 0"/>
                    <a:gd name="f3" fmla="val 673"/>
                    <a:gd name="f4" fmla="val 4807"/>
                    <a:gd name="f5" fmla="*/ f0 1 0"/>
                    <a:gd name="f6" fmla="*/ f1 1 0"/>
                    <a:gd name="f7" fmla="*/ 0 f5 1"/>
                    <a:gd name="f8" fmla="*/ f4 f5 1"/>
                    <a:gd name="f9" fmla="*/ f3 f6 1"/>
                    <a:gd name="f10" fmla="*/ 0 f6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</a:cxnLst>
                  <a:rect l="f7" t="f10" r="f8" b="f9"/>
                  <a:pathLst>
                    <a:path>
                      <a:moveTo>
                        <a:pt x="f2" y="f2"/>
                      </a:moveTo>
                      <a:lnTo>
                        <a:pt x="f4" y="f2"/>
                      </a:lnTo>
                      <a:lnTo>
                        <a:pt x="f4" y="f3"/>
                      </a:lnTo>
                      <a:lnTo>
                        <a:pt x="f2" y="f3"/>
                      </a:lnTo>
                      <a:close/>
                    </a:path>
                  </a:pathLst>
                </a:custGeom>
                <a:noFill/>
                <a:ln>
                  <a:noFill/>
                  <a:prstDash val="solid"/>
                </a:ln>
              </p:spPr>
              <p:txBody>
                <a:bodyPr wrap="square" lIns="90000" tIns="45000" rIns="90000" bIns="45000" anchor="t" anchorCtr="0" compatLnSpc="1">
                  <a:spAutoFit/>
                </a:bodyPr>
                <a:lstStyle/>
                <a:p>
                  <a:pPr marL="0" marR="0" lvl="0" indent="0" algn="ctr" rtl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>
                      <a:tab pos="0" algn="l"/>
                      <a:tab pos="457200" algn="l"/>
                      <a:tab pos="914400" algn="l"/>
                      <a:tab pos="1371599" algn="l"/>
                      <a:tab pos="1828800" algn="l"/>
                      <a:tab pos="2286000" algn="l"/>
                      <a:tab pos="2743199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399" algn="l"/>
                      <a:tab pos="5943600" algn="l"/>
                      <a:tab pos="6400799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US" sz="1000" b="1" i="0" u="none" strike="noStrike" cap="none" baseline="0">
                      <a:ln>
                        <a:noFill/>
                      </a:ln>
                      <a:solidFill>
                        <a:schemeClr val="bg1"/>
                      </a:solidFill>
                      <a:latin typeface="Open Sans" pitchFamily="18"/>
                      <a:ea typeface="WenQuanYi Zen Hei Sharp" pitchFamily="2"/>
                      <a:cs typeface="WenQuanYi Zen Hei Sharp" pitchFamily="2"/>
                    </a:rPr>
                    <a:t>USERS</a:t>
                  </a:r>
                </a:p>
              </p:txBody>
            </p:sp>
          </p:grpSp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ADCCE8E3-CAAD-E915-C004-60BBD73D56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7631280" y="3541679"/>
                <a:ext cx="680760" cy="577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26E813FD-A178-E122-9F34-EA87B9ECEB32}"/>
                  </a:ext>
                </a:extLst>
              </p:cNvPr>
              <p:cNvSpPr/>
              <p:nvPr/>
            </p:nvSpPr>
            <p:spPr>
              <a:xfrm>
                <a:off x="7272360" y="4172040"/>
                <a:ext cx="1359000" cy="244767"/>
              </a:xfrm>
              <a:custGeom>
                <a:avLst/>
                <a:gdLst>
                  <a:gd name="f0" fmla="val w"/>
                  <a:gd name="f1" fmla="val h"/>
                  <a:gd name="f2" fmla="val 0"/>
                  <a:gd name="f3" fmla="val 673"/>
                  <a:gd name="f4" fmla="val 3779"/>
                  <a:gd name="f5" fmla="*/ f0 1 0"/>
                  <a:gd name="f6" fmla="*/ f1 1 0"/>
                  <a:gd name="f7" fmla="*/ 0 f5 1"/>
                  <a:gd name="f8" fmla="*/ f4 f5 1"/>
                  <a:gd name="f9" fmla="*/ f3 f6 1"/>
                  <a:gd name="f10" fmla="*/ 0 f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7" t="f10" r="f8" b="f9"/>
                <a:pathLst>
                  <a:path>
                    <a:moveTo>
                      <a:pt x="f2" y="f2"/>
                    </a:moveTo>
                    <a:lnTo>
                      <a:pt x="f4" y="f2"/>
                    </a:lnTo>
                    <a:lnTo>
                      <a:pt x="f4" y="f3"/>
                    </a:lnTo>
                    <a:lnTo>
                      <a:pt x="f2" y="f3"/>
                    </a:lnTo>
                    <a:close/>
                  </a:path>
                </a:pathLst>
              </a:custGeom>
              <a:noFill/>
              <a:ln>
                <a:noFill/>
                <a:prstDash val="solid"/>
              </a:ln>
            </p:spPr>
            <p:txBody>
              <a:bodyPr wrap="square" lIns="90000" tIns="45000" rIns="90000" bIns="45000" anchor="t" anchorCtr="0" compatLnSpc="1">
                <a:spAutoFit/>
              </a:bodyPr>
              <a:lstStyle/>
              <a:p>
                <a:pPr marL="0" marR="0" lvl="0" indent="0" algn="ctr" rtl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0" algn="l"/>
                    <a:tab pos="457200" algn="l"/>
                    <a:tab pos="914400" algn="l"/>
                    <a:tab pos="1371599" algn="l"/>
                    <a:tab pos="1828800" algn="l"/>
                    <a:tab pos="2286000" algn="l"/>
                    <a:tab pos="2743199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399" algn="l"/>
                    <a:tab pos="5943600" algn="l"/>
                    <a:tab pos="6400799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</a:pPr>
                <a:r>
                  <a:rPr lang="en-US" sz="1000" b="1" i="0" u="none" strike="noStrike" cap="none" baseline="0">
                    <a:ln>
                      <a:noFill/>
                    </a:ln>
                    <a:solidFill>
                      <a:schemeClr val="bg1"/>
                    </a:solidFill>
                    <a:latin typeface="Open Sans" pitchFamily="18"/>
                    <a:ea typeface="WenQuanYi Zen Hei Sharp" pitchFamily="2"/>
                    <a:cs typeface="WenQuanYi Zen Hei Sharp" pitchFamily="2"/>
                  </a:rPr>
                  <a:t>HOSTS</a:t>
                </a: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9C054695-0334-CA63-065D-306EC370FE2A}"/>
                  </a:ext>
                </a:extLst>
              </p:cNvPr>
              <p:cNvSpPr/>
              <p:nvPr/>
            </p:nvSpPr>
            <p:spPr>
              <a:xfrm>
                <a:off x="7270920" y="5540400"/>
                <a:ext cx="1358640" cy="244767"/>
              </a:xfrm>
              <a:custGeom>
                <a:avLst/>
                <a:gdLst>
                  <a:gd name="f0" fmla="val w"/>
                  <a:gd name="f1" fmla="val h"/>
                  <a:gd name="f2" fmla="val 0"/>
                  <a:gd name="f3" fmla="val 673"/>
                  <a:gd name="f4" fmla="val 3779"/>
                  <a:gd name="f5" fmla="*/ f0 1 0"/>
                  <a:gd name="f6" fmla="*/ f1 1 0"/>
                  <a:gd name="f7" fmla="*/ 0 f5 1"/>
                  <a:gd name="f8" fmla="*/ f4 f5 1"/>
                  <a:gd name="f9" fmla="*/ f3 f6 1"/>
                  <a:gd name="f10" fmla="*/ 0 f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7" t="f10" r="f8" b="f9"/>
                <a:pathLst>
                  <a:path>
                    <a:moveTo>
                      <a:pt x="f2" y="f2"/>
                    </a:moveTo>
                    <a:lnTo>
                      <a:pt x="f4" y="f2"/>
                    </a:lnTo>
                    <a:lnTo>
                      <a:pt x="f4" y="f3"/>
                    </a:lnTo>
                    <a:lnTo>
                      <a:pt x="f2" y="f3"/>
                    </a:lnTo>
                    <a:close/>
                  </a:path>
                </a:pathLst>
              </a:custGeom>
              <a:noFill/>
              <a:ln>
                <a:noFill/>
                <a:prstDash val="solid"/>
              </a:ln>
            </p:spPr>
            <p:txBody>
              <a:bodyPr wrap="square" lIns="90000" tIns="45000" rIns="90000" bIns="45000" anchor="t" anchorCtr="0" compatLnSpc="1">
                <a:spAutoFit/>
              </a:bodyPr>
              <a:lstStyle/>
              <a:p>
                <a:pPr marL="0" marR="0" lvl="0" indent="0" algn="ctr" rtl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0" algn="l"/>
                    <a:tab pos="457200" algn="l"/>
                    <a:tab pos="914400" algn="l"/>
                    <a:tab pos="1371599" algn="l"/>
                    <a:tab pos="1828800" algn="l"/>
                    <a:tab pos="2286000" algn="l"/>
                    <a:tab pos="2743199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399" algn="l"/>
                    <a:tab pos="5943600" algn="l"/>
                    <a:tab pos="6400799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</a:pPr>
                <a:r>
                  <a:rPr lang="en-US" sz="1000" b="1" i="0" u="none" strike="noStrike" cap="none" baseline="0">
                    <a:ln>
                      <a:noFill/>
                    </a:ln>
                    <a:solidFill>
                      <a:schemeClr val="bg1"/>
                    </a:solidFill>
                    <a:latin typeface="Open Sans" pitchFamily="18"/>
                    <a:ea typeface="WenQuanYi Zen Hei Sharp" pitchFamily="2"/>
                    <a:cs typeface="WenQuanYi Zen Hei Sharp" pitchFamily="2"/>
                  </a:rPr>
                  <a:t>NETWORKING</a:t>
                </a:r>
              </a:p>
            </p:txBody>
          </p:sp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05496E46-917A-2ACB-96FA-7C4B21C927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7639200" y="4846680"/>
                <a:ext cx="653760" cy="6541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557A27A2-6881-02DF-072A-E9620C9E2447}"/>
                  </a:ext>
                </a:extLst>
              </p:cNvPr>
              <p:cNvSpPr/>
              <p:nvPr/>
            </p:nvSpPr>
            <p:spPr>
              <a:xfrm>
                <a:off x="4975200" y="5419800"/>
                <a:ext cx="1359000" cy="244767"/>
              </a:xfrm>
              <a:custGeom>
                <a:avLst/>
                <a:gdLst>
                  <a:gd name="f0" fmla="val w"/>
                  <a:gd name="f1" fmla="val h"/>
                  <a:gd name="f2" fmla="val 0"/>
                  <a:gd name="f3" fmla="val 675"/>
                  <a:gd name="f4" fmla="val 3779"/>
                  <a:gd name="f5" fmla="*/ f0 1 0"/>
                  <a:gd name="f6" fmla="*/ f1 1 0"/>
                  <a:gd name="f7" fmla="*/ 0 f5 1"/>
                  <a:gd name="f8" fmla="*/ f4 f5 1"/>
                  <a:gd name="f9" fmla="*/ f3 f6 1"/>
                  <a:gd name="f10" fmla="*/ 0 f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7" t="f10" r="f8" b="f9"/>
                <a:pathLst>
                  <a:path>
                    <a:moveTo>
                      <a:pt x="f2" y="f2"/>
                    </a:moveTo>
                    <a:lnTo>
                      <a:pt x="f4" y="f2"/>
                    </a:lnTo>
                    <a:lnTo>
                      <a:pt x="f4" y="f3"/>
                    </a:lnTo>
                    <a:lnTo>
                      <a:pt x="f2" y="f3"/>
                    </a:lnTo>
                    <a:close/>
                  </a:path>
                </a:pathLst>
              </a:custGeom>
              <a:noFill/>
              <a:ln>
                <a:noFill/>
                <a:prstDash val="solid"/>
              </a:ln>
            </p:spPr>
            <p:txBody>
              <a:bodyPr wrap="square" lIns="90000" tIns="45000" rIns="90000" bIns="45000" anchor="t" anchorCtr="0" compatLnSpc="1">
                <a:spAutoFit/>
              </a:bodyPr>
              <a:lstStyle/>
              <a:p>
                <a:pPr marL="0" marR="0" lvl="0" indent="0" algn="ctr" rtl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0" algn="l"/>
                    <a:tab pos="457200" algn="l"/>
                    <a:tab pos="914400" algn="l"/>
                    <a:tab pos="1371599" algn="l"/>
                    <a:tab pos="1828800" algn="l"/>
                    <a:tab pos="2286000" algn="l"/>
                    <a:tab pos="2743199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399" algn="l"/>
                    <a:tab pos="5943600" algn="l"/>
                    <a:tab pos="6400799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</a:pPr>
                <a:r>
                  <a:rPr lang="en-US" sz="1000" b="1" i="0" u="none" strike="noStrike" cap="none" baseline="0">
                    <a:ln>
                      <a:noFill/>
                    </a:ln>
                    <a:solidFill>
                      <a:schemeClr val="bg1"/>
                    </a:solidFill>
                    <a:latin typeface="Open Sans" pitchFamily="18"/>
                    <a:ea typeface="WenQuanYi Zen Hei Sharp" pitchFamily="2"/>
                    <a:cs typeface="WenQuanYi Zen Hei Sharp" pitchFamily="2"/>
                  </a:rPr>
                  <a:t>PLUGINS</a:t>
                </a:r>
              </a:p>
            </p:txBody>
          </p:sp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9ECCFBEA-3C34-4359-F996-5159FA948F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5299200" y="3608280"/>
                <a:ext cx="691920" cy="64476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8B449A32-5B00-8077-BFF7-C9ADD7276B0A}"/>
                  </a:ext>
                </a:extLst>
              </p:cNvPr>
              <p:cNvSpPr/>
              <p:nvPr/>
            </p:nvSpPr>
            <p:spPr>
              <a:xfrm>
                <a:off x="5110200" y="4294080"/>
                <a:ext cx="1066680" cy="244767"/>
              </a:xfrm>
              <a:custGeom>
                <a:avLst/>
                <a:gdLst>
                  <a:gd name="f0" fmla="val w"/>
                  <a:gd name="f1" fmla="val h"/>
                  <a:gd name="f2" fmla="val 0"/>
                  <a:gd name="f3" fmla="val 675"/>
                  <a:gd name="f4" fmla="val 2967"/>
                  <a:gd name="f5" fmla="*/ f0 1 0"/>
                  <a:gd name="f6" fmla="*/ f1 1 0"/>
                  <a:gd name="f7" fmla="*/ 0 f5 1"/>
                  <a:gd name="f8" fmla="*/ f4 f5 1"/>
                  <a:gd name="f9" fmla="*/ f3 f6 1"/>
                  <a:gd name="f10" fmla="*/ 0 f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7" t="f10" r="f8" b="f9"/>
                <a:pathLst>
                  <a:path>
                    <a:moveTo>
                      <a:pt x="f2" y="f2"/>
                    </a:moveTo>
                    <a:lnTo>
                      <a:pt x="f4" y="f2"/>
                    </a:lnTo>
                    <a:lnTo>
                      <a:pt x="f4" y="f3"/>
                    </a:lnTo>
                    <a:lnTo>
                      <a:pt x="f2" y="f3"/>
                    </a:lnTo>
                    <a:close/>
                  </a:path>
                </a:pathLst>
              </a:custGeom>
              <a:noFill/>
              <a:ln>
                <a:noFill/>
                <a:prstDash val="solid"/>
              </a:ln>
            </p:spPr>
            <p:txBody>
              <a:bodyPr wrap="square" lIns="90000" tIns="45000" rIns="90000" bIns="45000" anchor="t" anchorCtr="0" compatLnSpc="1">
                <a:spAutoFit/>
              </a:bodyPr>
              <a:lstStyle/>
              <a:p>
                <a:pPr marL="0" marR="0" lvl="0" indent="0" algn="ctr" rtl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0" algn="l"/>
                    <a:tab pos="457200" algn="l"/>
                    <a:tab pos="914400" algn="l"/>
                    <a:tab pos="1371599" algn="l"/>
                    <a:tab pos="1828800" algn="l"/>
                    <a:tab pos="2286000" algn="l"/>
                    <a:tab pos="2743199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399" algn="l"/>
                    <a:tab pos="5943600" algn="l"/>
                    <a:tab pos="6400799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</a:pPr>
                <a:r>
                  <a:rPr lang="en-US" sz="1000" b="1" i="0" u="none" strike="noStrike" cap="none" baseline="0">
                    <a:ln>
                      <a:noFill/>
                    </a:ln>
                    <a:solidFill>
                      <a:schemeClr val="bg1"/>
                    </a:solidFill>
                    <a:latin typeface="Open Sans" pitchFamily="18"/>
                    <a:ea typeface="WenQuanYi Zen Hei Sharp" pitchFamily="2"/>
                    <a:cs typeface="WenQuanYi Zen Hei Sharp" pitchFamily="2"/>
                  </a:rPr>
                  <a:t>API</a:t>
                </a:r>
              </a:p>
            </p:txBody>
          </p:sp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B99A898E-0C52-EFDB-83B3-7A29AC8E97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5253120" y="4818240"/>
                <a:ext cx="820800" cy="550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A6152CC8-55C1-5783-B731-AE924AEF50C4}"/>
                  </a:ext>
                </a:extLst>
              </p:cNvPr>
              <p:cNvSpPr/>
              <p:nvPr/>
            </p:nvSpPr>
            <p:spPr>
              <a:xfrm>
                <a:off x="3338639" y="5419800"/>
                <a:ext cx="1358640" cy="244767"/>
              </a:xfrm>
              <a:custGeom>
                <a:avLst/>
                <a:gdLst>
                  <a:gd name="f0" fmla="val w"/>
                  <a:gd name="f1" fmla="val h"/>
                  <a:gd name="f2" fmla="val 0"/>
                  <a:gd name="f3" fmla="val 675"/>
                  <a:gd name="f4" fmla="val 3779"/>
                  <a:gd name="f5" fmla="*/ f0 1 0"/>
                  <a:gd name="f6" fmla="*/ f1 1 0"/>
                  <a:gd name="f7" fmla="*/ 0 f5 1"/>
                  <a:gd name="f8" fmla="*/ f4 f5 1"/>
                  <a:gd name="f9" fmla="*/ f3 f6 1"/>
                  <a:gd name="f10" fmla="*/ 0 f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7" t="f10" r="f8" b="f9"/>
                <a:pathLst>
                  <a:path>
                    <a:moveTo>
                      <a:pt x="f2" y="f2"/>
                    </a:moveTo>
                    <a:lnTo>
                      <a:pt x="f4" y="f2"/>
                    </a:lnTo>
                    <a:lnTo>
                      <a:pt x="f4" y="f3"/>
                    </a:lnTo>
                    <a:lnTo>
                      <a:pt x="f2" y="f3"/>
                    </a:lnTo>
                    <a:close/>
                  </a:path>
                </a:pathLst>
              </a:custGeom>
              <a:noFill/>
              <a:ln>
                <a:noFill/>
                <a:prstDash val="solid"/>
              </a:ln>
            </p:spPr>
            <p:txBody>
              <a:bodyPr wrap="square" lIns="90000" tIns="45000" rIns="90000" bIns="45000" anchor="t" anchorCtr="0" compatLnSpc="1">
                <a:spAutoFit/>
              </a:bodyPr>
              <a:lstStyle/>
              <a:p>
                <a:pPr marL="0" marR="0" lvl="0" indent="0" algn="ctr" rtl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0" algn="l"/>
                    <a:tab pos="457200" algn="l"/>
                    <a:tab pos="914400" algn="l"/>
                    <a:tab pos="1371599" algn="l"/>
                    <a:tab pos="1828800" algn="l"/>
                    <a:tab pos="2286000" algn="l"/>
                    <a:tab pos="2743199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399" algn="l"/>
                    <a:tab pos="5943600" algn="l"/>
                    <a:tab pos="6400799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</a:pPr>
                <a:r>
                  <a:rPr lang="en-US" sz="1000" b="1" i="0" u="none" strike="noStrike" cap="none" baseline="0">
                    <a:ln>
                      <a:noFill/>
                    </a:ln>
                    <a:solidFill>
                      <a:schemeClr val="bg1"/>
                    </a:solidFill>
                    <a:latin typeface="Open Sans" pitchFamily="18"/>
                    <a:ea typeface="WenQuanYi Zen Hei Sharp" pitchFamily="2"/>
                    <a:cs typeface="WenQuanYi Zen Hei Sharp" pitchFamily="2"/>
                  </a:rPr>
                  <a:t>MODULES</a:t>
                </a:r>
              </a:p>
            </p:txBody>
          </p:sp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0116206C-6697-8B1B-C19E-D23B27AC96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3767040" y="4842000"/>
                <a:ext cx="534960" cy="53316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28FC252-7168-1C85-F3CB-7B7D3C05F05A}"/>
                </a:ext>
              </a:extLst>
            </p:cNvPr>
            <p:cNvSpPr/>
            <p:nvPr/>
          </p:nvSpPr>
          <p:spPr>
            <a:xfrm>
              <a:off x="239760" y="1023840"/>
              <a:ext cx="8642160" cy="529452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4713"/>
                <a:gd name="f4" fmla="val 24010"/>
                <a:gd name="f5" fmla="*/ f0 1 0"/>
                <a:gd name="f6" fmla="*/ f1 1 0"/>
                <a:gd name="f7" fmla="*/ 0 f5 1"/>
                <a:gd name="f8" fmla="*/ f4 f5 1"/>
                <a:gd name="f9" fmla="*/ f3 f6 1"/>
                <a:gd name="f10" fmla="*/ 0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7" t="f10" r="f8" b="f9"/>
              <a:pathLst>
                <a:path>
                  <a:moveTo>
                    <a:pt x="f2" y="f2"/>
                  </a:moveTo>
                  <a:lnTo>
                    <a:pt x="f4" y="f2"/>
                  </a:lnTo>
                  <a:lnTo>
                    <a:pt x="f4" y="f3"/>
                  </a:lnTo>
                  <a:lnTo>
                    <a:pt x="f2" y="f3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  <a:prstDash val="solid"/>
            </a:ln>
          </p:spPr>
          <p:txBody>
            <a:bodyPr wrap="none" lIns="90000" tIns="46800" rIns="90000" bIns="46800" anchor="ctr" anchorCtr="0" compatLnSpc="1">
              <a:noAutofit/>
            </a:bodyPr>
            <a:lstStyle/>
            <a:p>
              <a:pPr marL="0" marR="0" lvl="0" indent="0" algn="l" hangingPunct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fr-FR" sz="18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81CE89F-4110-D91B-1A31-ECE384C632D0}"/>
                </a:ext>
              </a:extLst>
            </p:cNvPr>
            <p:cNvSpPr/>
            <p:nvPr/>
          </p:nvSpPr>
          <p:spPr>
            <a:xfrm>
              <a:off x="3359160" y="4287960"/>
              <a:ext cx="1359000" cy="2447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675"/>
                <a:gd name="f4" fmla="val 3779"/>
                <a:gd name="f5" fmla="*/ f0 1 0"/>
                <a:gd name="f6" fmla="*/ f1 1 0"/>
                <a:gd name="f7" fmla="*/ 0 f5 1"/>
                <a:gd name="f8" fmla="*/ f4 f5 1"/>
                <a:gd name="f9" fmla="*/ f3 f6 1"/>
                <a:gd name="f10" fmla="*/ 0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7" t="f10" r="f8" b="f9"/>
              <a:pathLst>
                <a:path>
                  <a:moveTo>
                    <a:pt x="f2" y="f2"/>
                  </a:moveTo>
                  <a:lnTo>
                    <a:pt x="f4" y="f2"/>
                  </a:lnTo>
                  <a:lnTo>
                    <a:pt x="f4" y="f3"/>
                  </a:lnTo>
                  <a:lnTo>
                    <a:pt x="f2" y="f3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square" lIns="90000" tIns="45000" rIns="90000" bIns="45000" anchor="t" anchorCtr="0" compatLnSpc="1">
              <a:sp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1000" b="1" i="0" u="none" strike="noStrike" cap="none" baseline="0">
                  <a:ln>
                    <a:noFill/>
                  </a:ln>
                  <a:solidFill>
                    <a:schemeClr val="bg1"/>
                  </a:solidFill>
                  <a:latin typeface="Open Sans" pitchFamily="18"/>
                  <a:ea typeface="WenQuanYi Zen Hei Sharp" pitchFamily="2"/>
                  <a:cs typeface="WenQuanYi Zen Hei Sharp" pitchFamily="2"/>
                </a:rPr>
                <a:t>INVENTORY</a:t>
              </a: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30292920-DC5A-50EC-74C6-267F29096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lum/>
              <a:alphaModFix/>
            </a:blip>
            <a:srcRect/>
            <a:stretch>
              <a:fillRect/>
            </a:stretch>
          </p:blipFill>
          <p:spPr>
            <a:xfrm>
              <a:off x="3718080" y="3586320"/>
              <a:ext cx="614160" cy="65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AE3100C-1A46-6721-2FBA-63B25E3F22B1}"/>
                </a:ext>
              </a:extLst>
            </p:cNvPr>
            <p:cNvSpPr/>
            <p:nvPr/>
          </p:nvSpPr>
          <p:spPr>
            <a:xfrm>
              <a:off x="4471920" y="1198440"/>
              <a:ext cx="4356000" cy="2121120"/>
            </a:xfrm>
            <a:custGeom>
              <a:avLst>
                <a:gd name="f10" fmla="val -48365"/>
                <a:gd name="f11" fmla="val 72180"/>
              </a:avLst>
              <a:gdLst>
                <a:gd name="f2" fmla="val w"/>
                <a:gd name="f3" fmla="val h"/>
                <a:gd name="f4" fmla="val 0"/>
                <a:gd name="f5" fmla="+- 0 0 31072"/>
                <a:gd name="f6" fmla="*/ 12104 1 2"/>
                <a:gd name="f7" fmla="*/ 5898 1 2"/>
                <a:gd name="f8" fmla="val 5898"/>
                <a:gd name="f9" fmla="val 12104"/>
                <a:gd name="f10" fmla="val -48365"/>
                <a:gd name="f11" fmla="val 72180"/>
                <a:gd name="f12" fmla="val -2147483647"/>
                <a:gd name="f13" fmla="val 2147483647"/>
                <a:gd name="f14" fmla="*/ f2 1 0"/>
                <a:gd name="f15" fmla="*/ f3 1 0"/>
                <a:gd name="f16" fmla="*/ 12104 f10 1"/>
                <a:gd name="f17" fmla="*/ 5898 f11 1"/>
                <a:gd name="f18" fmla="*/ f16 1 f5"/>
                <a:gd name="f19" fmla="*/ f17 1 f5"/>
                <a:gd name="f20" fmla="*/ 0 f14 1"/>
                <a:gd name="f21" fmla="*/ f9 f14 1"/>
                <a:gd name="f22" fmla="*/ f8 f15 1"/>
                <a:gd name="f23" fmla="*/ 0 f15 1"/>
                <a:gd name="f24" fmla="+- f6 f18 0"/>
                <a:gd name="f25" fmla="+- f7 f19 0"/>
                <a:gd name="f26" fmla="*/ f18 5898 1"/>
                <a:gd name="f27" fmla="abs f19"/>
                <a:gd name="f28" fmla="?: f18 7 2"/>
                <a:gd name="f29" fmla="?: f18 10 5"/>
                <a:gd name="f30" fmla="?: f19 7 2"/>
                <a:gd name="f31" fmla="?: f19 10 5"/>
                <a:gd name="f32" fmla="*/ f19 f14 1"/>
                <a:gd name="f33" fmla="val f24"/>
                <a:gd name="f34" fmla="val f25"/>
                <a:gd name="f35" fmla="*/ f26 1 12104"/>
                <a:gd name="f36" fmla="*/ 12104 f28 1"/>
                <a:gd name="f37" fmla="*/ 12104 f29 1"/>
                <a:gd name="f38" fmla="*/ 5898 f30 1"/>
                <a:gd name="f39" fmla="*/ 5898 f31 1"/>
                <a:gd name="f40" fmla="*/ f24 f15 1"/>
                <a:gd name="f41" fmla="abs f35"/>
                <a:gd name="f42" fmla="*/ f36 1 12"/>
                <a:gd name="f43" fmla="*/ f37 1 12"/>
                <a:gd name="f44" fmla="*/ f38 1 12"/>
                <a:gd name="f45" fmla="*/ f39 1 12"/>
                <a:gd name="f46" fmla="?: f18 0 f33"/>
                <a:gd name="f47" fmla="?: f18 f33 12104"/>
                <a:gd name="f48" fmla="?: f19 0 f34"/>
                <a:gd name="f49" fmla="?: f19 f34 5898"/>
                <a:gd name="f50" fmla="+- f27 0 f41"/>
                <a:gd name="f51" fmla="?: f19 f42 f33"/>
                <a:gd name="f52" fmla="?: f19 f33 f42"/>
                <a:gd name="f53" fmla="?: f18 f44 f34"/>
                <a:gd name="f54" fmla="?: f18 f34 f44"/>
                <a:gd name="f55" fmla="?: f50 0 f46"/>
                <a:gd name="f56" fmla="?: f50 f51 f42"/>
                <a:gd name="f57" fmla="?: f50 12104 f47"/>
                <a:gd name="f58" fmla="?: f50 f52 f42"/>
                <a:gd name="f59" fmla="?: f50 f44 f53"/>
                <a:gd name="f60" fmla="?: f50 f48 0"/>
                <a:gd name="f61" fmla="?: f50 f44 f54"/>
                <a:gd name="f62" fmla="?: f50 f49 5898"/>
              </a:gdLst>
              <a:ahLst>
                <a:ahXY>
                  <a:pos x="f32" y="f40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0" t="f23" r="f21" b="f22"/>
              <a:pathLst>
                <a:path>
                  <a:moveTo>
                    <a:pt x="f4" y="f4"/>
                  </a:moveTo>
                  <a:lnTo>
                    <a:pt x="f42" y="f4"/>
                  </a:lnTo>
                  <a:lnTo>
                    <a:pt x="f56" y="f60"/>
                  </a:lnTo>
                  <a:lnTo>
                    <a:pt x="f43" y="f4"/>
                  </a:lnTo>
                  <a:lnTo>
                    <a:pt x="f9" y="f4"/>
                  </a:lnTo>
                  <a:lnTo>
                    <a:pt x="f9" y="f44"/>
                  </a:lnTo>
                  <a:lnTo>
                    <a:pt x="f57" y="f61"/>
                  </a:lnTo>
                  <a:lnTo>
                    <a:pt x="f9" y="f45"/>
                  </a:lnTo>
                  <a:lnTo>
                    <a:pt x="f9" y="f8"/>
                  </a:lnTo>
                  <a:lnTo>
                    <a:pt x="f43" y="f8"/>
                  </a:lnTo>
                  <a:lnTo>
                    <a:pt x="f58" y="f62"/>
                  </a:lnTo>
                  <a:lnTo>
                    <a:pt x="f42" y="f8"/>
                  </a:lnTo>
                  <a:lnTo>
                    <a:pt x="f4" y="f8"/>
                  </a:lnTo>
                  <a:lnTo>
                    <a:pt x="f4" y="f45"/>
                  </a:lnTo>
                  <a:lnTo>
                    <a:pt x="f55" y="f59"/>
                  </a:lnTo>
                  <a:lnTo>
                    <a:pt x="f4" y="f44"/>
                  </a:lnTo>
                  <a:close/>
                </a:path>
              </a:pathLst>
            </a:custGeom>
            <a:solidFill>
              <a:srgbClr val="D7D7D7"/>
            </a:solidFill>
            <a:ln w="9360">
              <a:solidFill>
                <a:srgbClr val="C6C8CD"/>
              </a:solidFill>
              <a:prstDash val="solid"/>
              <a:round/>
            </a:ln>
            <a:effectLst>
              <a:outerShdw dist="23040" dir="5400000" algn="tl">
                <a:srgbClr val="000000">
                  <a:alpha val="35000"/>
                </a:srgbClr>
              </a:outerShdw>
            </a:effectLst>
          </p:spPr>
          <p:txBody>
            <a:bodyPr wrap="none" lIns="90000" tIns="46800" rIns="90000" bIns="46800" anchor="ctr" anchorCtr="0" compatLnSpc="1">
              <a:noAutofit/>
            </a:bodyPr>
            <a:lstStyle/>
            <a:p>
              <a:pPr marL="0" marR="0" lvl="0" indent="0" algn="l" hangingPunct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fr-FR" sz="18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E2CF470D-4C62-A7F2-8CD9-1F1FFA2ABE2B}"/>
                </a:ext>
              </a:extLst>
            </p:cNvPr>
            <p:cNvSpPr/>
            <p:nvPr/>
          </p:nvSpPr>
          <p:spPr>
            <a:xfrm>
              <a:off x="4810487" y="984433"/>
              <a:ext cx="3782879" cy="166182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4056"/>
                <a:gd name="f4" fmla="val 10512"/>
                <a:gd name="f5" fmla="*/ f0 1 0"/>
                <a:gd name="f6" fmla="*/ f1 1 0"/>
                <a:gd name="f7" fmla="*/ 0 f5 1"/>
                <a:gd name="f8" fmla="*/ f4 f5 1"/>
                <a:gd name="f9" fmla="*/ f3 f6 1"/>
                <a:gd name="f10" fmla="*/ 0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7" t="f10" r="f8" b="f9"/>
              <a:pathLst>
                <a:path>
                  <a:moveTo>
                    <a:pt x="f2" y="f2"/>
                  </a:moveTo>
                  <a:lnTo>
                    <a:pt x="f4" y="f2"/>
                  </a:lnTo>
                  <a:lnTo>
                    <a:pt x="f4" y="f3"/>
                  </a:lnTo>
                  <a:lnTo>
                    <a:pt x="f2" y="f3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square" lIns="90000" tIns="45000" rIns="90000" bIns="45000" anchor="t" anchorCtr="0" compatLnSpc="1">
              <a:sp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1400" b="1" dirty="0">
                  <a:solidFill>
                    <a:schemeClr val="bg1"/>
                  </a:solidFill>
                  <a:latin typeface="Open Sans" pitchFamily="18"/>
                </a:rPr>
                <a:t>Inventory:</a:t>
              </a:r>
            </a:p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1200" dirty="0">
                  <a:solidFill>
                    <a:schemeClr val="bg1"/>
                  </a:solidFill>
                  <a:latin typeface="Open Sans" pitchFamily="18"/>
                </a:rPr>
                <a:t>Describe the servers/objects organization</a:t>
              </a:r>
            </a:p>
            <a:p>
              <a:pPr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1200" dirty="0">
                  <a:solidFill>
                    <a:schemeClr val="bg1"/>
                  </a:solidFill>
                  <a:latin typeface="Open Sans" pitchFamily="18"/>
                </a:rPr>
                <a:t>Can be dynamically extracted</a:t>
              </a:r>
            </a:p>
            <a:p>
              <a:pPr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en-US" sz="1200" dirty="0">
                <a:solidFill>
                  <a:schemeClr val="bg1"/>
                </a:solidFill>
                <a:latin typeface="Open Sans" pitchFamily="18"/>
              </a:endParaRPr>
            </a:p>
            <a:p>
              <a:pPr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1200" b="1" i="0" u="none" strike="noStrike" cap="none" baseline="0" dirty="0">
                  <a:ln>
                    <a:noFill/>
                  </a:ln>
                  <a:solidFill>
                    <a:schemeClr val="bg1"/>
                  </a:solidFill>
                  <a:latin typeface="Open Sans" pitchFamily="18"/>
                  <a:ea typeface="WenQuanYi Zen Hei Sharp" pitchFamily="2"/>
                  <a:cs typeface="WenQuanYi Zen Hei Sharp" pitchFamily="2"/>
                </a:rPr>
                <a:t>CLOUD:</a:t>
              </a:r>
            </a:p>
            <a:p>
              <a:pPr marL="0" marR="0" lvl="0" indent="0" algn="l" rtl="0" hangingPunct="1"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1200" b="0" i="0" u="none" strike="noStrike" cap="none" baseline="0" dirty="0">
                  <a:ln>
                    <a:noFill/>
                  </a:ln>
                  <a:solidFill>
                    <a:schemeClr val="bg1"/>
                  </a:solidFill>
                  <a:latin typeface="Open Sans" pitchFamily="18"/>
                  <a:ea typeface="WenQuanYi Zen Hei Sharp" pitchFamily="2"/>
                  <a:cs typeface="WenQuanYi Zen Hei Sharp" pitchFamily="2"/>
                </a:rPr>
                <a:t>OpenStack, VMware, EC2, Rackspace, GCE,</a:t>
              </a:r>
            </a:p>
            <a:p>
              <a:pPr marL="0" marR="0" lvl="0" indent="0" algn="l" rtl="0" hangingPunct="1"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1200" b="0" i="0" u="none" strike="noStrike" cap="none" baseline="0" dirty="0">
                  <a:ln>
                    <a:noFill/>
                  </a:ln>
                  <a:solidFill>
                    <a:schemeClr val="bg1"/>
                  </a:solidFill>
                  <a:latin typeface="Open Sans" pitchFamily="18"/>
                  <a:ea typeface="WenQuanYi Zen Hei Sharp" pitchFamily="2"/>
                  <a:cs typeface="WenQuanYi Zen Hei Sharp" pitchFamily="2"/>
                </a:rPr>
                <a:t>Azure, Spacewalk, Hanlon, Cobbler</a:t>
              </a:r>
            </a:p>
            <a:p>
              <a:pPr>
                <a:lnSpc>
                  <a:spcPct val="150000"/>
                </a:lnSpc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1200" b="1" i="0" u="none" strike="noStrike" cap="none" baseline="0" dirty="0">
                  <a:ln>
                    <a:noFill/>
                  </a:ln>
                  <a:solidFill>
                    <a:schemeClr val="bg1"/>
                  </a:solidFill>
                  <a:latin typeface="Open Sans" pitchFamily="18"/>
                  <a:ea typeface="WenQuanYi Zen Hei Sharp" pitchFamily="2"/>
                  <a:cs typeface="WenQuanYi Zen Hei Sharp" pitchFamily="2"/>
                </a:rPr>
                <a:t>CUSTOM CMDB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878D46AD-FFF5-8208-DBCF-E943ED7E0CF9}"/>
              </a:ext>
            </a:extLst>
          </p:cNvPr>
          <p:cNvSpPr txBox="1"/>
          <p:nvPr/>
        </p:nvSpPr>
        <p:spPr>
          <a:xfrm>
            <a:off x="3429000" y="4343400"/>
            <a:ext cx="1143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INVENTORY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16DBC1-9393-E385-FBC9-C790C4D71BB8}"/>
              </a:ext>
            </a:extLst>
          </p:cNvPr>
          <p:cNvSpPr txBox="1"/>
          <p:nvPr/>
        </p:nvSpPr>
        <p:spPr>
          <a:xfrm>
            <a:off x="5092020" y="4343400"/>
            <a:ext cx="1143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API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4F950D-A655-3743-175B-DBC9FD64C40D}"/>
              </a:ext>
            </a:extLst>
          </p:cNvPr>
          <p:cNvSpPr txBox="1"/>
          <p:nvPr/>
        </p:nvSpPr>
        <p:spPr>
          <a:xfrm>
            <a:off x="5092020" y="5477390"/>
            <a:ext cx="1143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PLUGINS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5C1DE67-4472-A4BB-73BB-95C69BB0ACE1}"/>
              </a:ext>
            </a:extLst>
          </p:cNvPr>
          <p:cNvSpPr txBox="1"/>
          <p:nvPr/>
        </p:nvSpPr>
        <p:spPr>
          <a:xfrm>
            <a:off x="3445741" y="5477390"/>
            <a:ext cx="1143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MODULES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04430799-90A8-A22C-2CD1-311144206D3F}"/>
              </a:ext>
            </a:extLst>
          </p:cNvPr>
          <p:cNvGrpSpPr/>
          <p:nvPr/>
        </p:nvGrpSpPr>
        <p:grpSpPr>
          <a:xfrm>
            <a:off x="3003479" y="2818171"/>
            <a:ext cx="3652561" cy="3175349"/>
            <a:chOff x="3003479" y="2818171"/>
            <a:chExt cx="3652561" cy="3175349"/>
          </a:xfrm>
        </p:grpSpPr>
        <p:sp>
          <p:nvSpPr>
            <p:cNvPr id="48" name="Flowchart: Process 47">
              <a:extLst>
                <a:ext uri="{FF2B5EF4-FFF2-40B4-BE49-F238E27FC236}">
                  <a16:creationId xmlns:a16="http://schemas.microsoft.com/office/drawing/2014/main" id="{004FF73A-BF05-5775-B2EE-8E6C381FF57A}"/>
                </a:ext>
              </a:extLst>
            </p:cNvPr>
            <p:cNvSpPr/>
            <p:nvPr/>
          </p:nvSpPr>
          <p:spPr>
            <a:xfrm>
              <a:off x="3003479" y="3289319"/>
              <a:ext cx="3652561" cy="2704201"/>
            </a:xfrm>
            <a:prstGeom prst="flowChartProcess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lowchart: Process 48">
              <a:extLst>
                <a:ext uri="{FF2B5EF4-FFF2-40B4-BE49-F238E27FC236}">
                  <a16:creationId xmlns:a16="http://schemas.microsoft.com/office/drawing/2014/main" id="{EEF378E7-42F4-A75E-8E54-D9F682BCA90B}"/>
                </a:ext>
              </a:extLst>
            </p:cNvPr>
            <p:cNvSpPr/>
            <p:nvPr/>
          </p:nvSpPr>
          <p:spPr>
            <a:xfrm>
              <a:off x="3003479" y="2818171"/>
              <a:ext cx="3652561" cy="488037"/>
            </a:xfrm>
            <a:prstGeom prst="flowChartProcess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ansible-core</a:t>
              </a:r>
            </a:p>
          </p:txBody>
        </p:sp>
      </p:grp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87F0C28-1120-369D-E0A5-68E6362E0420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HOW ANSIBLE WORKS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37B92F-019C-F1CB-4C02-6ED8A762F995}"/>
              </a:ext>
            </a:extLst>
          </p:cNvPr>
          <p:cNvSpPr txBox="1"/>
          <p:nvPr/>
        </p:nvSpPr>
        <p:spPr>
          <a:xfrm>
            <a:off x="3429000" y="4343400"/>
            <a:ext cx="1143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INVENTORY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BF28AC2-F369-8732-D5C1-2FCE55C0D9DE}"/>
              </a:ext>
            </a:extLst>
          </p:cNvPr>
          <p:cNvSpPr/>
          <p:nvPr/>
        </p:nvSpPr>
        <p:spPr>
          <a:xfrm>
            <a:off x="3216961" y="4455567"/>
            <a:ext cx="1675079" cy="1582593"/>
          </a:xfrm>
          <a:prstGeom prst="ellipse">
            <a:avLst/>
          </a:prstGeom>
          <a:solidFill>
            <a:schemeClr val="accent6">
              <a:lumMod val="75000"/>
              <a:alpha val="71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3BD108C-84AD-A403-7BFE-D7F2ED09D6EB}"/>
              </a:ext>
            </a:extLst>
          </p:cNvPr>
          <p:cNvGrpSpPr/>
          <p:nvPr/>
        </p:nvGrpSpPr>
        <p:grpSpPr>
          <a:xfrm>
            <a:off x="239760" y="1023840"/>
            <a:ext cx="8642160" cy="5294520"/>
            <a:chOff x="239760" y="1023840"/>
            <a:chExt cx="8642160" cy="5294520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F8B06C5-C050-A1EE-04E4-87346C72FE2F}"/>
                </a:ext>
              </a:extLst>
            </p:cNvPr>
            <p:cNvSpPr/>
            <p:nvPr/>
          </p:nvSpPr>
          <p:spPr>
            <a:xfrm>
              <a:off x="2971800" y="2836800"/>
              <a:ext cx="3787920" cy="312264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8681"/>
                <a:gd name="f4" fmla="val 10529"/>
                <a:gd name="f5" fmla="*/ f0 1 0"/>
                <a:gd name="f6" fmla="*/ f1 1 0"/>
                <a:gd name="f7" fmla="*/ 0 f5 1"/>
                <a:gd name="f8" fmla="*/ f4 f5 1"/>
                <a:gd name="f9" fmla="*/ f3 f6 1"/>
                <a:gd name="f10" fmla="*/ 0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7" t="f10" r="f8" b="f9"/>
              <a:pathLst>
                <a:path>
                  <a:moveTo>
                    <a:pt x="f2" y="f2"/>
                  </a:moveTo>
                  <a:lnTo>
                    <a:pt x="f4" y="f2"/>
                  </a:lnTo>
                  <a:lnTo>
                    <a:pt x="f4" y="f3"/>
                  </a:lnTo>
                  <a:lnTo>
                    <a:pt x="f2" y="f3"/>
                  </a:lnTo>
                  <a:close/>
                </a:path>
              </a:pathLst>
            </a:custGeom>
            <a:solidFill>
              <a:srgbClr val="F2F2F2"/>
            </a:solidFill>
            <a:ln w="28440">
              <a:solidFill>
                <a:srgbClr val="4CB1B2"/>
              </a:solidFill>
              <a:prstDash val="solid"/>
              <a:round/>
            </a:ln>
            <a:effectLst>
              <a:outerShdw dist="23040" dir="5400000" algn="tl">
                <a:srgbClr val="000000">
                  <a:alpha val="35000"/>
                </a:srgbClr>
              </a:outerShdw>
            </a:effectLst>
          </p:spPr>
          <p:txBody>
            <a:bodyPr wrap="none" lIns="90000" tIns="46800" rIns="90000" bIns="46800" anchor="ctr" anchorCtr="0" compatLnSpc="1">
              <a:noAutofit/>
            </a:bodyPr>
            <a:lstStyle/>
            <a:p>
              <a:pPr marL="0" marR="0" lvl="0" indent="0" algn="l" hangingPunct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fr-FR" sz="18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endParaRPr>
            </a:p>
          </p:txBody>
        </p:sp>
        <p:sp>
          <p:nvSpPr>
            <p:cNvPr id="5" name="Straight Connector 4">
              <a:extLst>
                <a:ext uri="{FF2B5EF4-FFF2-40B4-BE49-F238E27FC236}">
                  <a16:creationId xmlns:a16="http://schemas.microsoft.com/office/drawing/2014/main" id="{EEA64205-129B-7A58-BE95-A018D8A04C64}"/>
                </a:ext>
              </a:extLst>
            </p:cNvPr>
            <p:cNvSpPr/>
            <p:nvPr/>
          </p:nvSpPr>
          <p:spPr>
            <a:xfrm>
              <a:off x="7113599" y="2681280"/>
              <a:ext cx="0" cy="3465360"/>
            </a:xfrm>
            <a:prstGeom prst="line">
              <a:avLst/>
            </a:prstGeom>
            <a:noFill/>
            <a:ln w="25560">
              <a:solidFill>
                <a:srgbClr val="D9D9D9"/>
              </a:solidFill>
              <a:custDash>
                <a:ds d="800000" sp="300000"/>
              </a:custDash>
              <a:round/>
            </a:ln>
            <a:effectLst>
              <a:outerShdw dist="20160" dir="5400000" algn="tl">
                <a:srgbClr val="000000">
                  <a:alpha val="38000"/>
                </a:srgbClr>
              </a:outerShdw>
            </a:effectLst>
          </p:spPr>
          <p:txBody>
            <a:bodyPr wrap="square" lIns="90000" tIns="46800" rIns="90000" bIns="46800" anchor="t" anchorCtr="0" compatLnSpc="1">
              <a:noAutofit/>
            </a:bodyPr>
            <a:lstStyle/>
            <a:p>
              <a:pPr marL="0" marR="0" lvl="0" indent="0" algn="l" hangingPunct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fr-FR" sz="18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4DBA873-69C5-F394-76D4-C9421F9F26AD}"/>
                </a:ext>
              </a:extLst>
            </p:cNvPr>
            <p:cNvGrpSpPr/>
            <p:nvPr/>
          </p:nvGrpSpPr>
          <p:grpSpPr>
            <a:xfrm>
              <a:off x="1274760" y="1344600"/>
              <a:ext cx="1728719" cy="1022400"/>
              <a:chOff x="1274760" y="1344600"/>
              <a:chExt cx="1728719" cy="1022400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7FD6E210-B87A-EB72-5EF2-0B93A7A758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1385999" y="1344600"/>
                <a:ext cx="1595160" cy="1022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0F3A75BD-9848-2CCA-7915-B143CE6571A4}"/>
                  </a:ext>
                </a:extLst>
              </p:cNvPr>
              <p:cNvSpPr/>
              <p:nvPr/>
            </p:nvSpPr>
            <p:spPr>
              <a:xfrm>
                <a:off x="1274760" y="1727280"/>
                <a:ext cx="1728719" cy="398655"/>
              </a:xfrm>
              <a:custGeom>
                <a:avLst/>
                <a:gdLst>
                  <a:gd name="f0" fmla="val w"/>
                  <a:gd name="f1" fmla="val h"/>
                  <a:gd name="f2" fmla="val 0"/>
                  <a:gd name="f3" fmla="val 1096"/>
                  <a:gd name="f4" fmla="val 4807"/>
                  <a:gd name="f5" fmla="*/ f0 1 0"/>
                  <a:gd name="f6" fmla="*/ f1 1 0"/>
                  <a:gd name="f7" fmla="*/ 0 f5 1"/>
                  <a:gd name="f8" fmla="*/ f4 f5 1"/>
                  <a:gd name="f9" fmla="*/ f3 f6 1"/>
                  <a:gd name="f10" fmla="*/ 0 f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7" t="f10" r="f8" b="f9"/>
                <a:pathLst>
                  <a:path>
                    <a:moveTo>
                      <a:pt x="f2" y="f2"/>
                    </a:moveTo>
                    <a:lnTo>
                      <a:pt x="f4" y="f2"/>
                    </a:lnTo>
                    <a:lnTo>
                      <a:pt x="f4" y="f3"/>
                    </a:lnTo>
                    <a:lnTo>
                      <a:pt x="f2" y="f3"/>
                    </a:lnTo>
                    <a:close/>
                  </a:path>
                </a:pathLst>
              </a:custGeom>
              <a:noFill/>
              <a:ln>
                <a:noFill/>
                <a:prstDash val="solid"/>
              </a:ln>
            </p:spPr>
            <p:txBody>
              <a:bodyPr wrap="square" lIns="90000" tIns="45000" rIns="90000" bIns="45000" anchor="t" anchorCtr="0" compatLnSpc="1">
                <a:spAutoFit/>
              </a:bodyPr>
              <a:lstStyle/>
              <a:p>
                <a:pPr marL="0" marR="0" lvl="0" indent="0" algn="ctr" rtl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0" algn="l"/>
                    <a:tab pos="457200" algn="l"/>
                    <a:tab pos="914400" algn="l"/>
                    <a:tab pos="1371599" algn="l"/>
                    <a:tab pos="1828800" algn="l"/>
                    <a:tab pos="2286000" algn="l"/>
                    <a:tab pos="2743199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399" algn="l"/>
                    <a:tab pos="5943600" algn="l"/>
                    <a:tab pos="6400799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</a:pPr>
                <a:r>
                  <a:rPr lang="en-US" sz="1000" b="1" i="0" u="none" strike="noStrike" cap="none" baseline="0">
                    <a:ln>
                      <a:noFill/>
                    </a:ln>
                    <a:solidFill>
                      <a:schemeClr val="bg1"/>
                    </a:solidFill>
                    <a:latin typeface="Open Sans" pitchFamily="18"/>
                    <a:ea typeface="WenQuanYi Zen Hei Sharp" pitchFamily="2"/>
                    <a:cs typeface="WenQuanYi Zen Hei Sharp" pitchFamily="2"/>
                  </a:rPr>
                  <a:t>PUBLIC / PRIVATE</a:t>
                </a:r>
                <a:br>
                  <a:rPr lang="en-US" sz="1000" b="1" i="0" u="none" strike="noStrike" cap="none" baseline="0">
                    <a:ln>
                      <a:noFill/>
                    </a:ln>
                    <a:solidFill>
                      <a:schemeClr val="bg1"/>
                    </a:solidFill>
                    <a:latin typeface="Open Sans" pitchFamily="18"/>
                    <a:ea typeface="WenQuanYi Zen Hei Sharp" pitchFamily="2"/>
                    <a:cs typeface="WenQuanYi Zen Hei Sharp" pitchFamily="2"/>
                  </a:rPr>
                </a:br>
                <a:r>
                  <a:rPr lang="en-US" sz="1000" b="1" i="0" u="none" strike="noStrike" cap="none" baseline="0">
                    <a:ln>
                      <a:noFill/>
                    </a:ln>
                    <a:solidFill>
                      <a:schemeClr val="bg1"/>
                    </a:solidFill>
                    <a:latin typeface="Open Sans" pitchFamily="18"/>
                    <a:ea typeface="WenQuanYi Zen Hei Sharp" pitchFamily="2"/>
                    <a:cs typeface="WenQuanYi Zen Hei Sharp" pitchFamily="2"/>
                  </a:rPr>
                  <a:t>CLOUD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8DD4D50-4829-10EE-D2C3-E4324AC698EF}"/>
                </a:ext>
              </a:extLst>
            </p:cNvPr>
            <p:cNvGrpSpPr/>
            <p:nvPr/>
          </p:nvGrpSpPr>
          <p:grpSpPr>
            <a:xfrm>
              <a:off x="3251159" y="1346040"/>
              <a:ext cx="993960" cy="852480"/>
              <a:chOff x="3251159" y="1346040"/>
              <a:chExt cx="993960" cy="852480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37BD22D8-DF33-C06A-2BAC-4F504F71D1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3251159" y="1346040"/>
                <a:ext cx="993960" cy="85248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7DE783F4-FBAB-3BA8-E493-B61310868312}"/>
                  </a:ext>
                </a:extLst>
              </p:cNvPr>
              <p:cNvSpPr/>
              <p:nvPr/>
            </p:nvSpPr>
            <p:spPr>
              <a:xfrm>
                <a:off x="3306600" y="1401840"/>
                <a:ext cx="881280" cy="260156"/>
              </a:xfrm>
              <a:custGeom>
                <a:avLst/>
                <a:gdLst>
                  <a:gd name="f0" fmla="val w"/>
                  <a:gd name="f1" fmla="val h"/>
                  <a:gd name="f2" fmla="val 0"/>
                  <a:gd name="f3" fmla="val 696"/>
                  <a:gd name="f4" fmla="val 2451"/>
                  <a:gd name="f5" fmla="*/ f0 1 0"/>
                  <a:gd name="f6" fmla="*/ f1 1 0"/>
                  <a:gd name="f7" fmla="*/ 0 f5 1"/>
                  <a:gd name="f8" fmla="*/ f4 f5 1"/>
                  <a:gd name="f9" fmla="*/ f3 f6 1"/>
                  <a:gd name="f10" fmla="*/ 0 f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7" t="f10" r="f8" b="f9"/>
                <a:pathLst>
                  <a:path>
                    <a:moveTo>
                      <a:pt x="f2" y="f2"/>
                    </a:moveTo>
                    <a:lnTo>
                      <a:pt x="f4" y="f2"/>
                    </a:lnTo>
                    <a:lnTo>
                      <a:pt x="f4" y="f3"/>
                    </a:lnTo>
                    <a:lnTo>
                      <a:pt x="f2" y="f3"/>
                    </a:lnTo>
                    <a:close/>
                  </a:path>
                </a:pathLst>
              </a:custGeom>
              <a:noFill/>
              <a:ln>
                <a:noFill/>
                <a:prstDash val="solid"/>
              </a:ln>
            </p:spPr>
            <p:txBody>
              <a:bodyPr wrap="square" lIns="90000" tIns="45000" rIns="90000" bIns="45000" anchor="t" anchorCtr="0" compatLnSpc="1">
                <a:spAutoFit/>
              </a:bodyPr>
              <a:lstStyle/>
              <a:p>
                <a:pPr marL="0" marR="0" lvl="0" indent="0" algn="ctr" rtl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0" algn="l"/>
                    <a:tab pos="457200" algn="l"/>
                    <a:tab pos="914400" algn="l"/>
                    <a:tab pos="1371599" algn="l"/>
                    <a:tab pos="1828800" algn="l"/>
                    <a:tab pos="2286000" algn="l"/>
                    <a:tab pos="2743199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399" algn="l"/>
                    <a:tab pos="5943600" algn="l"/>
                    <a:tab pos="6400799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</a:pPr>
                <a:r>
                  <a:rPr lang="en-US" sz="1100" b="1" i="0" u="none" strike="noStrike" cap="none" baseline="0">
                    <a:ln>
                      <a:noFill/>
                    </a:ln>
                    <a:solidFill>
                      <a:schemeClr val="bg1"/>
                    </a:solidFill>
                    <a:latin typeface="Open Sans" pitchFamily="18"/>
                    <a:ea typeface="WenQuanYi Zen Hei Sharp" pitchFamily="2"/>
                    <a:cs typeface="WenQuanYi Zen Hei Sharp" pitchFamily="2"/>
                  </a:rPr>
                  <a:t>CMDB</a:t>
                </a:r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6DB9E7C-4025-4C8E-170D-BCFC53958A12}"/>
                </a:ext>
              </a:extLst>
            </p:cNvPr>
            <p:cNvCxnSpPr/>
            <p:nvPr/>
          </p:nvCxnSpPr>
          <p:spPr>
            <a:xfrm flipV="1">
              <a:off x="1769760" y="5222520"/>
              <a:ext cx="1089360" cy="8280"/>
            </a:xfrm>
            <a:prstGeom prst="straightConnector1">
              <a:avLst/>
            </a:prstGeom>
            <a:noFill/>
            <a:ln w="28440">
              <a:solidFill>
                <a:srgbClr val="4CB1B2"/>
              </a:solidFill>
              <a:prstDash val="solid"/>
              <a:round/>
              <a:tailEnd type="arrow"/>
            </a:ln>
          </p:spPr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A268FFE-0F9E-890D-AAE5-BF2EC336E23A}"/>
                </a:ext>
              </a:extLst>
            </p:cNvPr>
            <p:cNvCxnSpPr/>
            <p:nvPr/>
          </p:nvCxnSpPr>
          <p:spPr>
            <a:xfrm>
              <a:off x="6814800" y="3858840"/>
              <a:ext cx="695160" cy="719"/>
            </a:xfrm>
            <a:prstGeom prst="straightConnector1">
              <a:avLst/>
            </a:prstGeom>
            <a:noFill/>
            <a:ln w="28440">
              <a:solidFill>
                <a:srgbClr val="4CB1B2"/>
              </a:solidFill>
              <a:prstDash val="solid"/>
              <a:round/>
              <a:tailEnd type="arrow"/>
            </a:ln>
          </p:spPr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B481164-6F06-580B-84F5-2C1121F0CBC7}"/>
                </a:ext>
              </a:extLst>
            </p:cNvPr>
            <p:cNvCxnSpPr/>
            <p:nvPr/>
          </p:nvCxnSpPr>
          <p:spPr>
            <a:xfrm>
              <a:off x="1417680" y="4377960"/>
              <a:ext cx="1441800" cy="720"/>
            </a:xfrm>
            <a:prstGeom prst="straightConnector1">
              <a:avLst/>
            </a:prstGeom>
            <a:noFill/>
            <a:ln w="28440">
              <a:solidFill>
                <a:srgbClr val="4CB1B2"/>
              </a:solidFill>
              <a:prstDash val="solid"/>
              <a:round/>
              <a:tailEnd type="arrow"/>
            </a:ln>
          </p:spPr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130BC95-A747-31C6-25AF-3978AF51BBD6}"/>
                </a:ext>
              </a:extLst>
            </p:cNvPr>
            <p:cNvCxnSpPr/>
            <p:nvPr/>
          </p:nvCxnSpPr>
          <p:spPr>
            <a:xfrm>
              <a:off x="1285560" y="4092480"/>
              <a:ext cx="720" cy="494279"/>
            </a:xfrm>
            <a:prstGeom prst="straightConnector1">
              <a:avLst/>
            </a:prstGeom>
            <a:noFill/>
            <a:ln w="28440">
              <a:solidFill>
                <a:srgbClr val="4CB1B2"/>
              </a:solidFill>
              <a:prstDash val="solid"/>
              <a:round/>
              <a:tailEnd type="arrow"/>
            </a:ln>
          </p:spPr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36D7714-29F0-65C1-6CD0-8BE501A95C6D}"/>
                </a:ext>
              </a:extLst>
            </p:cNvPr>
            <p:cNvCxnSpPr/>
            <p:nvPr/>
          </p:nvCxnSpPr>
          <p:spPr>
            <a:xfrm>
              <a:off x="1422000" y="4098960"/>
              <a:ext cx="719" cy="286200"/>
            </a:xfrm>
            <a:prstGeom prst="straightConnector1">
              <a:avLst/>
            </a:prstGeom>
            <a:noFill/>
            <a:ln w="28440">
              <a:solidFill>
                <a:srgbClr val="4CB1B2"/>
              </a:solidFill>
              <a:prstDash val="solid"/>
              <a:round/>
            </a:ln>
          </p:spPr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6DBF810-4C1E-6897-7DCD-9AF4D7CD739C}"/>
                </a:ext>
              </a:extLst>
            </p:cNvPr>
            <p:cNvCxnSpPr/>
            <p:nvPr/>
          </p:nvCxnSpPr>
          <p:spPr>
            <a:xfrm flipV="1">
              <a:off x="2271240" y="3963600"/>
              <a:ext cx="590760" cy="6840"/>
            </a:xfrm>
            <a:prstGeom prst="straightConnector1">
              <a:avLst/>
            </a:prstGeom>
            <a:noFill/>
            <a:ln w="28440">
              <a:solidFill>
                <a:srgbClr val="4CB1B2"/>
              </a:solidFill>
              <a:prstDash val="solid"/>
              <a:round/>
              <a:tailEnd type="arrow"/>
            </a:ln>
          </p:spPr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2AF1A98-860F-E794-246F-4FCEB8E327BD}"/>
                </a:ext>
              </a:extLst>
            </p:cNvPr>
            <p:cNvCxnSpPr/>
            <p:nvPr/>
          </p:nvCxnSpPr>
          <p:spPr>
            <a:xfrm>
              <a:off x="2279160" y="2390760"/>
              <a:ext cx="720" cy="1589400"/>
            </a:xfrm>
            <a:prstGeom prst="straightConnector1">
              <a:avLst/>
            </a:prstGeom>
            <a:noFill/>
            <a:ln w="28440">
              <a:solidFill>
                <a:srgbClr val="4CB1B2"/>
              </a:solidFill>
              <a:prstDash val="solid"/>
              <a:round/>
            </a:ln>
          </p:spPr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21106D3-FCCD-2A8D-A6CE-BBAE0DC353A5}"/>
                </a:ext>
              </a:extLst>
            </p:cNvPr>
            <p:cNvCxnSpPr/>
            <p:nvPr/>
          </p:nvCxnSpPr>
          <p:spPr>
            <a:xfrm>
              <a:off x="2582640" y="3549240"/>
              <a:ext cx="276480" cy="720"/>
            </a:xfrm>
            <a:prstGeom prst="straightConnector1">
              <a:avLst/>
            </a:prstGeom>
            <a:noFill/>
            <a:ln w="28440">
              <a:solidFill>
                <a:srgbClr val="4CB1B2"/>
              </a:solidFill>
              <a:prstDash val="solid"/>
              <a:round/>
              <a:tailEnd type="arrow"/>
            </a:ln>
          </p:spPr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B72AAD3-B9E3-D3AF-A011-65AB718CEED9}"/>
                </a:ext>
              </a:extLst>
            </p:cNvPr>
            <p:cNvCxnSpPr/>
            <p:nvPr/>
          </p:nvCxnSpPr>
          <p:spPr>
            <a:xfrm>
              <a:off x="2598480" y="2522520"/>
              <a:ext cx="720" cy="1024200"/>
            </a:xfrm>
            <a:prstGeom prst="straightConnector1">
              <a:avLst/>
            </a:prstGeom>
            <a:noFill/>
            <a:ln w="28440">
              <a:solidFill>
                <a:srgbClr val="4CB1B2"/>
              </a:solidFill>
              <a:prstDash val="solid"/>
              <a:round/>
            </a:ln>
          </p:spPr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78D7532-86C5-D07E-FAF7-3119EBFD4180}"/>
                </a:ext>
              </a:extLst>
            </p:cNvPr>
            <p:cNvCxnSpPr/>
            <p:nvPr/>
          </p:nvCxnSpPr>
          <p:spPr>
            <a:xfrm flipH="1">
              <a:off x="2582640" y="2522160"/>
              <a:ext cx="1181160" cy="720"/>
            </a:xfrm>
            <a:prstGeom prst="straightConnector1">
              <a:avLst/>
            </a:prstGeom>
            <a:noFill/>
            <a:ln w="28440">
              <a:solidFill>
                <a:srgbClr val="4CB1B2"/>
              </a:solidFill>
              <a:prstDash val="solid"/>
              <a:round/>
            </a:ln>
          </p:spPr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A9FA25-7428-FB63-66CA-26CE7E95CC9E}"/>
                </a:ext>
              </a:extLst>
            </p:cNvPr>
            <p:cNvCxnSpPr/>
            <p:nvPr/>
          </p:nvCxnSpPr>
          <p:spPr>
            <a:xfrm>
              <a:off x="3766680" y="2247840"/>
              <a:ext cx="720" cy="286200"/>
            </a:xfrm>
            <a:prstGeom prst="straightConnector1">
              <a:avLst/>
            </a:prstGeom>
            <a:noFill/>
            <a:ln w="28440">
              <a:solidFill>
                <a:srgbClr val="4CB1B2"/>
              </a:solidFill>
              <a:prstDash val="solid"/>
              <a:round/>
            </a:ln>
          </p:spPr>
        </p:cxn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DDA35E3-4E8C-22B5-E98D-2A03B85399CA}"/>
                </a:ext>
              </a:extLst>
            </p:cNvPr>
            <p:cNvGrpSpPr/>
            <p:nvPr/>
          </p:nvGrpSpPr>
          <p:grpSpPr>
            <a:xfrm>
              <a:off x="449280" y="2917800"/>
              <a:ext cx="1728719" cy="1166727"/>
              <a:chOff x="449280" y="2917800"/>
              <a:chExt cx="1728719" cy="1166727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0101EF24-35FA-6DC2-FC25-09016BC7BA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633240" y="2917800"/>
                <a:ext cx="1351080" cy="9201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A4466847-DA90-00D1-FEE9-D46C0955519A}"/>
                  </a:ext>
                </a:extLst>
              </p:cNvPr>
              <p:cNvSpPr/>
              <p:nvPr/>
            </p:nvSpPr>
            <p:spPr>
              <a:xfrm>
                <a:off x="449280" y="3839760"/>
                <a:ext cx="1728719" cy="244767"/>
              </a:xfrm>
              <a:custGeom>
                <a:avLst/>
                <a:gdLst>
                  <a:gd name="f0" fmla="val w"/>
                  <a:gd name="f1" fmla="val h"/>
                  <a:gd name="f2" fmla="val 0"/>
                  <a:gd name="f3" fmla="val 673"/>
                  <a:gd name="f4" fmla="val 4807"/>
                  <a:gd name="f5" fmla="*/ f0 1 0"/>
                  <a:gd name="f6" fmla="*/ f1 1 0"/>
                  <a:gd name="f7" fmla="*/ 0 f5 1"/>
                  <a:gd name="f8" fmla="*/ f4 f5 1"/>
                  <a:gd name="f9" fmla="*/ f3 f6 1"/>
                  <a:gd name="f10" fmla="*/ 0 f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7" t="f10" r="f8" b="f9"/>
                <a:pathLst>
                  <a:path>
                    <a:moveTo>
                      <a:pt x="f2" y="f2"/>
                    </a:moveTo>
                    <a:lnTo>
                      <a:pt x="f4" y="f2"/>
                    </a:lnTo>
                    <a:lnTo>
                      <a:pt x="f4" y="f3"/>
                    </a:lnTo>
                    <a:lnTo>
                      <a:pt x="f2" y="f3"/>
                    </a:lnTo>
                    <a:close/>
                  </a:path>
                </a:pathLst>
              </a:custGeom>
              <a:noFill/>
              <a:ln>
                <a:noFill/>
                <a:prstDash val="solid"/>
              </a:ln>
            </p:spPr>
            <p:txBody>
              <a:bodyPr wrap="square" lIns="90000" tIns="45000" rIns="90000" bIns="45000" anchor="t" anchorCtr="0" compatLnSpc="1">
                <a:spAutoFit/>
              </a:bodyPr>
              <a:lstStyle/>
              <a:p>
                <a:pPr marL="0" marR="0" lvl="0" indent="0" algn="ctr" rtl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0" algn="l"/>
                    <a:tab pos="457200" algn="l"/>
                    <a:tab pos="914400" algn="l"/>
                    <a:tab pos="1371599" algn="l"/>
                    <a:tab pos="1828800" algn="l"/>
                    <a:tab pos="2286000" algn="l"/>
                    <a:tab pos="2743199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399" algn="l"/>
                    <a:tab pos="5943600" algn="l"/>
                    <a:tab pos="6400799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</a:pPr>
                <a:r>
                  <a:rPr lang="en-US" sz="1000" b="1" i="0" u="none" strike="noStrike" cap="none" baseline="0">
                    <a:ln>
                      <a:noFill/>
                    </a:ln>
                    <a:solidFill>
                      <a:schemeClr val="bg1"/>
                    </a:solidFill>
                    <a:latin typeface="Open Sans" pitchFamily="18"/>
                    <a:ea typeface="WenQuanYi Zen Hei Sharp" pitchFamily="2"/>
                    <a:cs typeface="WenQuanYi Zen Hei Sharp" pitchFamily="2"/>
                  </a:rPr>
                  <a:t>USERS</a:t>
                </a:r>
              </a:p>
            </p:txBody>
          </p:sp>
        </p:grp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E5C1C8A-545B-1F9E-C98A-A1BA45A32BBE}"/>
                </a:ext>
              </a:extLst>
            </p:cNvPr>
            <p:cNvSpPr/>
            <p:nvPr/>
          </p:nvSpPr>
          <p:spPr>
            <a:xfrm>
              <a:off x="3359160" y="4287960"/>
              <a:ext cx="1359000" cy="2447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675"/>
                <a:gd name="f4" fmla="val 3779"/>
                <a:gd name="f5" fmla="*/ f0 1 0"/>
                <a:gd name="f6" fmla="*/ f1 1 0"/>
                <a:gd name="f7" fmla="*/ 0 f5 1"/>
                <a:gd name="f8" fmla="*/ f4 f5 1"/>
                <a:gd name="f9" fmla="*/ f3 f6 1"/>
                <a:gd name="f10" fmla="*/ 0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7" t="f10" r="f8" b="f9"/>
              <a:pathLst>
                <a:path>
                  <a:moveTo>
                    <a:pt x="f2" y="f2"/>
                  </a:moveTo>
                  <a:lnTo>
                    <a:pt x="f4" y="f2"/>
                  </a:lnTo>
                  <a:lnTo>
                    <a:pt x="f4" y="f3"/>
                  </a:lnTo>
                  <a:lnTo>
                    <a:pt x="f2" y="f3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square" lIns="90000" tIns="45000" rIns="90000" bIns="45000" anchor="t" anchorCtr="0" compatLnSpc="1">
              <a:sp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1000" b="1" i="0" u="none" strike="noStrike" cap="none" baseline="0">
                  <a:ln>
                    <a:noFill/>
                  </a:ln>
                  <a:solidFill>
                    <a:schemeClr val="bg1"/>
                  </a:solidFill>
                  <a:latin typeface="Open Sans" pitchFamily="18"/>
                  <a:ea typeface="WenQuanYi Zen Hei Sharp" pitchFamily="2"/>
                  <a:cs typeface="WenQuanYi Zen Hei Sharp" pitchFamily="2"/>
                </a:rPr>
                <a:t>INVENTORY</a:t>
              </a: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21E4D3CC-8774-57BC-F134-4CB34141E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/>
              <a:alphaModFix/>
            </a:blip>
            <a:srcRect/>
            <a:stretch>
              <a:fillRect/>
            </a:stretch>
          </p:blipFill>
          <p:spPr>
            <a:xfrm>
              <a:off x="7631280" y="3541679"/>
              <a:ext cx="680760" cy="57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FF017B4-BBD2-7669-6D85-5F6B08580C3B}"/>
                </a:ext>
              </a:extLst>
            </p:cNvPr>
            <p:cNvSpPr/>
            <p:nvPr/>
          </p:nvSpPr>
          <p:spPr>
            <a:xfrm>
              <a:off x="7272360" y="4172040"/>
              <a:ext cx="1359000" cy="2447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673"/>
                <a:gd name="f4" fmla="val 3779"/>
                <a:gd name="f5" fmla="*/ f0 1 0"/>
                <a:gd name="f6" fmla="*/ f1 1 0"/>
                <a:gd name="f7" fmla="*/ 0 f5 1"/>
                <a:gd name="f8" fmla="*/ f4 f5 1"/>
                <a:gd name="f9" fmla="*/ f3 f6 1"/>
                <a:gd name="f10" fmla="*/ 0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7" t="f10" r="f8" b="f9"/>
              <a:pathLst>
                <a:path>
                  <a:moveTo>
                    <a:pt x="f2" y="f2"/>
                  </a:moveTo>
                  <a:lnTo>
                    <a:pt x="f4" y="f2"/>
                  </a:lnTo>
                  <a:lnTo>
                    <a:pt x="f4" y="f3"/>
                  </a:lnTo>
                  <a:lnTo>
                    <a:pt x="f2" y="f3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square" lIns="90000" tIns="45000" rIns="90000" bIns="45000" anchor="t" anchorCtr="0" compatLnSpc="1">
              <a:sp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1000" b="1" i="0" u="none" strike="noStrike" cap="none" baseline="0">
                  <a:ln>
                    <a:noFill/>
                  </a:ln>
                  <a:solidFill>
                    <a:schemeClr val="bg1"/>
                  </a:solidFill>
                  <a:latin typeface="Open Sans" pitchFamily="18"/>
                  <a:ea typeface="WenQuanYi Zen Hei Sharp" pitchFamily="2"/>
                  <a:cs typeface="WenQuanYi Zen Hei Sharp" pitchFamily="2"/>
                </a:rPr>
                <a:t>HOSTS</a:t>
              </a: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745DE61-54A6-7FFA-DF8F-259F6C22A73E}"/>
                </a:ext>
              </a:extLst>
            </p:cNvPr>
            <p:cNvSpPr/>
            <p:nvPr/>
          </p:nvSpPr>
          <p:spPr>
            <a:xfrm>
              <a:off x="7270920" y="5540400"/>
              <a:ext cx="1358640" cy="2447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673"/>
                <a:gd name="f4" fmla="val 3779"/>
                <a:gd name="f5" fmla="*/ f0 1 0"/>
                <a:gd name="f6" fmla="*/ f1 1 0"/>
                <a:gd name="f7" fmla="*/ 0 f5 1"/>
                <a:gd name="f8" fmla="*/ f4 f5 1"/>
                <a:gd name="f9" fmla="*/ f3 f6 1"/>
                <a:gd name="f10" fmla="*/ 0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7" t="f10" r="f8" b="f9"/>
              <a:pathLst>
                <a:path>
                  <a:moveTo>
                    <a:pt x="f2" y="f2"/>
                  </a:moveTo>
                  <a:lnTo>
                    <a:pt x="f4" y="f2"/>
                  </a:lnTo>
                  <a:lnTo>
                    <a:pt x="f4" y="f3"/>
                  </a:lnTo>
                  <a:lnTo>
                    <a:pt x="f2" y="f3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square" lIns="90000" tIns="45000" rIns="90000" bIns="45000" anchor="t" anchorCtr="0" compatLnSpc="1">
              <a:sp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1000" b="1" i="0" u="none" strike="noStrike" cap="none" baseline="0">
                  <a:ln>
                    <a:noFill/>
                  </a:ln>
                  <a:solidFill>
                    <a:schemeClr val="bg1"/>
                  </a:solidFill>
                  <a:latin typeface="Open Sans" pitchFamily="18"/>
                  <a:ea typeface="WenQuanYi Zen Hei Sharp" pitchFamily="2"/>
                  <a:cs typeface="WenQuanYi Zen Hei Sharp" pitchFamily="2"/>
                </a:rPr>
                <a:t>NETWORKING</a:t>
              </a: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5E56979D-3695-8CA3-8BE1-874D8BA2BF4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/>
              <a:alphaModFix/>
            </a:blip>
            <a:srcRect/>
            <a:stretch>
              <a:fillRect/>
            </a:stretch>
          </p:blipFill>
          <p:spPr>
            <a:xfrm>
              <a:off x="7639200" y="4846680"/>
              <a:ext cx="653760" cy="654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CDFF80F-B463-2A2B-145C-6B770771A676}"/>
                </a:ext>
              </a:extLst>
            </p:cNvPr>
            <p:cNvSpPr/>
            <p:nvPr/>
          </p:nvSpPr>
          <p:spPr>
            <a:xfrm>
              <a:off x="4975200" y="5419800"/>
              <a:ext cx="1359000" cy="2447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675"/>
                <a:gd name="f4" fmla="val 3779"/>
                <a:gd name="f5" fmla="*/ f0 1 0"/>
                <a:gd name="f6" fmla="*/ f1 1 0"/>
                <a:gd name="f7" fmla="*/ 0 f5 1"/>
                <a:gd name="f8" fmla="*/ f4 f5 1"/>
                <a:gd name="f9" fmla="*/ f3 f6 1"/>
                <a:gd name="f10" fmla="*/ 0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7" t="f10" r="f8" b="f9"/>
              <a:pathLst>
                <a:path>
                  <a:moveTo>
                    <a:pt x="f2" y="f2"/>
                  </a:moveTo>
                  <a:lnTo>
                    <a:pt x="f4" y="f2"/>
                  </a:lnTo>
                  <a:lnTo>
                    <a:pt x="f4" y="f3"/>
                  </a:lnTo>
                  <a:lnTo>
                    <a:pt x="f2" y="f3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square" lIns="90000" tIns="45000" rIns="90000" bIns="45000" anchor="t" anchorCtr="0" compatLnSpc="1">
              <a:sp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1000" b="1" i="0" u="none" strike="noStrike" cap="none" baseline="0">
                  <a:ln>
                    <a:noFill/>
                  </a:ln>
                  <a:solidFill>
                    <a:schemeClr val="bg1"/>
                  </a:solidFill>
                  <a:latin typeface="Open Sans" pitchFamily="18"/>
                  <a:ea typeface="WenQuanYi Zen Hei Sharp" pitchFamily="2"/>
                  <a:cs typeface="WenQuanYi Zen Hei Sharp" pitchFamily="2"/>
                </a:rPr>
                <a:t>PLUGINS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27056DB6-D8E7-F6EE-14D4-49BB85E52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lum/>
              <a:alphaModFix/>
            </a:blip>
            <a:srcRect/>
            <a:stretch>
              <a:fillRect/>
            </a:stretch>
          </p:blipFill>
          <p:spPr>
            <a:xfrm>
              <a:off x="3718080" y="3586320"/>
              <a:ext cx="614160" cy="65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85A6A33A-5E8A-62F9-9B5B-D0C4B4999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lum/>
              <a:alphaModFix/>
            </a:blip>
            <a:srcRect/>
            <a:stretch>
              <a:fillRect/>
            </a:stretch>
          </p:blipFill>
          <p:spPr>
            <a:xfrm>
              <a:off x="5299200" y="3608280"/>
              <a:ext cx="691920" cy="6447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820C6EA-6579-0CFA-7532-EC13597366EF}"/>
                </a:ext>
              </a:extLst>
            </p:cNvPr>
            <p:cNvSpPr/>
            <p:nvPr/>
          </p:nvSpPr>
          <p:spPr>
            <a:xfrm>
              <a:off x="5110200" y="4294080"/>
              <a:ext cx="1066680" cy="2447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675"/>
                <a:gd name="f4" fmla="val 2967"/>
                <a:gd name="f5" fmla="*/ f0 1 0"/>
                <a:gd name="f6" fmla="*/ f1 1 0"/>
                <a:gd name="f7" fmla="*/ 0 f5 1"/>
                <a:gd name="f8" fmla="*/ f4 f5 1"/>
                <a:gd name="f9" fmla="*/ f3 f6 1"/>
                <a:gd name="f10" fmla="*/ 0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7" t="f10" r="f8" b="f9"/>
              <a:pathLst>
                <a:path>
                  <a:moveTo>
                    <a:pt x="f2" y="f2"/>
                  </a:moveTo>
                  <a:lnTo>
                    <a:pt x="f4" y="f2"/>
                  </a:lnTo>
                  <a:lnTo>
                    <a:pt x="f4" y="f3"/>
                  </a:lnTo>
                  <a:lnTo>
                    <a:pt x="f2" y="f3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square" lIns="90000" tIns="45000" rIns="90000" bIns="45000" anchor="t" anchorCtr="0" compatLnSpc="1">
              <a:sp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1000" b="1" i="0" u="none" strike="noStrike" cap="none" baseline="0">
                  <a:ln>
                    <a:noFill/>
                  </a:ln>
                  <a:solidFill>
                    <a:schemeClr val="bg1"/>
                  </a:solidFill>
                  <a:latin typeface="Open Sans" pitchFamily="18"/>
                  <a:ea typeface="WenQuanYi Zen Hei Sharp" pitchFamily="2"/>
                  <a:cs typeface="WenQuanYi Zen Hei Sharp" pitchFamily="2"/>
                </a:rPr>
                <a:t>API</a:t>
              </a: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E2A3844-0A75-8CA5-B91F-8A811D42DF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lum/>
              <a:alphaModFix/>
            </a:blip>
            <a:srcRect/>
            <a:stretch>
              <a:fillRect/>
            </a:stretch>
          </p:blipFill>
          <p:spPr>
            <a:xfrm>
              <a:off x="5253120" y="4818240"/>
              <a:ext cx="820800" cy="550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A459BDE-5DCD-106C-63AB-FB53E6AF12D5}"/>
                </a:ext>
              </a:extLst>
            </p:cNvPr>
            <p:cNvSpPr/>
            <p:nvPr/>
          </p:nvSpPr>
          <p:spPr>
            <a:xfrm>
              <a:off x="2971800" y="2836800"/>
              <a:ext cx="3787920" cy="45251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263"/>
                <a:gd name="f4" fmla="val 10529"/>
                <a:gd name="f5" fmla="*/ f0 1 0"/>
                <a:gd name="f6" fmla="*/ f1 1 0"/>
                <a:gd name="f7" fmla="*/ 0 f5 1"/>
                <a:gd name="f8" fmla="*/ f4 f5 1"/>
                <a:gd name="f9" fmla="*/ f3 f6 1"/>
                <a:gd name="f10" fmla="*/ 0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7" t="f10" r="f8" b="f9"/>
              <a:pathLst>
                <a:path>
                  <a:moveTo>
                    <a:pt x="f2" y="f2"/>
                  </a:moveTo>
                  <a:lnTo>
                    <a:pt x="f4" y="f2"/>
                  </a:lnTo>
                  <a:lnTo>
                    <a:pt x="f4" y="f3"/>
                  </a:lnTo>
                  <a:lnTo>
                    <a:pt x="f2" y="f3"/>
                  </a:lnTo>
                  <a:close/>
                </a:path>
              </a:pathLst>
            </a:custGeom>
            <a:solidFill>
              <a:srgbClr val="4CB1B2"/>
            </a:solidFill>
            <a:ln>
              <a:noFill/>
              <a:prstDash val="solid"/>
            </a:ln>
            <a:effectLst>
              <a:outerShdw dist="23040" dir="5400000" algn="tl">
                <a:srgbClr val="000000">
                  <a:alpha val="35000"/>
                </a:srgbClr>
              </a:outerShdw>
            </a:effectLst>
          </p:spPr>
          <p:txBody>
            <a:bodyPr wrap="none" lIns="90000" tIns="46800" rIns="90000" bIns="46800" anchor="ctr" anchorCtr="0" compatLnSpc="1">
              <a:noAutofit/>
            </a:bodyPr>
            <a:lstStyle/>
            <a:p>
              <a:pPr marL="0" marR="0" lvl="0" indent="0" algn="l" hangingPunct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fr-FR" sz="18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8304B6A-E338-1588-126A-5C9FD519D0DB}"/>
                </a:ext>
              </a:extLst>
            </p:cNvPr>
            <p:cNvSpPr/>
            <p:nvPr/>
          </p:nvSpPr>
          <p:spPr>
            <a:xfrm>
              <a:off x="2987640" y="2908440"/>
              <a:ext cx="3637080" cy="306323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844"/>
                <a:gd name="f4" fmla="val 10110"/>
                <a:gd name="f5" fmla="*/ f0 1 0"/>
                <a:gd name="f6" fmla="*/ f1 1 0"/>
                <a:gd name="f7" fmla="*/ 0 f5 1"/>
                <a:gd name="f8" fmla="*/ f4 f5 1"/>
                <a:gd name="f9" fmla="*/ f3 f6 1"/>
                <a:gd name="f10" fmla="*/ 0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7" t="f10" r="f8" b="f9"/>
              <a:pathLst>
                <a:path>
                  <a:moveTo>
                    <a:pt x="f2" y="f2"/>
                  </a:moveTo>
                  <a:lnTo>
                    <a:pt x="f4" y="f2"/>
                  </a:lnTo>
                  <a:lnTo>
                    <a:pt x="f4" y="f3"/>
                  </a:lnTo>
                  <a:lnTo>
                    <a:pt x="f2" y="f3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square" lIns="90000" tIns="45000" rIns="90000" bIns="45000" anchor="t" anchorCtr="0" compatLnSpc="1">
              <a:sp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1400" b="1" i="0" u="none" strike="noStrike" cap="none" baseline="0">
                  <a:ln>
                    <a:noFill/>
                  </a:ln>
                  <a:solidFill>
                    <a:schemeClr val="bg1"/>
                  </a:solidFill>
                  <a:latin typeface="Open Sans" pitchFamily="18"/>
                  <a:ea typeface="WenQuanYi Zen Hei Sharp" pitchFamily="2"/>
                  <a:cs typeface="WenQuanYi Zen Hei Sharp" pitchFamily="2"/>
                </a:rPr>
                <a:t>ANSIBLE-CORE (AUTOMATION ENGINE)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9C6EAD1-C713-329C-5FC8-B87112C0D416}"/>
                </a:ext>
              </a:extLst>
            </p:cNvPr>
            <p:cNvCxnSpPr/>
            <p:nvPr/>
          </p:nvCxnSpPr>
          <p:spPr>
            <a:xfrm>
              <a:off x="6814800" y="5148000"/>
              <a:ext cx="695160" cy="720"/>
            </a:xfrm>
            <a:prstGeom prst="straightConnector1">
              <a:avLst/>
            </a:prstGeom>
            <a:noFill/>
            <a:ln w="28440">
              <a:solidFill>
                <a:srgbClr val="4CB1B2"/>
              </a:solidFill>
              <a:prstDash val="solid"/>
              <a:round/>
              <a:tailEnd type="arrow"/>
            </a:ln>
          </p:spPr>
        </p:cxn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B771683-85FB-355A-11F2-A8B47BC88E00}"/>
                </a:ext>
              </a:extLst>
            </p:cNvPr>
            <p:cNvSpPr/>
            <p:nvPr/>
          </p:nvSpPr>
          <p:spPr>
            <a:xfrm>
              <a:off x="501480" y="5675400"/>
              <a:ext cx="1729080" cy="2447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673"/>
                <a:gd name="f4" fmla="val 4807"/>
                <a:gd name="f5" fmla="*/ f0 1 0"/>
                <a:gd name="f6" fmla="*/ f1 1 0"/>
                <a:gd name="f7" fmla="*/ 0 f5 1"/>
                <a:gd name="f8" fmla="*/ f4 f5 1"/>
                <a:gd name="f9" fmla="*/ f3 f6 1"/>
                <a:gd name="f10" fmla="*/ 0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7" t="f10" r="f8" b="f9"/>
              <a:pathLst>
                <a:path>
                  <a:moveTo>
                    <a:pt x="f2" y="f2"/>
                  </a:moveTo>
                  <a:lnTo>
                    <a:pt x="f4" y="f2"/>
                  </a:lnTo>
                  <a:lnTo>
                    <a:pt x="f4" y="f3"/>
                  </a:lnTo>
                  <a:lnTo>
                    <a:pt x="f2" y="f3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square" lIns="90000" tIns="45000" rIns="90000" bIns="45000" anchor="t" anchorCtr="0" compatLnSpc="1">
              <a:sp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1000" b="1" i="0" u="none" strike="noStrike" cap="none" baseline="0">
                  <a:ln>
                    <a:noFill/>
                  </a:ln>
                  <a:solidFill>
                    <a:schemeClr val="bg1"/>
                  </a:solidFill>
                  <a:latin typeface="Open Sans" pitchFamily="18"/>
                  <a:ea typeface="WenQuanYi Zen Hei Sharp" pitchFamily="2"/>
                  <a:cs typeface="WenQuanYi Zen Hei Sharp" pitchFamily="2"/>
                </a:rPr>
                <a:t>ANSIBLE PLAYBOOK</a:t>
              </a: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2E13267F-9EE1-7CEC-F04B-46654D4E7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lum/>
              <a:alphaModFix/>
            </a:blip>
            <a:srcRect/>
            <a:stretch>
              <a:fillRect/>
            </a:stretch>
          </p:blipFill>
          <p:spPr>
            <a:xfrm>
              <a:off x="1036800" y="4754520"/>
              <a:ext cx="630000" cy="8827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5A4189F-EB28-DE2E-1ECC-BBA0B96B8E2D}"/>
                </a:ext>
              </a:extLst>
            </p:cNvPr>
            <p:cNvSpPr/>
            <p:nvPr/>
          </p:nvSpPr>
          <p:spPr>
            <a:xfrm>
              <a:off x="239760" y="1023840"/>
              <a:ext cx="8642160" cy="529452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4713"/>
                <a:gd name="f4" fmla="val 24010"/>
                <a:gd name="f5" fmla="*/ f0 1 0"/>
                <a:gd name="f6" fmla="*/ f1 1 0"/>
                <a:gd name="f7" fmla="*/ 0 f5 1"/>
                <a:gd name="f8" fmla="*/ f4 f5 1"/>
                <a:gd name="f9" fmla="*/ f3 f6 1"/>
                <a:gd name="f10" fmla="*/ 0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7" t="f10" r="f8" b="f9"/>
              <a:pathLst>
                <a:path>
                  <a:moveTo>
                    <a:pt x="f2" y="f2"/>
                  </a:moveTo>
                  <a:lnTo>
                    <a:pt x="f4" y="f2"/>
                  </a:lnTo>
                  <a:lnTo>
                    <a:pt x="f4" y="f3"/>
                  </a:lnTo>
                  <a:lnTo>
                    <a:pt x="f2" y="f3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  <a:prstDash val="solid"/>
            </a:ln>
          </p:spPr>
          <p:txBody>
            <a:bodyPr wrap="none" lIns="90000" tIns="46800" rIns="90000" bIns="46800" anchor="ctr" anchorCtr="0" compatLnSpc="1">
              <a:noAutofit/>
            </a:bodyPr>
            <a:lstStyle/>
            <a:p>
              <a:pPr marL="0" marR="0" lvl="0" indent="0" algn="l" hangingPunct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fr-FR" sz="18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0D33FEC-CBE7-E495-7EBD-E3426A271598}"/>
                </a:ext>
              </a:extLst>
            </p:cNvPr>
            <p:cNvSpPr/>
            <p:nvPr/>
          </p:nvSpPr>
          <p:spPr>
            <a:xfrm>
              <a:off x="3338639" y="5419800"/>
              <a:ext cx="1358640" cy="2447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675"/>
                <a:gd name="f4" fmla="val 3779"/>
                <a:gd name="f5" fmla="*/ f0 1 0"/>
                <a:gd name="f6" fmla="*/ f1 1 0"/>
                <a:gd name="f7" fmla="*/ 0 f5 1"/>
                <a:gd name="f8" fmla="*/ f4 f5 1"/>
                <a:gd name="f9" fmla="*/ f3 f6 1"/>
                <a:gd name="f10" fmla="*/ 0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7" t="f10" r="f8" b="f9"/>
              <a:pathLst>
                <a:path>
                  <a:moveTo>
                    <a:pt x="f2" y="f2"/>
                  </a:moveTo>
                  <a:lnTo>
                    <a:pt x="f4" y="f2"/>
                  </a:lnTo>
                  <a:lnTo>
                    <a:pt x="f4" y="f3"/>
                  </a:lnTo>
                  <a:lnTo>
                    <a:pt x="f2" y="f3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square" lIns="90000" tIns="45000" rIns="90000" bIns="45000" anchor="t" anchorCtr="0" compatLnSpc="1">
              <a:spAutoFit/>
            </a:bodyPr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1000" b="1" i="0" u="none" strike="noStrike" cap="none" baseline="0">
                  <a:ln>
                    <a:noFill/>
                  </a:ln>
                  <a:solidFill>
                    <a:schemeClr val="bg1"/>
                  </a:solidFill>
                  <a:latin typeface="Open Sans" pitchFamily="18"/>
                  <a:ea typeface="WenQuanYi Zen Hei Sharp" pitchFamily="2"/>
                  <a:cs typeface="WenQuanYi Zen Hei Sharp" pitchFamily="2"/>
                </a:rPr>
                <a:t>MODULES</a:t>
              </a: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EF4B453C-D936-2CB0-3689-9E905CEFB0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lum/>
              <a:alphaModFix/>
            </a:blip>
            <a:srcRect/>
            <a:stretch>
              <a:fillRect/>
            </a:stretch>
          </p:blipFill>
          <p:spPr>
            <a:xfrm>
              <a:off x="3767040" y="4842000"/>
              <a:ext cx="534960" cy="5331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20A58B5-097A-7FE3-6695-2546CF0AD651}"/>
                </a:ext>
              </a:extLst>
            </p:cNvPr>
            <p:cNvSpPr/>
            <p:nvPr/>
          </p:nvSpPr>
          <p:spPr>
            <a:xfrm>
              <a:off x="4481640" y="2646360"/>
              <a:ext cx="4356000" cy="1862280"/>
            </a:xfrm>
            <a:custGeom>
              <a:avLst>
                <a:gd name="f10" fmla="val -48365"/>
                <a:gd name="f11" fmla="val 72180"/>
              </a:avLst>
              <a:gdLst>
                <a:gd name="f2" fmla="val w"/>
                <a:gd name="f3" fmla="val h"/>
                <a:gd name="f4" fmla="val 0"/>
                <a:gd name="f5" fmla="+- 0 0 31072"/>
                <a:gd name="f6" fmla="*/ 12104 1 2"/>
                <a:gd name="f7" fmla="*/ 5178 1 2"/>
                <a:gd name="f8" fmla="val 5178"/>
                <a:gd name="f9" fmla="val 12104"/>
                <a:gd name="f10" fmla="val -48365"/>
                <a:gd name="f11" fmla="val 72180"/>
                <a:gd name="f12" fmla="val -2147483647"/>
                <a:gd name="f13" fmla="val 2147483647"/>
                <a:gd name="f14" fmla="*/ f2 1 0"/>
                <a:gd name="f15" fmla="*/ f3 1 0"/>
                <a:gd name="f16" fmla="*/ 12104 f10 1"/>
                <a:gd name="f17" fmla="*/ 5178 f11 1"/>
                <a:gd name="f18" fmla="*/ f16 1 f5"/>
                <a:gd name="f19" fmla="*/ f17 1 f5"/>
                <a:gd name="f20" fmla="*/ 0 f14 1"/>
                <a:gd name="f21" fmla="*/ f9 f14 1"/>
                <a:gd name="f22" fmla="*/ f8 f15 1"/>
                <a:gd name="f23" fmla="*/ 0 f15 1"/>
                <a:gd name="f24" fmla="+- f6 f18 0"/>
                <a:gd name="f25" fmla="+- f7 f19 0"/>
                <a:gd name="f26" fmla="*/ f18 5178 1"/>
                <a:gd name="f27" fmla="abs f19"/>
                <a:gd name="f28" fmla="?: f18 7 2"/>
                <a:gd name="f29" fmla="?: f18 10 5"/>
                <a:gd name="f30" fmla="?: f19 7 2"/>
                <a:gd name="f31" fmla="?: f19 10 5"/>
                <a:gd name="f32" fmla="*/ f19 f14 1"/>
                <a:gd name="f33" fmla="val f24"/>
                <a:gd name="f34" fmla="val f25"/>
                <a:gd name="f35" fmla="*/ f26 1 12104"/>
                <a:gd name="f36" fmla="*/ 12104 f28 1"/>
                <a:gd name="f37" fmla="*/ 12104 f29 1"/>
                <a:gd name="f38" fmla="*/ 5178 f30 1"/>
                <a:gd name="f39" fmla="*/ 5178 f31 1"/>
                <a:gd name="f40" fmla="*/ f24 f15 1"/>
                <a:gd name="f41" fmla="abs f35"/>
                <a:gd name="f42" fmla="*/ f36 1 12"/>
                <a:gd name="f43" fmla="*/ f37 1 12"/>
                <a:gd name="f44" fmla="*/ f38 1 12"/>
                <a:gd name="f45" fmla="*/ f39 1 12"/>
                <a:gd name="f46" fmla="?: f18 0 f33"/>
                <a:gd name="f47" fmla="?: f18 f33 12104"/>
                <a:gd name="f48" fmla="?: f19 0 f34"/>
                <a:gd name="f49" fmla="?: f19 f34 5178"/>
                <a:gd name="f50" fmla="+- f27 0 f41"/>
                <a:gd name="f51" fmla="?: f19 f42 f33"/>
                <a:gd name="f52" fmla="?: f19 f33 f42"/>
                <a:gd name="f53" fmla="?: f18 f44 f34"/>
                <a:gd name="f54" fmla="?: f18 f34 f44"/>
                <a:gd name="f55" fmla="?: f50 0 f46"/>
                <a:gd name="f56" fmla="?: f50 f51 f42"/>
                <a:gd name="f57" fmla="?: f50 12104 f47"/>
                <a:gd name="f58" fmla="?: f50 f52 f42"/>
                <a:gd name="f59" fmla="?: f50 f44 f53"/>
                <a:gd name="f60" fmla="?: f50 f48 0"/>
                <a:gd name="f61" fmla="?: f50 f44 f54"/>
                <a:gd name="f62" fmla="?: f50 f49 5178"/>
              </a:gdLst>
              <a:ahLst>
                <a:ahXY>
                  <a:pos x="f32" y="f40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0" t="f23" r="f21" b="f22"/>
              <a:pathLst>
                <a:path>
                  <a:moveTo>
                    <a:pt x="f4" y="f4"/>
                  </a:moveTo>
                  <a:lnTo>
                    <a:pt x="f42" y="f4"/>
                  </a:lnTo>
                  <a:lnTo>
                    <a:pt x="f56" y="f60"/>
                  </a:lnTo>
                  <a:lnTo>
                    <a:pt x="f43" y="f4"/>
                  </a:lnTo>
                  <a:lnTo>
                    <a:pt x="f9" y="f4"/>
                  </a:lnTo>
                  <a:lnTo>
                    <a:pt x="f9" y="f44"/>
                  </a:lnTo>
                  <a:lnTo>
                    <a:pt x="f57" y="f61"/>
                  </a:lnTo>
                  <a:lnTo>
                    <a:pt x="f9" y="f45"/>
                  </a:lnTo>
                  <a:lnTo>
                    <a:pt x="f9" y="f8"/>
                  </a:lnTo>
                  <a:lnTo>
                    <a:pt x="f43" y="f8"/>
                  </a:lnTo>
                  <a:lnTo>
                    <a:pt x="f58" y="f62"/>
                  </a:lnTo>
                  <a:lnTo>
                    <a:pt x="f42" y="f8"/>
                  </a:lnTo>
                  <a:lnTo>
                    <a:pt x="f4" y="f8"/>
                  </a:lnTo>
                  <a:lnTo>
                    <a:pt x="f4" y="f45"/>
                  </a:lnTo>
                  <a:lnTo>
                    <a:pt x="f55" y="f59"/>
                  </a:lnTo>
                  <a:lnTo>
                    <a:pt x="f4" y="f44"/>
                  </a:lnTo>
                  <a:close/>
                </a:path>
              </a:pathLst>
            </a:custGeom>
            <a:solidFill>
              <a:srgbClr val="D7D7D7"/>
            </a:solidFill>
            <a:ln w="9360">
              <a:solidFill>
                <a:srgbClr val="C6C8CD"/>
              </a:solidFill>
              <a:prstDash val="solid"/>
              <a:round/>
            </a:ln>
            <a:effectLst>
              <a:outerShdw dist="23040" dir="5400000" algn="tl">
                <a:srgbClr val="000000">
                  <a:alpha val="35000"/>
                </a:srgbClr>
              </a:outerShdw>
            </a:effectLst>
          </p:spPr>
          <p:txBody>
            <a:bodyPr wrap="none" lIns="90000" tIns="46800" rIns="90000" bIns="46800" anchor="ctr" anchorCtr="0" compatLnSpc="1">
              <a:noAutofit/>
            </a:bodyPr>
            <a:lstStyle/>
            <a:p>
              <a:pPr marL="0" marR="0" lvl="0" indent="0" algn="l" hangingPunct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endParaRPr lang="fr-FR" sz="18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A68CBDF-8088-6AB7-777F-B633104E36E4}"/>
                </a:ext>
              </a:extLst>
            </p:cNvPr>
            <p:cNvSpPr/>
            <p:nvPr/>
          </p:nvSpPr>
          <p:spPr>
            <a:xfrm>
              <a:off x="4726007" y="1035980"/>
              <a:ext cx="3927240" cy="306323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434"/>
                <a:gd name="f4" fmla="val 10914"/>
                <a:gd name="f5" fmla="*/ f0 1 0"/>
                <a:gd name="f6" fmla="*/ f1 1 0"/>
                <a:gd name="f7" fmla="*/ 0 f5 1"/>
                <a:gd name="f8" fmla="*/ f4 f5 1"/>
                <a:gd name="f9" fmla="*/ f3 f6 1"/>
                <a:gd name="f10" fmla="*/ 0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7" t="f10" r="f8" b="f9"/>
              <a:pathLst>
                <a:path>
                  <a:moveTo>
                    <a:pt x="f2" y="f2"/>
                  </a:moveTo>
                  <a:lnTo>
                    <a:pt x="f4" y="f2"/>
                  </a:lnTo>
                  <a:lnTo>
                    <a:pt x="f4" y="f3"/>
                  </a:lnTo>
                  <a:lnTo>
                    <a:pt x="f2" y="f3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square" lIns="90000" tIns="45000" rIns="90000" bIns="45000" anchor="t" anchorCtr="0" compatLnSpc="1">
              <a:sp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1400" b="1" i="0" u="none" strike="noStrike" cap="none" baseline="0" dirty="0">
                  <a:ln>
                    <a:noFill/>
                  </a:ln>
                  <a:solidFill>
                    <a:schemeClr val="bg1"/>
                  </a:solidFill>
                  <a:latin typeface="Open Sans" pitchFamily="18"/>
                  <a:ea typeface="WenQuanYi Zen Hei Sharp" pitchFamily="2"/>
                  <a:cs typeface="WenQuanYi Zen Hei Sharp" pitchFamily="2"/>
                </a:rPr>
                <a:t>MODULES ARE “TOOLS IN THE TOOLKIT”</a:t>
              </a: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C4C1515-5303-2ADE-B314-7AE6BC73187C}"/>
                </a:ext>
              </a:extLst>
            </p:cNvPr>
            <p:cNvSpPr/>
            <p:nvPr/>
          </p:nvSpPr>
          <p:spPr>
            <a:xfrm>
              <a:off x="4724207" y="1413619"/>
              <a:ext cx="3783240" cy="70277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732"/>
                <a:gd name="f4" fmla="val 10512"/>
                <a:gd name="f5" fmla="*/ f0 1 0"/>
                <a:gd name="f6" fmla="*/ f1 1 0"/>
                <a:gd name="f7" fmla="*/ 0 f5 1"/>
                <a:gd name="f8" fmla="*/ f4 f5 1"/>
                <a:gd name="f9" fmla="*/ f3 f6 1"/>
                <a:gd name="f10" fmla="*/ 0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7" t="f10" r="f8" b="f9"/>
              <a:pathLst>
                <a:path>
                  <a:moveTo>
                    <a:pt x="f2" y="f2"/>
                  </a:moveTo>
                  <a:lnTo>
                    <a:pt x="f4" y="f2"/>
                  </a:lnTo>
                  <a:lnTo>
                    <a:pt x="f4" y="f3"/>
                  </a:lnTo>
                  <a:lnTo>
                    <a:pt x="f2" y="f3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square" lIns="90000" tIns="45000" rIns="90000" bIns="45000" anchor="t" anchorCtr="0" compatLnSpc="1">
              <a:spAutoFit/>
            </a:bodyPr>
            <a:lstStyle/>
            <a:p>
              <a:pPr marL="0" marR="0" lvl="0" indent="0" algn="l" rtl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599" algn="l"/>
                  <a:tab pos="1828800" algn="l"/>
                  <a:tab pos="2286000" algn="l"/>
                  <a:tab pos="2743199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399" algn="l"/>
                  <a:tab pos="5943600" algn="l"/>
                  <a:tab pos="6400799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1400" b="0" i="0" u="none" strike="noStrike" cap="none" baseline="0" dirty="0">
                  <a:ln>
                    <a:noFill/>
                  </a:ln>
                  <a:solidFill>
                    <a:schemeClr val="bg1"/>
                  </a:solidFill>
                  <a:latin typeface="Open Sans" pitchFamily="18"/>
                  <a:ea typeface="WenQuanYi Zen Hei Sharp" pitchFamily="2"/>
                  <a:cs typeface="WenQuanYi Zen Hei Sharp" pitchFamily="2"/>
                </a:rPr>
                <a:t>Python, </a:t>
              </a:r>
              <a:r>
                <a:rPr lang="en-US" sz="1400" b="0" i="0" u="none" strike="noStrike" cap="none" baseline="0" dirty="0" err="1">
                  <a:ln>
                    <a:noFill/>
                  </a:ln>
                  <a:solidFill>
                    <a:schemeClr val="bg1"/>
                  </a:solidFill>
                  <a:latin typeface="Open Sans" pitchFamily="18"/>
                  <a:ea typeface="WenQuanYi Zen Hei Sharp" pitchFamily="2"/>
                  <a:cs typeface="WenQuanYi Zen Hei Sharp" pitchFamily="2"/>
                </a:rPr>
                <a:t>Powershell</a:t>
              </a:r>
              <a:r>
                <a:rPr lang="en-US" sz="1400" b="0" i="0" u="none" strike="noStrike" cap="none" baseline="0" dirty="0">
                  <a:ln>
                    <a:noFill/>
                  </a:ln>
                  <a:solidFill>
                    <a:schemeClr val="bg1"/>
                  </a:solidFill>
                  <a:latin typeface="Open Sans" pitchFamily="18"/>
                  <a:ea typeface="WenQuanYi Zen Hei Sharp" pitchFamily="2"/>
                  <a:cs typeface="WenQuanYi Zen Hei Sharp" pitchFamily="2"/>
                </a:rPr>
                <a:t>, or any language</a:t>
              </a:r>
              <a:br>
                <a:rPr lang="en-US" sz="1400" b="0" i="0" u="none" strike="noStrike" cap="none" baseline="0" dirty="0">
                  <a:ln>
                    <a:noFill/>
                  </a:ln>
                  <a:solidFill>
                    <a:schemeClr val="bg1"/>
                  </a:solidFill>
                  <a:latin typeface="Open Sans" pitchFamily="18"/>
                  <a:ea typeface="WenQuanYi Zen Hei Sharp" pitchFamily="2"/>
                  <a:cs typeface="WenQuanYi Zen Hei Sharp" pitchFamily="2"/>
                </a:rPr>
              </a:br>
              <a:r>
                <a:rPr lang="en-US" sz="1400" b="0" i="0" u="none" strike="noStrike" cap="none" baseline="0" dirty="0">
                  <a:ln>
                    <a:noFill/>
                  </a:ln>
                  <a:solidFill>
                    <a:schemeClr val="bg1"/>
                  </a:solidFill>
                  <a:latin typeface="Open Sans" pitchFamily="18"/>
                  <a:ea typeface="WenQuanYi Zen Hei Sharp" pitchFamily="2"/>
                  <a:cs typeface="WenQuanYi Zen Hei Sharp" pitchFamily="2"/>
                </a:rPr>
                <a:t>Extend Ansible simplicity to entire stack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3729BE58-4755-2936-56FC-3354073ECFE7}"/>
              </a:ext>
            </a:extLst>
          </p:cNvPr>
          <p:cNvSpPr txBox="1"/>
          <p:nvPr/>
        </p:nvSpPr>
        <p:spPr>
          <a:xfrm>
            <a:off x="5092020" y="4343400"/>
            <a:ext cx="1143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API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B51514-2CA0-6117-F797-0223F503DBEB}"/>
              </a:ext>
            </a:extLst>
          </p:cNvPr>
          <p:cNvSpPr txBox="1"/>
          <p:nvPr/>
        </p:nvSpPr>
        <p:spPr>
          <a:xfrm>
            <a:off x="5092020" y="5477390"/>
            <a:ext cx="1143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PLUGINS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169B472-DF42-132A-BE9C-3BB9F2EAD275}"/>
              </a:ext>
            </a:extLst>
          </p:cNvPr>
          <p:cNvSpPr txBox="1"/>
          <p:nvPr/>
        </p:nvSpPr>
        <p:spPr>
          <a:xfrm>
            <a:off x="3445741" y="5477390"/>
            <a:ext cx="1143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MODULES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ansible-core</a:t>
            </a:r>
          </a:p>
          <a:p>
            <a:pPr lvl="1"/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A50F82-98FA-7EC5-481F-DD9F00232813}"/>
              </a:ext>
            </a:extLst>
          </p:cNvPr>
          <p:cNvSpPr/>
          <p:nvPr/>
        </p:nvSpPr>
        <p:spPr>
          <a:xfrm>
            <a:off x="2879592" y="1905789"/>
            <a:ext cx="3452226" cy="239000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ansible-core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C44DA52-FF3C-744E-7133-D362F893347F}"/>
              </a:ext>
            </a:extLst>
          </p:cNvPr>
          <p:cNvGrpSpPr/>
          <p:nvPr/>
        </p:nvGrpSpPr>
        <p:grpSpPr>
          <a:xfrm>
            <a:off x="7149568" y="2057400"/>
            <a:ext cx="748684" cy="374342"/>
            <a:chOff x="5410200" y="1905000"/>
            <a:chExt cx="1066800" cy="533400"/>
          </a:xfrm>
        </p:grpSpPr>
        <p:sp>
          <p:nvSpPr>
            <p:cNvPr id="4" name="Equals 3">
              <a:extLst>
                <a:ext uri="{FF2B5EF4-FFF2-40B4-BE49-F238E27FC236}">
                  <a16:creationId xmlns:a16="http://schemas.microsoft.com/office/drawing/2014/main" id="{367E138A-8327-023B-87B9-451961AC0750}"/>
                </a:ext>
              </a:extLst>
            </p:cNvPr>
            <p:cNvSpPr/>
            <p:nvPr/>
          </p:nvSpPr>
          <p:spPr>
            <a:xfrm>
              <a:off x="5410200" y="1905000"/>
              <a:ext cx="1066800" cy="533400"/>
            </a:xfrm>
            <a:prstGeom prst="mathEqual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BAEEB88A-8740-949D-5545-9B53DA55CE92}"/>
                </a:ext>
              </a:extLst>
            </p:cNvPr>
            <p:cNvSpPr/>
            <p:nvPr/>
          </p:nvSpPr>
          <p:spPr>
            <a:xfrm>
              <a:off x="5638800" y="2057400"/>
              <a:ext cx="45719" cy="45719"/>
            </a:xfrm>
            <a:prstGeom prst="flowChartConnector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8FD270E1-38BE-279C-2D79-4F2A23BF79C9}"/>
                </a:ext>
              </a:extLst>
            </p:cNvPr>
            <p:cNvSpPr/>
            <p:nvPr/>
          </p:nvSpPr>
          <p:spPr>
            <a:xfrm>
              <a:off x="5638800" y="2241231"/>
              <a:ext cx="45719" cy="45719"/>
            </a:xfrm>
            <a:prstGeom prst="flowChartConnector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0BF57F21-1827-DC77-AEE8-B11EDE46311C}"/>
                </a:ext>
              </a:extLst>
            </p:cNvPr>
            <p:cNvSpPr/>
            <p:nvPr/>
          </p:nvSpPr>
          <p:spPr>
            <a:xfrm>
              <a:off x="5715000" y="2241231"/>
              <a:ext cx="45719" cy="45719"/>
            </a:xfrm>
            <a:prstGeom prst="flowChartConnector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</p:grpSp>
      <p:sp>
        <p:nvSpPr>
          <p:cNvPr id="9" name="Flowchart: Summing Junction 8">
            <a:extLst>
              <a:ext uri="{FF2B5EF4-FFF2-40B4-BE49-F238E27FC236}">
                <a16:creationId xmlns:a16="http://schemas.microsoft.com/office/drawing/2014/main" id="{18DD297C-6CDD-DA4C-7FA4-314D78E909E7}"/>
              </a:ext>
            </a:extLst>
          </p:cNvPr>
          <p:cNvSpPr/>
          <p:nvPr/>
        </p:nvSpPr>
        <p:spPr>
          <a:xfrm>
            <a:off x="7149568" y="3511856"/>
            <a:ext cx="427820" cy="374343"/>
          </a:xfrm>
          <a:prstGeom prst="flowChartSummingJuncti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0" name="Scroll: Vertical 9">
            <a:extLst>
              <a:ext uri="{FF2B5EF4-FFF2-40B4-BE49-F238E27FC236}">
                <a16:creationId xmlns:a16="http://schemas.microsoft.com/office/drawing/2014/main" id="{DE88A5D1-E7E1-F981-E6D0-E566CE32CD48}"/>
              </a:ext>
            </a:extLst>
          </p:cNvPr>
          <p:cNvSpPr/>
          <p:nvPr/>
        </p:nvSpPr>
        <p:spPr>
          <a:xfrm>
            <a:off x="1493962" y="2757890"/>
            <a:ext cx="966164" cy="685800"/>
          </a:xfrm>
          <a:prstGeom prst="verticalScroll">
            <a:avLst>
              <a:gd name="adj" fmla="val 1898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Playbook</a:t>
            </a:r>
          </a:p>
          <a:p>
            <a:pPr marL="171450" indent="-171450" algn="ctr">
              <a:buFontTx/>
              <a:buChar char="-"/>
            </a:pPr>
            <a:r>
              <a:rPr lang="en-US" sz="1050" dirty="0"/>
              <a:t>Task</a:t>
            </a:r>
          </a:p>
          <a:p>
            <a:pPr marL="171450" indent="-171450" algn="ctr">
              <a:buFontTx/>
              <a:buChar char="-"/>
            </a:pPr>
            <a:r>
              <a:rPr lang="en-US" sz="1050" dirty="0"/>
              <a:t>Task</a:t>
            </a:r>
          </a:p>
          <a:p>
            <a:pPr marL="171450" indent="-171450" algn="ctr">
              <a:buFontTx/>
              <a:buChar char="-"/>
            </a:pPr>
            <a:r>
              <a:rPr lang="en-US" sz="1050" dirty="0"/>
              <a:t>Task</a:t>
            </a:r>
          </a:p>
          <a:p>
            <a:pPr marL="171450" indent="-171450" algn="ctr">
              <a:buFontTx/>
              <a:buChar char="-"/>
            </a:pPr>
            <a:endParaRPr lang="en-US" sz="1050" dirty="0"/>
          </a:p>
        </p:txBody>
      </p:sp>
      <p:sp>
        <p:nvSpPr>
          <p:cNvPr id="11" name="Smiley Face 10">
            <a:extLst>
              <a:ext uri="{FF2B5EF4-FFF2-40B4-BE49-F238E27FC236}">
                <a16:creationId xmlns:a16="http://schemas.microsoft.com/office/drawing/2014/main" id="{FB4D1467-0E74-4089-C19A-EB53086F1877}"/>
              </a:ext>
            </a:extLst>
          </p:cNvPr>
          <p:cNvSpPr/>
          <p:nvPr/>
        </p:nvSpPr>
        <p:spPr>
          <a:xfrm>
            <a:off x="338726" y="2871502"/>
            <a:ext cx="547539" cy="481297"/>
          </a:xfrm>
          <a:prstGeom prst="smileyFac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3" name="Flowchart: Magnetic Disk 12">
            <a:extLst>
              <a:ext uri="{FF2B5EF4-FFF2-40B4-BE49-F238E27FC236}">
                <a16:creationId xmlns:a16="http://schemas.microsoft.com/office/drawing/2014/main" id="{6148058D-6442-46A6-4F1E-20C3BD113247}"/>
              </a:ext>
            </a:extLst>
          </p:cNvPr>
          <p:cNvSpPr/>
          <p:nvPr/>
        </p:nvSpPr>
        <p:spPr>
          <a:xfrm>
            <a:off x="4288548" y="5490158"/>
            <a:ext cx="588252" cy="320865"/>
          </a:xfrm>
          <a:prstGeom prst="flowChartMagneticDisk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CMDB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320D4AA-B92E-4E3D-9ED0-63A4891CE95B}"/>
              </a:ext>
            </a:extLst>
          </p:cNvPr>
          <p:cNvCxnSpPr>
            <a:cxnSpLocks/>
            <a:stCxn id="11" idx="6"/>
            <a:endCxn id="10" idx="1"/>
          </p:cNvCxnSpPr>
          <p:nvPr/>
        </p:nvCxnSpPr>
        <p:spPr>
          <a:xfrm flipV="1">
            <a:off x="886265" y="3100790"/>
            <a:ext cx="737869" cy="113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8ED6BBE-F16D-5455-76D2-37DDE3E70595}"/>
              </a:ext>
            </a:extLst>
          </p:cNvPr>
          <p:cNvCxnSpPr>
            <a:cxnSpLocks/>
            <a:stCxn id="10" idx="3"/>
            <a:endCxn id="3" idx="1"/>
          </p:cNvCxnSpPr>
          <p:nvPr/>
        </p:nvCxnSpPr>
        <p:spPr>
          <a:xfrm>
            <a:off x="2329954" y="3100790"/>
            <a:ext cx="5496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1617BC5-AF44-BC75-E234-C4E6DED051FB}"/>
              </a:ext>
            </a:extLst>
          </p:cNvPr>
          <p:cNvCxnSpPr>
            <a:cxnSpLocks/>
            <a:stCxn id="3" idx="3"/>
            <a:endCxn id="4" idx="4"/>
          </p:cNvCxnSpPr>
          <p:nvPr/>
        </p:nvCxnSpPr>
        <p:spPr>
          <a:xfrm flipV="1">
            <a:off x="6331818" y="2310605"/>
            <a:ext cx="916988" cy="790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DA730EA-CF96-D155-D413-284F2BC5C27F}"/>
              </a:ext>
            </a:extLst>
          </p:cNvPr>
          <p:cNvCxnSpPr>
            <a:cxnSpLocks/>
            <a:stCxn id="3" idx="3"/>
            <a:endCxn id="9" idx="2"/>
          </p:cNvCxnSpPr>
          <p:nvPr/>
        </p:nvCxnSpPr>
        <p:spPr>
          <a:xfrm>
            <a:off x="6331818" y="3100790"/>
            <a:ext cx="817750" cy="598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B84A48F-523A-8A0D-8444-C54A56EC6354}"/>
              </a:ext>
            </a:extLst>
          </p:cNvPr>
          <p:cNvCxnSpPr>
            <a:cxnSpLocks/>
            <a:stCxn id="13" idx="1"/>
            <a:endCxn id="3" idx="2"/>
          </p:cNvCxnSpPr>
          <p:nvPr/>
        </p:nvCxnSpPr>
        <p:spPr>
          <a:xfrm flipV="1">
            <a:off x="4582674" y="4295791"/>
            <a:ext cx="23031" cy="1194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2CB39CE-D218-DEDE-06D2-D604AF50B693}"/>
              </a:ext>
            </a:extLst>
          </p:cNvPr>
          <p:cNvSpPr txBox="1"/>
          <p:nvPr/>
        </p:nvSpPr>
        <p:spPr>
          <a:xfrm>
            <a:off x="392479" y="3449300"/>
            <a:ext cx="5347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Users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929AB7-BE11-76A4-DFA8-7B91C3A3E884}"/>
              </a:ext>
            </a:extLst>
          </p:cNvPr>
          <p:cNvSpPr txBox="1"/>
          <p:nvPr/>
        </p:nvSpPr>
        <p:spPr>
          <a:xfrm>
            <a:off x="4222934" y="5823723"/>
            <a:ext cx="80626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Servers    Reference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D0A0ED-21F8-19BC-D16A-CC51702CCC20}"/>
              </a:ext>
            </a:extLst>
          </p:cNvPr>
          <p:cNvSpPr txBox="1"/>
          <p:nvPr/>
        </p:nvSpPr>
        <p:spPr>
          <a:xfrm>
            <a:off x="7923652" y="2071538"/>
            <a:ext cx="5347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Hosts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F8904B-A7CD-C7A0-E667-0144A079E15E}"/>
              </a:ext>
            </a:extLst>
          </p:cNvPr>
          <p:cNvSpPr txBox="1"/>
          <p:nvPr/>
        </p:nvSpPr>
        <p:spPr>
          <a:xfrm>
            <a:off x="7706205" y="3491278"/>
            <a:ext cx="8228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Networking</a:t>
            </a:r>
          </a:p>
        </p:txBody>
      </p:sp>
      <p:sp>
        <p:nvSpPr>
          <p:cNvPr id="56" name="Callout: Quad Arrow 55">
            <a:extLst>
              <a:ext uri="{FF2B5EF4-FFF2-40B4-BE49-F238E27FC236}">
                <a16:creationId xmlns:a16="http://schemas.microsoft.com/office/drawing/2014/main" id="{CFE3E5D3-65C9-E83A-A26D-74DFEBB55653}"/>
              </a:ext>
            </a:extLst>
          </p:cNvPr>
          <p:cNvSpPr/>
          <p:nvPr/>
        </p:nvSpPr>
        <p:spPr>
          <a:xfrm>
            <a:off x="5029200" y="1981200"/>
            <a:ext cx="1036590" cy="1036590"/>
          </a:xfrm>
          <a:prstGeom prst="quadArrowCallout">
            <a:avLst>
              <a:gd name="adj1" fmla="val 10161"/>
              <a:gd name="adj2" fmla="val 19559"/>
              <a:gd name="adj3" fmla="val 10161"/>
              <a:gd name="adj4" fmla="val 4812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rgbClr val="FFC000"/>
                </a:solidFill>
              </a:rPr>
              <a:t>Plugins</a:t>
            </a:r>
          </a:p>
        </p:txBody>
      </p:sp>
      <p:sp>
        <p:nvSpPr>
          <p:cNvPr id="57" name="Ribbon: Curved and Tilted Up 56">
            <a:extLst>
              <a:ext uri="{FF2B5EF4-FFF2-40B4-BE49-F238E27FC236}">
                <a16:creationId xmlns:a16="http://schemas.microsoft.com/office/drawing/2014/main" id="{7933B881-BA03-BD3D-309E-D084AEBF306F}"/>
              </a:ext>
            </a:extLst>
          </p:cNvPr>
          <p:cNvSpPr/>
          <p:nvPr/>
        </p:nvSpPr>
        <p:spPr>
          <a:xfrm>
            <a:off x="3997629" y="3466740"/>
            <a:ext cx="1216152" cy="758952"/>
          </a:xfrm>
          <a:prstGeom prst="ellipseRibbon2">
            <a:avLst>
              <a:gd name="adj1" fmla="val 49263"/>
              <a:gd name="adj2" fmla="val 60443"/>
              <a:gd name="adj3" fmla="val 2975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C000"/>
                </a:solidFill>
              </a:rPr>
              <a:t>Inventory</a:t>
            </a:r>
          </a:p>
        </p:txBody>
      </p:sp>
      <p:sp>
        <p:nvSpPr>
          <p:cNvPr id="58" name="Plaque 57">
            <a:extLst>
              <a:ext uri="{FF2B5EF4-FFF2-40B4-BE49-F238E27FC236}">
                <a16:creationId xmlns:a16="http://schemas.microsoft.com/office/drawing/2014/main" id="{2731183C-2A01-5684-1ABE-AA8D4D1E50AB}"/>
              </a:ext>
            </a:extLst>
          </p:cNvPr>
          <p:cNvSpPr/>
          <p:nvPr/>
        </p:nvSpPr>
        <p:spPr>
          <a:xfrm>
            <a:off x="3082572" y="2154718"/>
            <a:ext cx="1036589" cy="689553"/>
          </a:xfrm>
          <a:prstGeom prst="plaque">
            <a:avLst>
              <a:gd name="adj" fmla="val 2955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C000"/>
                </a:solidFill>
              </a:rPr>
              <a:t>Modules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62A7B3-D132-AE95-FD82-075B17E29883}"/>
              </a:ext>
            </a:extLst>
          </p:cNvPr>
          <p:cNvSpPr/>
          <p:nvPr/>
        </p:nvSpPr>
        <p:spPr>
          <a:xfrm>
            <a:off x="1716986" y="2871502"/>
            <a:ext cx="549638" cy="1838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050" dirty="0"/>
              <a:t>Task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0F6BDC-A085-D1B9-7097-D707597E97E2}"/>
              </a:ext>
            </a:extLst>
          </p:cNvPr>
          <p:cNvSpPr/>
          <p:nvPr/>
        </p:nvSpPr>
        <p:spPr>
          <a:xfrm>
            <a:off x="7249091" y="2160793"/>
            <a:ext cx="549638" cy="1838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050" dirty="0"/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1666051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4.07407E-6 L -1.94444E-6 0.04328 C -1.94444E-6 0.06273 0.079 0.08657 0.14288 0.08657 L 0.28577 0.08657 " pathEditMode="relative" rAng="16200000" ptsTypes="AAAA">
                                      <p:cBhvr>
                                        <p:cTn id="1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288" y="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577 0.08657 L 0.23004 0.08657 C 0.20521 0.0868 0.17465 0.05115 0.17431 0.02176 L 0.17465 -0.04306 " pathEditMode="relative" rAng="10800000" ptsTypes="AAAA">
                                      <p:cBhvr>
                                        <p:cTn id="1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73" y="-64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7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465 -0.04305 L 0.29097 -0.04421 C 0.31545 -0.04398 0.35191 -0.04722 0.38958 -0.05254 C 0.43247 -0.05856 0.46667 -0.06528 0.49063 -0.07222 L 0.60486 -0.10324 " pathEditMode="relative" rAng="21240000" ptsTypes="AAAAA">
                                      <p:cBhvr>
                                        <p:cTn id="1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580" y="-19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0.00047 L 5.55556E-7 0.05047 C 5.55556E-7 0.07315 -0.16736 0.10047 -0.30243 0.10047 L -0.60469 0.10047 " pathEditMode="relative" rAng="16200000" ptsTypes="AAAA">
                                      <p:cBhvr>
                                        <p:cTn id="2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243" y="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2" grpId="2" animBg="1"/>
      <p:bldP spid="12" grpId="3" animBg="1"/>
      <p:bldP spid="23" grpId="0" animBg="1"/>
      <p:bldP spid="23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E1DB75-CA31-C12F-E26C-3ECB4B0B9D68}"/>
              </a:ext>
            </a:extLst>
          </p:cNvPr>
          <p:cNvSpPr txBox="1"/>
          <p:nvPr/>
        </p:nvSpPr>
        <p:spPr>
          <a:xfrm>
            <a:off x="1405801" y="1039680"/>
            <a:ext cx="2480400" cy="1156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90000" tIns="45000" rIns="90000" bIns="45000" anchorCtr="0" compatLnSpc="1"/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# yum install ansible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73D1AE-AD48-34C8-043A-645674C27CE4}"/>
              </a:ext>
            </a:extLst>
          </p:cNvPr>
          <p:cNvSpPr txBox="1"/>
          <p:nvPr/>
        </p:nvSpPr>
        <p:spPr>
          <a:xfrm>
            <a:off x="474300" y="4343400"/>
            <a:ext cx="8195400" cy="15306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90000" tIns="45000" rIns="90000" bIns="45000" anchorCtr="0" compatLnSpc="1"/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$ ansible 127.0.0.1, all -m ping       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FF66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[WARNING]: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FF66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provided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FF66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hosts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FF66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list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FF66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FF66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is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FF66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FF66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empty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FF66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,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FF66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only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FF66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localhost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FF66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is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FF66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FF66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available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FF66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. Note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FF66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that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FF66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the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FF66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implicit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FF66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localhost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FF66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does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FF66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not match 'all'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200" b="0" i="0" u="none" strike="noStrike" cap="none" baseline="0" dirty="0">
              <a:ln>
                <a:noFill/>
              </a:ln>
              <a:solidFill>
                <a:srgbClr val="006633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127.0.0.1 | SUCCESS =&gt;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"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changed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": false,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"ping": "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pong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"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D419FA-0F05-F438-EA4F-947A5B9EC164}"/>
              </a:ext>
            </a:extLst>
          </p:cNvPr>
          <p:cNvSpPr txBox="1"/>
          <p:nvPr/>
        </p:nvSpPr>
        <p:spPr>
          <a:xfrm>
            <a:off x="5257800" y="1039680"/>
            <a:ext cx="2480400" cy="1156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90000" tIns="45000" rIns="90000" bIns="45000" anchorCtr="0" compatLnSpc="1"/>
          <a:lstStyle/>
          <a:p>
            <a:pPr marL="0" marR="0" lvl="0" indent="0" algn="l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#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apt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install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ansible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9105C8-4B96-F6CD-6CB9-F86FD53FA3FB}"/>
              </a:ext>
            </a:extLst>
          </p:cNvPr>
          <p:cNvSpPr txBox="1"/>
          <p:nvPr/>
        </p:nvSpPr>
        <p:spPr>
          <a:xfrm>
            <a:off x="760320" y="2691540"/>
            <a:ext cx="7623360" cy="7374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90000" tIns="45000" rIns="90000" bIns="45000" anchorCtr="0" compatLnSpc="1"/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$ ansible -i &lt;Inventaire&gt; all  -m &lt;module&gt; [-e extra vars] [-a MODULES-ARGS]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200" b="0" i="0" u="none" strike="noStrike" cap="none" baseline="0" dirty="0">
              <a:ln>
                <a:noFill/>
              </a:ln>
              <a:solidFill>
                <a:srgbClr val="FFFFFF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974978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FAAE12D-29E5-ADA0-8AF3-F852DF4BD1FB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Command 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C058D8-4A29-CF26-8863-72DC1C377E37}"/>
              </a:ext>
            </a:extLst>
          </p:cNvPr>
          <p:cNvSpPr txBox="1"/>
          <p:nvPr/>
        </p:nvSpPr>
        <p:spPr>
          <a:xfrm>
            <a:off x="790800" y="2400570"/>
            <a:ext cx="7623360" cy="3745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90000" tIns="45000" rIns="90000" bIns="45000" anchorCtr="0" compatLnSpc="1"/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100" b="0" i="0" u="none" strike="noStrike" cap="none" baseline="0" dirty="0">
              <a:ln>
                <a:noFill/>
              </a:ln>
              <a:solidFill>
                <a:srgbClr val="FFFFFF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100" b="0" i="0" u="none" strike="noStrike" cap="none" baseline="0" dirty="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PLAY [127.0.0.1] ***************************************************************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100" b="0" i="0" u="none" strike="noStrike" cap="none" baseline="0" dirty="0">
              <a:ln>
                <a:noFill/>
              </a:ln>
              <a:solidFill>
                <a:srgbClr val="FFFFFF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100" b="0" i="0" u="none" strike="noStrike" cap="none" baseline="0" dirty="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PLAY [all] *********************************************************************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100" b="0" i="0" u="none" strike="noStrike" cap="none" baseline="0" dirty="0">
              <a:ln>
                <a:noFill/>
              </a:ln>
              <a:solidFill>
                <a:srgbClr val="FFFFFF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100" b="0" i="0" u="none" strike="noStrike" cap="none" baseline="0" dirty="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TASK [</a:t>
            </a:r>
            <a:r>
              <a:rPr lang="fr-FR" sz="1100" b="0" i="0" u="none" strike="noStrike" cap="none" baseline="0" dirty="0" err="1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Gathering</a:t>
            </a:r>
            <a:r>
              <a:rPr lang="fr-FR" sz="1100" b="0" i="0" u="none" strike="noStrike" cap="none" baseline="0" dirty="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100" b="0" i="0" u="none" strike="noStrike" cap="none" baseline="0" dirty="0" err="1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Facts</a:t>
            </a:r>
            <a:r>
              <a:rPr lang="fr-FR" sz="1100" b="0" i="0" u="none" strike="noStrike" cap="none" baseline="0" dirty="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] *********************************************************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100" b="0" i="0" u="none" strike="noStrike" cap="none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ok: [127.0.0.1]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100" b="0" i="0" u="none" strike="noStrike" cap="none" baseline="0" dirty="0">
              <a:ln>
                <a:noFill/>
              </a:ln>
              <a:solidFill>
                <a:srgbClr val="FFFFFF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100" b="0" i="0" u="none" strike="noStrike" cap="none" baseline="0" dirty="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TASK [PING] ********************************************************************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100" b="0" i="0" u="none" strike="noStrike" cap="none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ok: [127.0.0.1]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100" b="0" i="0" u="none" strike="noStrike" cap="none" baseline="0" dirty="0">
              <a:ln>
                <a:noFill/>
              </a:ln>
              <a:solidFill>
                <a:srgbClr val="FFFFFF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100" b="0" i="0" u="none" strike="noStrike" cap="none" baseline="0" dirty="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TASK [</a:t>
            </a:r>
            <a:r>
              <a:rPr lang="fr-FR" sz="1100" b="0" i="0" u="none" strike="noStrike" cap="none" baseline="0" dirty="0" err="1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resultat</a:t>
            </a:r>
            <a:r>
              <a:rPr lang="fr-FR" sz="1100" b="0" i="0" u="none" strike="noStrike" cap="none" baseline="0" dirty="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] ****************************************************************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100" b="0" i="0" u="none" strike="noStrike" cap="none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ok: [127.0.0.1] =&gt; {           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100" b="0" i="0" u="none" strike="noStrike" cap="none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"msg": { 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100" b="0" i="0" u="none" strike="noStrike" cap="none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    "</a:t>
            </a:r>
            <a:r>
              <a:rPr lang="fr-FR" sz="1100" b="0" i="0" u="none" strike="noStrike" cap="none" baseline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changed</a:t>
            </a:r>
            <a:r>
              <a:rPr lang="fr-FR" sz="1100" b="0" i="0" u="none" strike="noStrike" cap="none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": false,      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100" b="0" i="0" u="none" strike="noStrike" cap="none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    "</a:t>
            </a:r>
            <a:r>
              <a:rPr lang="fr-FR" sz="1100" b="0" i="0" u="none" strike="noStrike" cap="none" baseline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failed</a:t>
            </a:r>
            <a:r>
              <a:rPr lang="fr-FR" sz="1100" b="0" i="0" u="none" strike="noStrike" cap="none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": false,       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100" b="0" i="0" u="none" strike="noStrike" cap="none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    "ping": "</a:t>
            </a:r>
            <a:r>
              <a:rPr lang="fr-FR" sz="1100" b="0" i="0" u="none" strike="noStrike" cap="none" baseline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pong</a:t>
            </a:r>
            <a:r>
              <a:rPr lang="fr-FR" sz="1100" b="0" i="0" u="none" strike="noStrike" cap="none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"         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100" b="0" i="0" u="none" strike="noStrike" cap="none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}        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100" b="0" i="0" u="none" strike="noStrike" cap="none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            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100" b="0" i="0" u="none" strike="noStrike" cap="none" baseline="0" dirty="0">
              <a:ln>
                <a:noFill/>
              </a:ln>
              <a:solidFill>
                <a:srgbClr val="FFFFFF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100" b="0" i="0" u="none" strike="noStrike" cap="none" baseline="0" dirty="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PLAY RECAP *********************************************************************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100" b="0" i="0" u="none" strike="noStrike" cap="none" baseline="0" dirty="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127.0.0.1                  : ok=3    </a:t>
            </a:r>
            <a:r>
              <a:rPr lang="fr-FR" sz="1100" b="0" i="0" u="none" strike="noStrike" cap="none" baseline="0" dirty="0" err="1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changed</a:t>
            </a:r>
            <a:r>
              <a:rPr lang="fr-FR" sz="1100" b="0" i="0" u="none" strike="noStrike" cap="none" baseline="0" dirty="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=0    </a:t>
            </a:r>
            <a:r>
              <a:rPr lang="fr-FR" sz="1100" b="0" i="0" u="none" strike="noStrike" cap="none" baseline="0" dirty="0" err="1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unreachable</a:t>
            </a:r>
            <a:r>
              <a:rPr lang="fr-FR" sz="1100" b="0" i="0" u="none" strike="noStrike" cap="none" baseline="0" dirty="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=0    </a:t>
            </a:r>
            <a:r>
              <a:rPr lang="fr-FR" sz="1100" b="0" i="0" u="none" strike="noStrike" cap="none" baseline="0" dirty="0" err="1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failed</a:t>
            </a:r>
            <a:r>
              <a:rPr lang="fr-FR" sz="1100" b="0" i="0" u="none" strike="noStrike" cap="none" baseline="0" dirty="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=0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100" b="0" i="0" u="none" strike="noStrike" cap="none" baseline="0" dirty="0">
              <a:ln>
                <a:noFill/>
              </a:ln>
              <a:solidFill>
                <a:srgbClr val="FFFFFF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3053EC-9621-A976-8A64-F6409BBFFCE3}"/>
              </a:ext>
            </a:extLst>
          </p:cNvPr>
          <p:cNvSpPr txBox="1"/>
          <p:nvPr/>
        </p:nvSpPr>
        <p:spPr>
          <a:xfrm>
            <a:off x="794610" y="1909020"/>
            <a:ext cx="7623360" cy="272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90000" tIns="45000" rIns="90000" bIns="45000" anchorCtr="0" compatLnSpc="1"/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100" b="0" i="0" u="none" strike="noStrike" cap="none" baseline="0" dirty="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$ ansible-</a:t>
            </a:r>
            <a:r>
              <a:rPr lang="fr-FR" sz="1100" b="0" i="0" u="none" strike="noStrike" cap="none" baseline="0" dirty="0" err="1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playbook</a:t>
            </a:r>
            <a:r>
              <a:rPr lang="fr-FR" sz="1100" b="0" i="0" u="none" strike="noStrike" cap="none" baseline="0" dirty="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-i 127.0.0.1, </a:t>
            </a:r>
            <a:r>
              <a:rPr lang="fr-FR" sz="1100" b="0" i="0" u="none" strike="noStrike" cap="none" baseline="0" dirty="0" err="1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ping.yaml</a:t>
            </a:r>
            <a:r>
              <a:rPr lang="fr-FR" sz="1100" b="0" i="0" u="none" strike="noStrike" cap="none" baseline="0" dirty="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CA2F3C-CD02-F240-FC41-CF3D941AE099}"/>
              </a:ext>
            </a:extLst>
          </p:cNvPr>
          <p:cNvSpPr txBox="1"/>
          <p:nvPr/>
        </p:nvSpPr>
        <p:spPr>
          <a:xfrm>
            <a:off x="790800" y="533490"/>
            <a:ext cx="7623360" cy="1156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90000" tIns="45000" rIns="90000" bIns="45000" anchorCtr="0" compatLnSpc="1"/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200" b="0" i="0" u="none" strike="noStrike" cap="none" baseline="0" dirty="0">
              <a:ln>
                <a:noFill/>
              </a:ln>
              <a:solidFill>
                <a:srgbClr val="FFFFFF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$ ansible-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playbook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-i &lt;inventaire&gt; [-l &lt;hosts…&gt;] [-e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extravars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…] &lt;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playbook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&gt;     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200" b="0" i="0" u="none" strike="noStrike" cap="none" baseline="0" dirty="0">
              <a:ln>
                <a:noFill/>
              </a:ln>
              <a:solidFill>
                <a:srgbClr val="FF66FF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CEB9AF9-7694-C66B-9BAA-0691483F6008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Inventory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FBEBCA2-35A6-65BC-D934-DF2B98A38455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1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https://docs.ansible.com/ansible/latest/user_guide/intro_inventory.html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3E62DE-9F6E-C43B-4C93-41CF3C423FFC}"/>
              </a:ext>
            </a:extLst>
          </p:cNvPr>
          <p:cNvSpPr txBox="1"/>
          <p:nvPr/>
        </p:nvSpPr>
        <p:spPr>
          <a:xfrm>
            <a:off x="914400" y="1166842"/>
            <a:ext cx="73152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What is an Inventory?</a:t>
            </a:r>
          </a:p>
          <a:p>
            <a:endParaRPr lang="en-US" dirty="0"/>
          </a:p>
          <a:p>
            <a:r>
              <a:rPr lang="en-US" b="1" dirty="0"/>
              <a:t>Definition</a:t>
            </a:r>
            <a:r>
              <a:rPr lang="en-US" dirty="0"/>
              <a:t>: </a:t>
            </a:r>
          </a:p>
          <a:p>
            <a:r>
              <a:rPr lang="en-US" dirty="0"/>
              <a:t>	The list of managed nodes (or hosts) that Ansible configures.</a:t>
            </a:r>
          </a:p>
          <a:p>
            <a:r>
              <a:rPr lang="en-US" b="1" dirty="0"/>
              <a:t>Formats</a:t>
            </a:r>
            <a:r>
              <a:rPr lang="en-US" dirty="0"/>
              <a:t>: </a:t>
            </a:r>
          </a:p>
          <a:p>
            <a:r>
              <a:rPr lang="en-US" dirty="0"/>
              <a:t>	Various formats, with INI and YAML.</a:t>
            </a:r>
          </a:p>
          <a:p>
            <a:r>
              <a:rPr lang="en-US" b="1" dirty="0"/>
              <a:t>Default Location: </a:t>
            </a:r>
          </a:p>
          <a:p>
            <a:r>
              <a:rPr lang="en-US" dirty="0"/>
              <a:t>	The default inventory file is located at </a:t>
            </a:r>
            <a:r>
              <a:rPr lang="en-US" i="1" dirty="0"/>
              <a:t>/</a:t>
            </a:r>
            <a:r>
              <a:rPr lang="en-US" i="1" dirty="0" err="1"/>
              <a:t>etc</a:t>
            </a:r>
            <a:r>
              <a:rPr lang="en-US" i="1" dirty="0"/>
              <a:t>/ansible/hosts.</a:t>
            </a:r>
          </a:p>
          <a:p>
            <a:r>
              <a:rPr lang="en-US" b="1" dirty="0"/>
              <a:t>Groups</a:t>
            </a:r>
            <a:r>
              <a:rPr lang="en-US" dirty="0"/>
              <a:t>: </a:t>
            </a:r>
          </a:p>
          <a:p>
            <a:r>
              <a:rPr lang="en-US" dirty="0"/>
              <a:t>	Hosts can be organized into groups to simplify management and task execution.</a:t>
            </a:r>
          </a:p>
          <a:p>
            <a:r>
              <a:rPr lang="en-US" b="1" dirty="0"/>
              <a:t>Dynamic Inventory: </a:t>
            </a:r>
          </a:p>
          <a:p>
            <a:r>
              <a:rPr lang="en-US" dirty="0"/>
              <a:t>	Plugins to generate inventories from external sources</a:t>
            </a:r>
          </a:p>
        </p:txBody>
      </p:sp>
    </p:spTree>
    <p:extLst>
      <p:ext uri="{BB962C8B-B14F-4D97-AF65-F5344CB8AC3E}">
        <p14:creationId xmlns:p14="http://schemas.microsoft.com/office/powerpoint/2010/main" val="2455998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FCC689D-DD1A-AA99-C9C2-574632430DDB}"/>
              </a:ext>
            </a:extLst>
          </p:cNvPr>
          <p:cNvSpPr/>
          <p:nvPr/>
        </p:nvSpPr>
        <p:spPr>
          <a:xfrm>
            <a:off x="463680" y="1728719"/>
            <a:ext cx="5035320" cy="35830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99FF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60840" rIns="90000" bIns="45000" anchor="t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Projet1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38E1749-5948-AAC1-FE36-F96B43FA3C16}"/>
              </a:ext>
            </a:extLst>
          </p:cNvPr>
          <p:cNvSpPr/>
          <p:nvPr/>
        </p:nvSpPr>
        <p:spPr>
          <a:xfrm>
            <a:off x="774719" y="3619440"/>
            <a:ext cx="4295880" cy="1417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66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6084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DB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35F5373-0BEE-2604-53C1-D9CAC6F3BE3F}"/>
              </a:ext>
            </a:extLst>
          </p:cNvPr>
          <p:cNvSpPr/>
          <p:nvPr/>
        </p:nvSpPr>
        <p:spPr>
          <a:xfrm>
            <a:off x="774719" y="2085839"/>
            <a:ext cx="4295880" cy="14353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66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6084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WEB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7816618-301A-0C89-BF53-F71DB4FB4113}"/>
              </a:ext>
            </a:extLst>
          </p:cNvPr>
          <p:cNvSpPr/>
          <p:nvPr/>
        </p:nvSpPr>
        <p:spPr>
          <a:xfrm>
            <a:off x="3218040" y="2344680"/>
            <a:ext cx="1666800" cy="2317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6084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APP2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F121E9D-5B1A-4660-744D-A50BF86944D7}"/>
              </a:ext>
            </a:extLst>
          </p:cNvPr>
          <p:cNvSpPr/>
          <p:nvPr/>
        </p:nvSpPr>
        <p:spPr>
          <a:xfrm>
            <a:off x="971640" y="2344680"/>
            <a:ext cx="1666800" cy="2317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6084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APP 1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E9E045F-8005-860B-570F-4E8AF37C2E34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Inventory EXAMPLE : FLAT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13F0E5-5CBE-AE6A-3889-D7AB517BE340}"/>
              </a:ext>
            </a:extLst>
          </p:cNvPr>
          <p:cNvSpPr/>
          <p:nvPr/>
        </p:nvSpPr>
        <p:spPr>
          <a:xfrm>
            <a:off x="5695920" y="1122480"/>
            <a:ext cx="3279959" cy="52855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58320" rIns="90000" bIns="45000" anchor="t" anchorCtr="0" compatLnSpc="1">
            <a:no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[</a:t>
            </a:r>
            <a:r>
              <a:rPr lang="en-US" sz="1500" b="1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WEB</a:t>
            </a:r>
            <a:r>
              <a:rPr lang="en-US" sz="15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]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SRV1-1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SRV1-2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SRV2-1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SRV2-2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500" b="0" i="0" u="none" strike="noStrike" cap="none" baseline="0">
              <a:ln>
                <a:noFill/>
              </a:ln>
              <a:solidFill>
                <a:schemeClr val="bg1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[</a:t>
            </a:r>
            <a:r>
              <a:rPr lang="en-US" sz="1500" b="1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DB</a:t>
            </a:r>
            <a:r>
              <a:rPr lang="en-US" sz="15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]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SRV1-11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SRV1-12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SRV2-11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SRV2-12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500" b="0" i="0" u="none" strike="noStrike" cap="none" baseline="0">
              <a:ln>
                <a:noFill/>
              </a:ln>
              <a:solidFill>
                <a:schemeClr val="bg1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[</a:t>
            </a:r>
            <a:r>
              <a:rPr lang="en-US" sz="1500" b="1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APP1</a:t>
            </a:r>
            <a:r>
              <a:rPr lang="en-US" sz="15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]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SRV1-1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SRV1-2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SRV1-11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SRV1-12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500" b="0" i="0" u="none" strike="noStrike" cap="none" baseline="0">
              <a:ln>
                <a:noFill/>
              </a:ln>
              <a:solidFill>
                <a:schemeClr val="bg1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[</a:t>
            </a:r>
            <a:r>
              <a:rPr lang="en-US" sz="1500" b="1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APP2</a:t>
            </a:r>
            <a:r>
              <a:rPr lang="en-US" sz="15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]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SRV1-1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SRV1-2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SRV1-11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SRV1-12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...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56221A9-ADB9-D829-35A0-B05FFCB767B1}"/>
              </a:ext>
            </a:extLst>
          </p:cNvPr>
          <p:cNvSpPr/>
          <p:nvPr/>
        </p:nvSpPr>
        <p:spPr>
          <a:xfrm>
            <a:off x="1158840" y="2513160"/>
            <a:ext cx="480960" cy="428400"/>
          </a:xfrm>
          <a:custGeom>
            <a:avLst>
              <a:gd name="f0" fmla="val 54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-2147483647"/>
              <a:gd name="f9" fmla="val 2147483647"/>
              <a:gd name="f10" fmla="val 21600"/>
              <a:gd name="f11" fmla="+- 0 0 0"/>
              <a:gd name="f12" fmla="abs f4"/>
              <a:gd name="f13" fmla="abs f5"/>
              <a:gd name="f14" fmla="abs f6"/>
              <a:gd name="f15" fmla="pin 0 f0 21600"/>
              <a:gd name="f16" fmla="*/ f11 f1 1"/>
              <a:gd name="f17" fmla="?: f12 f4 1"/>
              <a:gd name="f18" fmla="?: f13 f5 1"/>
              <a:gd name="f19" fmla="?: f14 f6 1"/>
              <a:gd name="f20" fmla="val f15"/>
              <a:gd name="f21" fmla="*/ f16 1 f3"/>
              <a:gd name="f22" fmla="*/ f17 1 21600"/>
              <a:gd name="f23" fmla="*/ f18 1 21600"/>
              <a:gd name="f24" fmla="*/ 21600 f17 1"/>
              <a:gd name="f25" fmla="*/ 21600 f18 1"/>
              <a:gd name="f26" fmla="+- f7 f20 0"/>
              <a:gd name="f27" fmla="+- f21 0 f2"/>
              <a:gd name="f28" fmla="min f23 f22"/>
              <a:gd name="f29" fmla="*/ f24 1 f19"/>
              <a:gd name="f30" fmla="*/ f25 1 f19"/>
              <a:gd name="f31" fmla="+- f30 0 f20"/>
              <a:gd name="f32" fmla="+- f29 0 f20"/>
              <a:gd name="f33" fmla="+- f29 0 f26"/>
              <a:gd name="f34" fmla="+- f30 0 f26"/>
              <a:gd name="f35" fmla="val f29"/>
              <a:gd name="f36" fmla="val f30"/>
              <a:gd name="f37" fmla="*/ f7 f28 1"/>
              <a:gd name="f38" fmla="*/ f15 f28 1"/>
              <a:gd name="f39" fmla="*/ f26 f28 1"/>
              <a:gd name="f40" fmla="*/ f30 f28 1"/>
              <a:gd name="f41" fmla="*/ f29 f28 1"/>
              <a:gd name="f42" fmla="*/ f33 1 2"/>
              <a:gd name="f43" fmla="*/ f34 1 2"/>
              <a:gd name="f44" fmla="*/ f32 f28 1"/>
              <a:gd name="f45" fmla="*/ f36 f28 1"/>
              <a:gd name="f46" fmla="*/ f35 f28 1"/>
              <a:gd name="f47" fmla="*/ f31 f28 1"/>
              <a:gd name="f48" fmla="+- f26 f42 0"/>
              <a:gd name="f49" fmla="+- f26 f43 0"/>
              <a:gd name="f50" fmla="*/ f42 f28 1"/>
              <a:gd name="f51" fmla="*/ f43 f28 1"/>
              <a:gd name="f52" fmla="*/ f48 f28 1"/>
              <a:gd name="f53" fmla="*/ f49 f28 1"/>
            </a:gdLst>
            <a:ahLst>
              <a:ahXY gdRefY="f0" minY="f7" maxY="f10">
                <a:pos x="f37" y="f3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52" y="f37"/>
              </a:cxn>
              <a:cxn ang="f27">
                <a:pos x="f50" y="f39"/>
              </a:cxn>
              <a:cxn ang="f27">
                <a:pos x="f37" y="f53"/>
              </a:cxn>
              <a:cxn ang="f27">
                <a:pos x="f50" y="f40"/>
              </a:cxn>
              <a:cxn ang="f27">
                <a:pos x="f44" y="f53"/>
              </a:cxn>
              <a:cxn ang="f27">
                <a:pos x="f41" y="f51"/>
              </a:cxn>
            </a:cxnLst>
            <a:rect l="f37" t="f39" r="f44" b="f45"/>
            <a:pathLst>
              <a:path>
                <a:moveTo>
                  <a:pt x="f37" y="f45"/>
                </a:moveTo>
                <a:lnTo>
                  <a:pt x="f37" y="f39"/>
                </a:lnTo>
                <a:lnTo>
                  <a:pt x="f39" y="f37"/>
                </a:lnTo>
                <a:lnTo>
                  <a:pt x="f46" y="f37"/>
                </a:lnTo>
                <a:lnTo>
                  <a:pt x="f46" y="f47"/>
                </a:lnTo>
                <a:lnTo>
                  <a:pt x="f44" y="f45"/>
                </a:lnTo>
                <a:close/>
              </a:path>
              <a:path>
                <a:moveTo>
                  <a:pt x="f37" y="f39"/>
                </a:moveTo>
                <a:lnTo>
                  <a:pt x="f39" y="f37"/>
                </a:lnTo>
                <a:lnTo>
                  <a:pt x="f46" y="f37"/>
                </a:lnTo>
                <a:lnTo>
                  <a:pt x="f44" y="f39"/>
                </a:lnTo>
                <a:close/>
              </a:path>
              <a:path>
                <a:moveTo>
                  <a:pt x="f44" y="f45"/>
                </a:moveTo>
                <a:lnTo>
                  <a:pt x="f44" y="f39"/>
                </a:lnTo>
                <a:lnTo>
                  <a:pt x="f46" y="f37"/>
                </a:lnTo>
                <a:lnTo>
                  <a:pt x="f46" y="f47"/>
                </a:lnTo>
                <a:close/>
              </a:path>
            </a:pathLst>
          </a:custGeom>
          <a:solidFill>
            <a:srgbClr val="FF6600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40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SRV1-1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C6B1F1-3396-B560-0B74-4869EDDBC5A8}"/>
              </a:ext>
            </a:extLst>
          </p:cNvPr>
          <p:cNvSpPr/>
          <p:nvPr/>
        </p:nvSpPr>
        <p:spPr>
          <a:xfrm>
            <a:off x="1925640" y="2513160"/>
            <a:ext cx="480960" cy="428400"/>
          </a:xfrm>
          <a:custGeom>
            <a:avLst>
              <a:gd name="f0" fmla="val 54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-2147483647"/>
              <a:gd name="f9" fmla="val 2147483647"/>
              <a:gd name="f10" fmla="val 21600"/>
              <a:gd name="f11" fmla="+- 0 0 0"/>
              <a:gd name="f12" fmla="abs f4"/>
              <a:gd name="f13" fmla="abs f5"/>
              <a:gd name="f14" fmla="abs f6"/>
              <a:gd name="f15" fmla="pin 0 f0 21600"/>
              <a:gd name="f16" fmla="*/ f11 f1 1"/>
              <a:gd name="f17" fmla="?: f12 f4 1"/>
              <a:gd name="f18" fmla="?: f13 f5 1"/>
              <a:gd name="f19" fmla="?: f14 f6 1"/>
              <a:gd name="f20" fmla="val f15"/>
              <a:gd name="f21" fmla="*/ f16 1 f3"/>
              <a:gd name="f22" fmla="*/ f17 1 21600"/>
              <a:gd name="f23" fmla="*/ f18 1 21600"/>
              <a:gd name="f24" fmla="*/ 21600 f17 1"/>
              <a:gd name="f25" fmla="*/ 21600 f18 1"/>
              <a:gd name="f26" fmla="+- f7 f20 0"/>
              <a:gd name="f27" fmla="+- f21 0 f2"/>
              <a:gd name="f28" fmla="min f23 f22"/>
              <a:gd name="f29" fmla="*/ f24 1 f19"/>
              <a:gd name="f30" fmla="*/ f25 1 f19"/>
              <a:gd name="f31" fmla="+- f30 0 f20"/>
              <a:gd name="f32" fmla="+- f29 0 f20"/>
              <a:gd name="f33" fmla="+- f29 0 f26"/>
              <a:gd name="f34" fmla="+- f30 0 f26"/>
              <a:gd name="f35" fmla="val f29"/>
              <a:gd name="f36" fmla="val f30"/>
              <a:gd name="f37" fmla="*/ f7 f28 1"/>
              <a:gd name="f38" fmla="*/ f15 f28 1"/>
              <a:gd name="f39" fmla="*/ f26 f28 1"/>
              <a:gd name="f40" fmla="*/ f30 f28 1"/>
              <a:gd name="f41" fmla="*/ f29 f28 1"/>
              <a:gd name="f42" fmla="*/ f33 1 2"/>
              <a:gd name="f43" fmla="*/ f34 1 2"/>
              <a:gd name="f44" fmla="*/ f32 f28 1"/>
              <a:gd name="f45" fmla="*/ f36 f28 1"/>
              <a:gd name="f46" fmla="*/ f35 f28 1"/>
              <a:gd name="f47" fmla="*/ f31 f28 1"/>
              <a:gd name="f48" fmla="+- f26 f42 0"/>
              <a:gd name="f49" fmla="+- f26 f43 0"/>
              <a:gd name="f50" fmla="*/ f42 f28 1"/>
              <a:gd name="f51" fmla="*/ f43 f28 1"/>
              <a:gd name="f52" fmla="*/ f48 f28 1"/>
              <a:gd name="f53" fmla="*/ f49 f28 1"/>
            </a:gdLst>
            <a:ahLst>
              <a:ahXY gdRefY="f0" minY="f7" maxY="f10">
                <a:pos x="f37" y="f3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52" y="f37"/>
              </a:cxn>
              <a:cxn ang="f27">
                <a:pos x="f50" y="f39"/>
              </a:cxn>
              <a:cxn ang="f27">
                <a:pos x="f37" y="f53"/>
              </a:cxn>
              <a:cxn ang="f27">
                <a:pos x="f50" y="f40"/>
              </a:cxn>
              <a:cxn ang="f27">
                <a:pos x="f44" y="f53"/>
              </a:cxn>
              <a:cxn ang="f27">
                <a:pos x="f41" y="f51"/>
              </a:cxn>
            </a:cxnLst>
            <a:rect l="f37" t="f39" r="f44" b="f45"/>
            <a:pathLst>
              <a:path>
                <a:moveTo>
                  <a:pt x="f37" y="f45"/>
                </a:moveTo>
                <a:lnTo>
                  <a:pt x="f37" y="f39"/>
                </a:lnTo>
                <a:lnTo>
                  <a:pt x="f39" y="f37"/>
                </a:lnTo>
                <a:lnTo>
                  <a:pt x="f46" y="f37"/>
                </a:lnTo>
                <a:lnTo>
                  <a:pt x="f46" y="f47"/>
                </a:lnTo>
                <a:lnTo>
                  <a:pt x="f44" y="f45"/>
                </a:lnTo>
                <a:close/>
              </a:path>
              <a:path>
                <a:moveTo>
                  <a:pt x="f37" y="f39"/>
                </a:moveTo>
                <a:lnTo>
                  <a:pt x="f39" y="f37"/>
                </a:lnTo>
                <a:lnTo>
                  <a:pt x="f46" y="f37"/>
                </a:lnTo>
                <a:lnTo>
                  <a:pt x="f44" y="f39"/>
                </a:lnTo>
                <a:close/>
              </a:path>
              <a:path>
                <a:moveTo>
                  <a:pt x="f44" y="f45"/>
                </a:moveTo>
                <a:lnTo>
                  <a:pt x="f44" y="f39"/>
                </a:lnTo>
                <a:lnTo>
                  <a:pt x="f46" y="f37"/>
                </a:lnTo>
                <a:lnTo>
                  <a:pt x="f46" y="f47"/>
                </a:lnTo>
                <a:close/>
              </a:path>
            </a:pathLst>
          </a:custGeom>
          <a:solidFill>
            <a:srgbClr val="FF6600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40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SRV1-2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6C0B7B7-C8C7-79C2-E2F5-98ED1CC68680}"/>
              </a:ext>
            </a:extLst>
          </p:cNvPr>
          <p:cNvSpPr/>
          <p:nvPr/>
        </p:nvSpPr>
        <p:spPr>
          <a:xfrm>
            <a:off x="3378240" y="2513160"/>
            <a:ext cx="480960" cy="428400"/>
          </a:xfrm>
          <a:custGeom>
            <a:avLst>
              <a:gd name="f0" fmla="val 54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-2147483647"/>
              <a:gd name="f9" fmla="val 2147483647"/>
              <a:gd name="f10" fmla="val 21600"/>
              <a:gd name="f11" fmla="+- 0 0 0"/>
              <a:gd name="f12" fmla="abs f4"/>
              <a:gd name="f13" fmla="abs f5"/>
              <a:gd name="f14" fmla="abs f6"/>
              <a:gd name="f15" fmla="pin 0 f0 21600"/>
              <a:gd name="f16" fmla="*/ f11 f1 1"/>
              <a:gd name="f17" fmla="?: f12 f4 1"/>
              <a:gd name="f18" fmla="?: f13 f5 1"/>
              <a:gd name="f19" fmla="?: f14 f6 1"/>
              <a:gd name="f20" fmla="val f15"/>
              <a:gd name="f21" fmla="*/ f16 1 f3"/>
              <a:gd name="f22" fmla="*/ f17 1 21600"/>
              <a:gd name="f23" fmla="*/ f18 1 21600"/>
              <a:gd name="f24" fmla="*/ 21600 f17 1"/>
              <a:gd name="f25" fmla="*/ 21600 f18 1"/>
              <a:gd name="f26" fmla="+- f7 f20 0"/>
              <a:gd name="f27" fmla="+- f21 0 f2"/>
              <a:gd name="f28" fmla="min f23 f22"/>
              <a:gd name="f29" fmla="*/ f24 1 f19"/>
              <a:gd name="f30" fmla="*/ f25 1 f19"/>
              <a:gd name="f31" fmla="+- f30 0 f20"/>
              <a:gd name="f32" fmla="+- f29 0 f20"/>
              <a:gd name="f33" fmla="+- f29 0 f26"/>
              <a:gd name="f34" fmla="+- f30 0 f26"/>
              <a:gd name="f35" fmla="val f29"/>
              <a:gd name="f36" fmla="val f30"/>
              <a:gd name="f37" fmla="*/ f7 f28 1"/>
              <a:gd name="f38" fmla="*/ f15 f28 1"/>
              <a:gd name="f39" fmla="*/ f26 f28 1"/>
              <a:gd name="f40" fmla="*/ f30 f28 1"/>
              <a:gd name="f41" fmla="*/ f29 f28 1"/>
              <a:gd name="f42" fmla="*/ f33 1 2"/>
              <a:gd name="f43" fmla="*/ f34 1 2"/>
              <a:gd name="f44" fmla="*/ f32 f28 1"/>
              <a:gd name="f45" fmla="*/ f36 f28 1"/>
              <a:gd name="f46" fmla="*/ f35 f28 1"/>
              <a:gd name="f47" fmla="*/ f31 f28 1"/>
              <a:gd name="f48" fmla="+- f26 f42 0"/>
              <a:gd name="f49" fmla="+- f26 f43 0"/>
              <a:gd name="f50" fmla="*/ f42 f28 1"/>
              <a:gd name="f51" fmla="*/ f43 f28 1"/>
              <a:gd name="f52" fmla="*/ f48 f28 1"/>
              <a:gd name="f53" fmla="*/ f49 f28 1"/>
            </a:gdLst>
            <a:ahLst>
              <a:ahXY gdRefY="f0" minY="f7" maxY="f10">
                <a:pos x="f37" y="f3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52" y="f37"/>
              </a:cxn>
              <a:cxn ang="f27">
                <a:pos x="f50" y="f39"/>
              </a:cxn>
              <a:cxn ang="f27">
                <a:pos x="f37" y="f53"/>
              </a:cxn>
              <a:cxn ang="f27">
                <a:pos x="f50" y="f40"/>
              </a:cxn>
              <a:cxn ang="f27">
                <a:pos x="f44" y="f53"/>
              </a:cxn>
              <a:cxn ang="f27">
                <a:pos x="f41" y="f51"/>
              </a:cxn>
            </a:cxnLst>
            <a:rect l="f37" t="f39" r="f44" b="f45"/>
            <a:pathLst>
              <a:path>
                <a:moveTo>
                  <a:pt x="f37" y="f45"/>
                </a:moveTo>
                <a:lnTo>
                  <a:pt x="f37" y="f39"/>
                </a:lnTo>
                <a:lnTo>
                  <a:pt x="f39" y="f37"/>
                </a:lnTo>
                <a:lnTo>
                  <a:pt x="f46" y="f37"/>
                </a:lnTo>
                <a:lnTo>
                  <a:pt x="f46" y="f47"/>
                </a:lnTo>
                <a:lnTo>
                  <a:pt x="f44" y="f45"/>
                </a:lnTo>
                <a:close/>
              </a:path>
              <a:path>
                <a:moveTo>
                  <a:pt x="f37" y="f39"/>
                </a:moveTo>
                <a:lnTo>
                  <a:pt x="f39" y="f37"/>
                </a:lnTo>
                <a:lnTo>
                  <a:pt x="f46" y="f37"/>
                </a:lnTo>
                <a:lnTo>
                  <a:pt x="f44" y="f39"/>
                </a:lnTo>
                <a:close/>
              </a:path>
              <a:path>
                <a:moveTo>
                  <a:pt x="f44" y="f45"/>
                </a:moveTo>
                <a:lnTo>
                  <a:pt x="f44" y="f39"/>
                </a:lnTo>
                <a:lnTo>
                  <a:pt x="f46" y="f37"/>
                </a:lnTo>
                <a:lnTo>
                  <a:pt x="f46" y="f47"/>
                </a:lnTo>
                <a:close/>
              </a:path>
            </a:pathLst>
          </a:custGeom>
          <a:solidFill>
            <a:srgbClr val="FF6600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40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SRV2-1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14C1025-2261-71B8-4483-1E105E8879AF}"/>
              </a:ext>
            </a:extLst>
          </p:cNvPr>
          <p:cNvSpPr/>
          <p:nvPr/>
        </p:nvSpPr>
        <p:spPr>
          <a:xfrm>
            <a:off x="4216320" y="2513160"/>
            <a:ext cx="480960" cy="428400"/>
          </a:xfrm>
          <a:custGeom>
            <a:avLst>
              <a:gd name="f0" fmla="val 54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-2147483647"/>
              <a:gd name="f9" fmla="val 2147483647"/>
              <a:gd name="f10" fmla="val 21600"/>
              <a:gd name="f11" fmla="+- 0 0 0"/>
              <a:gd name="f12" fmla="abs f4"/>
              <a:gd name="f13" fmla="abs f5"/>
              <a:gd name="f14" fmla="abs f6"/>
              <a:gd name="f15" fmla="pin 0 f0 21600"/>
              <a:gd name="f16" fmla="*/ f11 f1 1"/>
              <a:gd name="f17" fmla="?: f12 f4 1"/>
              <a:gd name="f18" fmla="?: f13 f5 1"/>
              <a:gd name="f19" fmla="?: f14 f6 1"/>
              <a:gd name="f20" fmla="val f15"/>
              <a:gd name="f21" fmla="*/ f16 1 f3"/>
              <a:gd name="f22" fmla="*/ f17 1 21600"/>
              <a:gd name="f23" fmla="*/ f18 1 21600"/>
              <a:gd name="f24" fmla="*/ 21600 f17 1"/>
              <a:gd name="f25" fmla="*/ 21600 f18 1"/>
              <a:gd name="f26" fmla="+- f7 f20 0"/>
              <a:gd name="f27" fmla="+- f21 0 f2"/>
              <a:gd name="f28" fmla="min f23 f22"/>
              <a:gd name="f29" fmla="*/ f24 1 f19"/>
              <a:gd name="f30" fmla="*/ f25 1 f19"/>
              <a:gd name="f31" fmla="+- f30 0 f20"/>
              <a:gd name="f32" fmla="+- f29 0 f20"/>
              <a:gd name="f33" fmla="+- f29 0 f26"/>
              <a:gd name="f34" fmla="+- f30 0 f26"/>
              <a:gd name="f35" fmla="val f29"/>
              <a:gd name="f36" fmla="val f30"/>
              <a:gd name="f37" fmla="*/ f7 f28 1"/>
              <a:gd name="f38" fmla="*/ f15 f28 1"/>
              <a:gd name="f39" fmla="*/ f26 f28 1"/>
              <a:gd name="f40" fmla="*/ f30 f28 1"/>
              <a:gd name="f41" fmla="*/ f29 f28 1"/>
              <a:gd name="f42" fmla="*/ f33 1 2"/>
              <a:gd name="f43" fmla="*/ f34 1 2"/>
              <a:gd name="f44" fmla="*/ f32 f28 1"/>
              <a:gd name="f45" fmla="*/ f36 f28 1"/>
              <a:gd name="f46" fmla="*/ f35 f28 1"/>
              <a:gd name="f47" fmla="*/ f31 f28 1"/>
              <a:gd name="f48" fmla="+- f26 f42 0"/>
              <a:gd name="f49" fmla="+- f26 f43 0"/>
              <a:gd name="f50" fmla="*/ f42 f28 1"/>
              <a:gd name="f51" fmla="*/ f43 f28 1"/>
              <a:gd name="f52" fmla="*/ f48 f28 1"/>
              <a:gd name="f53" fmla="*/ f49 f28 1"/>
            </a:gdLst>
            <a:ahLst>
              <a:ahXY gdRefY="f0" minY="f7" maxY="f10">
                <a:pos x="f37" y="f3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52" y="f37"/>
              </a:cxn>
              <a:cxn ang="f27">
                <a:pos x="f50" y="f39"/>
              </a:cxn>
              <a:cxn ang="f27">
                <a:pos x="f37" y="f53"/>
              </a:cxn>
              <a:cxn ang="f27">
                <a:pos x="f50" y="f40"/>
              </a:cxn>
              <a:cxn ang="f27">
                <a:pos x="f44" y="f53"/>
              </a:cxn>
              <a:cxn ang="f27">
                <a:pos x="f41" y="f51"/>
              </a:cxn>
            </a:cxnLst>
            <a:rect l="f37" t="f39" r="f44" b="f45"/>
            <a:pathLst>
              <a:path>
                <a:moveTo>
                  <a:pt x="f37" y="f45"/>
                </a:moveTo>
                <a:lnTo>
                  <a:pt x="f37" y="f39"/>
                </a:lnTo>
                <a:lnTo>
                  <a:pt x="f39" y="f37"/>
                </a:lnTo>
                <a:lnTo>
                  <a:pt x="f46" y="f37"/>
                </a:lnTo>
                <a:lnTo>
                  <a:pt x="f46" y="f47"/>
                </a:lnTo>
                <a:lnTo>
                  <a:pt x="f44" y="f45"/>
                </a:lnTo>
                <a:close/>
              </a:path>
              <a:path>
                <a:moveTo>
                  <a:pt x="f37" y="f39"/>
                </a:moveTo>
                <a:lnTo>
                  <a:pt x="f39" y="f37"/>
                </a:lnTo>
                <a:lnTo>
                  <a:pt x="f46" y="f37"/>
                </a:lnTo>
                <a:lnTo>
                  <a:pt x="f44" y="f39"/>
                </a:lnTo>
                <a:close/>
              </a:path>
              <a:path>
                <a:moveTo>
                  <a:pt x="f44" y="f45"/>
                </a:moveTo>
                <a:lnTo>
                  <a:pt x="f44" y="f39"/>
                </a:lnTo>
                <a:lnTo>
                  <a:pt x="f46" y="f37"/>
                </a:lnTo>
                <a:lnTo>
                  <a:pt x="f46" y="f47"/>
                </a:lnTo>
                <a:close/>
              </a:path>
            </a:pathLst>
          </a:custGeom>
          <a:solidFill>
            <a:srgbClr val="FF6600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40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SRV2-2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732E2F8-4167-9FB0-13D7-72BABEB07EB5}"/>
              </a:ext>
            </a:extLst>
          </p:cNvPr>
          <p:cNvSpPr/>
          <p:nvPr/>
        </p:nvSpPr>
        <p:spPr>
          <a:xfrm>
            <a:off x="1158840" y="3911760"/>
            <a:ext cx="480960" cy="428400"/>
          </a:xfrm>
          <a:custGeom>
            <a:avLst>
              <a:gd name="f0" fmla="val 54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-2147483647"/>
              <a:gd name="f9" fmla="val 2147483647"/>
              <a:gd name="f10" fmla="val 21600"/>
              <a:gd name="f11" fmla="+- 0 0 0"/>
              <a:gd name="f12" fmla="abs f4"/>
              <a:gd name="f13" fmla="abs f5"/>
              <a:gd name="f14" fmla="abs f6"/>
              <a:gd name="f15" fmla="pin 0 f0 21600"/>
              <a:gd name="f16" fmla="*/ f11 f1 1"/>
              <a:gd name="f17" fmla="?: f12 f4 1"/>
              <a:gd name="f18" fmla="?: f13 f5 1"/>
              <a:gd name="f19" fmla="?: f14 f6 1"/>
              <a:gd name="f20" fmla="val f15"/>
              <a:gd name="f21" fmla="*/ f16 1 f3"/>
              <a:gd name="f22" fmla="*/ f17 1 21600"/>
              <a:gd name="f23" fmla="*/ f18 1 21600"/>
              <a:gd name="f24" fmla="*/ 21600 f17 1"/>
              <a:gd name="f25" fmla="*/ 21600 f18 1"/>
              <a:gd name="f26" fmla="+- f7 f20 0"/>
              <a:gd name="f27" fmla="+- f21 0 f2"/>
              <a:gd name="f28" fmla="min f23 f22"/>
              <a:gd name="f29" fmla="*/ f24 1 f19"/>
              <a:gd name="f30" fmla="*/ f25 1 f19"/>
              <a:gd name="f31" fmla="+- f30 0 f20"/>
              <a:gd name="f32" fmla="+- f29 0 f20"/>
              <a:gd name="f33" fmla="+- f29 0 f26"/>
              <a:gd name="f34" fmla="+- f30 0 f26"/>
              <a:gd name="f35" fmla="val f29"/>
              <a:gd name="f36" fmla="val f30"/>
              <a:gd name="f37" fmla="*/ f7 f28 1"/>
              <a:gd name="f38" fmla="*/ f15 f28 1"/>
              <a:gd name="f39" fmla="*/ f26 f28 1"/>
              <a:gd name="f40" fmla="*/ f30 f28 1"/>
              <a:gd name="f41" fmla="*/ f29 f28 1"/>
              <a:gd name="f42" fmla="*/ f33 1 2"/>
              <a:gd name="f43" fmla="*/ f34 1 2"/>
              <a:gd name="f44" fmla="*/ f32 f28 1"/>
              <a:gd name="f45" fmla="*/ f36 f28 1"/>
              <a:gd name="f46" fmla="*/ f35 f28 1"/>
              <a:gd name="f47" fmla="*/ f31 f28 1"/>
              <a:gd name="f48" fmla="+- f26 f42 0"/>
              <a:gd name="f49" fmla="+- f26 f43 0"/>
              <a:gd name="f50" fmla="*/ f42 f28 1"/>
              <a:gd name="f51" fmla="*/ f43 f28 1"/>
              <a:gd name="f52" fmla="*/ f48 f28 1"/>
              <a:gd name="f53" fmla="*/ f49 f28 1"/>
            </a:gdLst>
            <a:ahLst>
              <a:ahXY gdRefY="f0" minY="f7" maxY="f10">
                <a:pos x="f37" y="f3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52" y="f37"/>
              </a:cxn>
              <a:cxn ang="f27">
                <a:pos x="f50" y="f39"/>
              </a:cxn>
              <a:cxn ang="f27">
                <a:pos x="f37" y="f53"/>
              </a:cxn>
              <a:cxn ang="f27">
                <a:pos x="f50" y="f40"/>
              </a:cxn>
              <a:cxn ang="f27">
                <a:pos x="f44" y="f53"/>
              </a:cxn>
              <a:cxn ang="f27">
                <a:pos x="f41" y="f51"/>
              </a:cxn>
            </a:cxnLst>
            <a:rect l="f37" t="f39" r="f44" b="f45"/>
            <a:pathLst>
              <a:path>
                <a:moveTo>
                  <a:pt x="f37" y="f45"/>
                </a:moveTo>
                <a:lnTo>
                  <a:pt x="f37" y="f39"/>
                </a:lnTo>
                <a:lnTo>
                  <a:pt x="f39" y="f37"/>
                </a:lnTo>
                <a:lnTo>
                  <a:pt x="f46" y="f37"/>
                </a:lnTo>
                <a:lnTo>
                  <a:pt x="f46" y="f47"/>
                </a:lnTo>
                <a:lnTo>
                  <a:pt x="f44" y="f45"/>
                </a:lnTo>
                <a:close/>
              </a:path>
              <a:path>
                <a:moveTo>
                  <a:pt x="f37" y="f39"/>
                </a:moveTo>
                <a:lnTo>
                  <a:pt x="f39" y="f37"/>
                </a:lnTo>
                <a:lnTo>
                  <a:pt x="f46" y="f37"/>
                </a:lnTo>
                <a:lnTo>
                  <a:pt x="f44" y="f39"/>
                </a:lnTo>
                <a:close/>
              </a:path>
              <a:path>
                <a:moveTo>
                  <a:pt x="f44" y="f45"/>
                </a:moveTo>
                <a:lnTo>
                  <a:pt x="f44" y="f39"/>
                </a:lnTo>
                <a:lnTo>
                  <a:pt x="f46" y="f37"/>
                </a:lnTo>
                <a:lnTo>
                  <a:pt x="f46" y="f47"/>
                </a:lnTo>
                <a:close/>
              </a:path>
            </a:pathLst>
          </a:custGeom>
          <a:solidFill>
            <a:srgbClr val="FF6600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40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SRV1-11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70BB2BF-22E5-673D-037B-FED9D8CD9980}"/>
              </a:ext>
            </a:extLst>
          </p:cNvPr>
          <p:cNvSpPr/>
          <p:nvPr/>
        </p:nvSpPr>
        <p:spPr>
          <a:xfrm>
            <a:off x="1925640" y="3911760"/>
            <a:ext cx="480960" cy="428400"/>
          </a:xfrm>
          <a:custGeom>
            <a:avLst>
              <a:gd name="f0" fmla="val 54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-2147483647"/>
              <a:gd name="f9" fmla="val 2147483647"/>
              <a:gd name="f10" fmla="val 21600"/>
              <a:gd name="f11" fmla="+- 0 0 0"/>
              <a:gd name="f12" fmla="abs f4"/>
              <a:gd name="f13" fmla="abs f5"/>
              <a:gd name="f14" fmla="abs f6"/>
              <a:gd name="f15" fmla="pin 0 f0 21600"/>
              <a:gd name="f16" fmla="*/ f11 f1 1"/>
              <a:gd name="f17" fmla="?: f12 f4 1"/>
              <a:gd name="f18" fmla="?: f13 f5 1"/>
              <a:gd name="f19" fmla="?: f14 f6 1"/>
              <a:gd name="f20" fmla="val f15"/>
              <a:gd name="f21" fmla="*/ f16 1 f3"/>
              <a:gd name="f22" fmla="*/ f17 1 21600"/>
              <a:gd name="f23" fmla="*/ f18 1 21600"/>
              <a:gd name="f24" fmla="*/ 21600 f17 1"/>
              <a:gd name="f25" fmla="*/ 21600 f18 1"/>
              <a:gd name="f26" fmla="+- f7 f20 0"/>
              <a:gd name="f27" fmla="+- f21 0 f2"/>
              <a:gd name="f28" fmla="min f23 f22"/>
              <a:gd name="f29" fmla="*/ f24 1 f19"/>
              <a:gd name="f30" fmla="*/ f25 1 f19"/>
              <a:gd name="f31" fmla="+- f30 0 f20"/>
              <a:gd name="f32" fmla="+- f29 0 f20"/>
              <a:gd name="f33" fmla="+- f29 0 f26"/>
              <a:gd name="f34" fmla="+- f30 0 f26"/>
              <a:gd name="f35" fmla="val f29"/>
              <a:gd name="f36" fmla="val f30"/>
              <a:gd name="f37" fmla="*/ f7 f28 1"/>
              <a:gd name="f38" fmla="*/ f15 f28 1"/>
              <a:gd name="f39" fmla="*/ f26 f28 1"/>
              <a:gd name="f40" fmla="*/ f30 f28 1"/>
              <a:gd name="f41" fmla="*/ f29 f28 1"/>
              <a:gd name="f42" fmla="*/ f33 1 2"/>
              <a:gd name="f43" fmla="*/ f34 1 2"/>
              <a:gd name="f44" fmla="*/ f32 f28 1"/>
              <a:gd name="f45" fmla="*/ f36 f28 1"/>
              <a:gd name="f46" fmla="*/ f35 f28 1"/>
              <a:gd name="f47" fmla="*/ f31 f28 1"/>
              <a:gd name="f48" fmla="+- f26 f42 0"/>
              <a:gd name="f49" fmla="+- f26 f43 0"/>
              <a:gd name="f50" fmla="*/ f42 f28 1"/>
              <a:gd name="f51" fmla="*/ f43 f28 1"/>
              <a:gd name="f52" fmla="*/ f48 f28 1"/>
              <a:gd name="f53" fmla="*/ f49 f28 1"/>
            </a:gdLst>
            <a:ahLst>
              <a:ahXY gdRefY="f0" minY="f7" maxY="f10">
                <a:pos x="f37" y="f3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52" y="f37"/>
              </a:cxn>
              <a:cxn ang="f27">
                <a:pos x="f50" y="f39"/>
              </a:cxn>
              <a:cxn ang="f27">
                <a:pos x="f37" y="f53"/>
              </a:cxn>
              <a:cxn ang="f27">
                <a:pos x="f50" y="f40"/>
              </a:cxn>
              <a:cxn ang="f27">
                <a:pos x="f44" y="f53"/>
              </a:cxn>
              <a:cxn ang="f27">
                <a:pos x="f41" y="f51"/>
              </a:cxn>
            </a:cxnLst>
            <a:rect l="f37" t="f39" r="f44" b="f45"/>
            <a:pathLst>
              <a:path>
                <a:moveTo>
                  <a:pt x="f37" y="f45"/>
                </a:moveTo>
                <a:lnTo>
                  <a:pt x="f37" y="f39"/>
                </a:lnTo>
                <a:lnTo>
                  <a:pt x="f39" y="f37"/>
                </a:lnTo>
                <a:lnTo>
                  <a:pt x="f46" y="f37"/>
                </a:lnTo>
                <a:lnTo>
                  <a:pt x="f46" y="f47"/>
                </a:lnTo>
                <a:lnTo>
                  <a:pt x="f44" y="f45"/>
                </a:lnTo>
                <a:close/>
              </a:path>
              <a:path>
                <a:moveTo>
                  <a:pt x="f37" y="f39"/>
                </a:moveTo>
                <a:lnTo>
                  <a:pt x="f39" y="f37"/>
                </a:lnTo>
                <a:lnTo>
                  <a:pt x="f46" y="f37"/>
                </a:lnTo>
                <a:lnTo>
                  <a:pt x="f44" y="f39"/>
                </a:lnTo>
                <a:close/>
              </a:path>
              <a:path>
                <a:moveTo>
                  <a:pt x="f44" y="f45"/>
                </a:moveTo>
                <a:lnTo>
                  <a:pt x="f44" y="f39"/>
                </a:lnTo>
                <a:lnTo>
                  <a:pt x="f46" y="f37"/>
                </a:lnTo>
                <a:lnTo>
                  <a:pt x="f46" y="f47"/>
                </a:lnTo>
                <a:close/>
              </a:path>
            </a:pathLst>
          </a:custGeom>
          <a:solidFill>
            <a:srgbClr val="FF6600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40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SRV1-12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D544E44-7F89-D35E-2301-E8E4B8F0A4FD}"/>
              </a:ext>
            </a:extLst>
          </p:cNvPr>
          <p:cNvSpPr/>
          <p:nvPr/>
        </p:nvSpPr>
        <p:spPr>
          <a:xfrm>
            <a:off x="3378240" y="3911760"/>
            <a:ext cx="480960" cy="428400"/>
          </a:xfrm>
          <a:custGeom>
            <a:avLst>
              <a:gd name="f0" fmla="val 54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-2147483647"/>
              <a:gd name="f9" fmla="val 2147483647"/>
              <a:gd name="f10" fmla="val 21600"/>
              <a:gd name="f11" fmla="+- 0 0 0"/>
              <a:gd name="f12" fmla="abs f4"/>
              <a:gd name="f13" fmla="abs f5"/>
              <a:gd name="f14" fmla="abs f6"/>
              <a:gd name="f15" fmla="pin 0 f0 21600"/>
              <a:gd name="f16" fmla="*/ f11 f1 1"/>
              <a:gd name="f17" fmla="?: f12 f4 1"/>
              <a:gd name="f18" fmla="?: f13 f5 1"/>
              <a:gd name="f19" fmla="?: f14 f6 1"/>
              <a:gd name="f20" fmla="val f15"/>
              <a:gd name="f21" fmla="*/ f16 1 f3"/>
              <a:gd name="f22" fmla="*/ f17 1 21600"/>
              <a:gd name="f23" fmla="*/ f18 1 21600"/>
              <a:gd name="f24" fmla="*/ 21600 f17 1"/>
              <a:gd name="f25" fmla="*/ 21600 f18 1"/>
              <a:gd name="f26" fmla="+- f7 f20 0"/>
              <a:gd name="f27" fmla="+- f21 0 f2"/>
              <a:gd name="f28" fmla="min f23 f22"/>
              <a:gd name="f29" fmla="*/ f24 1 f19"/>
              <a:gd name="f30" fmla="*/ f25 1 f19"/>
              <a:gd name="f31" fmla="+- f30 0 f20"/>
              <a:gd name="f32" fmla="+- f29 0 f20"/>
              <a:gd name="f33" fmla="+- f29 0 f26"/>
              <a:gd name="f34" fmla="+- f30 0 f26"/>
              <a:gd name="f35" fmla="val f29"/>
              <a:gd name="f36" fmla="val f30"/>
              <a:gd name="f37" fmla="*/ f7 f28 1"/>
              <a:gd name="f38" fmla="*/ f15 f28 1"/>
              <a:gd name="f39" fmla="*/ f26 f28 1"/>
              <a:gd name="f40" fmla="*/ f30 f28 1"/>
              <a:gd name="f41" fmla="*/ f29 f28 1"/>
              <a:gd name="f42" fmla="*/ f33 1 2"/>
              <a:gd name="f43" fmla="*/ f34 1 2"/>
              <a:gd name="f44" fmla="*/ f32 f28 1"/>
              <a:gd name="f45" fmla="*/ f36 f28 1"/>
              <a:gd name="f46" fmla="*/ f35 f28 1"/>
              <a:gd name="f47" fmla="*/ f31 f28 1"/>
              <a:gd name="f48" fmla="+- f26 f42 0"/>
              <a:gd name="f49" fmla="+- f26 f43 0"/>
              <a:gd name="f50" fmla="*/ f42 f28 1"/>
              <a:gd name="f51" fmla="*/ f43 f28 1"/>
              <a:gd name="f52" fmla="*/ f48 f28 1"/>
              <a:gd name="f53" fmla="*/ f49 f28 1"/>
            </a:gdLst>
            <a:ahLst>
              <a:ahXY gdRefY="f0" minY="f7" maxY="f10">
                <a:pos x="f37" y="f3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52" y="f37"/>
              </a:cxn>
              <a:cxn ang="f27">
                <a:pos x="f50" y="f39"/>
              </a:cxn>
              <a:cxn ang="f27">
                <a:pos x="f37" y="f53"/>
              </a:cxn>
              <a:cxn ang="f27">
                <a:pos x="f50" y="f40"/>
              </a:cxn>
              <a:cxn ang="f27">
                <a:pos x="f44" y="f53"/>
              </a:cxn>
              <a:cxn ang="f27">
                <a:pos x="f41" y="f51"/>
              </a:cxn>
            </a:cxnLst>
            <a:rect l="f37" t="f39" r="f44" b="f45"/>
            <a:pathLst>
              <a:path>
                <a:moveTo>
                  <a:pt x="f37" y="f45"/>
                </a:moveTo>
                <a:lnTo>
                  <a:pt x="f37" y="f39"/>
                </a:lnTo>
                <a:lnTo>
                  <a:pt x="f39" y="f37"/>
                </a:lnTo>
                <a:lnTo>
                  <a:pt x="f46" y="f37"/>
                </a:lnTo>
                <a:lnTo>
                  <a:pt x="f46" y="f47"/>
                </a:lnTo>
                <a:lnTo>
                  <a:pt x="f44" y="f45"/>
                </a:lnTo>
                <a:close/>
              </a:path>
              <a:path>
                <a:moveTo>
                  <a:pt x="f37" y="f39"/>
                </a:moveTo>
                <a:lnTo>
                  <a:pt x="f39" y="f37"/>
                </a:lnTo>
                <a:lnTo>
                  <a:pt x="f46" y="f37"/>
                </a:lnTo>
                <a:lnTo>
                  <a:pt x="f44" y="f39"/>
                </a:lnTo>
                <a:close/>
              </a:path>
              <a:path>
                <a:moveTo>
                  <a:pt x="f44" y="f45"/>
                </a:moveTo>
                <a:lnTo>
                  <a:pt x="f44" y="f39"/>
                </a:lnTo>
                <a:lnTo>
                  <a:pt x="f46" y="f37"/>
                </a:lnTo>
                <a:lnTo>
                  <a:pt x="f46" y="f47"/>
                </a:lnTo>
                <a:close/>
              </a:path>
            </a:pathLst>
          </a:custGeom>
          <a:solidFill>
            <a:srgbClr val="FF6600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40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SRV2-11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706C871-8390-2BD5-28D3-91EDD0F0C1F1}"/>
              </a:ext>
            </a:extLst>
          </p:cNvPr>
          <p:cNvSpPr/>
          <p:nvPr/>
        </p:nvSpPr>
        <p:spPr>
          <a:xfrm>
            <a:off x="4216320" y="3911760"/>
            <a:ext cx="480960" cy="428400"/>
          </a:xfrm>
          <a:custGeom>
            <a:avLst>
              <a:gd name="f0" fmla="val 54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-2147483647"/>
              <a:gd name="f9" fmla="val 2147483647"/>
              <a:gd name="f10" fmla="val 21600"/>
              <a:gd name="f11" fmla="+- 0 0 0"/>
              <a:gd name="f12" fmla="abs f4"/>
              <a:gd name="f13" fmla="abs f5"/>
              <a:gd name="f14" fmla="abs f6"/>
              <a:gd name="f15" fmla="pin 0 f0 21600"/>
              <a:gd name="f16" fmla="*/ f11 f1 1"/>
              <a:gd name="f17" fmla="?: f12 f4 1"/>
              <a:gd name="f18" fmla="?: f13 f5 1"/>
              <a:gd name="f19" fmla="?: f14 f6 1"/>
              <a:gd name="f20" fmla="val f15"/>
              <a:gd name="f21" fmla="*/ f16 1 f3"/>
              <a:gd name="f22" fmla="*/ f17 1 21600"/>
              <a:gd name="f23" fmla="*/ f18 1 21600"/>
              <a:gd name="f24" fmla="*/ 21600 f17 1"/>
              <a:gd name="f25" fmla="*/ 21600 f18 1"/>
              <a:gd name="f26" fmla="+- f7 f20 0"/>
              <a:gd name="f27" fmla="+- f21 0 f2"/>
              <a:gd name="f28" fmla="min f23 f22"/>
              <a:gd name="f29" fmla="*/ f24 1 f19"/>
              <a:gd name="f30" fmla="*/ f25 1 f19"/>
              <a:gd name="f31" fmla="+- f30 0 f20"/>
              <a:gd name="f32" fmla="+- f29 0 f20"/>
              <a:gd name="f33" fmla="+- f29 0 f26"/>
              <a:gd name="f34" fmla="+- f30 0 f26"/>
              <a:gd name="f35" fmla="val f29"/>
              <a:gd name="f36" fmla="val f30"/>
              <a:gd name="f37" fmla="*/ f7 f28 1"/>
              <a:gd name="f38" fmla="*/ f15 f28 1"/>
              <a:gd name="f39" fmla="*/ f26 f28 1"/>
              <a:gd name="f40" fmla="*/ f30 f28 1"/>
              <a:gd name="f41" fmla="*/ f29 f28 1"/>
              <a:gd name="f42" fmla="*/ f33 1 2"/>
              <a:gd name="f43" fmla="*/ f34 1 2"/>
              <a:gd name="f44" fmla="*/ f32 f28 1"/>
              <a:gd name="f45" fmla="*/ f36 f28 1"/>
              <a:gd name="f46" fmla="*/ f35 f28 1"/>
              <a:gd name="f47" fmla="*/ f31 f28 1"/>
              <a:gd name="f48" fmla="+- f26 f42 0"/>
              <a:gd name="f49" fmla="+- f26 f43 0"/>
              <a:gd name="f50" fmla="*/ f42 f28 1"/>
              <a:gd name="f51" fmla="*/ f43 f28 1"/>
              <a:gd name="f52" fmla="*/ f48 f28 1"/>
              <a:gd name="f53" fmla="*/ f49 f28 1"/>
            </a:gdLst>
            <a:ahLst>
              <a:ahXY gdRefY="f0" minY="f7" maxY="f10">
                <a:pos x="f37" y="f3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52" y="f37"/>
              </a:cxn>
              <a:cxn ang="f27">
                <a:pos x="f50" y="f39"/>
              </a:cxn>
              <a:cxn ang="f27">
                <a:pos x="f37" y="f53"/>
              </a:cxn>
              <a:cxn ang="f27">
                <a:pos x="f50" y="f40"/>
              </a:cxn>
              <a:cxn ang="f27">
                <a:pos x="f44" y="f53"/>
              </a:cxn>
              <a:cxn ang="f27">
                <a:pos x="f41" y="f51"/>
              </a:cxn>
            </a:cxnLst>
            <a:rect l="f37" t="f39" r="f44" b="f45"/>
            <a:pathLst>
              <a:path>
                <a:moveTo>
                  <a:pt x="f37" y="f45"/>
                </a:moveTo>
                <a:lnTo>
                  <a:pt x="f37" y="f39"/>
                </a:lnTo>
                <a:lnTo>
                  <a:pt x="f39" y="f37"/>
                </a:lnTo>
                <a:lnTo>
                  <a:pt x="f46" y="f37"/>
                </a:lnTo>
                <a:lnTo>
                  <a:pt x="f46" y="f47"/>
                </a:lnTo>
                <a:lnTo>
                  <a:pt x="f44" y="f45"/>
                </a:lnTo>
                <a:close/>
              </a:path>
              <a:path>
                <a:moveTo>
                  <a:pt x="f37" y="f39"/>
                </a:moveTo>
                <a:lnTo>
                  <a:pt x="f39" y="f37"/>
                </a:lnTo>
                <a:lnTo>
                  <a:pt x="f46" y="f37"/>
                </a:lnTo>
                <a:lnTo>
                  <a:pt x="f44" y="f39"/>
                </a:lnTo>
                <a:close/>
              </a:path>
              <a:path>
                <a:moveTo>
                  <a:pt x="f44" y="f45"/>
                </a:moveTo>
                <a:lnTo>
                  <a:pt x="f44" y="f39"/>
                </a:lnTo>
                <a:lnTo>
                  <a:pt x="f46" y="f37"/>
                </a:lnTo>
                <a:lnTo>
                  <a:pt x="f46" y="f47"/>
                </a:lnTo>
                <a:close/>
              </a:path>
            </a:pathLst>
          </a:custGeom>
          <a:solidFill>
            <a:srgbClr val="FF6600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40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>
                <a:ln>
                  <a:noFill/>
                </a:ln>
                <a:solidFill>
                  <a:schemeClr val="bg1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SRV2-12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B30F0C8-9A68-1CA3-BAE1-4920C5A1F4E5}"/>
              </a:ext>
            </a:extLst>
          </p:cNvPr>
          <p:cNvSpPr/>
          <p:nvPr/>
        </p:nvSpPr>
        <p:spPr>
          <a:xfrm>
            <a:off x="2054340" y="1219200"/>
            <a:ext cx="5035320" cy="35830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99FF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60840" rIns="90000" bIns="45000" anchor="t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Projet1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9363C83-910D-B423-E8A1-FE6B6E0A64B3}"/>
              </a:ext>
            </a:extLst>
          </p:cNvPr>
          <p:cNvSpPr/>
          <p:nvPr/>
        </p:nvSpPr>
        <p:spPr>
          <a:xfrm>
            <a:off x="2365379" y="3109921"/>
            <a:ext cx="4295880" cy="1417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66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6084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DB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1262379-9FDF-2460-B62B-70304BAC49D2}"/>
              </a:ext>
            </a:extLst>
          </p:cNvPr>
          <p:cNvSpPr/>
          <p:nvPr/>
        </p:nvSpPr>
        <p:spPr>
          <a:xfrm>
            <a:off x="2365379" y="1576320"/>
            <a:ext cx="4295880" cy="14353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66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6084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WEB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297C08E-8F41-98B5-C18C-F829F940E6EE}"/>
              </a:ext>
            </a:extLst>
          </p:cNvPr>
          <p:cNvSpPr/>
          <p:nvPr/>
        </p:nvSpPr>
        <p:spPr>
          <a:xfrm>
            <a:off x="4808700" y="1835161"/>
            <a:ext cx="1666800" cy="2317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>
              <a:alpha val="78000"/>
            </a:srgbClr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6084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APP2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2A7F3E2-D243-0A98-8301-DD2A9FA4A62C}"/>
              </a:ext>
            </a:extLst>
          </p:cNvPr>
          <p:cNvSpPr/>
          <p:nvPr/>
        </p:nvSpPr>
        <p:spPr>
          <a:xfrm>
            <a:off x="2562300" y="1835161"/>
            <a:ext cx="1666800" cy="2317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>
              <a:alpha val="78000"/>
            </a:srgbClr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6084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APP 1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2751A4C-6131-5BB4-51D7-64438FAA6F42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Inventory EXAMPLE : Tree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6931AB9-9BB9-5F4B-BC10-7FC645FCA3F4}"/>
              </a:ext>
            </a:extLst>
          </p:cNvPr>
          <p:cNvSpPr/>
          <p:nvPr/>
        </p:nvSpPr>
        <p:spPr>
          <a:xfrm>
            <a:off x="7151253" y="713636"/>
            <a:ext cx="1708379" cy="1267564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58320" rIns="90000" bIns="45000" anchor="t" anchorCtr="0" compatLnSpc="1">
            <a:no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[APP2-web]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SRV2-[1:2]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5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[APP2-db]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SRV2-[11:12]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5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2344648-3D0C-2A48-CA5E-74A2C282F3D9}"/>
              </a:ext>
            </a:extLst>
          </p:cNvPr>
          <p:cNvSpPr/>
          <p:nvPr/>
        </p:nvSpPr>
        <p:spPr>
          <a:xfrm>
            <a:off x="2749500" y="2003641"/>
            <a:ext cx="480960" cy="428400"/>
          </a:xfrm>
          <a:custGeom>
            <a:avLst>
              <a:gd name="f0" fmla="val 54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-2147483647"/>
              <a:gd name="f9" fmla="val 2147483647"/>
              <a:gd name="f10" fmla="val 21600"/>
              <a:gd name="f11" fmla="+- 0 0 0"/>
              <a:gd name="f12" fmla="abs f4"/>
              <a:gd name="f13" fmla="abs f5"/>
              <a:gd name="f14" fmla="abs f6"/>
              <a:gd name="f15" fmla="pin 0 f0 21600"/>
              <a:gd name="f16" fmla="*/ f11 f1 1"/>
              <a:gd name="f17" fmla="?: f12 f4 1"/>
              <a:gd name="f18" fmla="?: f13 f5 1"/>
              <a:gd name="f19" fmla="?: f14 f6 1"/>
              <a:gd name="f20" fmla="val f15"/>
              <a:gd name="f21" fmla="*/ f16 1 f3"/>
              <a:gd name="f22" fmla="*/ f17 1 21600"/>
              <a:gd name="f23" fmla="*/ f18 1 21600"/>
              <a:gd name="f24" fmla="*/ 21600 f17 1"/>
              <a:gd name="f25" fmla="*/ 21600 f18 1"/>
              <a:gd name="f26" fmla="+- f7 f20 0"/>
              <a:gd name="f27" fmla="+- f21 0 f2"/>
              <a:gd name="f28" fmla="min f23 f22"/>
              <a:gd name="f29" fmla="*/ f24 1 f19"/>
              <a:gd name="f30" fmla="*/ f25 1 f19"/>
              <a:gd name="f31" fmla="+- f30 0 f20"/>
              <a:gd name="f32" fmla="+- f29 0 f20"/>
              <a:gd name="f33" fmla="+- f29 0 f26"/>
              <a:gd name="f34" fmla="+- f30 0 f26"/>
              <a:gd name="f35" fmla="val f29"/>
              <a:gd name="f36" fmla="val f30"/>
              <a:gd name="f37" fmla="*/ f7 f28 1"/>
              <a:gd name="f38" fmla="*/ f15 f28 1"/>
              <a:gd name="f39" fmla="*/ f26 f28 1"/>
              <a:gd name="f40" fmla="*/ f30 f28 1"/>
              <a:gd name="f41" fmla="*/ f29 f28 1"/>
              <a:gd name="f42" fmla="*/ f33 1 2"/>
              <a:gd name="f43" fmla="*/ f34 1 2"/>
              <a:gd name="f44" fmla="*/ f32 f28 1"/>
              <a:gd name="f45" fmla="*/ f36 f28 1"/>
              <a:gd name="f46" fmla="*/ f35 f28 1"/>
              <a:gd name="f47" fmla="*/ f31 f28 1"/>
              <a:gd name="f48" fmla="+- f26 f42 0"/>
              <a:gd name="f49" fmla="+- f26 f43 0"/>
              <a:gd name="f50" fmla="*/ f42 f28 1"/>
              <a:gd name="f51" fmla="*/ f43 f28 1"/>
              <a:gd name="f52" fmla="*/ f48 f28 1"/>
              <a:gd name="f53" fmla="*/ f49 f28 1"/>
            </a:gdLst>
            <a:ahLst>
              <a:ahXY gdRefY="f0" minY="f7" maxY="f10">
                <a:pos x="f37" y="f3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52" y="f37"/>
              </a:cxn>
              <a:cxn ang="f27">
                <a:pos x="f50" y="f39"/>
              </a:cxn>
              <a:cxn ang="f27">
                <a:pos x="f37" y="f53"/>
              </a:cxn>
              <a:cxn ang="f27">
                <a:pos x="f50" y="f40"/>
              </a:cxn>
              <a:cxn ang="f27">
                <a:pos x="f44" y="f53"/>
              </a:cxn>
              <a:cxn ang="f27">
                <a:pos x="f41" y="f51"/>
              </a:cxn>
            </a:cxnLst>
            <a:rect l="f37" t="f39" r="f44" b="f45"/>
            <a:pathLst>
              <a:path>
                <a:moveTo>
                  <a:pt x="f37" y="f45"/>
                </a:moveTo>
                <a:lnTo>
                  <a:pt x="f37" y="f39"/>
                </a:lnTo>
                <a:lnTo>
                  <a:pt x="f39" y="f37"/>
                </a:lnTo>
                <a:lnTo>
                  <a:pt x="f46" y="f37"/>
                </a:lnTo>
                <a:lnTo>
                  <a:pt x="f46" y="f47"/>
                </a:lnTo>
                <a:lnTo>
                  <a:pt x="f44" y="f45"/>
                </a:lnTo>
                <a:close/>
              </a:path>
              <a:path>
                <a:moveTo>
                  <a:pt x="f37" y="f39"/>
                </a:moveTo>
                <a:lnTo>
                  <a:pt x="f39" y="f37"/>
                </a:lnTo>
                <a:lnTo>
                  <a:pt x="f46" y="f37"/>
                </a:lnTo>
                <a:lnTo>
                  <a:pt x="f44" y="f39"/>
                </a:lnTo>
                <a:close/>
              </a:path>
              <a:path>
                <a:moveTo>
                  <a:pt x="f44" y="f45"/>
                </a:moveTo>
                <a:lnTo>
                  <a:pt x="f44" y="f39"/>
                </a:lnTo>
                <a:lnTo>
                  <a:pt x="f46" y="f37"/>
                </a:lnTo>
                <a:lnTo>
                  <a:pt x="f46" y="f47"/>
                </a:lnTo>
                <a:close/>
              </a:path>
            </a:pathLst>
          </a:custGeom>
          <a:solidFill>
            <a:srgbClr val="FF6600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40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SRV1-1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FAA5F9D-D377-11AF-0E29-44BDB13978C1}"/>
              </a:ext>
            </a:extLst>
          </p:cNvPr>
          <p:cNvSpPr/>
          <p:nvPr/>
        </p:nvSpPr>
        <p:spPr>
          <a:xfrm>
            <a:off x="3516300" y="2003641"/>
            <a:ext cx="480960" cy="428400"/>
          </a:xfrm>
          <a:custGeom>
            <a:avLst>
              <a:gd name="f0" fmla="val 54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-2147483647"/>
              <a:gd name="f9" fmla="val 2147483647"/>
              <a:gd name="f10" fmla="val 21600"/>
              <a:gd name="f11" fmla="+- 0 0 0"/>
              <a:gd name="f12" fmla="abs f4"/>
              <a:gd name="f13" fmla="abs f5"/>
              <a:gd name="f14" fmla="abs f6"/>
              <a:gd name="f15" fmla="pin 0 f0 21600"/>
              <a:gd name="f16" fmla="*/ f11 f1 1"/>
              <a:gd name="f17" fmla="?: f12 f4 1"/>
              <a:gd name="f18" fmla="?: f13 f5 1"/>
              <a:gd name="f19" fmla="?: f14 f6 1"/>
              <a:gd name="f20" fmla="val f15"/>
              <a:gd name="f21" fmla="*/ f16 1 f3"/>
              <a:gd name="f22" fmla="*/ f17 1 21600"/>
              <a:gd name="f23" fmla="*/ f18 1 21600"/>
              <a:gd name="f24" fmla="*/ 21600 f17 1"/>
              <a:gd name="f25" fmla="*/ 21600 f18 1"/>
              <a:gd name="f26" fmla="+- f7 f20 0"/>
              <a:gd name="f27" fmla="+- f21 0 f2"/>
              <a:gd name="f28" fmla="min f23 f22"/>
              <a:gd name="f29" fmla="*/ f24 1 f19"/>
              <a:gd name="f30" fmla="*/ f25 1 f19"/>
              <a:gd name="f31" fmla="+- f30 0 f20"/>
              <a:gd name="f32" fmla="+- f29 0 f20"/>
              <a:gd name="f33" fmla="+- f29 0 f26"/>
              <a:gd name="f34" fmla="+- f30 0 f26"/>
              <a:gd name="f35" fmla="val f29"/>
              <a:gd name="f36" fmla="val f30"/>
              <a:gd name="f37" fmla="*/ f7 f28 1"/>
              <a:gd name="f38" fmla="*/ f15 f28 1"/>
              <a:gd name="f39" fmla="*/ f26 f28 1"/>
              <a:gd name="f40" fmla="*/ f30 f28 1"/>
              <a:gd name="f41" fmla="*/ f29 f28 1"/>
              <a:gd name="f42" fmla="*/ f33 1 2"/>
              <a:gd name="f43" fmla="*/ f34 1 2"/>
              <a:gd name="f44" fmla="*/ f32 f28 1"/>
              <a:gd name="f45" fmla="*/ f36 f28 1"/>
              <a:gd name="f46" fmla="*/ f35 f28 1"/>
              <a:gd name="f47" fmla="*/ f31 f28 1"/>
              <a:gd name="f48" fmla="+- f26 f42 0"/>
              <a:gd name="f49" fmla="+- f26 f43 0"/>
              <a:gd name="f50" fmla="*/ f42 f28 1"/>
              <a:gd name="f51" fmla="*/ f43 f28 1"/>
              <a:gd name="f52" fmla="*/ f48 f28 1"/>
              <a:gd name="f53" fmla="*/ f49 f28 1"/>
            </a:gdLst>
            <a:ahLst>
              <a:ahXY gdRefY="f0" minY="f7" maxY="f10">
                <a:pos x="f37" y="f3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52" y="f37"/>
              </a:cxn>
              <a:cxn ang="f27">
                <a:pos x="f50" y="f39"/>
              </a:cxn>
              <a:cxn ang="f27">
                <a:pos x="f37" y="f53"/>
              </a:cxn>
              <a:cxn ang="f27">
                <a:pos x="f50" y="f40"/>
              </a:cxn>
              <a:cxn ang="f27">
                <a:pos x="f44" y="f53"/>
              </a:cxn>
              <a:cxn ang="f27">
                <a:pos x="f41" y="f51"/>
              </a:cxn>
            </a:cxnLst>
            <a:rect l="f37" t="f39" r="f44" b="f45"/>
            <a:pathLst>
              <a:path>
                <a:moveTo>
                  <a:pt x="f37" y="f45"/>
                </a:moveTo>
                <a:lnTo>
                  <a:pt x="f37" y="f39"/>
                </a:lnTo>
                <a:lnTo>
                  <a:pt x="f39" y="f37"/>
                </a:lnTo>
                <a:lnTo>
                  <a:pt x="f46" y="f37"/>
                </a:lnTo>
                <a:lnTo>
                  <a:pt x="f46" y="f47"/>
                </a:lnTo>
                <a:lnTo>
                  <a:pt x="f44" y="f45"/>
                </a:lnTo>
                <a:close/>
              </a:path>
              <a:path>
                <a:moveTo>
                  <a:pt x="f37" y="f39"/>
                </a:moveTo>
                <a:lnTo>
                  <a:pt x="f39" y="f37"/>
                </a:lnTo>
                <a:lnTo>
                  <a:pt x="f46" y="f37"/>
                </a:lnTo>
                <a:lnTo>
                  <a:pt x="f44" y="f39"/>
                </a:lnTo>
                <a:close/>
              </a:path>
              <a:path>
                <a:moveTo>
                  <a:pt x="f44" y="f45"/>
                </a:moveTo>
                <a:lnTo>
                  <a:pt x="f44" y="f39"/>
                </a:lnTo>
                <a:lnTo>
                  <a:pt x="f46" y="f37"/>
                </a:lnTo>
                <a:lnTo>
                  <a:pt x="f46" y="f47"/>
                </a:lnTo>
                <a:close/>
              </a:path>
            </a:pathLst>
          </a:custGeom>
          <a:solidFill>
            <a:srgbClr val="FF6600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40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SRV1-2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3642716-A66F-137D-AE1D-FC8D4C22217B}"/>
              </a:ext>
            </a:extLst>
          </p:cNvPr>
          <p:cNvSpPr/>
          <p:nvPr/>
        </p:nvSpPr>
        <p:spPr>
          <a:xfrm>
            <a:off x="4968900" y="2003641"/>
            <a:ext cx="480960" cy="428400"/>
          </a:xfrm>
          <a:custGeom>
            <a:avLst>
              <a:gd name="f0" fmla="val 54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-2147483647"/>
              <a:gd name="f9" fmla="val 2147483647"/>
              <a:gd name="f10" fmla="val 21600"/>
              <a:gd name="f11" fmla="+- 0 0 0"/>
              <a:gd name="f12" fmla="abs f4"/>
              <a:gd name="f13" fmla="abs f5"/>
              <a:gd name="f14" fmla="abs f6"/>
              <a:gd name="f15" fmla="pin 0 f0 21600"/>
              <a:gd name="f16" fmla="*/ f11 f1 1"/>
              <a:gd name="f17" fmla="?: f12 f4 1"/>
              <a:gd name="f18" fmla="?: f13 f5 1"/>
              <a:gd name="f19" fmla="?: f14 f6 1"/>
              <a:gd name="f20" fmla="val f15"/>
              <a:gd name="f21" fmla="*/ f16 1 f3"/>
              <a:gd name="f22" fmla="*/ f17 1 21600"/>
              <a:gd name="f23" fmla="*/ f18 1 21600"/>
              <a:gd name="f24" fmla="*/ 21600 f17 1"/>
              <a:gd name="f25" fmla="*/ 21600 f18 1"/>
              <a:gd name="f26" fmla="+- f7 f20 0"/>
              <a:gd name="f27" fmla="+- f21 0 f2"/>
              <a:gd name="f28" fmla="min f23 f22"/>
              <a:gd name="f29" fmla="*/ f24 1 f19"/>
              <a:gd name="f30" fmla="*/ f25 1 f19"/>
              <a:gd name="f31" fmla="+- f30 0 f20"/>
              <a:gd name="f32" fmla="+- f29 0 f20"/>
              <a:gd name="f33" fmla="+- f29 0 f26"/>
              <a:gd name="f34" fmla="+- f30 0 f26"/>
              <a:gd name="f35" fmla="val f29"/>
              <a:gd name="f36" fmla="val f30"/>
              <a:gd name="f37" fmla="*/ f7 f28 1"/>
              <a:gd name="f38" fmla="*/ f15 f28 1"/>
              <a:gd name="f39" fmla="*/ f26 f28 1"/>
              <a:gd name="f40" fmla="*/ f30 f28 1"/>
              <a:gd name="f41" fmla="*/ f29 f28 1"/>
              <a:gd name="f42" fmla="*/ f33 1 2"/>
              <a:gd name="f43" fmla="*/ f34 1 2"/>
              <a:gd name="f44" fmla="*/ f32 f28 1"/>
              <a:gd name="f45" fmla="*/ f36 f28 1"/>
              <a:gd name="f46" fmla="*/ f35 f28 1"/>
              <a:gd name="f47" fmla="*/ f31 f28 1"/>
              <a:gd name="f48" fmla="+- f26 f42 0"/>
              <a:gd name="f49" fmla="+- f26 f43 0"/>
              <a:gd name="f50" fmla="*/ f42 f28 1"/>
              <a:gd name="f51" fmla="*/ f43 f28 1"/>
              <a:gd name="f52" fmla="*/ f48 f28 1"/>
              <a:gd name="f53" fmla="*/ f49 f28 1"/>
            </a:gdLst>
            <a:ahLst>
              <a:ahXY gdRefY="f0" minY="f7" maxY="f10">
                <a:pos x="f37" y="f3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52" y="f37"/>
              </a:cxn>
              <a:cxn ang="f27">
                <a:pos x="f50" y="f39"/>
              </a:cxn>
              <a:cxn ang="f27">
                <a:pos x="f37" y="f53"/>
              </a:cxn>
              <a:cxn ang="f27">
                <a:pos x="f50" y="f40"/>
              </a:cxn>
              <a:cxn ang="f27">
                <a:pos x="f44" y="f53"/>
              </a:cxn>
              <a:cxn ang="f27">
                <a:pos x="f41" y="f51"/>
              </a:cxn>
            </a:cxnLst>
            <a:rect l="f37" t="f39" r="f44" b="f45"/>
            <a:pathLst>
              <a:path>
                <a:moveTo>
                  <a:pt x="f37" y="f45"/>
                </a:moveTo>
                <a:lnTo>
                  <a:pt x="f37" y="f39"/>
                </a:lnTo>
                <a:lnTo>
                  <a:pt x="f39" y="f37"/>
                </a:lnTo>
                <a:lnTo>
                  <a:pt x="f46" y="f37"/>
                </a:lnTo>
                <a:lnTo>
                  <a:pt x="f46" y="f47"/>
                </a:lnTo>
                <a:lnTo>
                  <a:pt x="f44" y="f45"/>
                </a:lnTo>
                <a:close/>
              </a:path>
              <a:path>
                <a:moveTo>
                  <a:pt x="f37" y="f39"/>
                </a:moveTo>
                <a:lnTo>
                  <a:pt x="f39" y="f37"/>
                </a:lnTo>
                <a:lnTo>
                  <a:pt x="f46" y="f37"/>
                </a:lnTo>
                <a:lnTo>
                  <a:pt x="f44" y="f39"/>
                </a:lnTo>
                <a:close/>
              </a:path>
              <a:path>
                <a:moveTo>
                  <a:pt x="f44" y="f45"/>
                </a:moveTo>
                <a:lnTo>
                  <a:pt x="f44" y="f39"/>
                </a:lnTo>
                <a:lnTo>
                  <a:pt x="f46" y="f37"/>
                </a:lnTo>
                <a:lnTo>
                  <a:pt x="f46" y="f47"/>
                </a:lnTo>
                <a:close/>
              </a:path>
            </a:pathLst>
          </a:custGeom>
          <a:solidFill>
            <a:srgbClr val="FF6600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40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SRV2-1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1E923D3-CEB3-7852-95D7-F53E61A5C909}"/>
              </a:ext>
            </a:extLst>
          </p:cNvPr>
          <p:cNvSpPr/>
          <p:nvPr/>
        </p:nvSpPr>
        <p:spPr>
          <a:xfrm>
            <a:off x="5806980" y="2003641"/>
            <a:ext cx="480960" cy="428400"/>
          </a:xfrm>
          <a:custGeom>
            <a:avLst>
              <a:gd name="f0" fmla="val 54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-2147483647"/>
              <a:gd name="f9" fmla="val 2147483647"/>
              <a:gd name="f10" fmla="val 21600"/>
              <a:gd name="f11" fmla="+- 0 0 0"/>
              <a:gd name="f12" fmla="abs f4"/>
              <a:gd name="f13" fmla="abs f5"/>
              <a:gd name="f14" fmla="abs f6"/>
              <a:gd name="f15" fmla="pin 0 f0 21600"/>
              <a:gd name="f16" fmla="*/ f11 f1 1"/>
              <a:gd name="f17" fmla="?: f12 f4 1"/>
              <a:gd name="f18" fmla="?: f13 f5 1"/>
              <a:gd name="f19" fmla="?: f14 f6 1"/>
              <a:gd name="f20" fmla="val f15"/>
              <a:gd name="f21" fmla="*/ f16 1 f3"/>
              <a:gd name="f22" fmla="*/ f17 1 21600"/>
              <a:gd name="f23" fmla="*/ f18 1 21600"/>
              <a:gd name="f24" fmla="*/ 21600 f17 1"/>
              <a:gd name="f25" fmla="*/ 21600 f18 1"/>
              <a:gd name="f26" fmla="+- f7 f20 0"/>
              <a:gd name="f27" fmla="+- f21 0 f2"/>
              <a:gd name="f28" fmla="min f23 f22"/>
              <a:gd name="f29" fmla="*/ f24 1 f19"/>
              <a:gd name="f30" fmla="*/ f25 1 f19"/>
              <a:gd name="f31" fmla="+- f30 0 f20"/>
              <a:gd name="f32" fmla="+- f29 0 f20"/>
              <a:gd name="f33" fmla="+- f29 0 f26"/>
              <a:gd name="f34" fmla="+- f30 0 f26"/>
              <a:gd name="f35" fmla="val f29"/>
              <a:gd name="f36" fmla="val f30"/>
              <a:gd name="f37" fmla="*/ f7 f28 1"/>
              <a:gd name="f38" fmla="*/ f15 f28 1"/>
              <a:gd name="f39" fmla="*/ f26 f28 1"/>
              <a:gd name="f40" fmla="*/ f30 f28 1"/>
              <a:gd name="f41" fmla="*/ f29 f28 1"/>
              <a:gd name="f42" fmla="*/ f33 1 2"/>
              <a:gd name="f43" fmla="*/ f34 1 2"/>
              <a:gd name="f44" fmla="*/ f32 f28 1"/>
              <a:gd name="f45" fmla="*/ f36 f28 1"/>
              <a:gd name="f46" fmla="*/ f35 f28 1"/>
              <a:gd name="f47" fmla="*/ f31 f28 1"/>
              <a:gd name="f48" fmla="+- f26 f42 0"/>
              <a:gd name="f49" fmla="+- f26 f43 0"/>
              <a:gd name="f50" fmla="*/ f42 f28 1"/>
              <a:gd name="f51" fmla="*/ f43 f28 1"/>
              <a:gd name="f52" fmla="*/ f48 f28 1"/>
              <a:gd name="f53" fmla="*/ f49 f28 1"/>
            </a:gdLst>
            <a:ahLst>
              <a:ahXY gdRefY="f0" minY="f7" maxY="f10">
                <a:pos x="f37" y="f3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52" y="f37"/>
              </a:cxn>
              <a:cxn ang="f27">
                <a:pos x="f50" y="f39"/>
              </a:cxn>
              <a:cxn ang="f27">
                <a:pos x="f37" y="f53"/>
              </a:cxn>
              <a:cxn ang="f27">
                <a:pos x="f50" y="f40"/>
              </a:cxn>
              <a:cxn ang="f27">
                <a:pos x="f44" y="f53"/>
              </a:cxn>
              <a:cxn ang="f27">
                <a:pos x="f41" y="f51"/>
              </a:cxn>
            </a:cxnLst>
            <a:rect l="f37" t="f39" r="f44" b="f45"/>
            <a:pathLst>
              <a:path>
                <a:moveTo>
                  <a:pt x="f37" y="f45"/>
                </a:moveTo>
                <a:lnTo>
                  <a:pt x="f37" y="f39"/>
                </a:lnTo>
                <a:lnTo>
                  <a:pt x="f39" y="f37"/>
                </a:lnTo>
                <a:lnTo>
                  <a:pt x="f46" y="f37"/>
                </a:lnTo>
                <a:lnTo>
                  <a:pt x="f46" y="f47"/>
                </a:lnTo>
                <a:lnTo>
                  <a:pt x="f44" y="f45"/>
                </a:lnTo>
                <a:close/>
              </a:path>
              <a:path>
                <a:moveTo>
                  <a:pt x="f37" y="f39"/>
                </a:moveTo>
                <a:lnTo>
                  <a:pt x="f39" y="f37"/>
                </a:lnTo>
                <a:lnTo>
                  <a:pt x="f46" y="f37"/>
                </a:lnTo>
                <a:lnTo>
                  <a:pt x="f44" y="f39"/>
                </a:lnTo>
                <a:close/>
              </a:path>
              <a:path>
                <a:moveTo>
                  <a:pt x="f44" y="f45"/>
                </a:moveTo>
                <a:lnTo>
                  <a:pt x="f44" y="f39"/>
                </a:lnTo>
                <a:lnTo>
                  <a:pt x="f46" y="f37"/>
                </a:lnTo>
                <a:lnTo>
                  <a:pt x="f46" y="f47"/>
                </a:lnTo>
                <a:close/>
              </a:path>
            </a:pathLst>
          </a:custGeom>
          <a:solidFill>
            <a:srgbClr val="FF6600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40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SRV2-2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EDBD46D-AE02-CB1A-0CD7-B7F1B14CC16F}"/>
              </a:ext>
            </a:extLst>
          </p:cNvPr>
          <p:cNvSpPr/>
          <p:nvPr/>
        </p:nvSpPr>
        <p:spPr>
          <a:xfrm>
            <a:off x="2749500" y="3402241"/>
            <a:ext cx="480960" cy="428400"/>
          </a:xfrm>
          <a:custGeom>
            <a:avLst>
              <a:gd name="f0" fmla="val 54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-2147483647"/>
              <a:gd name="f9" fmla="val 2147483647"/>
              <a:gd name="f10" fmla="val 21600"/>
              <a:gd name="f11" fmla="+- 0 0 0"/>
              <a:gd name="f12" fmla="abs f4"/>
              <a:gd name="f13" fmla="abs f5"/>
              <a:gd name="f14" fmla="abs f6"/>
              <a:gd name="f15" fmla="pin 0 f0 21600"/>
              <a:gd name="f16" fmla="*/ f11 f1 1"/>
              <a:gd name="f17" fmla="?: f12 f4 1"/>
              <a:gd name="f18" fmla="?: f13 f5 1"/>
              <a:gd name="f19" fmla="?: f14 f6 1"/>
              <a:gd name="f20" fmla="val f15"/>
              <a:gd name="f21" fmla="*/ f16 1 f3"/>
              <a:gd name="f22" fmla="*/ f17 1 21600"/>
              <a:gd name="f23" fmla="*/ f18 1 21600"/>
              <a:gd name="f24" fmla="*/ 21600 f17 1"/>
              <a:gd name="f25" fmla="*/ 21600 f18 1"/>
              <a:gd name="f26" fmla="+- f7 f20 0"/>
              <a:gd name="f27" fmla="+- f21 0 f2"/>
              <a:gd name="f28" fmla="min f23 f22"/>
              <a:gd name="f29" fmla="*/ f24 1 f19"/>
              <a:gd name="f30" fmla="*/ f25 1 f19"/>
              <a:gd name="f31" fmla="+- f30 0 f20"/>
              <a:gd name="f32" fmla="+- f29 0 f20"/>
              <a:gd name="f33" fmla="+- f29 0 f26"/>
              <a:gd name="f34" fmla="+- f30 0 f26"/>
              <a:gd name="f35" fmla="val f29"/>
              <a:gd name="f36" fmla="val f30"/>
              <a:gd name="f37" fmla="*/ f7 f28 1"/>
              <a:gd name="f38" fmla="*/ f15 f28 1"/>
              <a:gd name="f39" fmla="*/ f26 f28 1"/>
              <a:gd name="f40" fmla="*/ f30 f28 1"/>
              <a:gd name="f41" fmla="*/ f29 f28 1"/>
              <a:gd name="f42" fmla="*/ f33 1 2"/>
              <a:gd name="f43" fmla="*/ f34 1 2"/>
              <a:gd name="f44" fmla="*/ f32 f28 1"/>
              <a:gd name="f45" fmla="*/ f36 f28 1"/>
              <a:gd name="f46" fmla="*/ f35 f28 1"/>
              <a:gd name="f47" fmla="*/ f31 f28 1"/>
              <a:gd name="f48" fmla="+- f26 f42 0"/>
              <a:gd name="f49" fmla="+- f26 f43 0"/>
              <a:gd name="f50" fmla="*/ f42 f28 1"/>
              <a:gd name="f51" fmla="*/ f43 f28 1"/>
              <a:gd name="f52" fmla="*/ f48 f28 1"/>
              <a:gd name="f53" fmla="*/ f49 f28 1"/>
            </a:gdLst>
            <a:ahLst>
              <a:ahXY gdRefY="f0" minY="f7" maxY="f10">
                <a:pos x="f37" y="f3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52" y="f37"/>
              </a:cxn>
              <a:cxn ang="f27">
                <a:pos x="f50" y="f39"/>
              </a:cxn>
              <a:cxn ang="f27">
                <a:pos x="f37" y="f53"/>
              </a:cxn>
              <a:cxn ang="f27">
                <a:pos x="f50" y="f40"/>
              </a:cxn>
              <a:cxn ang="f27">
                <a:pos x="f44" y="f53"/>
              </a:cxn>
              <a:cxn ang="f27">
                <a:pos x="f41" y="f51"/>
              </a:cxn>
            </a:cxnLst>
            <a:rect l="f37" t="f39" r="f44" b="f45"/>
            <a:pathLst>
              <a:path>
                <a:moveTo>
                  <a:pt x="f37" y="f45"/>
                </a:moveTo>
                <a:lnTo>
                  <a:pt x="f37" y="f39"/>
                </a:lnTo>
                <a:lnTo>
                  <a:pt x="f39" y="f37"/>
                </a:lnTo>
                <a:lnTo>
                  <a:pt x="f46" y="f37"/>
                </a:lnTo>
                <a:lnTo>
                  <a:pt x="f46" y="f47"/>
                </a:lnTo>
                <a:lnTo>
                  <a:pt x="f44" y="f45"/>
                </a:lnTo>
                <a:close/>
              </a:path>
              <a:path>
                <a:moveTo>
                  <a:pt x="f37" y="f39"/>
                </a:moveTo>
                <a:lnTo>
                  <a:pt x="f39" y="f37"/>
                </a:lnTo>
                <a:lnTo>
                  <a:pt x="f46" y="f37"/>
                </a:lnTo>
                <a:lnTo>
                  <a:pt x="f44" y="f39"/>
                </a:lnTo>
                <a:close/>
              </a:path>
              <a:path>
                <a:moveTo>
                  <a:pt x="f44" y="f45"/>
                </a:moveTo>
                <a:lnTo>
                  <a:pt x="f44" y="f39"/>
                </a:lnTo>
                <a:lnTo>
                  <a:pt x="f46" y="f37"/>
                </a:lnTo>
                <a:lnTo>
                  <a:pt x="f46" y="f47"/>
                </a:lnTo>
                <a:close/>
              </a:path>
            </a:pathLst>
          </a:custGeom>
          <a:solidFill>
            <a:srgbClr val="FF6600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40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SRV1-11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7EC2D3E-22D5-81E7-EB0C-F5A480586232}"/>
              </a:ext>
            </a:extLst>
          </p:cNvPr>
          <p:cNvSpPr/>
          <p:nvPr/>
        </p:nvSpPr>
        <p:spPr>
          <a:xfrm>
            <a:off x="3516300" y="3402241"/>
            <a:ext cx="480960" cy="428400"/>
          </a:xfrm>
          <a:custGeom>
            <a:avLst>
              <a:gd name="f0" fmla="val 54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-2147483647"/>
              <a:gd name="f9" fmla="val 2147483647"/>
              <a:gd name="f10" fmla="val 21600"/>
              <a:gd name="f11" fmla="+- 0 0 0"/>
              <a:gd name="f12" fmla="abs f4"/>
              <a:gd name="f13" fmla="abs f5"/>
              <a:gd name="f14" fmla="abs f6"/>
              <a:gd name="f15" fmla="pin 0 f0 21600"/>
              <a:gd name="f16" fmla="*/ f11 f1 1"/>
              <a:gd name="f17" fmla="?: f12 f4 1"/>
              <a:gd name="f18" fmla="?: f13 f5 1"/>
              <a:gd name="f19" fmla="?: f14 f6 1"/>
              <a:gd name="f20" fmla="val f15"/>
              <a:gd name="f21" fmla="*/ f16 1 f3"/>
              <a:gd name="f22" fmla="*/ f17 1 21600"/>
              <a:gd name="f23" fmla="*/ f18 1 21600"/>
              <a:gd name="f24" fmla="*/ 21600 f17 1"/>
              <a:gd name="f25" fmla="*/ 21600 f18 1"/>
              <a:gd name="f26" fmla="+- f7 f20 0"/>
              <a:gd name="f27" fmla="+- f21 0 f2"/>
              <a:gd name="f28" fmla="min f23 f22"/>
              <a:gd name="f29" fmla="*/ f24 1 f19"/>
              <a:gd name="f30" fmla="*/ f25 1 f19"/>
              <a:gd name="f31" fmla="+- f30 0 f20"/>
              <a:gd name="f32" fmla="+- f29 0 f20"/>
              <a:gd name="f33" fmla="+- f29 0 f26"/>
              <a:gd name="f34" fmla="+- f30 0 f26"/>
              <a:gd name="f35" fmla="val f29"/>
              <a:gd name="f36" fmla="val f30"/>
              <a:gd name="f37" fmla="*/ f7 f28 1"/>
              <a:gd name="f38" fmla="*/ f15 f28 1"/>
              <a:gd name="f39" fmla="*/ f26 f28 1"/>
              <a:gd name="f40" fmla="*/ f30 f28 1"/>
              <a:gd name="f41" fmla="*/ f29 f28 1"/>
              <a:gd name="f42" fmla="*/ f33 1 2"/>
              <a:gd name="f43" fmla="*/ f34 1 2"/>
              <a:gd name="f44" fmla="*/ f32 f28 1"/>
              <a:gd name="f45" fmla="*/ f36 f28 1"/>
              <a:gd name="f46" fmla="*/ f35 f28 1"/>
              <a:gd name="f47" fmla="*/ f31 f28 1"/>
              <a:gd name="f48" fmla="+- f26 f42 0"/>
              <a:gd name="f49" fmla="+- f26 f43 0"/>
              <a:gd name="f50" fmla="*/ f42 f28 1"/>
              <a:gd name="f51" fmla="*/ f43 f28 1"/>
              <a:gd name="f52" fmla="*/ f48 f28 1"/>
              <a:gd name="f53" fmla="*/ f49 f28 1"/>
            </a:gdLst>
            <a:ahLst>
              <a:ahXY gdRefY="f0" minY="f7" maxY="f10">
                <a:pos x="f37" y="f3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52" y="f37"/>
              </a:cxn>
              <a:cxn ang="f27">
                <a:pos x="f50" y="f39"/>
              </a:cxn>
              <a:cxn ang="f27">
                <a:pos x="f37" y="f53"/>
              </a:cxn>
              <a:cxn ang="f27">
                <a:pos x="f50" y="f40"/>
              </a:cxn>
              <a:cxn ang="f27">
                <a:pos x="f44" y="f53"/>
              </a:cxn>
              <a:cxn ang="f27">
                <a:pos x="f41" y="f51"/>
              </a:cxn>
            </a:cxnLst>
            <a:rect l="f37" t="f39" r="f44" b="f45"/>
            <a:pathLst>
              <a:path>
                <a:moveTo>
                  <a:pt x="f37" y="f45"/>
                </a:moveTo>
                <a:lnTo>
                  <a:pt x="f37" y="f39"/>
                </a:lnTo>
                <a:lnTo>
                  <a:pt x="f39" y="f37"/>
                </a:lnTo>
                <a:lnTo>
                  <a:pt x="f46" y="f37"/>
                </a:lnTo>
                <a:lnTo>
                  <a:pt x="f46" y="f47"/>
                </a:lnTo>
                <a:lnTo>
                  <a:pt x="f44" y="f45"/>
                </a:lnTo>
                <a:close/>
              </a:path>
              <a:path>
                <a:moveTo>
                  <a:pt x="f37" y="f39"/>
                </a:moveTo>
                <a:lnTo>
                  <a:pt x="f39" y="f37"/>
                </a:lnTo>
                <a:lnTo>
                  <a:pt x="f46" y="f37"/>
                </a:lnTo>
                <a:lnTo>
                  <a:pt x="f44" y="f39"/>
                </a:lnTo>
                <a:close/>
              </a:path>
              <a:path>
                <a:moveTo>
                  <a:pt x="f44" y="f45"/>
                </a:moveTo>
                <a:lnTo>
                  <a:pt x="f44" y="f39"/>
                </a:lnTo>
                <a:lnTo>
                  <a:pt x="f46" y="f37"/>
                </a:lnTo>
                <a:lnTo>
                  <a:pt x="f46" y="f47"/>
                </a:lnTo>
                <a:close/>
              </a:path>
            </a:pathLst>
          </a:custGeom>
          <a:solidFill>
            <a:srgbClr val="FF6600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40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SRV1-12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7BE2C2C-A777-98BD-C030-ED2F2F8550F8}"/>
              </a:ext>
            </a:extLst>
          </p:cNvPr>
          <p:cNvSpPr/>
          <p:nvPr/>
        </p:nvSpPr>
        <p:spPr>
          <a:xfrm>
            <a:off x="4968900" y="3402241"/>
            <a:ext cx="480960" cy="428400"/>
          </a:xfrm>
          <a:custGeom>
            <a:avLst>
              <a:gd name="f0" fmla="val 54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-2147483647"/>
              <a:gd name="f9" fmla="val 2147483647"/>
              <a:gd name="f10" fmla="val 21600"/>
              <a:gd name="f11" fmla="+- 0 0 0"/>
              <a:gd name="f12" fmla="abs f4"/>
              <a:gd name="f13" fmla="abs f5"/>
              <a:gd name="f14" fmla="abs f6"/>
              <a:gd name="f15" fmla="pin 0 f0 21600"/>
              <a:gd name="f16" fmla="*/ f11 f1 1"/>
              <a:gd name="f17" fmla="?: f12 f4 1"/>
              <a:gd name="f18" fmla="?: f13 f5 1"/>
              <a:gd name="f19" fmla="?: f14 f6 1"/>
              <a:gd name="f20" fmla="val f15"/>
              <a:gd name="f21" fmla="*/ f16 1 f3"/>
              <a:gd name="f22" fmla="*/ f17 1 21600"/>
              <a:gd name="f23" fmla="*/ f18 1 21600"/>
              <a:gd name="f24" fmla="*/ 21600 f17 1"/>
              <a:gd name="f25" fmla="*/ 21600 f18 1"/>
              <a:gd name="f26" fmla="+- f7 f20 0"/>
              <a:gd name="f27" fmla="+- f21 0 f2"/>
              <a:gd name="f28" fmla="min f23 f22"/>
              <a:gd name="f29" fmla="*/ f24 1 f19"/>
              <a:gd name="f30" fmla="*/ f25 1 f19"/>
              <a:gd name="f31" fmla="+- f30 0 f20"/>
              <a:gd name="f32" fmla="+- f29 0 f20"/>
              <a:gd name="f33" fmla="+- f29 0 f26"/>
              <a:gd name="f34" fmla="+- f30 0 f26"/>
              <a:gd name="f35" fmla="val f29"/>
              <a:gd name="f36" fmla="val f30"/>
              <a:gd name="f37" fmla="*/ f7 f28 1"/>
              <a:gd name="f38" fmla="*/ f15 f28 1"/>
              <a:gd name="f39" fmla="*/ f26 f28 1"/>
              <a:gd name="f40" fmla="*/ f30 f28 1"/>
              <a:gd name="f41" fmla="*/ f29 f28 1"/>
              <a:gd name="f42" fmla="*/ f33 1 2"/>
              <a:gd name="f43" fmla="*/ f34 1 2"/>
              <a:gd name="f44" fmla="*/ f32 f28 1"/>
              <a:gd name="f45" fmla="*/ f36 f28 1"/>
              <a:gd name="f46" fmla="*/ f35 f28 1"/>
              <a:gd name="f47" fmla="*/ f31 f28 1"/>
              <a:gd name="f48" fmla="+- f26 f42 0"/>
              <a:gd name="f49" fmla="+- f26 f43 0"/>
              <a:gd name="f50" fmla="*/ f42 f28 1"/>
              <a:gd name="f51" fmla="*/ f43 f28 1"/>
              <a:gd name="f52" fmla="*/ f48 f28 1"/>
              <a:gd name="f53" fmla="*/ f49 f28 1"/>
            </a:gdLst>
            <a:ahLst>
              <a:ahXY gdRefY="f0" minY="f7" maxY="f10">
                <a:pos x="f37" y="f3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52" y="f37"/>
              </a:cxn>
              <a:cxn ang="f27">
                <a:pos x="f50" y="f39"/>
              </a:cxn>
              <a:cxn ang="f27">
                <a:pos x="f37" y="f53"/>
              </a:cxn>
              <a:cxn ang="f27">
                <a:pos x="f50" y="f40"/>
              </a:cxn>
              <a:cxn ang="f27">
                <a:pos x="f44" y="f53"/>
              </a:cxn>
              <a:cxn ang="f27">
                <a:pos x="f41" y="f51"/>
              </a:cxn>
            </a:cxnLst>
            <a:rect l="f37" t="f39" r="f44" b="f45"/>
            <a:pathLst>
              <a:path>
                <a:moveTo>
                  <a:pt x="f37" y="f45"/>
                </a:moveTo>
                <a:lnTo>
                  <a:pt x="f37" y="f39"/>
                </a:lnTo>
                <a:lnTo>
                  <a:pt x="f39" y="f37"/>
                </a:lnTo>
                <a:lnTo>
                  <a:pt x="f46" y="f37"/>
                </a:lnTo>
                <a:lnTo>
                  <a:pt x="f46" y="f47"/>
                </a:lnTo>
                <a:lnTo>
                  <a:pt x="f44" y="f45"/>
                </a:lnTo>
                <a:close/>
              </a:path>
              <a:path>
                <a:moveTo>
                  <a:pt x="f37" y="f39"/>
                </a:moveTo>
                <a:lnTo>
                  <a:pt x="f39" y="f37"/>
                </a:lnTo>
                <a:lnTo>
                  <a:pt x="f46" y="f37"/>
                </a:lnTo>
                <a:lnTo>
                  <a:pt x="f44" y="f39"/>
                </a:lnTo>
                <a:close/>
              </a:path>
              <a:path>
                <a:moveTo>
                  <a:pt x="f44" y="f45"/>
                </a:moveTo>
                <a:lnTo>
                  <a:pt x="f44" y="f39"/>
                </a:lnTo>
                <a:lnTo>
                  <a:pt x="f46" y="f37"/>
                </a:lnTo>
                <a:lnTo>
                  <a:pt x="f46" y="f47"/>
                </a:lnTo>
                <a:close/>
              </a:path>
            </a:pathLst>
          </a:custGeom>
          <a:solidFill>
            <a:srgbClr val="FF6600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40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SRV2-11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8C76142-06F0-F15D-1B57-EE88141F5737}"/>
              </a:ext>
            </a:extLst>
          </p:cNvPr>
          <p:cNvSpPr/>
          <p:nvPr/>
        </p:nvSpPr>
        <p:spPr>
          <a:xfrm>
            <a:off x="5806980" y="3402241"/>
            <a:ext cx="480960" cy="428400"/>
          </a:xfrm>
          <a:custGeom>
            <a:avLst>
              <a:gd name="f0" fmla="val 54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-2147483647"/>
              <a:gd name="f9" fmla="val 2147483647"/>
              <a:gd name="f10" fmla="val 21600"/>
              <a:gd name="f11" fmla="+- 0 0 0"/>
              <a:gd name="f12" fmla="abs f4"/>
              <a:gd name="f13" fmla="abs f5"/>
              <a:gd name="f14" fmla="abs f6"/>
              <a:gd name="f15" fmla="pin 0 f0 21600"/>
              <a:gd name="f16" fmla="*/ f11 f1 1"/>
              <a:gd name="f17" fmla="?: f12 f4 1"/>
              <a:gd name="f18" fmla="?: f13 f5 1"/>
              <a:gd name="f19" fmla="?: f14 f6 1"/>
              <a:gd name="f20" fmla="val f15"/>
              <a:gd name="f21" fmla="*/ f16 1 f3"/>
              <a:gd name="f22" fmla="*/ f17 1 21600"/>
              <a:gd name="f23" fmla="*/ f18 1 21600"/>
              <a:gd name="f24" fmla="*/ 21600 f17 1"/>
              <a:gd name="f25" fmla="*/ 21600 f18 1"/>
              <a:gd name="f26" fmla="+- f7 f20 0"/>
              <a:gd name="f27" fmla="+- f21 0 f2"/>
              <a:gd name="f28" fmla="min f23 f22"/>
              <a:gd name="f29" fmla="*/ f24 1 f19"/>
              <a:gd name="f30" fmla="*/ f25 1 f19"/>
              <a:gd name="f31" fmla="+- f30 0 f20"/>
              <a:gd name="f32" fmla="+- f29 0 f20"/>
              <a:gd name="f33" fmla="+- f29 0 f26"/>
              <a:gd name="f34" fmla="+- f30 0 f26"/>
              <a:gd name="f35" fmla="val f29"/>
              <a:gd name="f36" fmla="val f30"/>
              <a:gd name="f37" fmla="*/ f7 f28 1"/>
              <a:gd name="f38" fmla="*/ f15 f28 1"/>
              <a:gd name="f39" fmla="*/ f26 f28 1"/>
              <a:gd name="f40" fmla="*/ f30 f28 1"/>
              <a:gd name="f41" fmla="*/ f29 f28 1"/>
              <a:gd name="f42" fmla="*/ f33 1 2"/>
              <a:gd name="f43" fmla="*/ f34 1 2"/>
              <a:gd name="f44" fmla="*/ f32 f28 1"/>
              <a:gd name="f45" fmla="*/ f36 f28 1"/>
              <a:gd name="f46" fmla="*/ f35 f28 1"/>
              <a:gd name="f47" fmla="*/ f31 f28 1"/>
              <a:gd name="f48" fmla="+- f26 f42 0"/>
              <a:gd name="f49" fmla="+- f26 f43 0"/>
              <a:gd name="f50" fmla="*/ f42 f28 1"/>
              <a:gd name="f51" fmla="*/ f43 f28 1"/>
              <a:gd name="f52" fmla="*/ f48 f28 1"/>
              <a:gd name="f53" fmla="*/ f49 f28 1"/>
            </a:gdLst>
            <a:ahLst>
              <a:ahXY gdRefY="f0" minY="f7" maxY="f10">
                <a:pos x="f37" y="f3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52" y="f37"/>
              </a:cxn>
              <a:cxn ang="f27">
                <a:pos x="f50" y="f39"/>
              </a:cxn>
              <a:cxn ang="f27">
                <a:pos x="f37" y="f53"/>
              </a:cxn>
              <a:cxn ang="f27">
                <a:pos x="f50" y="f40"/>
              </a:cxn>
              <a:cxn ang="f27">
                <a:pos x="f44" y="f53"/>
              </a:cxn>
              <a:cxn ang="f27">
                <a:pos x="f41" y="f51"/>
              </a:cxn>
            </a:cxnLst>
            <a:rect l="f37" t="f39" r="f44" b="f45"/>
            <a:pathLst>
              <a:path>
                <a:moveTo>
                  <a:pt x="f37" y="f45"/>
                </a:moveTo>
                <a:lnTo>
                  <a:pt x="f37" y="f39"/>
                </a:lnTo>
                <a:lnTo>
                  <a:pt x="f39" y="f37"/>
                </a:lnTo>
                <a:lnTo>
                  <a:pt x="f46" y="f37"/>
                </a:lnTo>
                <a:lnTo>
                  <a:pt x="f46" y="f47"/>
                </a:lnTo>
                <a:lnTo>
                  <a:pt x="f44" y="f45"/>
                </a:lnTo>
                <a:close/>
              </a:path>
              <a:path>
                <a:moveTo>
                  <a:pt x="f37" y="f39"/>
                </a:moveTo>
                <a:lnTo>
                  <a:pt x="f39" y="f37"/>
                </a:lnTo>
                <a:lnTo>
                  <a:pt x="f46" y="f37"/>
                </a:lnTo>
                <a:lnTo>
                  <a:pt x="f44" y="f39"/>
                </a:lnTo>
                <a:close/>
              </a:path>
              <a:path>
                <a:moveTo>
                  <a:pt x="f44" y="f45"/>
                </a:moveTo>
                <a:lnTo>
                  <a:pt x="f44" y="f39"/>
                </a:lnTo>
                <a:lnTo>
                  <a:pt x="f46" y="f37"/>
                </a:lnTo>
                <a:lnTo>
                  <a:pt x="f46" y="f47"/>
                </a:lnTo>
                <a:close/>
              </a:path>
            </a:pathLst>
          </a:custGeom>
          <a:solidFill>
            <a:srgbClr val="FF6600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40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SRV2-12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5DCA487-7C20-5DC1-2915-246A82193EBB}"/>
              </a:ext>
            </a:extLst>
          </p:cNvPr>
          <p:cNvSpPr/>
          <p:nvPr/>
        </p:nvSpPr>
        <p:spPr>
          <a:xfrm>
            <a:off x="7149960" y="2819400"/>
            <a:ext cx="1708379" cy="1752668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58320" rIns="90000" bIns="45000" anchor="t" anchorCtr="0" compatLnSpc="1">
            <a:no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[APP2:children]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APP2-web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APP2-db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5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00820D3-AF27-35FB-AD42-FB6F78457D8D}"/>
              </a:ext>
            </a:extLst>
          </p:cNvPr>
          <p:cNvSpPr/>
          <p:nvPr/>
        </p:nvSpPr>
        <p:spPr>
          <a:xfrm>
            <a:off x="187102" y="713636"/>
            <a:ext cx="1708379" cy="170124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58320" rIns="90000" bIns="45000" anchor="t" anchorCtr="0" compatLnSpc="1">
            <a:no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[APP1-web]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SRV1-1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SRV1-2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[APP1-db]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SRV1-3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SRV1-4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5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A2C0542-3B15-8121-3345-DF248189F235}"/>
              </a:ext>
            </a:extLst>
          </p:cNvPr>
          <p:cNvSpPr/>
          <p:nvPr/>
        </p:nvSpPr>
        <p:spPr>
          <a:xfrm>
            <a:off x="2647799" y="5105828"/>
            <a:ext cx="3279959" cy="1600268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58320" rIns="90000" bIns="45000" anchor="t" anchorCtr="0" compatLnSpc="1">
            <a:no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[</a:t>
            </a:r>
            <a:r>
              <a:rPr lang="en-US" sz="15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WEB:children</a:t>
            </a:r>
            <a:r>
              <a:rPr lang="en-US" sz="15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]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APP1-web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APP2-web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500" dirty="0"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[</a:t>
            </a:r>
            <a:r>
              <a:rPr lang="en-US" sz="15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DB:children</a:t>
            </a:r>
            <a:r>
              <a:rPr lang="en-US" sz="15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]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APP1-db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APP2-db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5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5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FB07CAE-F006-86E2-A7C6-44D2156967A8}"/>
              </a:ext>
            </a:extLst>
          </p:cNvPr>
          <p:cNvSpPr/>
          <p:nvPr/>
        </p:nvSpPr>
        <p:spPr>
          <a:xfrm>
            <a:off x="199620" y="2902676"/>
            <a:ext cx="1708379" cy="1752668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58320" rIns="90000" bIns="45000" anchor="t" anchorCtr="0" compatLnSpc="1">
            <a:no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[APP1:children]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APP1-web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5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APP1-db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FCD2EC7-00B3-E4D2-432E-7D6C6EDD6928}"/>
              </a:ext>
            </a:extLst>
          </p:cNvPr>
          <p:cNvSpPr/>
          <p:nvPr/>
        </p:nvSpPr>
        <p:spPr>
          <a:xfrm>
            <a:off x="755640" y="533400"/>
            <a:ext cx="7632719" cy="556260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sng" strike="noStrike" cap="none" baseline="0" dirty="0">
                <a:ln>
                  <a:noFill/>
                </a:ln>
                <a:solidFill>
                  <a:schemeClr val="bg1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Format INI: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/>
              <a:t>History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Created in the early 1980s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Initially used by MS-DOS and Windows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Name comes from "initialization"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Widely used for simple configuration files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400" b="1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/>
              <a:t>Advantages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Simple and easy to read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Human-friendly format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Minimal learning curve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Good for basic configurations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Supported by many programming languages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400" b="1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/>
              <a:t>Disadvantages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Limited structure (only two levels of hierarchy)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No standardization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No support for complex data types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Inconsistent implementations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Limited array support</a:t>
            </a:r>
            <a:endParaRPr lang="en-US" b="1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algn="l"/>
            <a:endParaRPr lang="en-US" b="1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509547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FCD2EC7-00B3-E4D2-432E-7D6C6EDD6928}"/>
              </a:ext>
            </a:extLst>
          </p:cNvPr>
          <p:cNvSpPr/>
          <p:nvPr/>
        </p:nvSpPr>
        <p:spPr>
          <a:xfrm>
            <a:off x="755640" y="533400"/>
            <a:ext cx="7632719" cy="556260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sng" strike="noStrike" cap="none" baseline="0" dirty="0">
                <a:ln>
                  <a:noFill/>
                </a:ln>
                <a:solidFill>
                  <a:schemeClr val="bg1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Format INI:</a:t>
            </a:r>
          </a:p>
          <a:p>
            <a:pPr algn="l"/>
            <a:endParaRPr lang="en-US" b="1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/>
              <a:t>Example</a:t>
            </a:r>
          </a:p>
          <a:p>
            <a:pPr lvl="1"/>
            <a:r>
              <a:rPr lang="en-US" sz="14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[</a:t>
            </a:r>
            <a:r>
              <a:rPr lang="en-US" sz="14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database</a:t>
            </a:r>
            <a:r>
              <a:rPr lang="en-US" sz="14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]</a:t>
            </a:r>
          </a:p>
          <a:p>
            <a:pPr lvl="1"/>
            <a:r>
              <a:rPr lang="en-US" sz="14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host</a:t>
            </a:r>
            <a:r>
              <a:rPr lang="en-US" sz="14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</a:t>
            </a:r>
            <a:r>
              <a:rPr lang="en-US" sz="14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localhost</a:t>
            </a:r>
          </a:p>
          <a:p>
            <a:pPr lvl="1"/>
            <a:r>
              <a:rPr lang="en-US" sz="14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port=5432</a:t>
            </a:r>
          </a:p>
          <a:p>
            <a:pPr lvl="1"/>
            <a:r>
              <a:rPr lang="en-US" sz="14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name=</a:t>
            </a:r>
            <a:r>
              <a:rPr lang="en-US" sz="140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mydb</a:t>
            </a:r>
            <a:endParaRPr lang="en-US" sz="140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lvl="1"/>
            <a:endParaRPr lang="en-US" sz="140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lvl="1"/>
            <a:r>
              <a:rPr lang="en-US" sz="14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[server]</a:t>
            </a:r>
          </a:p>
          <a:p>
            <a:pPr lvl="1"/>
            <a:r>
              <a:rPr lang="en-US" sz="140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ip</a:t>
            </a:r>
            <a:r>
              <a:rPr lang="en-US" sz="14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=192.168.1.1</a:t>
            </a:r>
          </a:p>
          <a:p>
            <a:pPr lvl="1"/>
            <a:r>
              <a:rPr lang="en-US" sz="140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max_connections</a:t>
            </a:r>
            <a:r>
              <a:rPr lang="en-US" sz="14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=100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1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531337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FCD2EC7-00B3-E4D2-432E-7D6C6EDD6928}"/>
              </a:ext>
            </a:extLst>
          </p:cNvPr>
          <p:cNvSpPr/>
          <p:nvPr/>
        </p:nvSpPr>
        <p:spPr>
          <a:xfrm>
            <a:off x="755640" y="533400"/>
            <a:ext cx="7632719" cy="556260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sng" strike="noStrike" cap="none" baseline="0" dirty="0">
                <a:ln>
                  <a:noFill/>
                </a:ln>
                <a:solidFill>
                  <a:schemeClr val="bg1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Format JSON: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/>
              <a:t>History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Created by Douglas Crockford in 2001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Subset of JavaScript object notation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Became RFC standard in 2006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Now the de facto standard for web APIs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Advantages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Language-independent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Easy to parse and generate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Strict and predictable syntax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Excellent programming language support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Perfect for data interchange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Fast parsing speed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4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/>
              <a:t>Disadvantages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No comments support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More verbose than YAML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Less human-readable for complex structures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Strict syntax (trailing commas not allowed)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No support for data references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Limited data types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400" dirty="0"/>
          </a:p>
          <a:p>
            <a:pPr algn="l"/>
            <a:endParaRPr lang="en-US" b="1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824372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FCD2EC7-00B3-E4D2-432E-7D6C6EDD6928}"/>
              </a:ext>
            </a:extLst>
          </p:cNvPr>
          <p:cNvSpPr/>
          <p:nvPr/>
        </p:nvSpPr>
        <p:spPr>
          <a:xfrm>
            <a:off x="755640" y="533400"/>
            <a:ext cx="7632719" cy="556260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sng" strike="noStrike" cap="none" baseline="0" dirty="0">
                <a:ln>
                  <a:noFill/>
                </a:ln>
                <a:solidFill>
                  <a:schemeClr val="bg1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Format JSON:</a:t>
            </a:r>
          </a:p>
          <a:p>
            <a:pPr algn="l"/>
            <a:endParaRPr lang="en-US" b="1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/>
              <a:t>Example</a:t>
            </a:r>
          </a:p>
          <a:p>
            <a:pPr lvl="1"/>
            <a:r>
              <a:rPr lang="en-US" sz="1400" i="0" u="none" strike="noStrike" cap="none" baseline="0" dirty="0">
                <a:ln>
                  <a:noFill/>
                </a:ln>
                <a:solidFill>
                  <a:srgbClr val="0E1012"/>
                </a:solidFill>
                <a:highlight>
                  <a:srgbClr val="FF0000"/>
                </a:highlight>
                <a:latin typeface="Courier New" pitchFamily="18"/>
                <a:ea typeface="WenQuanYi Zen Hei Sharp" pitchFamily="2"/>
                <a:cs typeface="WenQuanYi Zen Hei Sharp" pitchFamily="2"/>
              </a:rPr>
              <a:t>{</a:t>
            </a:r>
          </a:p>
          <a:p>
            <a:pPr lvl="1"/>
            <a:r>
              <a:rPr lang="en-US" sz="14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"database": {</a:t>
            </a:r>
          </a:p>
          <a:p>
            <a:pPr lvl="1"/>
            <a:r>
              <a:rPr lang="en-US" sz="14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"host": "localhost",</a:t>
            </a:r>
          </a:p>
          <a:p>
            <a:pPr lvl="1"/>
            <a:r>
              <a:rPr lang="en-US" sz="14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"port": 5432,</a:t>
            </a:r>
          </a:p>
          <a:p>
            <a:pPr lvl="1"/>
            <a:r>
              <a:rPr lang="en-US" sz="14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"name": "</a:t>
            </a:r>
            <a:r>
              <a:rPr lang="en-US" sz="140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mydb</a:t>
            </a:r>
            <a:r>
              <a:rPr lang="en-US" sz="14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",</a:t>
            </a:r>
          </a:p>
          <a:p>
            <a:pPr lvl="1"/>
            <a:r>
              <a:rPr lang="en-US" sz="14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"users": </a:t>
            </a:r>
            <a:r>
              <a:rPr lang="en-US" sz="1400" i="0" u="none" strike="noStrike" cap="none" baseline="0" dirty="0">
                <a:ln>
                  <a:noFill/>
                </a:ln>
                <a:solidFill>
                  <a:srgbClr val="0E1012"/>
                </a:solidFill>
                <a:highlight>
                  <a:srgbClr val="FFFF00"/>
                </a:highlight>
                <a:latin typeface="Courier New" pitchFamily="18"/>
                <a:ea typeface="WenQuanYi Zen Hei Sharp" pitchFamily="2"/>
                <a:cs typeface="WenQuanYi Zen Hei Sharp" pitchFamily="2"/>
              </a:rPr>
              <a:t>[</a:t>
            </a:r>
          </a:p>
          <a:p>
            <a:pPr lvl="1"/>
            <a:r>
              <a:rPr lang="en-US" sz="14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{</a:t>
            </a:r>
          </a:p>
          <a:p>
            <a:pPr lvl="1"/>
            <a:r>
              <a:rPr lang="en-US" sz="14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"name": "admin",</a:t>
            </a:r>
          </a:p>
          <a:p>
            <a:pPr lvl="1"/>
            <a:r>
              <a:rPr lang="en-US" sz="14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"rights": ["read", "write"]</a:t>
            </a:r>
          </a:p>
          <a:p>
            <a:pPr lvl="1"/>
            <a:r>
              <a:rPr lang="en-US" sz="14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},</a:t>
            </a:r>
          </a:p>
          <a:p>
            <a:pPr lvl="1"/>
            <a:r>
              <a:rPr lang="en-US" sz="14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{</a:t>
            </a:r>
          </a:p>
          <a:p>
            <a:pPr lvl="1"/>
            <a:r>
              <a:rPr lang="en-US" sz="14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"name": "guest",</a:t>
            </a:r>
          </a:p>
          <a:p>
            <a:pPr lvl="1"/>
            <a:r>
              <a:rPr lang="en-US" sz="14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"rights": ["read"]</a:t>
            </a:r>
          </a:p>
          <a:p>
            <a:pPr lvl="1"/>
            <a:r>
              <a:rPr lang="en-US" sz="14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}</a:t>
            </a:r>
          </a:p>
          <a:p>
            <a:pPr lvl="1"/>
            <a:r>
              <a:rPr lang="en-US" sz="14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en-US" sz="1400" i="0" u="none" strike="noStrike" cap="none" baseline="0" dirty="0">
                <a:ln>
                  <a:noFill/>
                </a:ln>
                <a:solidFill>
                  <a:srgbClr val="0E1012"/>
                </a:solidFill>
                <a:highlight>
                  <a:srgbClr val="FFFF00"/>
                </a:highlight>
                <a:latin typeface="Courier New" pitchFamily="18"/>
                <a:ea typeface="WenQuanYi Zen Hei Sharp" pitchFamily="2"/>
                <a:cs typeface="WenQuanYi Zen Hei Sharp" pitchFamily="2"/>
              </a:rPr>
              <a:t>]</a:t>
            </a:r>
          </a:p>
          <a:p>
            <a:pPr lvl="1"/>
            <a:r>
              <a:rPr lang="en-US" sz="14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}</a:t>
            </a:r>
          </a:p>
          <a:p>
            <a:pPr lvl="1"/>
            <a:r>
              <a:rPr lang="en-US" sz="1400" i="0" u="none" strike="noStrike" cap="none" baseline="0" dirty="0">
                <a:ln>
                  <a:noFill/>
                </a:ln>
                <a:solidFill>
                  <a:srgbClr val="0E1012"/>
                </a:solidFill>
                <a:highlight>
                  <a:srgbClr val="FF0000"/>
                </a:highlight>
                <a:latin typeface="Courier New" pitchFamily="18"/>
                <a:ea typeface="WenQuanYi Zen Hei Sharp" pitchFamily="2"/>
                <a:cs typeface="WenQuanYi Zen Hei Sharp" pitchFamily="2"/>
              </a:rPr>
              <a:t>}</a:t>
            </a:r>
            <a:endParaRPr lang="en-US" i="0" u="none" strike="noStrike" cap="none" baseline="0" dirty="0">
              <a:ln>
                <a:noFill/>
              </a:ln>
              <a:solidFill>
                <a:srgbClr val="0E1012"/>
              </a:solidFill>
              <a:highlight>
                <a:srgbClr val="FF0000"/>
              </a:highlight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4258597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FCD2EC7-00B3-E4D2-432E-7D6C6EDD6928}"/>
              </a:ext>
            </a:extLst>
          </p:cNvPr>
          <p:cNvSpPr/>
          <p:nvPr/>
        </p:nvSpPr>
        <p:spPr>
          <a:xfrm>
            <a:off x="755640" y="533400"/>
            <a:ext cx="7632719" cy="556260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sng" strike="noStrike" cap="none" baseline="0" dirty="0">
                <a:ln>
                  <a:noFill/>
                </a:ln>
                <a:solidFill>
                  <a:schemeClr val="bg1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Format YAML: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/>
              <a:t>History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Created in 2001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Name: "YAML </a:t>
            </a:r>
            <a:r>
              <a:rPr lang="en-US" sz="1400" dirty="0" err="1"/>
              <a:t>Ain't</a:t>
            </a:r>
            <a:r>
              <a:rPr lang="en-US" sz="1400" dirty="0"/>
              <a:t> Markup Language"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Designed to be human-readable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Initially popular in Ruby community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Widely adopted by DevOps tools (Ansible, Docker, Kubernetes)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Advantages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Very readable and clean syntax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Supports complex data structures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Allows comments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Supports references and anchors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Perfect for configuration files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Rich data types support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4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/>
              <a:t>Disadvantages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Indentation-sensitive (can be error-prone)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Multiple ways to write the same thing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Can be complex for advanced features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Parsing can be slower than JSON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Whitespace rules can be confusing</a:t>
            </a:r>
          </a:p>
          <a:p>
            <a:pPr algn="l"/>
            <a:endParaRPr lang="en-US" b="1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1839371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FCD2EC7-00B3-E4D2-432E-7D6C6EDD6928}"/>
              </a:ext>
            </a:extLst>
          </p:cNvPr>
          <p:cNvSpPr/>
          <p:nvPr/>
        </p:nvSpPr>
        <p:spPr>
          <a:xfrm>
            <a:off x="755640" y="533400"/>
            <a:ext cx="7632719" cy="556260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sng" strike="noStrike" cap="none" baseline="0" dirty="0">
                <a:ln>
                  <a:noFill/>
                </a:ln>
                <a:solidFill>
                  <a:schemeClr val="bg1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Format YAML:</a:t>
            </a:r>
          </a:p>
          <a:p>
            <a:pPr algn="l"/>
            <a:endParaRPr lang="en-US" b="1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/>
              <a:t>Example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1" dirty="0"/>
          </a:p>
          <a:p>
            <a:pPr lvl="1"/>
            <a:r>
              <a:rPr lang="en-US" dirty="0"/>
              <a:t>database:</a:t>
            </a:r>
          </a:p>
          <a:p>
            <a:pPr lvl="1"/>
            <a:r>
              <a:rPr lang="en-US" dirty="0"/>
              <a:t>  host: localhost</a:t>
            </a:r>
          </a:p>
          <a:p>
            <a:pPr lvl="1"/>
            <a:r>
              <a:rPr lang="en-US" dirty="0"/>
              <a:t>  port: 5432</a:t>
            </a:r>
          </a:p>
          <a:p>
            <a:pPr lvl="1"/>
            <a:r>
              <a:rPr lang="en-US" dirty="0"/>
              <a:t>  name: </a:t>
            </a:r>
            <a:r>
              <a:rPr lang="en-US" dirty="0" err="1"/>
              <a:t>mydb</a:t>
            </a:r>
            <a:endParaRPr lang="en-US" dirty="0"/>
          </a:p>
          <a:p>
            <a:pPr lvl="1"/>
            <a:r>
              <a:rPr lang="en-US" dirty="0"/>
              <a:t>  users:</a:t>
            </a:r>
          </a:p>
          <a:p>
            <a:pPr lvl="1"/>
            <a:r>
              <a:rPr lang="en-US" dirty="0"/>
              <a:t>    - name: admin</a:t>
            </a:r>
          </a:p>
          <a:p>
            <a:pPr lvl="1"/>
            <a:r>
              <a:rPr lang="en-US" dirty="0"/>
              <a:t>      rights: [read, write]</a:t>
            </a:r>
          </a:p>
          <a:p>
            <a:pPr lvl="1"/>
            <a:r>
              <a:rPr lang="en-US" dirty="0"/>
              <a:t>    - name: guest</a:t>
            </a:r>
          </a:p>
          <a:p>
            <a:pPr lvl="1"/>
            <a:r>
              <a:rPr lang="en-US" dirty="0"/>
              <a:t>      rights: [read]</a:t>
            </a:r>
          </a:p>
        </p:txBody>
      </p:sp>
    </p:spTree>
    <p:extLst>
      <p:ext uri="{BB962C8B-B14F-4D97-AF65-F5344CB8AC3E}">
        <p14:creationId xmlns:p14="http://schemas.microsoft.com/office/powerpoint/2010/main" val="41695808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FCD2EC7-00B3-E4D2-432E-7D6C6EDD6928}"/>
              </a:ext>
            </a:extLst>
          </p:cNvPr>
          <p:cNvSpPr/>
          <p:nvPr/>
        </p:nvSpPr>
        <p:spPr>
          <a:xfrm>
            <a:off x="755640" y="533400"/>
            <a:ext cx="7632719" cy="556260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sng" strike="noStrike" cap="none" baseline="0" dirty="0">
                <a:ln>
                  <a:noFill/>
                </a:ln>
                <a:solidFill>
                  <a:schemeClr val="bg1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Format Comparison Table:</a:t>
            </a:r>
          </a:p>
          <a:p>
            <a:pPr algn="l"/>
            <a:endParaRPr lang="en-US" b="1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AB7D489-3456-BA32-EB00-5517BDEFE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298113"/>
              </p:ext>
            </p:extLst>
          </p:nvPr>
        </p:nvGraphicFramePr>
        <p:xfrm>
          <a:off x="628649" y="1704499"/>
          <a:ext cx="7886700" cy="356616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1607930505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111125182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504831575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6845225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YAML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JSON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9163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Readability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656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842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Hierarchy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8597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Comments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760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Learning Curve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791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Parsing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2582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Data Types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Basic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Basic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4546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Standardization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7404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6210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FCD2EC7-00B3-E4D2-432E-7D6C6EDD6928}"/>
              </a:ext>
            </a:extLst>
          </p:cNvPr>
          <p:cNvSpPr/>
          <p:nvPr/>
        </p:nvSpPr>
        <p:spPr>
          <a:xfrm>
            <a:off x="755640" y="533400"/>
            <a:ext cx="7632719" cy="556260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sng" strike="noStrike" cap="none" baseline="0" dirty="0">
                <a:ln>
                  <a:noFill/>
                </a:ln>
                <a:solidFill>
                  <a:schemeClr val="bg1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Format Use Cases:</a:t>
            </a:r>
          </a:p>
          <a:p>
            <a:pPr algn="l"/>
            <a:endParaRPr lang="en-US" b="1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CE470-EA76-AB6F-EB95-FEA034D05B0B}"/>
              </a:ext>
            </a:extLst>
          </p:cNvPr>
          <p:cNvSpPr txBox="1"/>
          <p:nvPr/>
        </p:nvSpPr>
        <p:spPr>
          <a:xfrm>
            <a:off x="755640" y="1294686"/>
            <a:ext cx="739776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INI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Simple application configs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User preferences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Basic settings files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Windows system configs</a:t>
            </a:r>
          </a:p>
          <a:p>
            <a:r>
              <a:rPr lang="en-US" b="1" dirty="0"/>
              <a:t>YAML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Ansible playbooks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Docker compose files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Kubernetes manifests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Complex configurations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CI/CD pipelines</a:t>
            </a:r>
          </a:p>
          <a:p>
            <a:r>
              <a:rPr lang="en-US" b="1" dirty="0"/>
              <a:t>JSON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API responses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Web services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Data interchange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Cross-platform configs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Database exports</a:t>
            </a:r>
          </a:p>
        </p:txBody>
      </p:sp>
    </p:spTree>
    <p:extLst>
      <p:ext uri="{BB962C8B-B14F-4D97-AF65-F5344CB8AC3E}">
        <p14:creationId xmlns:p14="http://schemas.microsoft.com/office/powerpoint/2010/main" val="37206917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FCD2EC7-00B3-E4D2-432E-7D6C6EDD6928}"/>
              </a:ext>
            </a:extLst>
          </p:cNvPr>
          <p:cNvSpPr/>
          <p:nvPr/>
        </p:nvSpPr>
        <p:spPr>
          <a:xfrm>
            <a:off x="755640" y="533400"/>
            <a:ext cx="7632719" cy="556260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sng" strike="noStrike" cap="none" baseline="0" dirty="0">
                <a:ln>
                  <a:noFill/>
                </a:ln>
                <a:solidFill>
                  <a:schemeClr val="bg1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Format INI: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[all]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[APP1:</a:t>
            </a:r>
            <a:r>
              <a:rPr lang="en-US" sz="14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children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]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WEB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DB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[APP2:</a:t>
            </a:r>
            <a:r>
              <a:rPr lang="en-US" sz="14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children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]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WEB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DB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[WEB]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srv1-1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ansible_host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=192.168.1.101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ansible_user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=root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srv1-2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ansible_host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=192.168.1.102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ansible_user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=root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srv2-1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ansible_host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=192.168.1.201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ansible_user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=root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srv2-2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ansible_host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=192.168.1.202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ansible_user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=root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[DB]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srv1-11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ansible_host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=192.168.1.111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ansible_user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=root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srv1-12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ansible_host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=192.168.1.112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ansible_user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=root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srv2-11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ansible_host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=192.168.1.211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ansible_user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=root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srv2-12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ansible_host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=192.168.1.212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ansible_user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=root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4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496726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FCD2EC7-00B3-E4D2-432E-7D6C6EDD6928}"/>
              </a:ext>
            </a:extLst>
          </p:cNvPr>
          <p:cNvSpPr/>
          <p:nvPr/>
        </p:nvSpPr>
        <p:spPr>
          <a:xfrm>
            <a:off x="755640" y="381000"/>
            <a:ext cx="7632719" cy="556260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sng" strike="noStrike" cap="none" baseline="0" dirty="0">
                <a:ln>
                  <a:noFill/>
                </a:ln>
                <a:solidFill>
                  <a:schemeClr val="bg1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Format JSON: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{"_meta": { "hostvars":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"srv1-1": { "ansible_host": "192.168.1.101", "ansible_user": "root" },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"srv1-2": { "ansible_host": "192.168.1.102", "ansible_user": "root" },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"srv1-11": { "ansible_host": "192.168.1.111", "ansible_user": "root" },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"srv1-12": { "ansible_host": "192.168.1.112", "ansible_user": "root" },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"srv2-1": { "ansible_host": "192.168.1.201", "ansible_user": "root" },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"srv2-2": { "ansible_host": "192.168.1.202", "ansible_user": "root" },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"srv2-11": { "ansible_host": "192.168.1.211", "ansible_user": "root" },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"srv2-12": { "ansible_host": "192.168.1.212", "ansible_user": "root"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} },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"all": { "children": [ "APP1", "APP2"]},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"APP1": { "children": [ "WEB", "DB"],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"hosts": ["srv1-1", "srv1-2", "srv1-11", "srv1-12",  ]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},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"APP2": { "children": [ "WEB", "DB"],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"hosts": ["srv2-1", "srv2-2", "srv2-11", "srv2-12",  ]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},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"WEB": { "hosts": [ "srv1-1", "srv1-2", "srv2-1", "srv2-2"]} },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"DB": { "hosts": [ "srv1-11", "srv1-12", "srv2-11", "srv2-12"]} },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}</a:t>
            </a:r>
            <a:endParaRPr lang="en-US" sz="11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70712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FCD2EC7-00B3-E4D2-432E-7D6C6EDD6928}"/>
              </a:ext>
            </a:extLst>
          </p:cNvPr>
          <p:cNvSpPr/>
          <p:nvPr/>
        </p:nvSpPr>
        <p:spPr>
          <a:xfrm>
            <a:off x="755640" y="533400"/>
            <a:ext cx="7632719" cy="556260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sng" strike="noStrike" cap="none" baseline="0" dirty="0">
                <a:ln>
                  <a:noFill/>
                </a:ln>
                <a:solidFill>
                  <a:schemeClr val="bg1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Format YAML: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all: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4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children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APP1: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</a:t>
            </a:r>
            <a:r>
              <a:rPr lang="en-US" sz="11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children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WEB: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</a:t>
            </a:r>
            <a:r>
              <a:rPr lang="en-US" sz="14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hosts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srv1-1: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 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ansible_host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192.168.1.101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 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ansible_user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root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srv1-2: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 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ansible_host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192.168.1.102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 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ansible_user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root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DB: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</a:t>
            </a:r>
            <a:r>
              <a:rPr lang="en-US" sz="11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hosts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srv1-11: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 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ansible_host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192.168.1.111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 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ansible_user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root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srv1-12: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 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ansible_host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192.168.1.112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 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ansible_user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root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APP2: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</a:t>
            </a:r>
            <a:r>
              <a:rPr lang="en-US" sz="11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children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WEB: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hosts: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srv2-1: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 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ansible_host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192.168.1.201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 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ansible_user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root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srv2-2: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 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ansible_host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192.168.1.202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 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ansible_user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root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DB: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</a:t>
            </a:r>
            <a:r>
              <a:rPr lang="en-US" sz="11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hosts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srv2-11: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 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ansible_host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192.168.1.211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 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ansible_user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root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srv2-12: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 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ansible_host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192.168.1.212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  </a:t>
            </a:r>
            <a:r>
              <a:rPr lang="en-US" sz="11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ansible_user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root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05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4781468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A533068-C905-1EB0-6D5F-2E75F1762CD8}"/>
              </a:ext>
            </a:extLst>
          </p:cNvPr>
          <p:cNvSpPr/>
          <p:nvPr/>
        </p:nvSpPr>
        <p:spPr>
          <a:xfrm>
            <a:off x="755640" y="91368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Dynamic Inventory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		</a:t>
            </a:r>
            <a:r>
              <a:rPr lang="en-US" sz="36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=&gt; </a:t>
            </a:r>
            <a:r>
              <a:rPr lang="en-US" sz="3600" b="0" i="1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DeepDive</a:t>
            </a:r>
            <a:r>
              <a:rPr lang="en-US" sz="36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session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BSD Jails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DigitalOcean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Google Compute Engine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Linode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OpenShift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OpenStack Nova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Ovirt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SpaceWalk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Vagrant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Zabbix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=&gt;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Vcenter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=&gt; </a:t>
            </a:r>
            <a:r>
              <a:rPr lang="en-US" dirty="0" err="1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Cloudforms</a:t>
            </a:r>
            <a:r>
              <a:rPr lang="en-US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/</a:t>
            </a:r>
            <a:r>
              <a:rPr lang="en-US" dirty="0" err="1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ManageIQ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3005484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FCD2EC7-00B3-E4D2-432E-7D6C6EDD6928}"/>
              </a:ext>
            </a:extLst>
          </p:cNvPr>
          <p:cNvSpPr/>
          <p:nvPr/>
        </p:nvSpPr>
        <p:spPr>
          <a:xfrm>
            <a:off x="755640" y="533400"/>
            <a:ext cx="7632719" cy="556260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sng" strike="noStrike" cap="none" baseline="0" dirty="0">
                <a:ln>
                  <a:noFill/>
                </a:ln>
                <a:solidFill>
                  <a:schemeClr val="bg1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Test Inventory: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# ansible-inventory -i test_inventory --list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dirty="0"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sng" strike="noStrike" cap="none" baseline="0" dirty="0">
                <a:ln>
                  <a:noFill/>
                </a:ln>
                <a:solidFill>
                  <a:schemeClr val="bg1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Use Inventory: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# ansible-playbook -i 127.0.0.1, my_playbook.yml</a:t>
            </a:r>
            <a:endParaRPr lang="en-US" sz="11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# ansible-playbook -i my_Inventory_file.yml my_playbook.yml</a:t>
            </a:r>
            <a:endParaRPr lang="en-US" sz="11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# ansible-playbook -i my_Inventory_script.py my_playbook.yml</a:t>
            </a:r>
            <a:endParaRPr lang="en-US" sz="11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dirty="0"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sng" strike="noStrike" cap="none" baseline="0" dirty="0">
                <a:ln>
                  <a:noFill/>
                </a:ln>
                <a:solidFill>
                  <a:schemeClr val="bg1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Limit Inventory: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# ansible-playbook -i my_Inventory_script.py -l Web my_playbook.yml</a:t>
            </a:r>
            <a:endParaRPr lang="en-US" sz="11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4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1535413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AC6411A-3E91-E0A5-E766-5F97734252FA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i="1" dirty="0">
                <a:solidFill>
                  <a:schemeClr val="bg1"/>
                </a:solidFill>
                <a:latin typeface="Courier New" pitchFamily="18"/>
              </a:rPr>
              <a:t>https://docs.ansible.com/ansible/2.6/user_guide/playbooks_reuse.html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1462676-0F47-E85B-3D2F-126F6EBE0D24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Playbook</a:t>
            </a:r>
          </a:p>
        </p:txBody>
      </p:sp>
    </p:spTree>
    <p:extLst>
      <p:ext uri="{BB962C8B-B14F-4D97-AF65-F5344CB8AC3E}">
        <p14:creationId xmlns:p14="http://schemas.microsoft.com/office/powerpoint/2010/main" val="17668751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ED4930-F82E-2239-5C7B-F74B181B3D39}"/>
              </a:ext>
            </a:extLst>
          </p:cNvPr>
          <p:cNvSpPr txBox="1"/>
          <p:nvPr/>
        </p:nvSpPr>
        <p:spPr>
          <a:xfrm>
            <a:off x="533400" y="609600"/>
            <a:ext cx="80772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What is an Ansible Playbook?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Ansible Playbooks are the cornerstone of Ansible’s automation capabilities.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Written in YAML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simple, human-readable files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define a series of tasks to be executed.</a:t>
            </a:r>
          </a:p>
          <a:p>
            <a:pPr algn="l"/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They allow you to: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Automate repetitive tasks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Simplify complex processes by automating them.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Ensure consistency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Apply the same configuration across multiple systems.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Orchestrate workflows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Coordinate tasks across different servers and environments.</a:t>
            </a:r>
          </a:p>
          <a:p>
            <a:pPr algn="l"/>
            <a:endParaRPr lang="en-US" b="1" i="0" dirty="0">
              <a:solidFill>
                <a:srgbClr val="111111"/>
              </a:solidFill>
              <a:effectLst/>
              <a:latin typeface="-apple-system"/>
            </a:endParaRPr>
          </a:p>
          <a:p>
            <a:pPr algn="l"/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Key Features: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Declarative Syntax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Playbooks describe the desired state of your systems.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Modular Structure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Tasks are organized into plays, each targeting specific hosts.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Idempotency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Ensures that applying the same playbook multiple times will not change the system after the first application.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6886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A625E07-ABF7-0D28-A456-7B6F757F89F6}"/>
              </a:ext>
            </a:extLst>
          </p:cNvPr>
          <p:cNvSpPr/>
          <p:nvPr/>
        </p:nvSpPr>
        <p:spPr>
          <a:xfrm>
            <a:off x="755640" y="91368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What are Playbook:</a:t>
            </a:r>
          </a:p>
          <a:p>
            <a:pPr marL="742950" lvl="1" indent="-285750">
              <a:spcBef>
                <a:spcPts val="36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List of </a:t>
            </a:r>
            <a:r>
              <a:rPr lang="en-US" b="1" dirty="0"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Plays</a:t>
            </a:r>
            <a:r>
              <a:rPr lang="en-US" dirty="0"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1200150" lvl="2" indent="-285750">
              <a:spcBef>
                <a:spcPts val="36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List of </a:t>
            </a:r>
            <a:r>
              <a:rPr lang="en-US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hosts</a:t>
            </a:r>
            <a:r>
              <a:rPr lang="en-US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based on inventory</a:t>
            </a:r>
          </a:p>
          <a:p>
            <a:pPr marL="1200150" lvl="2" indent="-285750">
              <a:spcBef>
                <a:spcPts val="36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List of </a:t>
            </a:r>
            <a:r>
              <a:rPr lang="en-US" b="1" dirty="0"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tasks</a:t>
            </a:r>
          </a:p>
          <a:p>
            <a:pPr marL="1657350" lvl="3" indent="-285750">
              <a:spcBef>
                <a:spcPts val="36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List of </a:t>
            </a:r>
            <a:r>
              <a:rPr lang="en-US" b="1" dirty="0"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modules</a:t>
            </a:r>
          </a:p>
          <a:p>
            <a:pPr marL="1657350" lvl="3" indent="-285750">
              <a:spcBef>
                <a:spcPts val="36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Parameters</a:t>
            </a:r>
            <a:r>
              <a:rPr lang="en-US" dirty="0"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of Modules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1" i="0" u="none" strike="noStrike" cap="none" baseline="0" dirty="0">
              <a:ln>
                <a:noFill/>
              </a:ln>
              <a:solidFill>
                <a:srgbClr val="00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Why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</a:t>
            </a:r>
          </a:p>
          <a:p>
            <a:pPr marL="742950" lvl="1" indent="-285750">
              <a:spcBef>
                <a:spcPts val="36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Reusable</a:t>
            </a:r>
          </a:p>
          <a:p>
            <a:pPr marL="742950" lvl="1" indent="-285750">
              <a:spcBef>
                <a:spcPts val="36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Idempotency</a:t>
            </a:r>
            <a:endParaRPr lang="en-US" b="0" i="0" u="none" strike="noStrike" cap="none" baseline="0" dirty="0">
              <a:ln>
                <a:noFill/>
              </a:ln>
              <a:solidFill>
                <a:srgbClr val="00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	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How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</a:t>
            </a:r>
          </a:p>
          <a:p>
            <a:pPr marL="742950" lvl="1" indent="-285750">
              <a:spcBef>
                <a:spcPts val="36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Splits in Simple Goals</a:t>
            </a:r>
          </a:p>
          <a:p>
            <a:pPr marL="742950" lvl="1" indent="-285750">
              <a:spcBef>
                <a:spcPts val="36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Basics actions</a:t>
            </a:r>
          </a:p>
          <a:p>
            <a:pPr marL="742950" lvl="1" indent="-285750">
              <a:spcBef>
                <a:spcPts val="36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Subsequent Playbooks/Roles</a:t>
            </a:r>
            <a:endParaRPr lang="en-US" b="0" i="0" u="none" strike="noStrike" cap="none" baseline="0" dirty="0">
              <a:ln>
                <a:noFill/>
              </a:ln>
              <a:solidFill>
                <a:srgbClr val="00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9396891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A625E07-ABF7-0D28-A456-7B6F757F89F6}"/>
              </a:ext>
            </a:extLst>
          </p:cNvPr>
          <p:cNvSpPr/>
          <p:nvPr/>
        </p:nvSpPr>
        <p:spPr>
          <a:xfrm>
            <a:off x="755640" y="91368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Exemple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Deploy-APP: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deploy_apache.yml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configure_apache.yml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compile-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APP.yml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deploy-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APP.yml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634098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AD8CBF7-B5F7-F4F6-8148-52D1E96900F4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---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name: install and start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apache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hosts: WEB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vars: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http_port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80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max_clients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200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remote_user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root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tasks: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name: install httpd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yum: pkg=httpd state=latest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name: write the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apache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config file 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template: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src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=/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srv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/httpd.j2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dest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=/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etc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/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httpd.conf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name: start httpd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service: name=httpd state=running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0D51880-F584-38BE-9F5C-9B8CE01752B3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---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1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name: install and start </a:t>
            </a:r>
            <a:r>
              <a:rPr lang="en-US" sz="1800" b="1" i="0" u="none" strike="noStrike" cap="none" baseline="0" dirty="0" err="1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apache</a:t>
            </a:r>
            <a:endParaRPr lang="en-US" sz="1800" b="1" i="0" u="none" strike="noStrike" cap="none" baseline="0" dirty="0">
              <a:ln>
                <a:noFill/>
              </a:ln>
              <a:solidFill>
                <a:srgbClr val="FF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hosts: WEB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vars: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http_port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80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max_clients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200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remote_user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root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tasks: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800" b="1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name: install httpd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yum: pkg=httpd state=latest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800" b="1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name: write the </a:t>
            </a:r>
            <a:r>
              <a:rPr lang="en-US" sz="1800" b="1" i="0" u="none" strike="noStrike" cap="none" baseline="0" dirty="0" err="1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apache</a:t>
            </a:r>
            <a:r>
              <a:rPr lang="en-US" sz="1800" b="1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config file 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template: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src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=/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srv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/httpd.j2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dest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=/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etc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/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httpd.conf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969696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800" b="1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name: start httpd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service: name=httpd state=running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C634629-3BF6-86D1-69E5-CA767EDCA86A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---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name: install and start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apache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969696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800" b="1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hosts: WEB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vars: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http_port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80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max_clients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200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remote_user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root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 dirty="0">
              <a:ln>
                <a:noFill/>
              </a:ln>
              <a:solidFill>
                <a:srgbClr val="969696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tasks: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name: install httpd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yum: pkg=httpd state=latest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name: write the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apache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config file 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template: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src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=/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srv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/httpd.j2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dest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=/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etc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/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httpd.conf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969696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name: start httpd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service: name=httpd state=running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4D0777A-20EC-1C93-8E67-4F5E727C636F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---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name: install and start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apache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969696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hosts: WEB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800" b="1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vars: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1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en-US" sz="1800" b="1" i="0" u="none" strike="noStrike" cap="none" baseline="0" dirty="0" err="1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http_port</a:t>
            </a:r>
            <a:r>
              <a:rPr lang="en-US" sz="1800" b="1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80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1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en-US" sz="1800" b="1" i="0" u="none" strike="noStrike" cap="none" baseline="0" dirty="0" err="1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max_clients</a:t>
            </a:r>
            <a:r>
              <a:rPr lang="en-US" sz="1800" b="1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200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remote_user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root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 dirty="0">
              <a:ln>
                <a:noFill/>
              </a:ln>
              <a:solidFill>
                <a:srgbClr val="969696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tasks: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name: install httpd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yum: pkg=httpd state=latest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name: write the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apache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config file 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template: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src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=/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srv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/httpd.j2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dest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=/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etc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/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httpd.conf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969696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name: start httpd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service: name=httpd state=running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7206C2D-CA78-FCAB-7674-40B41ED88F32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---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name: install and start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apache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969696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hosts: WEB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vars: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http_port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80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max_clients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200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1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800" b="1" i="0" u="none" strike="noStrike" cap="none" baseline="0" dirty="0" err="1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remote_user</a:t>
            </a:r>
            <a:r>
              <a:rPr lang="en-US" sz="1800" b="1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root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tasks: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name: install httpd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yum: pkg=httpd state=latest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name: write the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apache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config file 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template: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src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=/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srv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/httpd.j2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dest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=/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etc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/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httpd.conf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969696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name: start httpd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service: name=httpd state=running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6536D61-0F7E-FD44-8C0A-B162F07F1DF3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---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name: install and start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apache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969696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hosts: WEB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vars: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http_port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80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max_clients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200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remote_user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root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tasks: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name: install httpd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en-US" sz="1800" b="1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yum: pkg=httpd state=latest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name: write the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apache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config file 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1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template: </a:t>
            </a:r>
            <a:r>
              <a:rPr lang="en-US" sz="1800" b="1" i="0" u="none" strike="noStrike" cap="none" baseline="0" dirty="0" err="1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src</a:t>
            </a:r>
            <a:r>
              <a:rPr lang="en-US" sz="1800" b="1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=/</a:t>
            </a:r>
            <a:r>
              <a:rPr lang="en-US" sz="1800" b="1" i="0" u="none" strike="noStrike" cap="none" baseline="0" dirty="0" err="1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srv</a:t>
            </a:r>
            <a:r>
              <a:rPr lang="en-US" sz="1800" b="1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/httpd.j2 </a:t>
            </a:r>
            <a:r>
              <a:rPr lang="en-US" sz="1800" b="1" i="0" u="none" strike="noStrike" cap="none" baseline="0" dirty="0" err="1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dest</a:t>
            </a:r>
            <a:r>
              <a:rPr lang="en-US" sz="1800" b="1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=/</a:t>
            </a:r>
            <a:r>
              <a:rPr lang="en-US" sz="1800" b="1" i="0" u="none" strike="noStrike" cap="none" baseline="0" dirty="0" err="1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etc</a:t>
            </a:r>
            <a:r>
              <a:rPr lang="en-US" sz="1800" b="1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/</a:t>
            </a:r>
            <a:r>
              <a:rPr lang="en-US" sz="1800" b="1" i="0" u="none" strike="noStrike" cap="none" baseline="0" dirty="0" err="1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httpd.conf</a:t>
            </a:r>
            <a:endParaRPr lang="en-US" sz="1800" b="1" i="0" u="none" strike="noStrike" cap="none" baseline="0" dirty="0">
              <a:ln>
                <a:noFill/>
              </a:ln>
              <a:solidFill>
                <a:srgbClr val="FF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969696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name: start httpd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1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service: name=httpd state=running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D1645A4-738C-7835-860E-D4A8B6B03BF7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Results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9BBB290-85B5-8C34-6C82-DFFC42CB8773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$ ansible-playbook -</a:t>
            </a:r>
            <a:r>
              <a:rPr lang="en-US" sz="7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hosts deploy_DB2.yml -</a:t>
            </a:r>
            <a:r>
              <a:rPr lang="en-US" sz="7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vv</a:t>
            </a:r>
            <a:endParaRPr lang="en-US" sz="7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Using /</a:t>
            </a:r>
            <a:r>
              <a:rPr lang="en-US" sz="7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etc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/ansible/</a:t>
            </a:r>
            <a:r>
              <a:rPr lang="en-US" sz="7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ansible.cfg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as config file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CCCC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statically included: /home/</a:t>
            </a:r>
            <a:r>
              <a:rPr lang="en-US" sz="700" b="0" i="0" u="none" strike="noStrike" cap="none" baseline="0" dirty="0" err="1">
                <a:ln>
                  <a:noFill/>
                </a:ln>
                <a:solidFill>
                  <a:srgbClr val="00CCCC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user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CCCC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/project/roles/DB2/tasks/00-PreRequisit.yml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700" b="0" i="0" u="none" strike="noStrike" cap="none" baseline="0" dirty="0">
              <a:ln>
                <a:noFill/>
              </a:ln>
              <a:solidFill>
                <a:srgbClr val="00CCCC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PLAYBOOK: deploy_DB2.yml *******************************************************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00FF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1 plays in deploy_DB2.yml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7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PLAY [DB2] *********************************************************************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7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TASK [setup] *******************************************************************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ok: [SRV-1]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700" b="0" i="0" u="none" strike="noStrike" cap="none" baseline="0" dirty="0">
              <a:ln>
                <a:noFill/>
              </a:ln>
              <a:solidFill>
                <a:srgbClr val="00CC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TASK [DB2 : set LANG] **********************************************************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700" b="0" i="0" u="none" strike="noStrike" cap="none" baseline="0" dirty="0">
                <a:ln>
                  <a:noFill/>
                </a:ln>
                <a:solidFill>
                  <a:srgbClr val="B2B2B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task path: /home/</a:t>
            </a:r>
            <a:r>
              <a:rPr lang="en-US" sz="700" b="0" i="0" u="none" strike="noStrike" cap="none" baseline="0" dirty="0" err="1">
                <a:ln>
                  <a:noFill/>
                </a:ln>
                <a:solidFill>
                  <a:srgbClr val="B2B2B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user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B2B2B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/project/roles/DB2/tasks/00-PreRequisit.yml:68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ok: [SRV-1] =&gt; (item={</a:t>
            </a:r>
            <a:r>
              <a:rPr lang="en-US" sz="700" b="0" i="0" u="none" strike="noStrike" cap="none" baseline="0" dirty="0" err="1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u'key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': </a:t>
            </a:r>
            <a:r>
              <a:rPr lang="en-US" sz="700" b="0" i="0" u="none" strike="noStrike" cap="none" baseline="0" dirty="0" err="1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u'LANG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', </a:t>
            </a:r>
            <a:r>
              <a:rPr lang="en-US" sz="700" b="0" i="0" u="none" strike="noStrike" cap="none" baseline="0" dirty="0" err="1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u'value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': </a:t>
            </a:r>
            <a:r>
              <a:rPr lang="en-US" sz="700" b="0" i="0" u="none" strike="noStrike" cap="none" baseline="0" dirty="0" err="1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u'fr_FR@euro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'}) =&gt; {"backup": "", "changed": false, "item": {"key": "LANG", "value": "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700" b="0" i="0" u="none" strike="noStrike" cap="none" baseline="0" dirty="0" err="1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fr_FR@euro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"}, "msg": ""}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ok: [SRV-1] =&gt; (item={</a:t>
            </a:r>
            <a:r>
              <a:rPr lang="en-US" sz="700" b="0" i="0" u="none" strike="noStrike" cap="none" baseline="0" dirty="0" err="1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u'key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': </a:t>
            </a:r>
            <a:r>
              <a:rPr lang="en-US" sz="700" b="0" i="0" u="none" strike="noStrike" cap="none" baseline="0" dirty="0" err="1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u'LC_ALL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', </a:t>
            </a:r>
            <a:r>
              <a:rPr lang="en-US" sz="700" b="0" i="0" u="none" strike="noStrike" cap="none" baseline="0" dirty="0" err="1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u'value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': </a:t>
            </a:r>
            <a:r>
              <a:rPr lang="en-US" sz="700" b="0" i="0" u="none" strike="noStrike" cap="none" baseline="0" dirty="0" err="1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u'fr_FR@euro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'}) =&gt; {"backup": "", "changed": false, "item": {"key": "LC_ALL", "value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": "</a:t>
            </a:r>
            <a:r>
              <a:rPr lang="en-US" sz="700" b="0" i="0" u="none" strike="noStrike" cap="none" baseline="0" dirty="0" err="1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fr_FR@euro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"}, "msg": ""}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7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TASK [DB2 : set </a:t>
            </a:r>
            <a:r>
              <a:rPr lang="en-US" sz="7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etc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/profile] ***************************************************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700" b="0" i="0" u="none" strike="noStrike" cap="none" baseline="0" dirty="0">
                <a:ln>
                  <a:noFill/>
                </a:ln>
                <a:solidFill>
                  <a:srgbClr val="B2B2B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task path: /home/</a:t>
            </a:r>
            <a:r>
              <a:rPr lang="en-US" sz="700" b="0" i="0" u="none" strike="noStrike" cap="none" baseline="0" dirty="0" err="1">
                <a:ln>
                  <a:noFill/>
                </a:ln>
                <a:solidFill>
                  <a:srgbClr val="B2B2B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user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B2B2B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/project/roles/DB2/tasks/00-PreRequisit.yml:74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ok: [SRV-1] =&gt; {"backup": "", "changed": false, "msg": ""}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700" b="0" i="0" u="none" strike="noStrike" cap="none" baseline="0" dirty="0">
              <a:ln>
                <a:noFill/>
              </a:ln>
              <a:solidFill>
                <a:srgbClr val="00CC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TASK [DB2 : setting kernel] ****************************************************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700" b="0" i="0" u="none" strike="noStrike" cap="none" baseline="0" dirty="0">
                <a:ln>
                  <a:noFill/>
                </a:ln>
                <a:solidFill>
                  <a:srgbClr val="B2B2B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task path: /home/</a:t>
            </a:r>
            <a:r>
              <a:rPr lang="en-US" sz="700" b="0" i="0" u="none" strike="noStrike" cap="none" baseline="0" dirty="0" err="1">
                <a:ln>
                  <a:noFill/>
                </a:ln>
                <a:solidFill>
                  <a:srgbClr val="B2B2B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user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B2B2B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/project/roles/DB2/tasks/00-PreRequisit.yml:77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700" b="0" i="0" u="none" strike="noStrike" cap="none" baseline="0" dirty="0">
                <a:ln>
                  <a:noFill/>
                </a:ln>
                <a:solidFill>
                  <a:srgbClr val="FF66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changed: [SRV-1] =&gt; (item={</a:t>
            </a:r>
            <a:r>
              <a:rPr lang="en-US" sz="700" b="0" i="0" u="none" strike="noStrike" cap="none" baseline="0" dirty="0" err="1">
                <a:ln>
                  <a:noFill/>
                </a:ln>
                <a:solidFill>
                  <a:srgbClr val="FF66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u'key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FF66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': u' </a:t>
            </a:r>
            <a:r>
              <a:rPr lang="en-US" sz="700" b="0" i="0" u="none" strike="noStrike" cap="none" baseline="0" dirty="0" err="1">
                <a:ln>
                  <a:noFill/>
                </a:ln>
                <a:solidFill>
                  <a:srgbClr val="FF66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kernel.shmmni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FF66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', </a:t>
            </a:r>
            <a:r>
              <a:rPr lang="en-US" sz="700" b="0" i="0" u="none" strike="noStrike" cap="none" baseline="0" dirty="0" err="1">
                <a:ln>
                  <a:noFill/>
                </a:ln>
                <a:solidFill>
                  <a:srgbClr val="FF66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u'value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FF66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': u'16384'}) =&gt; {"backup": "", "changed": true, "item": {"key": " </a:t>
            </a:r>
            <a:r>
              <a:rPr lang="en-US" sz="700" b="0" i="0" u="none" strike="noStrike" cap="none" baseline="0" dirty="0" err="1">
                <a:ln>
                  <a:noFill/>
                </a:ln>
                <a:solidFill>
                  <a:srgbClr val="FF66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kernel.shmmni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FF66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", "value": "16384"}, "msg": "line added"}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700" b="0" i="0" u="none" strike="noStrike" cap="none" baseline="0" dirty="0">
                <a:ln>
                  <a:noFill/>
                </a:ln>
                <a:solidFill>
                  <a:srgbClr val="FF66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changed: [SRV-1] =&gt; (item={</a:t>
            </a:r>
            <a:r>
              <a:rPr lang="en-US" sz="700" b="0" i="0" u="none" strike="noStrike" cap="none" baseline="0" dirty="0" err="1">
                <a:ln>
                  <a:noFill/>
                </a:ln>
                <a:solidFill>
                  <a:srgbClr val="FF66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u'key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FF66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': u' </a:t>
            </a:r>
            <a:r>
              <a:rPr lang="en-US" sz="700" b="0" i="0" u="none" strike="noStrike" cap="none" baseline="0" dirty="0" err="1">
                <a:ln>
                  <a:noFill/>
                </a:ln>
                <a:solidFill>
                  <a:srgbClr val="FF66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kernel.shmmax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FF66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', </a:t>
            </a:r>
            <a:r>
              <a:rPr lang="en-US" sz="700" b="0" i="0" u="none" strike="noStrike" cap="none" baseline="0" dirty="0" err="1">
                <a:ln>
                  <a:noFill/>
                </a:ln>
                <a:solidFill>
                  <a:srgbClr val="FF66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u'value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FF66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': u'68719476736'}) =&gt; {"backup": "", "changed": true, "item": {"key": " </a:t>
            </a:r>
            <a:r>
              <a:rPr lang="en-US" sz="700" b="0" i="0" u="none" strike="noStrike" cap="none" baseline="0" dirty="0" err="1">
                <a:ln>
                  <a:noFill/>
                </a:ln>
                <a:solidFill>
                  <a:srgbClr val="FF66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kernel.shmmax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FF66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", "value": "68719476736"}, "msg": "line added"}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7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PLAY RECAP *********************************************************************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700" b="0" i="0" u="none" strike="noStrike" cap="none" baseline="0" dirty="0">
                <a:ln>
                  <a:noFill/>
                </a:ln>
                <a:solidFill>
                  <a:srgbClr val="FF66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SRV-1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          : 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ok=3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FF66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changed=1</a:t>
            </a:r>
            <a:r>
              <a:rPr lang="en-US" sz="7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unreachable=0    failed=0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7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7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B899387-FDCD-8554-A89D-3675D5623315}"/>
              </a:ext>
            </a:extLst>
          </p:cNvPr>
          <p:cNvSpPr/>
          <p:nvPr/>
        </p:nvSpPr>
        <p:spPr>
          <a:xfrm>
            <a:off x="291960" y="28800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PLAYBOOK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F3E16C3-8BB5-E956-05DD-0BC5C308DBD5}"/>
              </a:ext>
            </a:extLst>
          </p:cNvPr>
          <p:cNvSpPr/>
          <p:nvPr/>
        </p:nvSpPr>
        <p:spPr>
          <a:xfrm>
            <a:off x="719280" y="115632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b="1" u="sng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Tasks</a:t>
            </a:r>
            <a:r>
              <a:rPr lang="fr-FR" sz="1800" b="1" i="0" u="sng" strike="noStrike" cap="none" baseline="0" dirty="0">
                <a:ln>
                  <a:noFill/>
                </a:ln>
                <a:solidFill>
                  <a:srgbClr val="000000"/>
                </a:solidFill>
                <a:uFillTx/>
                <a:latin typeface="Arial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1" i="0" u="sng" strike="noStrike" cap="none" baseline="0" dirty="0">
              <a:ln>
                <a:noFill/>
              </a:ln>
              <a:solidFill>
                <a:srgbClr val="000000"/>
              </a:solidFill>
              <a:uFillTx/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- name: tache 1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ansible.builtin.debug: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msg: "tache 1"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when: not last_result</a:t>
            </a:r>
            <a:endParaRPr lang="fr-FR" sz="1800" b="1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- name: tache 2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ansible.builtin.debug: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msg: "tache 2"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when: not last_result</a:t>
            </a:r>
            <a:endParaRPr lang="fr-FR" sz="1800" b="1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1" i="0" u="sng" strike="noStrike" cap="none" baseline="0" dirty="0">
              <a:ln>
                <a:noFill/>
              </a:ln>
              <a:solidFill>
                <a:srgbClr val="000000"/>
              </a:solidFill>
              <a:uFillTx/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35E5C14-8136-7529-D81F-7DCD174614EA}"/>
              </a:ext>
            </a:extLst>
          </p:cNvPr>
          <p:cNvSpPr/>
          <p:nvPr/>
        </p:nvSpPr>
        <p:spPr>
          <a:xfrm>
            <a:off x="291960" y="28800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PLAYBOOK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4566F34-A4D0-D249-993F-8380243B8069}"/>
              </a:ext>
            </a:extLst>
          </p:cNvPr>
          <p:cNvSpPr/>
          <p:nvPr/>
        </p:nvSpPr>
        <p:spPr>
          <a:xfrm>
            <a:off x="719280" y="115632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1" i="0" u="sng" strike="noStrike" cap="none" baseline="0" dirty="0">
                <a:ln>
                  <a:noFill/>
                </a:ln>
                <a:solidFill>
                  <a:srgbClr val="000000"/>
                </a:solidFill>
                <a:uFillTx/>
                <a:latin typeface="Arial" pitchFamily="18"/>
                <a:ea typeface="WenQuanYi Zen Hei Sharp" pitchFamily="2"/>
                <a:cs typeface="WenQuanYi Zen Hei Sharp" pitchFamily="2"/>
              </a:rPr>
              <a:t>Group of </a:t>
            </a:r>
            <a:r>
              <a:rPr lang="fr-FR" sz="1800" b="1" i="0" u="sng" strike="noStrike" cap="none" baseline="0" dirty="0" err="1">
                <a:ln>
                  <a:noFill/>
                </a:ln>
                <a:solidFill>
                  <a:srgbClr val="000000"/>
                </a:solidFill>
                <a:uFillTx/>
                <a:latin typeface="Arial" pitchFamily="18"/>
                <a:ea typeface="WenQuanYi Zen Hei Sharp" pitchFamily="2"/>
                <a:cs typeface="WenQuanYi Zen Hei Sharp" pitchFamily="2"/>
              </a:rPr>
              <a:t>Tasks</a:t>
            </a:r>
            <a:r>
              <a:rPr lang="fr-FR" sz="1800" b="1" i="0" u="sng" strike="noStrike" cap="none" baseline="0" dirty="0">
                <a:ln>
                  <a:noFill/>
                </a:ln>
                <a:solidFill>
                  <a:srgbClr val="000000"/>
                </a:solidFill>
                <a:uFillTx/>
                <a:latin typeface="Arial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1" i="0" u="sng" strike="noStrike" cap="none" baseline="0" dirty="0">
              <a:ln>
                <a:noFill/>
              </a:ln>
              <a:solidFill>
                <a:srgbClr val="000000"/>
              </a:solidFill>
              <a:uFillTx/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- name: groupe de taches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block: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- name: tache 1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ansible.builtin.debug: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  msg: "tache 1"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- name: tache 2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ansible.builtin.debug: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  msg: "tache 2"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when: not last_result</a:t>
            </a:r>
            <a:endParaRPr lang="fr-FR" sz="1800" b="1" i="0" u="none" strike="noStrike" cap="none" baseline="0" dirty="0">
              <a:ln>
                <a:noFill/>
              </a:ln>
              <a:solidFill>
                <a:srgbClr val="000000"/>
              </a:solidFill>
              <a:highlight>
                <a:srgbClr val="FFFF00"/>
              </a:highlight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1" i="0" u="sng" strike="noStrike" cap="none" baseline="0" dirty="0">
              <a:ln>
                <a:noFill/>
              </a:ln>
              <a:solidFill>
                <a:srgbClr val="000000"/>
              </a:solidFill>
              <a:uFillTx/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D4982FD-FF1F-6AB3-869F-668446D5066B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PLAYBOOK EXAMPLE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3081E85-011E-2EC1-EBC8-5F50E3497FB0}"/>
              </a:ext>
            </a:extLst>
          </p:cNvPr>
          <p:cNvSpPr/>
          <p:nvPr/>
        </p:nvSpPr>
        <p:spPr>
          <a:xfrm>
            <a:off x="291960" y="1143000"/>
            <a:ext cx="8623440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1" i="0" u="sng" strike="noStrike" cap="none" baseline="0" dirty="0">
                <a:ln>
                  <a:noFill/>
                </a:ln>
                <a:solidFill>
                  <a:srgbClr val="000000"/>
                </a:solidFill>
                <a:uFillTx/>
                <a:latin typeface="Courier New" pitchFamily="18"/>
                <a:ea typeface="WenQuanYi Zen Hei Sharp" pitchFamily="2"/>
                <a:cs typeface="WenQuanYi Zen Hei Sharp" pitchFamily="2"/>
              </a:rPr>
              <a:t>Import</a:t>
            </a:r>
            <a:r>
              <a:rPr lang="en-US" sz="1600" i="0" strike="noStrike" cap="none" baseline="0" dirty="0">
                <a:ln>
                  <a:noFill/>
                </a:ln>
                <a:solidFill>
                  <a:srgbClr val="000000"/>
                </a:solidFill>
                <a:uFillTx/>
                <a:latin typeface="Courier New" pitchFamily="18"/>
                <a:ea typeface="WenQuanYi Zen Hei Sharp" pitchFamily="2"/>
                <a:cs typeface="WenQuanYi Zen Hei Sharp" pitchFamily="2"/>
              </a:rPr>
              <a:t> =&gt; static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OpenSymbol"/>
              <a:buChar char="➔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All </a:t>
            </a:r>
            <a:r>
              <a:rPr lang="en-US" sz="11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import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* statements are pre-processed at the time </a:t>
            </a:r>
            <a:r>
              <a:rPr lang="en-US" sz="11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playbooks are parsed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OpenSymbol"/>
              <a:buChar char="➔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loops </a:t>
            </a:r>
            <a:r>
              <a:rPr lang="en-US" sz="11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cannot be 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used with imports at all.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6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1" i="0" u="sng" strike="noStrike" cap="none" baseline="0" dirty="0">
                <a:ln>
                  <a:noFill/>
                </a:ln>
                <a:solidFill>
                  <a:srgbClr val="000000"/>
                </a:solidFill>
                <a:uFillTx/>
                <a:latin typeface="Courier New" pitchFamily="18"/>
                <a:ea typeface="WenQuanYi Zen Hei Sharp" pitchFamily="2"/>
                <a:cs typeface="WenQuanYi Zen Hei Sharp" pitchFamily="2"/>
              </a:rPr>
              <a:t>Include</a:t>
            </a:r>
            <a:r>
              <a:rPr lang="en-US" sz="1600" i="0" strike="noStrike" cap="none" baseline="0" dirty="0">
                <a:ln>
                  <a:noFill/>
                </a:ln>
                <a:solidFill>
                  <a:srgbClr val="000000"/>
                </a:solidFill>
                <a:uFillTx/>
                <a:latin typeface="Courier New" pitchFamily="18"/>
                <a:ea typeface="WenQuanYi Zen Hei Sharp" pitchFamily="2"/>
                <a:cs typeface="WenQuanYi Zen Hei Sharp" pitchFamily="2"/>
              </a:rPr>
              <a:t> =&gt; dynamic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OpenSymbol"/>
              <a:buChar char="➔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All </a:t>
            </a:r>
            <a:r>
              <a:rPr lang="en-US" sz="11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include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* statements are processed as they encountered </a:t>
            </a:r>
            <a:r>
              <a:rPr lang="en-US" sz="11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during the execution 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of the playbook.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OpenSymbol"/>
              <a:buChar char="➔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loop can be used with an include, </a:t>
            </a:r>
          </a:p>
          <a:p>
            <a:pPr lvl="1">
              <a:spcBef>
                <a:spcPts val="360"/>
              </a:spcBef>
              <a:buClr>
                <a:srgbClr val="000000"/>
              </a:buClr>
              <a:buSzPct val="45000"/>
              <a:buFont typeface="OpenSymbol"/>
              <a:buChar char="➔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dirty="0"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the included tasks or role will be executed once for each item in the loop.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OpenSymbol"/>
              <a:buChar char="➔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en-US" sz="11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Tags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which only exist inside a dynamic include </a:t>
            </a:r>
            <a:r>
              <a:rPr lang="en-US" sz="11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will not show up 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in --list-tags output.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OpenSymbol"/>
              <a:buChar char="➔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en-US" sz="11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Tasks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which only exist inside a dynamic include </a:t>
            </a:r>
            <a:r>
              <a:rPr lang="en-US" sz="11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will not show up 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in --list-tasks output.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OpenSymbol"/>
              <a:buChar char="➔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en-US" sz="11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Trigger</a:t>
            </a: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is only in the dynamic include itself.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OpenSymbol"/>
              <a:buChar char="➔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You cannot use --start-at-task to begin execution at a task inside a dynamic include.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B8F44D1-D99D-78D1-4DCF-F5ABEB591D3F}"/>
              </a:ext>
            </a:extLst>
          </p:cNvPr>
          <p:cNvSpPr/>
          <p:nvPr/>
        </p:nvSpPr>
        <p:spPr>
          <a:xfrm>
            <a:off x="3251159" y="1127160"/>
            <a:ext cx="1330200" cy="5140440"/>
          </a:xfrm>
          <a:custGeom>
            <a:avLst/>
            <a:gdLst>
              <a:gd name="f0" fmla="val w"/>
              <a:gd name="f1" fmla="val h"/>
              <a:gd name="f2" fmla="val 0"/>
              <a:gd name="f3" fmla="val 14280"/>
              <a:gd name="f4" fmla="val 3697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  <a:effectLst>
            <a:outerShdw dist="23040" dir="5400000" algn="tl">
              <a:srgbClr val="000000">
                <a:alpha val="35000"/>
              </a:srgbClr>
            </a:outerShdw>
          </a:effectLst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0587EA0-AD2C-FF40-4C96-A9DA9D150D25}"/>
              </a:ext>
            </a:extLst>
          </p:cNvPr>
          <p:cNvSpPr/>
          <p:nvPr/>
        </p:nvSpPr>
        <p:spPr>
          <a:xfrm>
            <a:off x="4195800" y="1233360"/>
            <a:ext cx="4479840" cy="5035680"/>
          </a:xfrm>
          <a:custGeom>
            <a:avLst>
              <a:gd name="f10" fmla="val -84397"/>
              <a:gd name="f11" fmla="val 29887"/>
            </a:avLst>
            <a:gdLst>
              <a:gd name="f2" fmla="val w"/>
              <a:gd name="f3" fmla="val h"/>
              <a:gd name="f4" fmla="val 0"/>
              <a:gd name="f5" fmla="+- 0 0 31072"/>
              <a:gd name="f6" fmla="*/ 12446 1 2"/>
              <a:gd name="f7" fmla="*/ 13987 1 2"/>
              <a:gd name="f8" fmla="val 13987"/>
              <a:gd name="f9" fmla="val 12446"/>
              <a:gd name="f10" fmla="val -84397"/>
              <a:gd name="f11" fmla="val 29887"/>
              <a:gd name="f12" fmla="val -2147483647"/>
              <a:gd name="f13" fmla="val 2147483647"/>
              <a:gd name="f14" fmla="*/ f2 1 0"/>
              <a:gd name="f15" fmla="*/ f3 1 0"/>
              <a:gd name="f16" fmla="*/ 12446 f10 1"/>
              <a:gd name="f17" fmla="*/ 13987 f11 1"/>
              <a:gd name="f18" fmla="*/ f16 1 f5"/>
              <a:gd name="f19" fmla="*/ f17 1 f5"/>
              <a:gd name="f20" fmla="*/ 0 f14 1"/>
              <a:gd name="f21" fmla="*/ f9 f14 1"/>
              <a:gd name="f22" fmla="*/ f8 f15 1"/>
              <a:gd name="f23" fmla="*/ 0 f15 1"/>
              <a:gd name="f24" fmla="+- f6 f18 0"/>
              <a:gd name="f25" fmla="+- f7 f19 0"/>
              <a:gd name="f26" fmla="*/ f18 13987 1"/>
              <a:gd name="f27" fmla="abs f19"/>
              <a:gd name="f28" fmla="?: f18 7 2"/>
              <a:gd name="f29" fmla="?: f18 10 5"/>
              <a:gd name="f30" fmla="?: f19 7 2"/>
              <a:gd name="f31" fmla="?: f19 10 5"/>
              <a:gd name="f32" fmla="*/ f19 f14 1"/>
              <a:gd name="f33" fmla="val f24"/>
              <a:gd name="f34" fmla="val f25"/>
              <a:gd name="f35" fmla="*/ f26 1 12446"/>
              <a:gd name="f36" fmla="*/ 12446 f28 1"/>
              <a:gd name="f37" fmla="*/ 12446 f29 1"/>
              <a:gd name="f38" fmla="*/ 13987 f30 1"/>
              <a:gd name="f39" fmla="*/ 13987 f31 1"/>
              <a:gd name="f40" fmla="*/ f24 f15 1"/>
              <a:gd name="f41" fmla="abs f35"/>
              <a:gd name="f42" fmla="*/ f36 1 12"/>
              <a:gd name="f43" fmla="*/ f37 1 12"/>
              <a:gd name="f44" fmla="*/ f38 1 12"/>
              <a:gd name="f45" fmla="*/ f39 1 12"/>
              <a:gd name="f46" fmla="?: f18 0 f33"/>
              <a:gd name="f47" fmla="?: f18 f33 12446"/>
              <a:gd name="f48" fmla="?: f19 0 f34"/>
              <a:gd name="f49" fmla="?: f19 f34 13987"/>
              <a:gd name="f50" fmla="+- f27 0 f41"/>
              <a:gd name="f51" fmla="?: f19 f42 f33"/>
              <a:gd name="f52" fmla="?: f19 f33 f42"/>
              <a:gd name="f53" fmla="?: f18 f44 f34"/>
              <a:gd name="f54" fmla="?: f18 f34 f44"/>
              <a:gd name="f55" fmla="?: f50 0 f46"/>
              <a:gd name="f56" fmla="?: f50 f51 f42"/>
              <a:gd name="f57" fmla="?: f50 12446 f47"/>
              <a:gd name="f58" fmla="?: f50 f52 f42"/>
              <a:gd name="f59" fmla="?: f50 f44 f53"/>
              <a:gd name="f60" fmla="?: f50 f48 0"/>
              <a:gd name="f61" fmla="?: f50 f44 f54"/>
              <a:gd name="f62" fmla="?: f50 f49 13987"/>
            </a:gdLst>
            <a:ahLst>
              <a:ahXY>
                <a:pos x="f32" y="f40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0" t="f23" r="f21" b="f22"/>
            <a:pathLst>
              <a:path>
                <a:moveTo>
                  <a:pt x="f4" y="f4"/>
                </a:moveTo>
                <a:lnTo>
                  <a:pt x="f42" y="f4"/>
                </a:lnTo>
                <a:lnTo>
                  <a:pt x="f56" y="f60"/>
                </a:lnTo>
                <a:lnTo>
                  <a:pt x="f43" y="f4"/>
                </a:lnTo>
                <a:lnTo>
                  <a:pt x="f9" y="f4"/>
                </a:lnTo>
                <a:lnTo>
                  <a:pt x="f9" y="f44"/>
                </a:lnTo>
                <a:lnTo>
                  <a:pt x="f57" y="f61"/>
                </a:lnTo>
                <a:lnTo>
                  <a:pt x="f9" y="f45"/>
                </a:lnTo>
                <a:lnTo>
                  <a:pt x="f9" y="f8"/>
                </a:lnTo>
                <a:lnTo>
                  <a:pt x="f43" y="f8"/>
                </a:lnTo>
                <a:lnTo>
                  <a:pt x="f58" y="f62"/>
                </a:lnTo>
                <a:lnTo>
                  <a:pt x="f42" y="f8"/>
                </a:lnTo>
                <a:lnTo>
                  <a:pt x="f4" y="f8"/>
                </a:lnTo>
                <a:lnTo>
                  <a:pt x="f4" y="f45"/>
                </a:lnTo>
                <a:lnTo>
                  <a:pt x="f55" y="f59"/>
                </a:lnTo>
                <a:lnTo>
                  <a:pt x="f4" y="f44"/>
                </a:lnTo>
                <a:close/>
              </a:path>
            </a:pathLst>
          </a:custGeom>
          <a:solidFill>
            <a:srgbClr val="D7D7D7"/>
          </a:solidFill>
          <a:ln w="9360">
            <a:solidFill>
              <a:srgbClr val="C6C8CD"/>
            </a:solidFill>
            <a:prstDash val="solid"/>
            <a:round/>
          </a:ln>
          <a:effectLst>
            <a:outerShdw dist="23040" dir="5400000" algn="tl">
              <a:srgbClr val="000000">
                <a:alpha val="35000"/>
              </a:srgbClr>
            </a:outerShdw>
          </a:effectLst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93AA2D7-1163-141B-C2C1-D33A725D914A}"/>
              </a:ext>
            </a:extLst>
          </p:cNvPr>
          <p:cNvSpPr/>
          <p:nvPr/>
        </p:nvSpPr>
        <p:spPr>
          <a:xfrm>
            <a:off x="345839" y="824580"/>
            <a:ext cx="84710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https://docs.ansible.com/ansible/latest/collections/index.html#list-of-collections</a:t>
            </a:r>
            <a:endParaRPr lang="en-US" sz="1400" b="1" i="0" u="none" strike="noStrike" cap="none" baseline="0" dirty="0">
              <a:ln>
                <a:noFill/>
              </a:ln>
              <a:solidFill>
                <a:srgbClr val="000000"/>
              </a:solidFill>
              <a:latin typeface="Courier New" panose="02070309020205020404" pitchFamily="49" charset="0"/>
              <a:ea typeface="WenQuanYi Zen Hei Sharp" pitchFamily="2"/>
              <a:cs typeface="Courier New" panose="02070309020205020404" pitchFamily="49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6A5405E-F12A-AE15-8A0A-B7BD5E303778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Modules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0CD881-02F1-2438-F849-7668B0DC0B1D}"/>
              </a:ext>
            </a:extLst>
          </p:cNvPr>
          <p:cNvSpPr txBox="1"/>
          <p:nvPr/>
        </p:nvSpPr>
        <p:spPr>
          <a:xfrm>
            <a:off x="457200" y="889843"/>
            <a:ext cx="80772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What are Ansible Modules?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Ansible Modules are the building blocks of Ansible Playbooks. They are reusable, standalone scripts that perform a specific task. Written in Python, they are executed on the target nodes. 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Types of Ansible Modules: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Builtin Modules (ansible.builtin): 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Shipped with ansible-core, these modules provide basic functionality (e.g., file management, user management).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Collections (Galaxy, Automation Hub): 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Additional modules distributed in collections (e.g., cloud provisioning, network device management).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Custom Modules: 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User-created modules to address specific needs or integrate with custom systems.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Key Features: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Idempotent: 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Modules ensure that applying the same task multiple times will not change the system after the first application.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Reusable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: Modules can be used across multiple playbooks and tasks.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Flexible: 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Modules can be combined to perform complex tasks. </a:t>
            </a:r>
            <a:br>
              <a:rPr lang="en-US" dirty="0">
                <a:latin typeface="-apple-system"/>
              </a:rPr>
            </a:br>
            <a:endParaRPr lang="en-US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9671452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E87EA32-7769-3CF8-F151-AEC43EF84D00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Playbook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941817D-5AC9-0A7E-A0B0-C9F3D85490B6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OpenSymbol"/>
              <a:buChar char="✔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sng" strike="noStrike" cap="none" baseline="0" dirty="0">
                <a:ln>
                  <a:noFill/>
                </a:ln>
                <a:solidFill>
                  <a:srgbClr val="0E1012"/>
                </a:solidFill>
                <a:uFillTx/>
                <a:latin typeface="Courier New" pitchFamily="18"/>
                <a:ea typeface="WenQuanYi Zen Hei Sharp" pitchFamily="2"/>
                <a:cs typeface="WenQuanYi Zen Hei Sharp" pitchFamily="2"/>
              </a:rPr>
              <a:t>Modules for everything</a:t>
            </a:r>
            <a:r>
              <a:rPr lang="en-US" sz="3600" b="0" i="0" u="sng" strike="noStrike" cap="none" baseline="0" dirty="0">
                <a:ln>
                  <a:noFill/>
                </a:ln>
                <a:solidFill>
                  <a:srgbClr val="0E1012"/>
                </a:solidFill>
                <a:uFillTx/>
                <a:latin typeface="Courier New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791536-A5ED-29EB-CB8F-CFEDE80812CE}"/>
              </a:ext>
            </a:extLst>
          </p:cNvPr>
          <p:cNvGraphicFramePr>
            <a:graphicFrameLocks noGrp="1"/>
          </p:cNvGraphicFramePr>
          <p:nvPr/>
        </p:nvGraphicFramePr>
        <p:xfrm>
          <a:off x="758160" y="1907640"/>
          <a:ext cx="7593839" cy="4266000"/>
        </p:xfrm>
        <a:graphic>
          <a:graphicData uri="http://schemas.openxmlformats.org/drawingml/2006/table">
            <a:tbl>
              <a:tblPr firstRow="1" bandRow="1"/>
              <a:tblGrid>
                <a:gridCol w="3796560">
                  <a:extLst>
                    <a:ext uri="{9D8B030D-6E8A-4147-A177-3AD203B41FA5}">
                      <a16:colId xmlns:a16="http://schemas.microsoft.com/office/drawing/2014/main" val="2887415017"/>
                    </a:ext>
                  </a:extLst>
                </a:gridCol>
                <a:gridCol w="3797279">
                  <a:extLst>
                    <a:ext uri="{9D8B030D-6E8A-4147-A177-3AD203B41FA5}">
                      <a16:colId xmlns:a16="http://schemas.microsoft.com/office/drawing/2014/main" val="2455806933"/>
                    </a:ext>
                  </a:extLst>
                </a:gridCol>
              </a:tblGrid>
              <a:tr h="4266000"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OpenSymbol"/>
                        <a:buChar char="✔"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800" b="0" i="0" u="none" strike="noStrike" cap="none" baseline="0">
                          <a:ln>
                            <a:noFill/>
                          </a:ln>
                          <a:solidFill>
                            <a:srgbClr val="0E1012"/>
                          </a:solidFill>
                          <a:latin typeface="Courier New" pitchFamily="18"/>
                          <a:ea typeface="WenQuanYi Zen Hei Sharp" pitchFamily="2"/>
                          <a:cs typeface="WenQuanYi Zen Hei Sharp" pitchFamily="2"/>
                        </a:rPr>
                        <a:t>apt/yum</a:t>
                      </a:r>
                    </a:p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OpenSymbol"/>
                        <a:buChar char="✔"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800" b="0" i="0" u="none" strike="noStrike" cap="none" baseline="0">
                          <a:ln>
                            <a:noFill/>
                          </a:ln>
                          <a:solidFill>
                            <a:srgbClr val="0E1012"/>
                          </a:solidFill>
                          <a:latin typeface="Courier New" pitchFamily="18"/>
                          <a:ea typeface="WenQuanYi Zen Hei Sharp" pitchFamily="2"/>
                          <a:cs typeface="WenQuanYi Zen Hei Sharp" pitchFamily="2"/>
                        </a:rPr>
                        <a:t>Copy</a:t>
                      </a:r>
                    </a:p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OpenSymbol"/>
                        <a:buChar char="✔"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800" b="0" i="0" u="none" strike="noStrike" cap="none" baseline="0">
                          <a:ln>
                            <a:noFill/>
                          </a:ln>
                          <a:solidFill>
                            <a:srgbClr val="0E1012"/>
                          </a:solidFill>
                          <a:latin typeface="Courier New" pitchFamily="18"/>
                          <a:ea typeface="WenQuanYi Zen Hei Sharp" pitchFamily="2"/>
                          <a:cs typeface="WenQuanYi Zen Hei Sharp" pitchFamily="2"/>
                        </a:rPr>
                        <a:t>Files</a:t>
                      </a:r>
                    </a:p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OpenSymbol"/>
                        <a:buChar char="✔"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800" b="0" i="0" u="none" strike="noStrike" cap="none" baseline="0">
                          <a:ln>
                            <a:noFill/>
                          </a:ln>
                          <a:solidFill>
                            <a:srgbClr val="0E1012"/>
                          </a:solidFill>
                          <a:latin typeface="Courier New" pitchFamily="18"/>
                          <a:ea typeface="WenQuanYi Zen Hei Sharp" pitchFamily="2"/>
                          <a:cs typeface="WenQuanYi Zen Hei Sharp" pitchFamily="2"/>
                        </a:rPr>
                        <a:t>get_url</a:t>
                      </a:r>
                    </a:p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OpenSymbol"/>
                        <a:buChar char="✔"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800" b="0" i="0" u="none" strike="noStrike" cap="none" baseline="0">
                          <a:ln>
                            <a:noFill/>
                          </a:ln>
                          <a:solidFill>
                            <a:srgbClr val="0E1012"/>
                          </a:solidFill>
                          <a:latin typeface="Courier New" pitchFamily="18"/>
                          <a:ea typeface="WenQuanYi Zen Hei Sharp" pitchFamily="2"/>
                          <a:cs typeface="WenQuanYi Zen Hei Sharp" pitchFamily="2"/>
                        </a:rPr>
                        <a:t>Git</a:t>
                      </a:r>
                    </a:p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OpenSymbol"/>
                        <a:buChar char="✔"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800" b="0" i="0" u="none" strike="noStrike" cap="none" baseline="0">
                          <a:ln>
                            <a:noFill/>
                          </a:ln>
                          <a:solidFill>
                            <a:srgbClr val="0E1012"/>
                          </a:solidFill>
                          <a:latin typeface="Courier New" pitchFamily="18"/>
                          <a:ea typeface="WenQuanYi Zen Hei Sharp" pitchFamily="2"/>
                          <a:cs typeface="WenQuanYi Zen Hei Sharp" pitchFamily="2"/>
                        </a:rPr>
                        <a:t>Ping</a:t>
                      </a:r>
                    </a:p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OpenSymbol"/>
                        <a:buChar char="✔"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2800" b="0" i="0" u="none" strike="noStrike" cap="none" baseline="0">
                          <a:ln>
                            <a:noFill/>
                          </a:ln>
                          <a:solidFill>
                            <a:srgbClr val="0E1012"/>
                          </a:solidFill>
                          <a:latin typeface="Courier New" pitchFamily="18"/>
                          <a:ea typeface="WenQuanYi Zen Hei Sharp" pitchFamily="2"/>
                          <a:cs typeface="WenQuanYi Zen Hei Sharp" pitchFamily="2"/>
                        </a:rPr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hangingPunct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Char char="✔"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fr-FR" sz="28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18"/>
                          <a:ea typeface="WenQuanYi Zen Hei Sharp" pitchFamily="2"/>
                          <a:cs typeface="WenQuanYi Zen Hei Sharp" pitchFamily="2"/>
                        </a:rPr>
                        <a:t>Synchronize</a:t>
                      </a:r>
                    </a:p>
                    <a:p>
                      <a:pPr marL="0" marR="0" lvl="0" indent="0" algn="l" hangingPunct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Char char="✔"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fr-FR" sz="28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18"/>
                          <a:ea typeface="WenQuanYi Zen Hei Sharp" pitchFamily="2"/>
                          <a:cs typeface="WenQuanYi Zen Hei Sharp" pitchFamily="2"/>
                        </a:rPr>
                        <a:t>Template</a:t>
                      </a:r>
                    </a:p>
                    <a:p>
                      <a:pPr marL="0" marR="0" lvl="0" indent="0" algn="l" hangingPunct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Char char="✔"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fr-FR" sz="28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18"/>
                          <a:ea typeface="WenQuanYi Zen Hei Sharp" pitchFamily="2"/>
                          <a:cs typeface="WenQuanYi Zen Hei Sharp" pitchFamily="2"/>
                        </a:rPr>
                        <a:t>Uri</a:t>
                      </a:r>
                    </a:p>
                    <a:p>
                      <a:pPr marL="0" marR="0" lvl="0" indent="0" algn="l" hangingPunct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Char char="✔"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fr-FR" sz="28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18"/>
                          <a:ea typeface="WenQuanYi Zen Hei Sharp" pitchFamily="2"/>
                          <a:cs typeface="WenQuanYi Zen Hei Sharp" pitchFamily="2"/>
                        </a:rPr>
                        <a:t>User</a:t>
                      </a:r>
                    </a:p>
                    <a:p>
                      <a:pPr marL="0" marR="0" lvl="0" indent="0" algn="l" hangingPunct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Char char="✔"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fr-FR" sz="28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18"/>
                          <a:ea typeface="WenQuanYi Zen Hei Sharp" pitchFamily="2"/>
                          <a:cs typeface="WenQuanYi Zen Hei Sharp" pitchFamily="2"/>
                        </a:rPr>
                        <a:t>wait_for</a:t>
                      </a:r>
                    </a:p>
                    <a:p>
                      <a:pPr marL="0" marR="0" lvl="0" indent="0" algn="l" hangingPunct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Char char="✔"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fr-FR" sz="28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18"/>
                          <a:ea typeface="WenQuanYi Zen Hei Sharp" pitchFamily="2"/>
                          <a:cs typeface="WenQuanYi Zen Hei Sharp" pitchFamily="2"/>
                        </a:rPr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0303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B8F44D1-D99D-78D1-4DCF-F5ABEB591D3F}"/>
              </a:ext>
            </a:extLst>
          </p:cNvPr>
          <p:cNvSpPr/>
          <p:nvPr/>
        </p:nvSpPr>
        <p:spPr>
          <a:xfrm>
            <a:off x="3251159" y="1127160"/>
            <a:ext cx="1330200" cy="5140440"/>
          </a:xfrm>
          <a:custGeom>
            <a:avLst/>
            <a:gdLst>
              <a:gd name="f0" fmla="val w"/>
              <a:gd name="f1" fmla="val h"/>
              <a:gd name="f2" fmla="val 0"/>
              <a:gd name="f3" fmla="val 14280"/>
              <a:gd name="f4" fmla="val 3697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  <a:effectLst>
            <a:outerShdw dist="23040" dir="5400000" algn="tl">
              <a:srgbClr val="000000">
                <a:alpha val="35000"/>
              </a:srgbClr>
            </a:outerShdw>
          </a:effectLst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0587EA0-AD2C-FF40-4C96-A9DA9D150D25}"/>
              </a:ext>
            </a:extLst>
          </p:cNvPr>
          <p:cNvSpPr/>
          <p:nvPr/>
        </p:nvSpPr>
        <p:spPr>
          <a:xfrm>
            <a:off x="4195800" y="1233360"/>
            <a:ext cx="4479840" cy="5035680"/>
          </a:xfrm>
          <a:custGeom>
            <a:avLst>
              <a:gd name="f10" fmla="val -84397"/>
              <a:gd name="f11" fmla="val 29887"/>
            </a:avLst>
            <a:gdLst>
              <a:gd name="f2" fmla="val w"/>
              <a:gd name="f3" fmla="val h"/>
              <a:gd name="f4" fmla="val 0"/>
              <a:gd name="f5" fmla="+- 0 0 31072"/>
              <a:gd name="f6" fmla="*/ 12446 1 2"/>
              <a:gd name="f7" fmla="*/ 13987 1 2"/>
              <a:gd name="f8" fmla="val 13987"/>
              <a:gd name="f9" fmla="val 12446"/>
              <a:gd name="f10" fmla="val -84397"/>
              <a:gd name="f11" fmla="val 29887"/>
              <a:gd name="f12" fmla="val -2147483647"/>
              <a:gd name="f13" fmla="val 2147483647"/>
              <a:gd name="f14" fmla="*/ f2 1 0"/>
              <a:gd name="f15" fmla="*/ f3 1 0"/>
              <a:gd name="f16" fmla="*/ 12446 f10 1"/>
              <a:gd name="f17" fmla="*/ 13987 f11 1"/>
              <a:gd name="f18" fmla="*/ f16 1 f5"/>
              <a:gd name="f19" fmla="*/ f17 1 f5"/>
              <a:gd name="f20" fmla="*/ 0 f14 1"/>
              <a:gd name="f21" fmla="*/ f9 f14 1"/>
              <a:gd name="f22" fmla="*/ f8 f15 1"/>
              <a:gd name="f23" fmla="*/ 0 f15 1"/>
              <a:gd name="f24" fmla="+- f6 f18 0"/>
              <a:gd name="f25" fmla="+- f7 f19 0"/>
              <a:gd name="f26" fmla="*/ f18 13987 1"/>
              <a:gd name="f27" fmla="abs f19"/>
              <a:gd name="f28" fmla="?: f18 7 2"/>
              <a:gd name="f29" fmla="?: f18 10 5"/>
              <a:gd name="f30" fmla="?: f19 7 2"/>
              <a:gd name="f31" fmla="?: f19 10 5"/>
              <a:gd name="f32" fmla="*/ f19 f14 1"/>
              <a:gd name="f33" fmla="val f24"/>
              <a:gd name="f34" fmla="val f25"/>
              <a:gd name="f35" fmla="*/ f26 1 12446"/>
              <a:gd name="f36" fmla="*/ 12446 f28 1"/>
              <a:gd name="f37" fmla="*/ 12446 f29 1"/>
              <a:gd name="f38" fmla="*/ 13987 f30 1"/>
              <a:gd name="f39" fmla="*/ 13987 f31 1"/>
              <a:gd name="f40" fmla="*/ f24 f15 1"/>
              <a:gd name="f41" fmla="abs f35"/>
              <a:gd name="f42" fmla="*/ f36 1 12"/>
              <a:gd name="f43" fmla="*/ f37 1 12"/>
              <a:gd name="f44" fmla="*/ f38 1 12"/>
              <a:gd name="f45" fmla="*/ f39 1 12"/>
              <a:gd name="f46" fmla="?: f18 0 f33"/>
              <a:gd name="f47" fmla="?: f18 f33 12446"/>
              <a:gd name="f48" fmla="?: f19 0 f34"/>
              <a:gd name="f49" fmla="?: f19 f34 13987"/>
              <a:gd name="f50" fmla="+- f27 0 f41"/>
              <a:gd name="f51" fmla="?: f19 f42 f33"/>
              <a:gd name="f52" fmla="?: f19 f33 f42"/>
              <a:gd name="f53" fmla="?: f18 f44 f34"/>
              <a:gd name="f54" fmla="?: f18 f34 f44"/>
              <a:gd name="f55" fmla="?: f50 0 f46"/>
              <a:gd name="f56" fmla="?: f50 f51 f42"/>
              <a:gd name="f57" fmla="?: f50 12446 f47"/>
              <a:gd name="f58" fmla="?: f50 f52 f42"/>
              <a:gd name="f59" fmla="?: f50 f44 f53"/>
              <a:gd name="f60" fmla="?: f50 f48 0"/>
              <a:gd name="f61" fmla="?: f50 f44 f54"/>
              <a:gd name="f62" fmla="?: f50 f49 13987"/>
            </a:gdLst>
            <a:ahLst>
              <a:ahXY>
                <a:pos x="f32" y="f40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0" t="f23" r="f21" b="f22"/>
            <a:pathLst>
              <a:path>
                <a:moveTo>
                  <a:pt x="f4" y="f4"/>
                </a:moveTo>
                <a:lnTo>
                  <a:pt x="f42" y="f4"/>
                </a:lnTo>
                <a:lnTo>
                  <a:pt x="f56" y="f60"/>
                </a:lnTo>
                <a:lnTo>
                  <a:pt x="f43" y="f4"/>
                </a:lnTo>
                <a:lnTo>
                  <a:pt x="f9" y="f4"/>
                </a:lnTo>
                <a:lnTo>
                  <a:pt x="f9" y="f44"/>
                </a:lnTo>
                <a:lnTo>
                  <a:pt x="f57" y="f61"/>
                </a:lnTo>
                <a:lnTo>
                  <a:pt x="f9" y="f45"/>
                </a:lnTo>
                <a:lnTo>
                  <a:pt x="f9" y="f8"/>
                </a:lnTo>
                <a:lnTo>
                  <a:pt x="f43" y="f8"/>
                </a:lnTo>
                <a:lnTo>
                  <a:pt x="f58" y="f62"/>
                </a:lnTo>
                <a:lnTo>
                  <a:pt x="f42" y="f8"/>
                </a:lnTo>
                <a:lnTo>
                  <a:pt x="f4" y="f8"/>
                </a:lnTo>
                <a:lnTo>
                  <a:pt x="f4" y="f45"/>
                </a:lnTo>
                <a:lnTo>
                  <a:pt x="f55" y="f59"/>
                </a:lnTo>
                <a:lnTo>
                  <a:pt x="f4" y="f44"/>
                </a:lnTo>
                <a:close/>
              </a:path>
            </a:pathLst>
          </a:custGeom>
          <a:solidFill>
            <a:srgbClr val="D7D7D7"/>
          </a:solidFill>
          <a:ln w="9360">
            <a:solidFill>
              <a:srgbClr val="C6C8CD"/>
            </a:solidFill>
            <a:prstDash val="solid"/>
            <a:round/>
          </a:ln>
          <a:effectLst>
            <a:outerShdw dist="23040" dir="5400000" algn="tl">
              <a:srgbClr val="000000">
                <a:alpha val="35000"/>
              </a:srgbClr>
            </a:outerShdw>
          </a:effectLst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93AA2D7-1163-141B-C2C1-D33A725D914A}"/>
              </a:ext>
            </a:extLst>
          </p:cNvPr>
          <p:cNvSpPr/>
          <p:nvPr/>
        </p:nvSpPr>
        <p:spPr>
          <a:xfrm>
            <a:off x="291960" y="274680"/>
            <a:ext cx="84710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dirty="0"/>
              <a:t>https://docs.ansible.com/ansible/latest/collections/index.html#list-of-collections</a:t>
            </a:r>
            <a:endParaRPr lang="en-US" sz="2000" b="1" i="0" u="none" strike="noStrike" cap="none" baseline="0" dirty="0">
              <a:ln>
                <a:noFill/>
              </a:ln>
              <a:solidFill>
                <a:srgbClr val="FFFFFF"/>
              </a:solidFill>
              <a:latin typeface="Open Sans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FF7B336-3D52-5268-6100-7425AD915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52352" rIns="0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rgbClr val="40404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404040"/>
                </a:solidFill>
                <a:effectLst/>
                <a:latin typeface="Lato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404040"/>
                </a:solidFill>
                <a:effectLst/>
                <a:latin typeface="Lato"/>
              </a:rPr>
              <a:t>Collection Index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404040"/>
                </a:solidFill>
                <a:effectLst/>
                <a:latin typeface="Lato"/>
              </a:rPr>
            </a:br>
            <a:endParaRPr kumimoji="0" lang="en-US" altLang="en-US" sz="1200" b="0" i="0" u="none" strike="noStrike" cap="none" normalizeH="0" baseline="0">
              <a:ln>
                <a:noFill/>
              </a:ln>
              <a:solidFill>
                <a:srgbClr val="40404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D076039-61EE-2929-A6C7-0D06C7AA6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1D4401F-0C4E-B3D3-BE4A-AA0BC4A02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765791"/>
            <a:ext cx="6705600" cy="5970817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/>
              </a:rPr>
              <a:t>This is the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/>
              </a:rPr>
              <a:t>latest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/>
              </a:rPr>
              <a:t> (stable) Ansible community documentation. For Red Hat Ansible Automation Platform subscriptions, see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980B9"/>
                </a:solidFill>
                <a:effectLst/>
                <a:latin typeface="Lato"/>
                <a:hlinkClick r:id="rId3"/>
              </a:rPr>
              <a:t>Life Cycle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/>
              </a:rPr>
              <a:t> for version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100" b="1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Roboto Slab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Roboto Slab" pitchFamily="2" charset="0"/>
              </a:rPr>
              <a:t>Collection Index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2980B9"/>
                </a:solidFill>
                <a:effectLst/>
                <a:latin typeface="FontAwesome"/>
                <a:hlinkClick r:id="rId4" tooltip="Link to this heading"/>
              </a:rPr>
              <a:t></a:t>
            </a:r>
            <a:endParaRPr kumimoji="0" lang="en-US" altLang="en-US" sz="2100" b="1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Roboto Slab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/>
              </a:rPr>
              <a:t>These are the collections with docs hosted on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980B9"/>
                </a:solidFill>
                <a:effectLst/>
                <a:latin typeface="Lato"/>
                <a:hlinkClick r:id="rId5"/>
              </a:rPr>
              <a:t>docs.ansible.com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980B9"/>
                </a:solidFill>
                <a:effectLst/>
                <a:latin typeface="Lato"/>
                <a:hlinkClick r:id="rId6"/>
              </a:rPr>
              <a:t>amazon.aws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980B9"/>
                </a:solidFill>
                <a:effectLst/>
                <a:latin typeface="Lato"/>
                <a:hlinkClick r:id="rId7"/>
              </a:rPr>
              <a:t>ansible.builtin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980B9"/>
                </a:solidFill>
                <a:effectLst/>
                <a:latin typeface="Lato"/>
                <a:hlinkClick r:id="rId8"/>
              </a:rPr>
              <a:t>ansible.netcommon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980B9"/>
                </a:solidFill>
                <a:effectLst/>
                <a:latin typeface="Lato"/>
                <a:hlinkClick r:id="rId9"/>
              </a:rPr>
              <a:t>ansible.posix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980B9"/>
                </a:solidFill>
                <a:effectLst/>
                <a:latin typeface="Lato"/>
                <a:hlinkClick r:id="rId10"/>
              </a:rPr>
              <a:t>ansible.utils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980B9"/>
                </a:solidFill>
                <a:effectLst/>
                <a:latin typeface="Lato"/>
                <a:hlinkClick r:id="rId11"/>
              </a:rPr>
              <a:t>ansible.windows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980B9"/>
                </a:solidFill>
                <a:effectLst/>
                <a:latin typeface="Lato"/>
                <a:hlinkClick r:id="rId12"/>
              </a:rPr>
              <a:t>arista.eos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980B9"/>
                </a:solidFill>
                <a:effectLst/>
                <a:latin typeface="Lato"/>
                <a:hlinkClick r:id="rId13"/>
              </a:rPr>
              <a:t>awx.awx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980B9"/>
                </a:solidFill>
                <a:effectLst/>
                <a:latin typeface="Lato"/>
                <a:hlinkClick r:id="rId14"/>
              </a:rPr>
              <a:t>azure.azcollection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980B9"/>
                </a:solidFill>
                <a:effectLst/>
                <a:latin typeface="Lato"/>
                <a:hlinkClick r:id="rId15"/>
              </a:rPr>
              <a:t>check_point.mgmt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980B9"/>
                </a:solidFill>
                <a:effectLst/>
                <a:latin typeface="Lato"/>
                <a:hlinkClick r:id="rId16"/>
              </a:rPr>
              <a:t>chocolatey.chocolatey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980B9"/>
                </a:solidFill>
                <a:effectLst/>
                <a:latin typeface="Lato"/>
                <a:hlinkClick r:id="rId17"/>
              </a:rPr>
              <a:t>cisco.aci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980B9"/>
                </a:solidFill>
                <a:effectLst/>
                <a:latin typeface="Lato"/>
                <a:hlinkClick r:id="rId18"/>
              </a:rPr>
              <a:t>cisco.asa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980B9"/>
                </a:solidFill>
                <a:effectLst/>
                <a:latin typeface="Lato"/>
                <a:hlinkClick r:id="rId19"/>
              </a:rPr>
              <a:t>cisco.dnac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980B9"/>
                </a:solidFill>
                <a:effectLst/>
                <a:latin typeface="Lato"/>
                <a:hlinkClick r:id="rId20"/>
              </a:rPr>
              <a:t>cisco.intersight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980B9"/>
                </a:solidFill>
                <a:effectLst/>
                <a:latin typeface="Lato"/>
                <a:hlinkClick r:id="rId21"/>
              </a:rPr>
              <a:t>cisco.ios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980B9"/>
                </a:solidFill>
                <a:effectLst/>
                <a:latin typeface="Lato"/>
                <a:hlinkClick r:id="rId22"/>
              </a:rPr>
              <a:t>cisco.iosxr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980B9"/>
                </a:solidFill>
                <a:effectLst/>
                <a:latin typeface="Lato"/>
                <a:hlinkClick r:id="rId23"/>
              </a:rPr>
              <a:t>cisco.ise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980B9"/>
                </a:solidFill>
                <a:effectLst/>
                <a:latin typeface="Lato"/>
                <a:hlinkClick r:id="rId24"/>
              </a:rPr>
              <a:t>cisco.meraki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980B9"/>
                </a:solidFill>
                <a:effectLst/>
                <a:latin typeface="Lato"/>
                <a:hlinkClick r:id="rId25"/>
              </a:rPr>
              <a:t>cisco.mso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980B9"/>
                </a:solidFill>
                <a:effectLst/>
                <a:latin typeface="Lato"/>
                <a:hlinkClick r:id="rId26"/>
              </a:rPr>
              <a:t>cisco.nxos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980B9"/>
                </a:solidFill>
                <a:effectLst/>
                <a:latin typeface="Lato"/>
                <a:hlinkClick r:id="rId27"/>
              </a:rPr>
              <a:t>cisco.ucs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980B9"/>
                </a:solidFill>
                <a:effectLst/>
                <a:latin typeface="Lato"/>
                <a:hlinkClick r:id="rId28"/>
              </a:rPr>
              <a:t>cloud.common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980B9"/>
                </a:solidFill>
                <a:effectLst/>
                <a:latin typeface="Lato"/>
                <a:hlinkClick r:id="rId29"/>
              </a:rPr>
              <a:t>cloudscale_ch.cloud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980B9"/>
                </a:solidFill>
                <a:effectLst/>
                <a:latin typeface="Lato"/>
                <a:hlinkClick r:id="rId30"/>
              </a:rPr>
              <a:t>community.aws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187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0B192C-658D-03A5-6C35-078B442B6BB6}"/>
              </a:ext>
            </a:extLst>
          </p:cNvPr>
          <p:cNvSpPr txBox="1"/>
          <p:nvPr/>
        </p:nvSpPr>
        <p:spPr>
          <a:xfrm>
            <a:off x="533400" y="335845"/>
            <a:ext cx="80772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effectLst/>
                <a:latin typeface="Lato"/>
              </a:rPr>
              <a:t>Modules</a:t>
            </a:r>
            <a:r>
              <a:rPr lang="en-US" sz="1200" b="1" u="none" strike="noStrike" dirty="0">
                <a:solidFill>
                  <a:srgbClr val="2980B9"/>
                </a:solidFill>
                <a:effectLst/>
                <a:latin typeface="Lato"/>
                <a:hlinkClick r:id="rId2" tooltip="Link to this heading"/>
              </a:rPr>
              <a:t></a:t>
            </a:r>
            <a:endParaRPr lang="en-US" sz="1200" b="1" dirty="0">
              <a:effectLst/>
              <a:latin typeface="Lato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2980B9"/>
                </a:solidFill>
                <a:effectLst/>
                <a:latin typeface="Lato"/>
                <a:hlinkClick r:id="rId3"/>
              </a:rPr>
              <a:t>add_host</a:t>
            </a: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3"/>
              </a:rPr>
              <a:t>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Add a host (and alternatively a group) to the ansible-playbook in-memory inventory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4"/>
              </a:rPr>
              <a:t>apt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Manages apt-packages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2980B9"/>
                </a:solidFill>
                <a:effectLst/>
                <a:latin typeface="Lato"/>
                <a:hlinkClick r:id="rId5"/>
              </a:rPr>
              <a:t>apt_key</a:t>
            </a: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5"/>
              </a:rPr>
              <a:t>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Add or remove an apt key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2980B9"/>
                </a:solidFill>
                <a:effectLst/>
                <a:latin typeface="Lato"/>
                <a:hlinkClick r:id="rId6"/>
              </a:rPr>
              <a:t>apt_repository</a:t>
            </a: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6"/>
              </a:rPr>
              <a:t>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Add and remove APT repositories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7"/>
              </a:rPr>
              <a:t>assemble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Assemble configuration files from fragments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8"/>
              </a:rPr>
              <a:t>assert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Asserts given expressions are true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2980B9"/>
                </a:solidFill>
                <a:effectLst/>
                <a:latin typeface="Lato"/>
                <a:hlinkClick r:id="rId9"/>
              </a:rPr>
              <a:t>async_status</a:t>
            </a: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9"/>
              </a:rPr>
              <a:t>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Obtain status of asynchronous task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2980B9"/>
                </a:solidFill>
                <a:effectLst/>
                <a:latin typeface="Lato"/>
                <a:hlinkClick r:id="rId10"/>
              </a:rPr>
              <a:t>blockinfile</a:t>
            </a: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10"/>
              </a:rPr>
              <a:t>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Insert/update/remove a text block surrounded by marker 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11"/>
              </a:rPr>
              <a:t>command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Execute commands on targets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12"/>
              </a:rPr>
              <a:t>copy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Copy files to remote locations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2980B9"/>
                </a:solidFill>
                <a:effectLst/>
                <a:latin typeface="Lato"/>
                <a:hlinkClick r:id="rId13"/>
              </a:rPr>
              <a:t>cron</a:t>
            </a: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13"/>
              </a:rPr>
              <a:t>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Manage </a:t>
            </a:r>
            <a:r>
              <a:rPr lang="en-US" sz="1200" b="0" i="0" dirty="0" err="1">
                <a:solidFill>
                  <a:srgbClr val="404040"/>
                </a:solidFill>
                <a:effectLst/>
                <a:latin typeface="Lato"/>
              </a:rPr>
              <a:t>cron.d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 and crontab entries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14"/>
              </a:rPr>
              <a:t>deb822_repository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Add and remove deb822 formatted repositories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2980B9"/>
                </a:solidFill>
                <a:effectLst/>
                <a:latin typeface="Lato"/>
                <a:hlinkClick r:id="rId15"/>
              </a:rPr>
              <a:t>debconf</a:t>
            </a: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15"/>
              </a:rPr>
              <a:t>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Configure a .deb package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16"/>
              </a:rPr>
              <a:t>debug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Print statements during execution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2980B9"/>
                </a:solidFill>
                <a:effectLst/>
                <a:latin typeface="Lato"/>
                <a:hlinkClick r:id="rId17"/>
              </a:rPr>
              <a:t>dnf</a:t>
            </a: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17"/>
              </a:rPr>
              <a:t>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Manages packages with the </a:t>
            </a:r>
            <a:r>
              <a:rPr lang="en-US" sz="1200" b="0" i="1" dirty="0" err="1">
                <a:solidFill>
                  <a:srgbClr val="404040"/>
                </a:solidFill>
                <a:effectLst/>
                <a:latin typeface="Lato"/>
              </a:rPr>
              <a:t>dnf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package manager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18"/>
              </a:rPr>
              <a:t>dnf5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Manages packages with the </a:t>
            </a:r>
            <a:r>
              <a:rPr lang="en-US" sz="1200" b="0" i="1" dirty="0">
                <a:solidFill>
                  <a:srgbClr val="404040"/>
                </a:solidFill>
                <a:effectLst/>
                <a:latin typeface="Lato"/>
              </a:rPr>
              <a:t>dnf5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package manager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2980B9"/>
                </a:solidFill>
                <a:effectLst/>
                <a:latin typeface="Lato"/>
                <a:hlinkClick r:id="rId19"/>
              </a:rPr>
              <a:t>dpkg_selections</a:t>
            </a: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19"/>
              </a:rPr>
              <a:t>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</a:t>
            </a:r>
            <a:r>
              <a:rPr lang="en-US" sz="1200" b="0" i="0" dirty="0" err="1">
                <a:solidFill>
                  <a:srgbClr val="404040"/>
                </a:solidFill>
                <a:effectLst/>
                <a:latin typeface="Lato"/>
              </a:rPr>
              <a:t>Dpkg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 package selection selections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20"/>
              </a:rPr>
              <a:t>expect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Executes a command and responds to prompts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21"/>
              </a:rPr>
              <a:t>fail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Fail with custom message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22"/>
              </a:rPr>
              <a:t>fetch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Fetch files from remote nodes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23"/>
              </a:rPr>
              <a:t>file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Manage files and file properties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24"/>
              </a:rPr>
              <a:t>find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Return a list of files based on specific criteria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2980B9"/>
                </a:solidFill>
                <a:effectLst/>
                <a:latin typeface="Lato"/>
                <a:hlinkClick r:id="rId25"/>
              </a:rPr>
              <a:t>gather_facts</a:t>
            </a: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25"/>
              </a:rPr>
              <a:t>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Gathers facts about remote hosts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2980B9"/>
                </a:solidFill>
                <a:effectLst/>
                <a:latin typeface="Lato"/>
                <a:hlinkClick r:id="rId26"/>
              </a:rPr>
              <a:t>get_url</a:t>
            </a: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26"/>
              </a:rPr>
              <a:t>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Downloads files from HTTP, HTTPS, or FTP to node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2980B9"/>
                </a:solidFill>
                <a:effectLst/>
                <a:latin typeface="Lato"/>
                <a:hlinkClick r:id="rId27"/>
              </a:rPr>
              <a:t>getent</a:t>
            </a: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27"/>
              </a:rPr>
              <a:t>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A wrapper to the </a:t>
            </a:r>
            <a:r>
              <a:rPr lang="en-US" sz="1200" b="0" i="0" dirty="0" err="1">
                <a:solidFill>
                  <a:srgbClr val="404040"/>
                </a:solidFill>
                <a:effectLst/>
                <a:latin typeface="Lato"/>
              </a:rPr>
              <a:t>unix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 </a:t>
            </a:r>
            <a:r>
              <a:rPr lang="en-US" sz="1200" b="0" i="0" dirty="0" err="1">
                <a:solidFill>
                  <a:srgbClr val="404040"/>
                </a:solidFill>
                <a:effectLst/>
                <a:latin typeface="Lato"/>
              </a:rPr>
              <a:t>getent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 utility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28"/>
              </a:rPr>
              <a:t>git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Deploy software (or files) from git checkouts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29"/>
              </a:rPr>
              <a:t>group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Add or remove groups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2980B9"/>
                </a:solidFill>
                <a:effectLst/>
                <a:latin typeface="Lato"/>
                <a:hlinkClick r:id="rId30"/>
              </a:rPr>
              <a:t>group_by</a:t>
            </a: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30"/>
              </a:rPr>
              <a:t>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Create Ansible groups based on facts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31"/>
              </a:rPr>
              <a:t>hostname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Manage hostname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2980B9"/>
                </a:solidFill>
                <a:effectLst/>
                <a:latin typeface="Lato"/>
                <a:hlinkClick r:id="rId32"/>
              </a:rPr>
              <a:t>import_playbook</a:t>
            </a: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32"/>
              </a:rPr>
              <a:t>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Import a playbook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2980B9"/>
                </a:solidFill>
                <a:effectLst/>
                <a:latin typeface="Lato"/>
                <a:hlinkClick r:id="rId33"/>
              </a:rPr>
              <a:t>import_role</a:t>
            </a: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33"/>
              </a:rPr>
              <a:t>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Import a role into a play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2980B9"/>
                </a:solidFill>
                <a:effectLst/>
                <a:latin typeface="Lato"/>
                <a:hlinkClick r:id="rId34"/>
              </a:rPr>
              <a:t>import_tasks</a:t>
            </a:r>
            <a:r>
              <a:rPr lang="en-US" sz="1200" b="0" i="0" u="none" strike="noStrike" dirty="0">
                <a:solidFill>
                  <a:srgbClr val="2980B9"/>
                </a:solidFill>
                <a:effectLst/>
                <a:latin typeface="Lato"/>
                <a:hlinkClick r:id="rId34"/>
              </a:rPr>
              <a:t> module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/>
              </a:rPr>
              <a:t> – Import a task list</a:t>
            </a:r>
          </a:p>
        </p:txBody>
      </p:sp>
    </p:spTree>
    <p:extLst>
      <p:ext uri="{BB962C8B-B14F-4D97-AF65-F5344CB8AC3E}">
        <p14:creationId xmlns:p14="http://schemas.microsoft.com/office/powerpoint/2010/main" val="4637258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6848205-A8E4-6D3C-FDEF-FE47BE46D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7982"/>
            <a:ext cx="9144000" cy="408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5216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E260E8-0C8A-2B57-F7A2-DECC78FD4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4990"/>
            <a:ext cx="9144000" cy="398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9343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A23392-D88E-D55E-2FA6-89F65356E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" y="381000"/>
            <a:ext cx="9144000" cy="21852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F7687C-A10B-1C31-031C-40CC73B8E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71800"/>
            <a:ext cx="9144000" cy="306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2436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08A64C-6BB2-456F-8645-08B609B4AA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9167"/>
          <a:stretch/>
        </p:blipFill>
        <p:spPr>
          <a:xfrm>
            <a:off x="419100" y="1119776"/>
            <a:ext cx="8305800" cy="461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4652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3ED623-F7F5-9141-7FD9-59FB88ADF5DC}"/>
              </a:ext>
            </a:extLst>
          </p:cNvPr>
          <p:cNvSpPr txBox="1"/>
          <p:nvPr/>
        </p:nvSpPr>
        <p:spPr>
          <a:xfrm>
            <a:off x="533400" y="228600"/>
            <a:ext cx="815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VI/</a:t>
            </a:r>
            <a:r>
              <a:rPr lang="en-US" sz="3200" dirty="0" err="1"/>
              <a:t>VIm</a:t>
            </a:r>
            <a:r>
              <a:rPr lang="en-US" sz="3200" dirty="0"/>
              <a:t>: basics </a:t>
            </a:r>
            <a:endParaRPr lang="en-US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8FD2C2-E492-144A-F88D-1B4F05A44326}"/>
              </a:ext>
            </a:extLst>
          </p:cNvPr>
          <p:cNvSpPr txBox="1"/>
          <p:nvPr/>
        </p:nvSpPr>
        <p:spPr>
          <a:xfrm>
            <a:off x="1196340" y="1026970"/>
            <a:ext cx="675131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ESC</a:t>
            </a:r>
            <a:r>
              <a:rPr lang="en-US" sz="2000" dirty="0"/>
              <a:t>: return to command mode</a:t>
            </a:r>
          </a:p>
          <a:p>
            <a:r>
              <a:rPr lang="en-US" sz="2000" dirty="0"/>
              <a:t>':set list' : display hidden caracters (space, tab, enter…)</a:t>
            </a:r>
          </a:p>
          <a:p>
            <a:endParaRPr lang="en-US" sz="2000" dirty="0"/>
          </a:p>
          <a:p>
            <a:r>
              <a:rPr lang="en-US" sz="2000" b="1" dirty="0"/>
              <a:t>i</a:t>
            </a:r>
            <a:r>
              <a:rPr lang="en-US" sz="2000" dirty="0"/>
              <a:t>: insert text</a:t>
            </a:r>
          </a:p>
          <a:p>
            <a:r>
              <a:rPr lang="en-US" sz="2000" b="1" dirty="0"/>
              <a:t>I</a:t>
            </a:r>
            <a:r>
              <a:rPr lang="en-US" sz="2000" dirty="0"/>
              <a:t>: insert text at start of line</a:t>
            </a:r>
          </a:p>
          <a:p>
            <a:endParaRPr lang="en-US" sz="2000" dirty="0"/>
          </a:p>
          <a:p>
            <a:r>
              <a:rPr lang="en-US" sz="2000" b="1" dirty="0"/>
              <a:t>a</a:t>
            </a:r>
            <a:r>
              <a:rPr lang="en-US" sz="2000" dirty="0"/>
              <a:t>: append text</a:t>
            </a:r>
          </a:p>
          <a:p>
            <a:r>
              <a:rPr lang="en-US" sz="2000" b="1" dirty="0"/>
              <a:t>A</a:t>
            </a:r>
            <a:r>
              <a:rPr lang="en-US" sz="2000" dirty="0"/>
              <a:t>: append text at end of line</a:t>
            </a:r>
          </a:p>
          <a:p>
            <a:endParaRPr lang="en-US" sz="2000" dirty="0"/>
          </a:p>
          <a:p>
            <a:r>
              <a:rPr lang="en-US" sz="2000" b="1" dirty="0"/>
              <a:t>o</a:t>
            </a:r>
            <a:r>
              <a:rPr lang="en-US" sz="2000" dirty="0"/>
              <a:t>: insert new line down</a:t>
            </a:r>
          </a:p>
          <a:p>
            <a:r>
              <a:rPr lang="en-US" sz="2000" b="1" dirty="0"/>
              <a:t>O</a:t>
            </a:r>
            <a:r>
              <a:rPr lang="en-US" sz="2000" dirty="0"/>
              <a:t>: insert new line up</a:t>
            </a:r>
          </a:p>
          <a:p>
            <a:endParaRPr lang="en-US" sz="2000" dirty="0"/>
          </a:p>
          <a:p>
            <a:r>
              <a:rPr lang="en-US" sz="2000" b="1" dirty="0"/>
              <a:t>x</a:t>
            </a:r>
            <a:r>
              <a:rPr lang="en-US" sz="2000" dirty="0"/>
              <a:t>: delete character</a:t>
            </a:r>
          </a:p>
          <a:p>
            <a:r>
              <a:rPr lang="en-US" sz="2000" b="1" dirty="0"/>
              <a:t>dd</a:t>
            </a:r>
            <a:r>
              <a:rPr lang="en-US" sz="2000" dirty="0"/>
              <a:t>: delete line</a:t>
            </a:r>
          </a:p>
          <a:p>
            <a:endParaRPr lang="en-US" sz="2000" dirty="0"/>
          </a:p>
          <a:p>
            <a:r>
              <a:rPr lang="en-US" sz="2000" b="1" dirty="0" err="1"/>
              <a:t>yy</a:t>
            </a:r>
            <a:r>
              <a:rPr lang="en-US" sz="2000" dirty="0"/>
              <a:t>: copy line</a:t>
            </a:r>
          </a:p>
          <a:p>
            <a:r>
              <a:rPr lang="en-US" sz="2000" b="1" dirty="0"/>
              <a:t>p</a:t>
            </a:r>
            <a:r>
              <a:rPr lang="en-US" sz="2000" dirty="0"/>
              <a:t>: paste line</a:t>
            </a:r>
          </a:p>
          <a:p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36916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B791BBC-3B75-4F02-94E2-8E31A766DA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939436"/>
              </p:ext>
            </p:extLst>
          </p:nvPr>
        </p:nvGraphicFramePr>
        <p:xfrm>
          <a:off x="533400" y="1397000"/>
          <a:ext cx="8153400" cy="490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367393753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885926103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49789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044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Team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team1-node1</a:t>
                      </a:r>
                      <a:br>
                        <a:rPr lang="en-US" sz="2800" dirty="0"/>
                      </a:br>
                      <a:r>
                        <a:rPr lang="en-US" sz="2800" dirty="0"/>
                        <a:t>team1-node2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192.0.2.11</a:t>
                      </a:r>
                      <a:br>
                        <a:rPr lang="en-US" sz="2800" dirty="0"/>
                      </a:br>
                      <a:r>
                        <a:rPr lang="en-US" sz="2800" dirty="0"/>
                        <a:t>192.0.2.12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603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team1-manager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192.0.2.10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694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Team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team2-node1</a:t>
                      </a:r>
                      <a:br>
                        <a:rPr lang="en-US" sz="2800" dirty="0"/>
                      </a:br>
                      <a:r>
                        <a:rPr lang="en-US" sz="2800" dirty="0"/>
                        <a:t>team2-node2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198.51.100.11</a:t>
                      </a:r>
                      <a:br>
                        <a:rPr lang="en-US" sz="2800" dirty="0"/>
                      </a:br>
                      <a:r>
                        <a:rPr lang="en-US" sz="2800" dirty="0"/>
                        <a:t>198.51.100.12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960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team2-manager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198.51.100.10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0309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i="1" dirty="0"/>
                        <a:t>Team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437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team3-node1</a:t>
                      </a:r>
                      <a:br>
                        <a:rPr lang="en-US" sz="2800" i="1" dirty="0"/>
                      </a:b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437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team3-node2</a:t>
                      </a:r>
                      <a:endParaRPr lang="en-US" sz="28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437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203.0.113.11</a:t>
                      </a:r>
                      <a:br>
                        <a:rPr lang="en-US" sz="2800" i="1" dirty="0"/>
                      </a:b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437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203.0.113.12</a:t>
                      </a:r>
                      <a:endParaRPr lang="en-US" sz="28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4498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team3-manager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203.0.113.10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06079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03ED623-F7F5-9141-7FD9-59FB88ADF5DC}"/>
              </a:ext>
            </a:extLst>
          </p:cNvPr>
          <p:cNvSpPr txBox="1"/>
          <p:nvPr/>
        </p:nvSpPr>
        <p:spPr>
          <a:xfrm>
            <a:off x="533400" y="228600"/>
            <a:ext cx="8153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Login: </a:t>
            </a:r>
            <a:r>
              <a:rPr lang="en-US" sz="3200" b="1" dirty="0"/>
              <a:t>user</a:t>
            </a:r>
            <a:br>
              <a:rPr lang="en-US" sz="3200" dirty="0"/>
            </a:br>
            <a:r>
              <a:rPr lang="en-US" sz="3200" dirty="0"/>
              <a:t>Password: </a:t>
            </a:r>
            <a:r>
              <a:rPr lang="en-US" sz="3200" b="1" dirty="0"/>
              <a:t>&lt;mot_de_passe&gt;</a:t>
            </a:r>
          </a:p>
        </p:txBody>
      </p:sp>
    </p:spTree>
    <p:extLst>
      <p:ext uri="{BB962C8B-B14F-4D97-AF65-F5344CB8AC3E}">
        <p14:creationId xmlns:p14="http://schemas.microsoft.com/office/powerpoint/2010/main" val="36025179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7FD5B1-55D1-DAB5-70B4-1E84A5971431}"/>
              </a:ext>
            </a:extLst>
          </p:cNvPr>
          <p:cNvSpPr txBox="1"/>
          <p:nvPr/>
        </p:nvSpPr>
        <p:spPr>
          <a:xfrm flipH="1">
            <a:off x="579119" y="457200"/>
            <a:ext cx="6964681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err="1"/>
              <a:t>Exercice</a:t>
            </a:r>
            <a:r>
              <a:rPr lang="en-US" sz="2400" b="1" u="sng" dirty="0"/>
              <a:t>:</a:t>
            </a:r>
          </a:p>
          <a:p>
            <a:pPr algn="ctr"/>
            <a:endParaRPr lang="en-US" sz="2400" b="1" u="sng" dirty="0"/>
          </a:p>
          <a:p>
            <a:r>
              <a:rPr lang="en-US" dirty="0"/>
              <a:t>- get access to your environment with Ansible User</a:t>
            </a:r>
          </a:p>
          <a:p>
            <a:r>
              <a:rPr lang="en-US" dirty="0"/>
              <a:t>-Validate from Manager that you can </a:t>
            </a:r>
            <a:r>
              <a:rPr lang="en-US" dirty="0" err="1"/>
              <a:t>ssh</a:t>
            </a:r>
            <a:r>
              <a:rPr lang="en-US" dirty="0"/>
              <a:t> to all nodes</a:t>
            </a:r>
          </a:p>
          <a:p>
            <a:r>
              <a:rPr lang="en-US" dirty="0"/>
              <a:t>	</a:t>
            </a:r>
            <a:r>
              <a:rPr lang="en-US" sz="1400" i="1" dirty="0" err="1"/>
              <a:t>ssh</a:t>
            </a:r>
            <a:r>
              <a:rPr lang="en-US" sz="1400" i="1" dirty="0"/>
              <a:t>-keygen</a:t>
            </a:r>
          </a:p>
          <a:p>
            <a:r>
              <a:rPr lang="en-US" sz="1400" i="1" dirty="0"/>
              <a:t>	</a:t>
            </a:r>
            <a:r>
              <a:rPr lang="en-US" sz="1400" i="1" dirty="0" err="1"/>
              <a:t>ssh</a:t>
            </a:r>
            <a:r>
              <a:rPr lang="en-US" sz="1400" i="1" dirty="0"/>
              <a:t>-copy-id</a:t>
            </a:r>
          </a:p>
          <a:p>
            <a:r>
              <a:rPr lang="en-US" dirty="0"/>
              <a:t>- Validate that you can become root on all nodes</a:t>
            </a:r>
          </a:p>
          <a:p>
            <a:r>
              <a:rPr lang="en-US" dirty="0"/>
              <a:t>	</a:t>
            </a:r>
            <a:r>
              <a:rPr lang="en-US" sz="1400" i="1" dirty="0" err="1"/>
              <a:t>sudo</a:t>
            </a:r>
            <a:endParaRPr lang="en-US" i="1" dirty="0"/>
          </a:p>
          <a:p>
            <a:r>
              <a:rPr lang="en-US" dirty="0"/>
              <a:t>- install Ansible core on controller node</a:t>
            </a:r>
          </a:p>
          <a:p>
            <a:r>
              <a:rPr lang="en-US" dirty="0"/>
              <a:t>- setup inventory file:</a:t>
            </a:r>
            <a:br>
              <a:rPr lang="en-US" dirty="0"/>
            </a:br>
            <a:r>
              <a:rPr lang="en-US" dirty="0"/>
              <a:t>	add a group for all: </a:t>
            </a:r>
            <a:r>
              <a:rPr lang="en-US" b="1" dirty="0"/>
              <a:t>MYSRVS</a:t>
            </a:r>
            <a:br>
              <a:rPr lang="en-US" dirty="0"/>
            </a:br>
            <a:r>
              <a:rPr lang="en-US" dirty="0"/>
              <a:t>	add a group for </a:t>
            </a:r>
            <a:r>
              <a:rPr lang="en-US" b="1" dirty="0"/>
              <a:t>UBUNTU</a:t>
            </a:r>
            <a:r>
              <a:rPr lang="en-US" dirty="0"/>
              <a:t> and </a:t>
            </a:r>
            <a:r>
              <a:rPr lang="en-US" b="1" dirty="0"/>
              <a:t>ROCKY</a:t>
            </a:r>
          </a:p>
          <a:p>
            <a:r>
              <a:rPr lang="en-US" dirty="0"/>
              <a:t>- Validate your inventory</a:t>
            </a:r>
          </a:p>
          <a:p>
            <a:r>
              <a:rPr lang="en-US" dirty="0"/>
              <a:t>- ping your servers</a:t>
            </a:r>
          </a:p>
          <a:p>
            <a:r>
              <a:rPr lang="en-US" dirty="0"/>
              <a:t>- ping your Rocky Servers</a:t>
            </a:r>
          </a:p>
        </p:txBody>
      </p:sp>
    </p:spTree>
    <p:extLst>
      <p:ext uri="{BB962C8B-B14F-4D97-AF65-F5344CB8AC3E}">
        <p14:creationId xmlns:p14="http://schemas.microsoft.com/office/powerpoint/2010/main" val="13774288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E0AE9E6-53ED-98EB-B71D-95BF2EF5E7E6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Variables and facts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0C549A5-53A5-189F-A21F-21733750DB56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https://docs.ansible.com/ansible/latest/user_guide/playbooks_variables.html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BDE261-E2B7-1D0C-EF2B-712B7AB7BA68}"/>
              </a:ext>
            </a:extLst>
          </p:cNvPr>
          <p:cNvSpPr txBox="1"/>
          <p:nvPr/>
        </p:nvSpPr>
        <p:spPr>
          <a:xfrm>
            <a:off x="533400" y="609600"/>
            <a:ext cx="8153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Definition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used to store values that can be reused throughout your playbooks and roles.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Purpose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help in making automation scripts more flexible and dynamic by allowing to change values without modifying the entire script.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Types of Variables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Playbook Variables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Defined within a playbook.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Inventory Variables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Defined in the inventory file.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Role Variables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Defined within roles.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Extra Variables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Passed at runtime using the command line.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Usage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can be used to customize configurations, manage different environments, and handle sensitive data securely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6864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DE37E89-CAD5-E930-1BF2-872B627EC6B4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285750" marR="0" lvl="0" indent="-28575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1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Inventaire</a:t>
            </a:r>
            <a:endParaRPr lang="en-US" sz="1800" b="1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457200" lvl="2">
              <a:spcBef>
                <a:spcPts val="360"/>
              </a:spcBef>
              <a:buSzPct val="45000"/>
              <a:buFont typeface="StarSymbol"/>
              <a:buChar char="●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Groups</a:t>
            </a:r>
          </a:p>
          <a:p>
            <a:pPr marL="914400" lvl="4">
              <a:spcBef>
                <a:spcPts val="360"/>
              </a:spcBef>
              <a:buSzPct val="45000"/>
              <a:buFont typeface="StarSymbol"/>
              <a:buChar char="●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Parent</a:t>
            </a:r>
          </a:p>
          <a:p>
            <a:pPr marL="914400" lvl="4">
              <a:spcBef>
                <a:spcPts val="360"/>
              </a:spcBef>
              <a:buSzPct val="45000"/>
              <a:buFont typeface="StarSymbol"/>
              <a:buChar char="●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Enfants (</a:t>
            </a:r>
            <a:r>
              <a:rPr lang="en-US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ordre</a:t>
            </a:r>
            <a:r>
              <a:rPr lang="en-US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en-US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alphabetique</a:t>
            </a:r>
            <a:r>
              <a:rPr lang="en-US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)</a:t>
            </a:r>
          </a:p>
          <a:p>
            <a:pPr marL="457200" lvl="2">
              <a:spcBef>
                <a:spcPts val="360"/>
              </a:spcBef>
              <a:buSzPct val="45000"/>
              <a:buFont typeface="StarSymbol"/>
              <a:buChar char="●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Host</a:t>
            </a:r>
          </a:p>
          <a:p>
            <a:pPr marL="457200" lvl="2">
              <a:spcBef>
                <a:spcPts val="360"/>
              </a:spcBef>
              <a:buSzPct val="45000"/>
              <a:buFont typeface="StarSymbol"/>
              <a:buChar char="●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285750" marR="0" lvl="0" indent="-28575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Playbook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100000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vars: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100000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</a:t>
            </a:r>
            <a:r>
              <a:rPr lang="en-US" sz="12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mon_param</a:t>
            </a: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</a:t>
            </a:r>
            <a:r>
              <a:rPr lang="en-US" sz="12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ma_Valeur</a:t>
            </a:r>
            <a:endParaRPr lang="en-US" sz="12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100000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dirty="0" err="1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Set_facts</a:t>
            </a:r>
            <a:r>
              <a:rPr lang="en-US" sz="12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100000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	 </a:t>
            </a:r>
            <a:r>
              <a:rPr lang="en-US" sz="12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mon_param</a:t>
            </a: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</a:t>
            </a:r>
            <a:r>
              <a:rPr lang="en-US" sz="12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ma_Valeur</a:t>
            </a:r>
            <a:endParaRPr lang="en-US" sz="12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100000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285750" marR="0" lvl="0" indent="-28575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Command Line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100000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ansible-playbook -</a:t>
            </a:r>
            <a:r>
              <a:rPr lang="en-US" sz="12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</a:t>
            </a: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127.0.0.1, -e mon_param1=ma_valeur1 </a:t>
            </a:r>
            <a:r>
              <a:rPr lang="en-US" sz="12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playbook.yml</a:t>
            </a:r>
            <a:endParaRPr lang="en-US" sz="12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100000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b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</a:br>
            <a:endParaRPr lang="en-US" sz="12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5CA3BE-9CD9-2B38-CB64-7D135CFBF550}"/>
              </a:ext>
            </a:extLst>
          </p:cNvPr>
          <p:cNvSpPr txBox="1"/>
          <p:nvPr/>
        </p:nvSpPr>
        <p:spPr>
          <a:xfrm>
            <a:off x="291960" y="5630204"/>
            <a:ext cx="82168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100000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https://docs.ansible.com/ansible/latest/user_guide/playbooks_variables.html#ansible-variable-precedence 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E1CA7F4-D959-645A-E321-22942D3B763F}"/>
              </a:ext>
            </a:extLst>
          </p:cNvPr>
          <p:cNvSpPr/>
          <p:nvPr/>
        </p:nvSpPr>
        <p:spPr>
          <a:xfrm>
            <a:off x="291960" y="274680"/>
            <a:ext cx="66422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Variables and facts : Ordering and precedence</a:t>
            </a:r>
          </a:p>
        </p:txBody>
      </p:sp>
    </p:spTree>
    <p:extLst>
      <p:ext uri="{BB962C8B-B14F-4D97-AF65-F5344CB8AC3E}">
        <p14:creationId xmlns:p14="http://schemas.microsoft.com/office/powerpoint/2010/main" val="5100245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4F7C1A5-87DF-3832-0A53-2E20C9062C3F}"/>
              </a:ext>
            </a:extLst>
          </p:cNvPr>
          <p:cNvSpPr/>
          <p:nvPr/>
        </p:nvSpPr>
        <p:spPr>
          <a:xfrm>
            <a:off x="381000" y="1143000"/>
            <a:ext cx="8305800" cy="472440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1" i="0" u="sng" strike="noStrike" cap="none" baseline="0" dirty="0">
              <a:ln>
                <a:noFill/>
              </a:ln>
              <a:solidFill>
                <a:srgbClr val="0E1012"/>
              </a:solidFill>
              <a:uFillTx/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1" u="sng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Vars: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i="0" strike="noStrike" cap="none" baseline="0" dirty="0">
                <a:ln>
                  <a:noFill/>
                </a:ln>
                <a:solidFill>
                  <a:srgbClr val="0E1012"/>
                </a:solidFill>
                <a:uFillTx/>
                <a:latin typeface="Courier New" pitchFamily="18"/>
                <a:ea typeface="WenQuanYi Zen Hei Sharp" pitchFamily="2"/>
                <a:cs typeface="WenQuanYi Zen Hei Sharp" pitchFamily="2"/>
              </a:rPr>
              <a:t> - my_string: "toto"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i="0" strike="noStrike" cap="none" baseline="0" dirty="0">
                <a:ln>
                  <a:noFill/>
                </a:ln>
                <a:solidFill>
                  <a:srgbClr val="0E1012"/>
                </a:solidFill>
                <a:uFillTx/>
                <a:latin typeface="Courier New" pitchFamily="18"/>
                <a:ea typeface="WenQuanYi Zen Hei Sharp" pitchFamily="2"/>
                <a:cs typeface="WenQuanYi Zen Hei Sharp" pitchFamily="2"/>
              </a:rPr>
              <a:t> - </a:t>
            </a:r>
            <a:r>
              <a:rPr lang="en-US" sz="1200" i="0" strike="noStrike" cap="none" baseline="0" dirty="0" err="1">
                <a:ln>
                  <a:noFill/>
                </a:ln>
                <a:solidFill>
                  <a:srgbClr val="0E1012"/>
                </a:solidFill>
                <a:uFillTx/>
                <a:latin typeface="Courier New" pitchFamily="18"/>
                <a:ea typeface="WenQuanYi Zen Hei Sharp" pitchFamily="2"/>
                <a:cs typeface="WenQuanYi Zen Hei Sharp" pitchFamily="2"/>
              </a:rPr>
              <a:t>my_integer</a:t>
            </a:r>
            <a:r>
              <a:rPr lang="en-US" sz="1200" i="0" strike="noStrike" cap="none" baseline="0" dirty="0">
                <a:ln>
                  <a:noFill/>
                </a:ln>
                <a:solidFill>
                  <a:srgbClr val="0E1012"/>
                </a:solidFill>
                <a:uFillTx/>
                <a:latin typeface="Courier New" pitchFamily="18"/>
                <a:ea typeface="WenQuanYi Zen Hei Sharp" pitchFamily="2"/>
                <a:cs typeface="WenQuanYi Zen Hei Sharp" pitchFamily="2"/>
              </a:rPr>
              <a:t>: 1234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i="0" strike="noStrike" cap="none" baseline="0" dirty="0">
                <a:ln>
                  <a:noFill/>
                </a:ln>
                <a:solidFill>
                  <a:srgbClr val="0E1012"/>
                </a:solidFill>
                <a:uFillTx/>
                <a:latin typeface="Courier New" pitchFamily="18"/>
                <a:ea typeface="WenQuanYi Zen Hei Sharp" pitchFamily="2"/>
                <a:cs typeface="WenQuanYi Zen Hei Sharp" pitchFamily="2"/>
              </a:rPr>
              <a:t> - my_array: ["qwert", "asdfg", "zxcvb"]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i="0" strike="noStrike" cap="none" baseline="0" dirty="0">
                <a:ln>
                  <a:noFill/>
                </a:ln>
                <a:solidFill>
                  <a:srgbClr val="0E1012"/>
                </a:solidFill>
                <a:uFillTx/>
                <a:latin typeface="Courier New" pitchFamily="18"/>
                <a:ea typeface="WenQuanYi Zen Hei Sharp" pitchFamily="2"/>
                <a:cs typeface="WenQuanYi Zen Hei Sharp" pitchFamily="2"/>
              </a:rPr>
              <a:t> - my_dict: { user: "toto", id: 1234, shell: "/sbin/bash"}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dirty="0"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i="0" strike="noStrike" cap="none" baseline="0" dirty="0">
                <a:ln>
                  <a:noFill/>
                </a:ln>
                <a:solidFill>
                  <a:srgbClr val="0E1012"/>
                </a:solidFill>
                <a:uFillTx/>
                <a:latin typeface="Courier New" pitchFamily="18"/>
                <a:ea typeface="WenQuanYi Zen Hei Sharp" pitchFamily="2"/>
                <a:cs typeface="WenQuanYi Zen Hei Sharp" pitchFamily="2"/>
              </a:rPr>
              <a:t>- name: Debug String and Int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debug: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i="0" strike="noStrike" cap="none" baseline="0" dirty="0">
                <a:ln>
                  <a:noFill/>
                </a:ln>
                <a:solidFill>
                  <a:srgbClr val="0E1012"/>
                </a:solidFill>
                <a:uFillTx/>
                <a:latin typeface="Courier New" pitchFamily="18"/>
                <a:ea typeface="WenQuanYi Zen Hei Sharp" pitchFamily="2"/>
                <a:cs typeface="WenQuanYi Zen Hei Sharp" pitchFamily="2"/>
              </a:rPr>
              <a:t>    msg: "{{ my_string }} {{ my_integer }}"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i="0" strike="noStrike" cap="none" baseline="0" dirty="0">
              <a:ln>
                <a:noFill/>
              </a:ln>
              <a:solidFill>
                <a:srgbClr val="0E1012"/>
              </a:solidFill>
              <a:uFillTx/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i="0" strike="noStrike" cap="none" baseline="0" dirty="0">
                <a:ln>
                  <a:noFill/>
                </a:ln>
                <a:solidFill>
                  <a:srgbClr val="0E1012"/>
                </a:solidFill>
                <a:uFillTx/>
                <a:latin typeface="Courier New" pitchFamily="18"/>
                <a:ea typeface="WenQuanYi Zen Hei Sharp" pitchFamily="2"/>
                <a:cs typeface="WenQuanYi Zen Hei Sharp" pitchFamily="2"/>
              </a:rPr>
              <a:t>- name: Debug array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debug: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i="0" strike="noStrike" cap="none" baseline="0" dirty="0">
                <a:ln>
                  <a:noFill/>
                </a:ln>
                <a:solidFill>
                  <a:srgbClr val="0E1012"/>
                </a:solidFill>
                <a:uFillTx/>
                <a:latin typeface="Courier New" pitchFamily="18"/>
                <a:ea typeface="WenQuanYi Zen Hei Sharp" pitchFamily="2"/>
                <a:cs typeface="WenQuanYi Zen Hei Sharp" pitchFamily="2"/>
              </a:rPr>
              <a:t>    msg: "{{ my_array.0 }} {{ my_array[0] }}"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i="0" strike="noStrike" cap="none" baseline="0" dirty="0">
                <a:ln>
                  <a:noFill/>
                </a:ln>
                <a:solidFill>
                  <a:srgbClr val="0E1012"/>
                </a:solidFill>
                <a:uFillTx/>
                <a:latin typeface="Courier New" pitchFamily="18"/>
                <a:ea typeface="WenQuanYi Zen Hei Sharp" pitchFamily="2"/>
                <a:cs typeface="WenQuanYi Zen Hei Sharp" pitchFamily="2"/>
              </a:rPr>
              <a:t>- name: Debug </a:t>
            </a:r>
            <a:r>
              <a:rPr lang="en-US" sz="1200" i="0" strike="noStrike" cap="none" baseline="0" dirty="0" err="1">
                <a:ln>
                  <a:noFill/>
                </a:ln>
                <a:solidFill>
                  <a:srgbClr val="0E1012"/>
                </a:solidFill>
                <a:uFillTx/>
                <a:latin typeface="Courier New" pitchFamily="18"/>
                <a:ea typeface="WenQuanYi Zen Hei Sharp" pitchFamily="2"/>
                <a:cs typeface="WenQuanYi Zen Hei Sharp" pitchFamily="2"/>
              </a:rPr>
              <a:t>dict</a:t>
            </a:r>
            <a:endParaRPr lang="en-US" sz="1200" i="0" strike="noStrike" cap="none" baseline="0" dirty="0">
              <a:ln>
                <a:noFill/>
              </a:ln>
              <a:solidFill>
                <a:srgbClr val="0E1012"/>
              </a:solidFill>
              <a:uFillTx/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debug: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i="0" strike="noStrike" cap="none" baseline="0" dirty="0">
                <a:ln>
                  <a:noFill/>
                </a:ln>
                <a:solidFill>
                  <a:srgbClr val="0E1012"/>
                </a:solidFill>
                <a:uFillTx/>
                <a:latin typeface="Courier New" pitchFamily="18"/>
                <a:ea typeface="WenQuanYi Zen Hei Sharp" pitchFamily="2"/>
                <a:cs typeface="WenQuanYi Zen Hei Sharp" pitchFamily="2"/>
              </a:rPr>
              <a:t>    msg: "{{ my_dict.user }} {{ my_dict['user'] }}"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6339707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1B779AD-447A-C155-AF58-FEF6E509B8C9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Variables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D3B8E09-E75A-DD8C-5221-A700D868E42C}"/>
              </a:ext>
            </a:extLst>
          </p:cNvPr>
          <p:cNvSpPr/>
          <p:nvPr/>
        </p:nvSpPr>
        <p:spPr>
          <a:xfrm>
            <a:off x="5700600" y="1143000"/>
            <a:ext cx="3655440" cy="303300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1" i="0" u="sng" strike="noStrike" cap="none" baseline="0" dirty="0">
                <a:ln>
                  <a:noFill/>
                </a:ln>
                <a:solidFill>
                  <a:srgbClr val="0E1012"/>
                </a:solidFill>
                <a:uFillTx/>
                <a:latin typeface="Courier New" pitchFamily="18"/>
                <a:ea typeface="WenQuanYi Zen Hei Sharp" pitchFamily="2"/>
                <a:cs typeface="WenQuanYi Zen Hei Sharp" pitchFamily="2"/>
              </a:rPr>
              <a:t>Variables-inventory.ini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[group]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SRV1 </a:t>
            </a:r>
            <a:r>
              <a:rPr lang="en-US" sz="1200" b="1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mon_param</a:t>
            </a: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</a:t>
            </a:r>
            <a:r>
              <a:rPr lang="en-US" sz="12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set_by_host</a:t>
            </a:r>
            <a:endParaRPr lang="en-US" sz="12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SRV2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[</a:t>
            </a:r>
            <a:r>
              <a:rPr lang="en-US" sz="12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group:vars</a:t>
            </a: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]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en-US" sz="1200" b="1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mon_param</a:t>
            </a: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</a:t>
            </a:r>
            <a:r>
              <a:rPr lang="en-US" sz="12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set_in_group</a:t>
            </a:r>
            <a:endParaRPr lang="en-US" sz="12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31C209C-FA77-7F0A-71FD-F30E5A62A9A6}"/>
              </a:ext>
            </a:extLst>
          </p:cNvPr>
          <p:cNvSpPr/>
          <p:nvPr/>
        </p:nvSpPr>
        <p:spPr>
          <a:xfrm>
            <a:off x="381000" y="1143000"/>
            <a:ext cx="4648200" cy="4040156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1" i="0" u="sng" strike="noStrike" cap="none" baseline="0" dirty="0" err="1">
                <a:ln>
                  <a:noFill/>
                </a:ln>
                <a:solidFill>
                  <a:srgbClr val="0E1012"/>
                </a:solidFill>
                <a:uFillTx/>
                <a:latin typeface="Courier New" pitchFamily="18"/>
                <a:ea typeface="WenQuanYi Zen Hei Sharp" pitchFamily="2"/>
                <a:cs typeface="WenQuanYi Zen Hei Sharp" pitchFamily="2"/>
              </a:rPr>
              <a:t>Variables.yml</a:t>
            </a:r>
            <a:endParaRPr lang="en-US" sz="1200" b="1" i="0" u="sng" strike="noStrike" cap="none" baseline="0" dirty="0">
              <a:ln>
                <a:noFill/>
              </a:ln>
              <a:solidFill>
                <a:srgbClr val="0E1012"/>
              </a:solidFill>
              <a:uFillTx/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name: Test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hosts: all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2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gather_facts</a:t>
            </a: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no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connection: local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vars: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</a:t>
            </a:r>
            <a:r>
              <a:rPr lang="en-US" sz="1200" b="1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mon_param</a:t>
            </a: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</a:t>
            </a:r>
            <a:r>
              <a:rPr lang="en-US" sz="12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set_in_playbook</a:t>
            </a:r>
            <a:endParaRPr lang="en-US" sz="12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mon_param2: </a:t>
            </a:r>
            <a:r>
              <a:rPr lang="en-US" sz="12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set_by_vecteur</a:t>
            </a:r>
            <a:endParaRPr lang="en-US" sz="12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tasks: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name: </a:t>
            </a:r>
            <a:r>
              <a:rPr lang="en-US" sz="1200" dirty="0" err="1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facting</a:t>
            </a:r>
            <a:endParaRPr lang="en-US" sz="1200" dirty="0"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en-US" sz="1200" dirty="0" err="1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set_fact</a:t>
            </a:r>
            <a:r>
              <a:rPr lang="en-US" sz="12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mon_param_0: "{{ inventory_hostname }}"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name: </a:t>
            </a:r>
            <a:r>
              <a:rPr lang="en-US" sz="12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resultat</a:t>
            </a:r>
            <a:endParaRPr lang="en-US" sz="12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debug: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msg: "Parameter defined in {{ mon_param_0 }} - {{ mon_param }}"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7FD5B1-55D1-DAB5-70B4-1E84A5971431}"/>
              </a:ext>
            </a:extLst>
          </p:cNvPr>
          <p:cNvSpPr txBox="1"/>
          <p:nvPr/>
        </p:nvSpPr>
        <p:spPr>
          <a:xfrm flipH="1">
            <a:off x="579119" y="457200"/>
            <a:ext cx="69646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err="1"/>
              <a:t>Exercice</a:t>
            </a:r>
            <a:r>
              <a:rPr lang="en-US" sz="2400" b="1" u="sng" dirty="0"/>
              <a:t>:</a:t>
            </a:r>
          </a:p>
          <a:p>
            <a:pPr algn="ctr"/>
            <a:endParaRPr lang="en-US" sz="2400" b="1" u="sng" dirty="0"/>
          </a:p>
          <a:p>
            <a:r>
              <a:rPr lang="en-US" dirty="0"/>
              <a:t>- Identify precedence and priority of vars</a:t>
            </a:r>
          </a:p>
          <a:p>
            <a:endParaRPr lang="en-US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31F53F2-5D22-E4F6-E8BD-4E7E14632A51}"/>
              </a:ext>
            </a:extLst>
          </p:cNvPr>
          <p:cNvSpPr/>
          <p:nvPr/>
        </p:nvSpPr>
        <p:spPr>
          <a:xfrm>
            <a:off x="685800" y="1600200"/>
            <a:ext cx="8229600" cy="208800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ansible-playbook -</a:t>
            </a:r>
            <a:r>
              <a:rPr lang="en-US" sz="12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</a:t>
            </a: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variables-inventory.ini </a:t>
            </a:r>
            <a:r>
              <a:rPr lang="en-US" sz="12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variables.yml</a:t>
            </a:r>
            <a:endParaRPr lang="en-US" sz="12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ansible-playbook -</a:t>
            </a:r>
            <a:r>
              <a:rPr lang="en-US" sz="12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</a:t>
            </a: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variables-inventory.ini -e </a:t>
            </a:r>
            <a:r>
              <a:rPr lang="en-US" sz="12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mon_param</a:t>
            </a: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</a:t>
            </a:r>
            <a:r>
              <a:rPr lang="en-US" sz="12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set_by_cli</a:t>
            </a: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en-US" sz="12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variables.yml</a:t>
            </a:r>
            <a:endParaRPr lang="en-US" sz="12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ansible-playbook -i variables-inventory.ini -e mon_param="{{ mon_param2 }}"  variables.yml</a:t>
            </a:r>
            <a:endParaRPr lang="en-US" sz="12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92C6F1-A5B7-6717-01A8-2FD02D1621AD}"/>
              </a:ext>
            </a:extLst>
          </p:cNvPr>
          <p:cNvSpPr txBox="1"/>
          <p:nvPr/>
        </p:nvSpPr>
        <p:spPr>
          <a:xfrm>
            <a:off x="685800" y="3429000"/>
            <a:ext cx="4586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 What is the precedence ordering?</a:t>
            </a:r>
          </a:p>
        </p:txBody>
      </p:sp>
    </p:spTree>
    <p:extLst>
      <p:ext uri="{BB962C8B-B14F-4D97-AF65-F5344CB8AC3E}">
        <p14:creationId xmlns:p14="http://schemas.microsoft.com/office/powerpoint/2010/main" val="3788198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2817561-C99E-6C96-71D5-26FC1A5D5315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Variables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1439E1B-EC2D-D7FB-8602-E474DBA7E783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Magic variables: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1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hostvars</a:t>
            </a:r>
            <a:endParaRPr lang="en-US" sz="1800" b="1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group_names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groups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inventory_hostname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ansible_facts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9CB0B23-B135-7837-CF41-1CD272B7A3B2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CONDITIONS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A9802A-86F3-DA9E-B87E-8E26573985A2}"/>
              </a:ext>
            </a:extLst>
          </p:cNvPr>
          <p:cNvSpPr txBox="1"/>
          <p:nvPr/>
        </p:nvSpPr>
        <p:spPr>
          <a:xfrm flipH="1">
            <a:off x="579119" y="457200"/>
            <a:ext cx="696468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err="1"/>
              <a:t>Exercice</a:t>
            </a:r>
            <a:r>
              <a:rPr lang="en-US" sz="2400" b="1" u="sng" dirty="0"/>
              <a:t>:</a:t>
            </a:r>
          </a:p>
          <a:p>
            <a:pPr algn="ctr"/>
            <a:endParaRPr lang="en-US" sz="2400" b="1" u="sng" dirty="0"/>
          </a:p>
          <a:p>
            <a:r>
              <a:rPr lang="en-US" dirty="0"/>
              <a:t>- What are the default facts?</a:t>
            </a:r>
          </a:p>
          <a:p>
            <a:r>
              <a:rPr lang="en-US" dirty="0"/>
              <a:t>- Add new facts like datacenter, project, environment, group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5371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08C3FD-E022-BB79-FDB3-78FDCCEA10F4}"/>
              </a:ext>
            </a:extLst>
          </p:cNvPr>
          <p:cNvSpPr txBox="1"/>
          <p:nvPr/>
        </p:nvSpPr>
        <p:spPr>
          <a:xfrm>
            <a:off x="381000" y="609600"/>
            <a:ext cx="48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Facts: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81B9DD-558A-D4E7-5BB5-C8C3289E722A}"/>
              </a:ext>
            </a:extLst>
          </p:cNvPr>
          <p:cNvSpPr txBox="1"/>
          <p:nvPr/>
        </p:nvSpPr>
        <p:spPr>
          <a:xfrm>
            <a:off x="533400" y="1371600"/>
            <a:ext cx="662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Group of facts/variables loaded from the remote hosts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30F22F-748A-94F2-64B1-5757C511D8F1}"/>
              </a:ext>
            </a:extLst>
          </p:cNvPr>
          <p:cNvSpPr txBox="1"/>
          <p:nvPr/>
        </p:nvSpPr>
        <p:spPr>
          <a:xfrm>
            <a:off x="533400" y="2109355"/>
            <a:ext cx="662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host: all</a:t>
            </a:r>
          </a:p>
          <a:p>
            <a:r>
              <a:rPr lang="en-US" dirty="0"/>
              <a:t>    </a:t>
            </a:r>
            <a:r>
              <a:rPr lang="en-US" dirty="0" err="1"/>
              <a:t>gather_facts</a:t>
            </a:r>
            <a:r>
              <a:rPr lang="en-US" dirty="0"/>
              <a:t>: true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782A9C-060E-1111-BF2A-CAE59BBE7E5A}"/>
              </a:ext>
            </a:extLst>
          </p:cNvPr>
          <p:cNvSpPr txBox="1"/>
          <p:nvPr/>
        </p:nvSpPr>
        <p:spPr>
          <a:xfrm>
            <a:off x="609600" y="3124109"/>
            <a:ext cx="6629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tasks:</a:t>
            </a:r>
          </a:p>
          <a:p>
            <a:r>
              <a:rPr lang="en-US" dirty="0"/>
              <a:t>    - setup: </a:t>
            </a:r>
          </a:p>
          <a:p>
            <a:r>
              <a:rPr lang="en-US" dirty="0"/>
              <a:t>        filter: ansible_*</a:t>
            </a:r>
          </a:p>
        </p:txBody>
      </p:sp>
    </p:spTree>
    <p:extLst>
      <p:ext uri="{BB962C8B-B14F-4D97-AF65-F5344CB8AC3E}">
        <p14:creationId xmlns:p14="http://schemas.microsoft.com/office/powerpoint/2010/main" val="23374625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08C3FD-E022-BB79-FDB3-78FDCCEA10F4}"/>
              </a:ext>
            </a:extLst>
          </p:cNvPr>
          <p:cNvSpPr txBox="1"/>
          <p:nvPr/>
        </p:nvSpPr>
        <p:spPr>
          <a:xfrm>
            <a:off x="381000" y="609600"/>
            <a:ext cx="48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More Facts: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782A9C-060E-1111-BF2A-CAE59BBE7E5A}"/>
              </a:ext>
            </a:extLst>
          </p:cNvPr>
          <p:cNvSpPr txBox="1"/>
          <p:nvPr/>
        </p:nvSpPr>
        <p:spPr>
          <a:xfrm>
            <a:off x="685800" y="1219200"/>
            <a:ext cx="6629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tasks:</a:t>
            </a:r>
          </a:p>
          <a:p>
            <a:r>
              <a:rPr lang="en-US" dirty="0"/>
              <a:t>    - </a:t>
            </a:r>
            <a:r>
              <a:rPr lang="en-US" b="0" i="0" dirty="0" err="1">
                <a:solidFill>
                  <a:srgbClr val="E74C3C"/>
                </a:solidFill>
                <a:effectLst/>
                <a:latin typeface="SFMono-Regular"/>
              </a:rPr>
              <a:t>ansible.builtin.set_fact</a:t>
            </a:r>
            <a:r>
              <a:rPr lang="en-US" dirty="0"/>
              <a:t>: </a:t>
            </a:r>
          </a:p>
          <a:p>
            <a:r>
              <a:rPr lang="en-US" dirty="0"/>
              <a:t>        </a:t>
            </a:r>
            <a:r>
              <a:rPr lang="en-US" dirty="0" err="1"/>
              <a:t>my_fact</a:t>
            </a:r>
            <a:r>
              <a:rPr lang="en-US" dirty="0"/>
              <a:t>: </a:t>
            </a:r>
            <a:r>
              <a:rPr lang="en-US" dirty="0" err="1"/>
              <a:t>my_value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4784BF-71C0-9113-0F8D-9102E2A7785D}"/>
              </a:ext>
            </a:extLst>
          </p:cNvPr>
          <p:cNvSpPr txBox="1"/>
          <p:nvPr/>
        </p:nvSpPr>
        <p:spPr>
          <a:xfrm>
            <a:off x="685800" y="3429000"/>
            <a:ext cx="6629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 facts in remote host:</a:t>
            </a:r>
          </a:p>
          <a:p>
            <a:r>
              <a:rPr lang="en-US" dirty="0"/>
              <a:t>  /</a:t>
            </a:r>
            <a:r>
              <a:rPr lang="en-US" dirty="0" err="1"/>
              <a:t>etc</a:t>
            </a:r>
            <a:r>
              <a:rPr lang="en-US" dirty="0"/>
              <a:t>/ansible/</a:t>
            </a:r>
            <a:r>
              <a:rPr lang="en-US" dirty="0" err="1"/>
              <a:t>facts.d</a:t>
            </a:r>
            <a:r>
              <a:rPr lang="en-US" dirty="0"/>
              <a:t>/*.fact</a:t>
            </a:r>
          </a:p>
          <a:p>
            <a:endParaRPr lang="en-US" dirty="0"/>
          </a:p>
          <a:p>
            <a:r>
              <a:rPr lang="en-US" dirty="0" err="1"/>
              <a:t>Ini</a:t>
            </a:r>
            <a:r>
              <a:rPr lang="en-US" dirty="0"/>
              <a:t> file: /</a:t>
            </a:r>
            <a:r>
              <a:rPr lang="en-US" dirty="0" err="1"/>
              <a:t>etc</a:t>
            </a:r>
            <a:r>
              <a:rPr lang="en-US" dirty="0"/>
              <a:t>/ansible/</a:t>
            </a:r>
            <a:r>
              <a:rPr lang="en-US" dirty="0" err="1"/>
              <a:t>facts.d</a:t>
            </a:r>
            <a:r>
              <a:rPr lang="en-US" dirty="0"/>
              <a:t>/</a:t>
            </a:r>
            <a:r>
              <a:rPr lang="en-US" dirty="0" err="1">
                <a:highlight>
                  <a:srgbClr val="FFFF00"/>
                </a:highlight>
              </a:rPr>
              <a:t>fact_file</a:t>
            </a:r>
            <a:r>
              <a:rPr lang="en-US" dirty="0" err="1"/>
              <a:t>.fact</a:t>
            </a:r>
            <a:endParaRPr lang="en-US" dirty="0"/>
          </a:p>
          <a:p>
            <a:r>
              <a:rPr lang="en-US" dirty="0"/>
              <a:t>[my_category]</a:t>
            </a:r>
          </a:p>
          <a:p>
            <a:r>
              <a:rPr lang="en-US" dirty="0">
                <a:highlight>
                  <a:srgbClr val="00FFFF"/>
                </a:highlight>
              </a:rPr>
              <a:t>Key1</a:t>
            </a:r>
            <a:r>
              <a:rPr lang="en-US" dirty="0"/>
              <a:t>=value1</a:t>
            </a:r>
          </a:p>
          <a:p>
            <a:r>
              <a:rPr lang="en-US" dirty="0"/>
              <a:t>Key2=value2</a:t>
            </a:r>
          </a:p>
          <a:p>
            <a:endParaRPr lang="en-US" dirty="0"/>
          </a:p>
          <a:p>
            <a:r>
              <a:rPr lang="en-US" dirty="0"/>
              <a:t>{{ ansible_local['fact_file']['my_category']['key1'] }}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4D61DF-7C78-888B-6BF2-38A76FD674C1}"/>
              </a:ext>
            </a:extLst>
          </p:cNvPr>
          <p:cNvSpPr txBox="1"/>
          <p:nvPr/>
        </p:nvSpPr>
        <p:spPr>
          <a:xfrm>
            <a:off x="685800" y="2142530"/>
            <a:ext cx="6629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tasks:</a:t>
            </a:r>
          </a:p>
          <a:p>
            <a:r>
              <a:rPr lang="en-US" dirty="0"/>
              <a:t>    - ansible.builtin.include_vars:</a:t>
            </a:r>
          </a:p>
          <a:p>
            <a:r>
              <a:rPr lang="en-US" dirty="0"/>
              <a:t>        file: "{{ my_vars_file }}"</a:t>
            </a:r>
          </a:p>
          <a:p>
            <a:r>
              <a:rPr lang="en-US" dirty="0"/>
              <a:t>        name: </a:t>
            </a:r>
            <a:r>
              <a:rPr lang="en-US" dirty="0" err="1"/>
              <a:t>my_value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1957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9CB0B23-B135-7837-CF41-1CD272B7A3B2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CONDITIONS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A9802A-86F3-DA9E-B87E-8E26573985A2}"/>
              </a:ext>
            </a:extLst>
          </p:cNvPr>
          <p:cNvSpPr txBox="1"/>
          <p:nvPr/>
        </p:nvSpPr>
        <p:spPr>
          <a:xfrm flipH="1">
            <a:off x="579119" y="457200"/>
            <a:ext cx="696468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err="1"/>
              <a:t>Exercice</a:t>
            </a:r>
            <a:r>
              <a:rPr lang="en-US" sz="2400" b="1" u="sng" dirty="0"/>
              <a:t>:</a:t>
            </a:r>
          </a:p>
          <a:p>
            <a:pPr algn="ctr"/>
            <a:endParaRPr lang="en-US" sz="2400" b="1" u="sng" dirty="0"/>
          </a:p>
          <a:p>
            <a:r>
              <a:rPr lang="en-US" dirty="0"/>
              <a:t>- What are the default facts?</a:t>
            </a:r>
          </a:p>
          <a:p>
            <a:r>
              <a:rPr lang="en-US" dirty="0"/>
              <a:t>- Add new facts like datacenter, project, environment, group</a:t>
            </a:r>
          </a:p>
          <a:p>
            <a:endParaRPr lang="en-US" dirty="0"/>
          </a:p>
          <a:p>
            <a:r>
              <a:rPr lang="en-US" dirty="0"/>
              <a:t>- display the </a:t>
            </a:r>
            <a:r>
              <a:rPr lang="en-US" dirty="0" err="1"/>
              <a:t>hostvars</a:t>
            </a:r>
            <a:r>
              <a:rPr lang="en-US" dirty="0"/>
              <a:t> with </a:t>
            </a:r>
            <a:r>
              <a:rPr lang="en-US" dirty="0" err="1"/>
              <a:t>gather_facts</a:t>
            </a:r>
            <a:r>
              <a:rPr lang="en-US" dirty="0"/>
              <a:t>: no and yes</a:t>
            </a:r>
          </a:p>
          <a:p>
            <a:r>
              <a:rPr lang="en-US" dirty="0"/>
              <a:t>- found the key in </a:t>
            </a:r>
            <a:r>
              <a:rPr lang="en-US" dirty="0" err="1"/>
              <a:t>hostvars</a:t>
            </a:r>
            <a:r>
              <a:rPr lang="en-US" dirty="0"/>
              <a:t> where the default </a:t>
            </a:r>
            <a:r>
              <a:rPr lang="en-US" dirty="0" err="1"/>
              <a:t>ip</a:t>
            </a:r>
            <a:r>
              <a:rPr lang="en-US" dirty="0"/>
              <a:t> is defined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9CB0B23-B135-7837-CF41-1CD272B7A3B2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CONDITIONS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A9802A-86F3-DA9E-B87E-8E26573985A2}"/>
              </a:ext>
            </a:extLst>
          </p:cNvPr>
          <p:cNvSpPr txBox="1"/>
          <p:nvPr/>
        </p:nvSpPr>
        <p:spPr>
          <a:xfrm flipH="1">
            <a:off x="579119" y="457200"/>
            <a:ext cx="696468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err="1"/>
              <a:t>Exercice</a:t>
            </a:r>
            <a:r>
              <a:rPr lang="en-US" sz="2400" b="1" u="sng" dirty="0"/>
              <a:t>:</a:t>
            </a:r>
          </a:p>
          <a:p>
            <a:pPr algn="ctr"/>
            <a:endParaRPr lang="en-US" sz="2400" b="1" u="sng" dirty="0"/>
          </a:p>
          <a:p>
            <a:r>
              <a:rPr lang="en-US" dirty="0"/>
              <a:t>- What are the default facts?</a:t>
            </a:r>
          </a:p>
          <a:p>
            <a:r>
              <a:rPr lang="en-US" dirty="0"/>
              <a:t>- Add new facts like datacenter, project, environment, group</a:t>
            </a:r>
          </a:p>
          <a:p>
            <a:endParaRPr lang="en-US" dirty="0"/>
          </a:p>
          <a:p>
            <a:r>
              <a:rPr lang="en-US" dirty="0"/>
              <a:t>- display the </a:t>
            </a:r>
            <a:r>
              <a:rPr lang="en-US" dirty="0" err="1"/>
              <a:t>hostvars</a:t>
            </a:r>
            <a:r>
              <a:rPr lang="en-US" dirty="0"/>
              <a:t> with </a:t>
            </a:r>
            <a:r>
              <a:rPr lang="en-US" dirty="0" err="1"/>
              <a:t>gather_facts</a:t>
            </a:r>
            <a:r>
              <a:rPr lang="en-US" dirty="0"/>
              <a:t>: no and yes</a:t>
            </a:r>
          </a:p>
          <a:p>
            <a:pPr marL="285750" indent="-285750">
              <a:buFontTx/>
              <a:buChar char="-"/>
            </a:pPr>
            <a:r>
              <a:rPr lang="en-US" dirty="0"/>
              <a:t>found the key in </a:t>
            </a:r>
            <a:r>
              <a:rPr lang="en-US" dirty="0" err="1"/>
              <a:t>hostvars</a:t>
            </a:r>
            <a:r>
              <a:rPr lang="en-US" dirty="0"/>
              <a:t> where the default </a:t>
            </a:r>
            <a:r>
              <a:rPr lang="en-US" dirty="0" err="1"/>
              <a:t>ip</a:t>
            </a:r>
            <a:r>
              <a:rPr lang="en-US" dirty="0"/>
              <a:t> is defined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1800" dirty="0"/>
              <a:t>hostvars[ inventory_hostname] =&gt; ansible_facts ['ansible_default_ipv4']['address']</a:t>
            </a:r>
          </a:p>
          <a:p>
            <a:pPr marL="215640" lvl="0" indent="-214200">
              <a:spcBef>
                <a:spcPts val="0"/>
              </a:spcBef>
              <a:tabLst>
                <a:tab pos="215640" algn="l"/>
                <a:tab pos="672840" algn="l"/>
                <a:tab pos="1130040" algn="l"/>
                <a:tab pos="1587239" algn="l"/>
                <a:tab pos="2044440" algn="l"/>
                <a:tab pos="2501640" algn="l"/>
                <a:tab pos="2958839" algn="l"/>
                <a:tab pos="3416040" algn="l"/>
                <a:tab pos="3873240" algn="l"/>
                <a:tab pos="4330440" algn="l"/>
                <a:tab pos="4787640" algn="l"/>
                <a:tab pos="5244840" algn="l"/>
                <a:tab pos="5702039" algn="l"/>
                <a:tab pos="6159240" algn="l"/>
                <a:tab pos="6616439" algn="l"/>
                <a:tab pos="7073640" algn="l"/>
                <a:tab pos="7530840" algn="l"/>
                <a:tab pos="7988040" algn="l"/>
                <a:tab pos="8445240" algn="l"/>
                <a:tab pos="8902440" algn="l"/>
                <a:tab pos="9359640" algn="l"/>
              </a:tabLst>
            </a:pPr>
            <a:r>
              <a:rPr lang="en-US" sz="1800" dirty="0"/>
              <a:t>Ansible_facts['ansible_default_ipv4']['address']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19514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F61798F-E050-84F8-F1CC-899566D801D3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errors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C9E3EE7-19FD-B0F9-FF20-8822B1DD1A41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Error handling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379B86-6B21-892B-C974-8BF24C5C6E2A}"/>
              </a:ext>
            </a:extLst>
          </p:cNvPr>
          <p:cNvSpPr txBox="1"/>
          <p:nvPr/>
        </p:nvSpPr>
        <p:spPr>
          <a:xfrm>
            <a:off x="762000" y="916280"/>
            <a:ext cx="7696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Definition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Error handling in Ansible involves managing and responding to errors that occur during the execution of playbooks.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Purpose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It ensures that your automation scripts can gracefully handle failures, providing resilience and reliability.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Key Concepts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111111"/>
                </a:solidFill>
                <a:effectLst/>
                <a:latin typeface="-apple-system"/>
              </a:rPr>
              <a:t>ignore_errors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Allows tasks to continue even if they fail.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111111"/>
                </a:solidFill>
                <a:effectLst/>
                <a:latin typeface="-apple-system"/>
              </a:rPr>
              <a:t>failed_when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Custom conditions to define when a task should be considered failed.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rescue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A block to execute tasks if an error occurs.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always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A block to execute tasks regardless of success or failure.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Usage Examples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Ignoring Errors: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ignore_errors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: yes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411414220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8F8D17C-13BD-82A8-A215-E61C81B14270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errors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8CBFFD6-3140-4C4D-67D3-DF19AD7F2F72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sng" strike="noStrike" cap="none" baseline="0" dirty="0">
                <a:ln>
                  <a:noFill/>
                </a:ln>
                <a:solidFill>
                  <a:srgbClr val="0E1012"/>
                </a:solidFill>
                <a:uFillTx/>
                <a:latin typeface="Courier New" pitchFamily="18"/>
                <a:ea typeface="WenQuanYi Zen Hei Sharp" pitchFamily="2"/>
                <a:cs typeface="WenQuanYi Zen Hei Sharp" pitchFamily="2"/>
              </a:rPr>
              <a:t>What my module return</a:t>
            </a:r>
            <a:r>
              <a:rPr lang="en-US" sz="3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name: Do </a:t>
            </a:r>
            <a:r>
              <a:rPr lang="en-US" sz="24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Someyhing</a:t>
            </a:r>
            <a:endParaRPr lang="en-US" sz="24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Command: </a:t>
            </a:r>
            <a:r>
              <a:rPr lang="en-US" sz="24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test_command</a:t>
            </a: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-x -y -z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24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Register</a:t>
            </a: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result</a:t>
            </a:r>
          </a:p>
        </p:txBody>
      </p:sp>
    </p:spTree>
    <p:extLst>
      <p:ext uri="{BB962C8B-B14F-4D97-AF65-F5344CB8AC3E}">
        <p14:creationId xmlns:p14="http://schemas.microsoft.com/office/powerpoint/2010/main" val="223879422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98B1FE6-0FED-627F-61DA-0BD4FC1D591F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errors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735B210-4716-B8B8-10F6-CC2AFFFB885D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sng" strike="noStrike" cap="none" baseline="0" dirty="0">
                <a:ln>
                  <a:noFill/>
                </a:ln>
                <a:solidFill>
                  <a:srgbClr val="0E1012"/>
                </a:solidFill>
                <a:uFillTx/>
                <a:latin typeface="Courier New" pitchFamily="18"/>
                <a:ea typeface="WenQuanYi Zen Hei Sharp" pitchFamily="2"/>
                <a:cs typeface="WenQuanYi Zen Hei Sharp" pitchFamily="2"/>
              </a:rPr>
              <a:t>Ignoring errors</a:t>
            </a:r>
            <a:r>
              <a:rPr lang="en-US" sz="3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name: ping host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Command: ping -c1 </a:t>
            </a:r>
            <a:r>
              <a:rPr lang="en-US" sz="24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  <a:hlinkClick r:id="rId3"/>
              </a:rPr>
              <a:t>www.google.com</a:t>
            </a:r>
            <a:endParaRPr lang="en-US" sz="2400" dirty="0"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Register</a:t>
            </a: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result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	  </a:t>
            </a:r>
            <a:r>
              <a:rPr lang="en-US" sz="2400" b="1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ignore_errors</a:t>
            </a:r>
            <a:r>
              <a:rPr lang="en-US" sz="24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yes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8F8D17C-13BD-82A8-A215-E61C81B14270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errors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8CBFFD6-3140-4C4D-67D3-DF19AD7F2F72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sng" strike="noStrike" cap="none" baseline="0" dirty="0">
                <a:ln>
                  <a:noFill/>
                </a:ln>
                <a:solidFill>
                  <a:srgbClr val="0E1012"/>
                </a:solidFill>
                <a:uFillTx/>
                <a:latin typeface="Courier New" pitchFamily="18"/>
                <a:ea typeface="WenQuanYi Zen Hei Sharp" pitchFamily="2"/>
                <a:cs typeface="WenQuanYi Zen Hei Sharp" pitchFamily="2"/>
              </a:rPr>
              <a:t>Define error reason</a:t>
            </a:r>
            <a:r>
              <a:rPr lang="en-US" sz="3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name: ping host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ansible.builtin.command: test_command -x -y -z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register: result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failed_when: "'FAILED' in result.stdout"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60727FD-9E8F-8C2F-55DC-45034277FC7C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errors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41654A0-F983-46ED-5AE6-FE188B165905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sng" strike="noStrike" cap="none" baseline="0" dirty="0">
                <a:ln>
                  <a:noFill/>
                </a:ln>
                <a:solidFill>
                  <a:srgbClr val="0E1012"/>
                </a:solidFill>
                <a:uFillTx/>
                <a:latin typeface="Courier New" pitchFamily="18"/>
                <a:ea typeface="WenQuanYi Zen Hei Sharp" pitchFamily="2"/>
                <a:cs typeface="WenQuanYi Zen Hei Sharp" pitchFamily="2"/>
              </a:rPr>
              <a:t>Define changed reason</a:t>
            </a:r>
            <a:r>
              <a:rPr lang="en-US" sz="3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name: ping host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ansible.builtin.command: test_command -x -y -z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register: result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changed_when: "'FAILED' in result.stdout"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58CD9FC-DB21-36F3-F90A-A177EA71BA89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errors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2601F4E-36F6-2950-9892-E302FA98C79A}"/>
              </a:ext>
            </a:extLst>
          </p:cNvPr>
          <p:cNvSpPr/>
          <p:nvPr/>
        </p:nvSpPr>
        <p:spPr>
          <a:xfrm>
            <a:off x="755640" y="635676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sng" strike="noStrike" cap="none" baseline="0" dirty="0">
                <a:ln>
                  <a:noFill/>
                </a:ln>
                <a:solidFill>
                  <a:srgbClr val="0E1012"/>
                </a:solidFill>
                <a:uFillTx/>
                <a:latin typeface="Courier New" pitchFamily="18"/>
                <a:ea typeface="WenQuanYi Zen Hei Sharp" pitchFamily="2"/>
                <a:cs typeface="WenQuanYi Zen Hei Sharp" pitchFamily="2"/>
              </a:rPr>
              <a:t>Blocks</a:t>
            </a:r>
            <a:r>
              <a:rPr lang="en-US" sz="3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4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t</a:t>
            </a: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asks: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name: my block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block</a:t>
            </a: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- debug: msg="start block execution"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- Command: test_command2 -x -y -z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- Command: test_command3 -x -y -z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rescue</a:t>
            </a: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- debug: msg="an error occurs"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- Command: </a:t>
            </a:r>
            <a:r>
              <a:rPr lang="en-US" sz="20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error_command</a:t>
            </a:r>
            <a:endParaRPr lang="en-US" sz="20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Always</a:t>
            </a: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- debug: msg="always execution bock"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- Command: </a:t>
            </a:r>
            <a:r>
              <a:rPr lang="en-US" sz="20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always_command</a:t>
            </a:r>
            <a:endParaRPr lang="en-US" sz="20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8948632-1291-3F06-F5AE-7F217CD1BDB5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Filtres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370F6C-B18E-DE65-B3A5-4103C4427307}"/>
              </a:ext>
            </a:extLst>
          </p:cNvPr>
          <p:cNvSpPr txBox="1"/>
          <p:nvPr/>
        </p:nvSpPr>
        <p:spPr>
          <a:xfrm flipH="1">
            <a:off x="579118" y="457200"/>
            <a:ext cx="7498081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err="1"/>
              <a:t>Exercice</a:t>
            </a:r>
            <a:r>
              <a:rPr lang="en-US" sz="2400" b="1" u="sng" dirty="0"/>
              <a:t>:</a:t>
            </a:r>
          </a:p>
          <a:p>
            <a:pPr algn="ctr"/>
            <a:endParaRPr lang="en-US" sz="2400" b="1" u="sng" dirty="0"/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/>
              <a:t>- </a:t>
            </a:r>
            <a:r>
              <a:rPr lang="en-US" sz="18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Write a playbook 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check connectivity by </a:t>
            </a:r>
            <a:r>
              <a:rPr lang="en-US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accessing URL without proxy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if failed, </a:t>
            </a:r>
            <a:b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</a:b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		- </a:t>
            </a:r>
            <a:r>
              <a:rPr lang="en-US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check connectivity by </a:t>
            </a:r>
            <a:r>
              <a:rPr lang="en-US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accessing URL with proxy </a:t>
            </a:r>
            <a:br>
              <a:rPr lang="en-US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</a:br>
            <a:r>
              <a:rPr lang="en-US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		- define </a:t>
            </a:r>
            <a:r>
              <a:rPr lang="en-US" dirty="0" err="1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global_proxy</a:t>
            </a:r>
            <a:r>
              <a:rPr lang="en-US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fact when not failed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i="1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Test: </a:t>
            </a:r>
            <a:r>
              <a:rPr lang="en-US" i="1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  <a:hlinkClick r:id="rId3"/>
              </a:rPr>
              <a:t>https://gitlab.com</a:t>
            </a:r>
            <a:endParaRPr lang="en-US" i="1" dirty="0"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Proxy: http://proxy.example.com:8080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93352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33EDA2-26A8-395F-28C1-88546375807F}"/>
              </a:ext>
            </a:extLst>
          </p:cNvPr>
          <p:cNvSpPr txBox="1"/>
          <p:nvPr/>
        </p:nvSpPr>
        <p:spPr>
          <a:xfrm>
            <a:off x="609600" y="13915"/>
            <a:ext cx="7924800" cy="5365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- name: Check connectivity and define proxy</a:t>
            </a:r>
          </a:p>
          <a:p>
            <a:r>
              <a:rPr lang="en-US" sz="1600" dirty="0"/>
              <a:t>  hosts: all</a:t>
            </a:r>
          </a:p>
          <a:p>
            <a:r>
              <a:rPr lang="en-US" sz="1600" dirty="0"/>
              <a:t>  tasks:</a:t>
            </a:r>
          </a:p>
          <a:p>
            <a:r>
              <a:rPr lang="en-US" sz="1600" dirty="0"/>
              <a:t>    - block:</a:t>
            </a:r>
          </a:p>
          <a:p>
            <a:r>
              <a:rPr lang="en-US" sz="1600" dirty="0"/>
              <a:t>        - name: Check connectivity without proxy</a:t>
            </a:r>
          </a:p>
          <a:p>
            <a:r>
              <a:rPr lang="en-US" sz="1600" dirty="0"/>
              <a:t>          </a:t>
            </a:r>
            <a:r>
              <a:rPr lang="en-US" sz="1600" dirty="0" err="1"/>
              <a:t>uri</a:t>
            </a:r>
            <a:r>
              <a:rPr lang="en-US" sz="1600" dirty="0"/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dirty="0"/>
              <a:t>            url: </a:t>
            </a:r>
            <a:r>
              <a:rPr lang="en-US" sz="1600" i="1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  <a:hlinkClick r:id="rId2"/>
              </a:rPr>
              <a:t>https://gitlab.com</a:t>
            </a:r>
            <a:endParaRPr lang="en-US" sz="1600" i="1" dirty="0"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r>
              <a:rPr lang="en-US" sz="1600" dirty="0"/>
              <a:t>            </a:t>
            </a:r>
            <a:r>
              <a:rPr lang="en-US" sz="1600" dirty="0" err="1"/>
              <a:t>use_proxy</a:t>
            </a:r>
            <a:r>
              <a:rPr lang="en-US" sz="1600" dirty="0"/>
              <a:t>: no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return_content</a:t>
            </a:r>
            <a:r>
              <a:rPr lang="en-US" sz="1600" dirty="0"/>
              <a:t>: no</a:t>
            </a:r>
          </a:p>
          <a:p>
            <a:r>
              <a:rPr lang="en-US" sz="1600" dirty="0"/>
              <a:t>      rescue:</a:t>
            </a:r>
          </a:p>
          <a:p>
            <a:r>
              <a:rPr lang="en-US" sz="1600" dirty="0"/>
              <a:t>        - name: Check connectivity with proxy(deuxième tentative)</a:t>
            </a:r>
          </a:p>
          <a:p>
            <a:r>
              <a:rPr lang="en-US" sz="1600" dirty="0"/>
              <a:t>          </a:t>
            </a:r>
            <a:r>
              <a:rPr lang="en-US" sz="1600" dirty="0" err="1"/>
              <a:t>uri</a:t>
            </a:r>
            <a:r>
              <a:rPr lang="en-US" sz="1600" dirty="0"/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dirty="0"/>
              <a:t>            url: </a:t>
            </a:r>
            <a:r>
              <a:rPr lang="en-US" sz="1600" i="1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  <a:hlinkClick r:id="rId2"/>
              </a:rPr>
              <a:t>https://gitlab.com</a:t>
            </a:r>
            <a:endParaRPr lang="en-US" sz="1600" i="1" dirty="0"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algn="l"/>
            <a:r>
              <a:rPr lang="en-US" sz="1600" dirty="0"/>
              <a:t>            </a:t>
            </a:r>
            <a:r>
              <a:rPr lang="en-US" sz="1600" dirty="0" err="1"/>
              <a:t>use_proxy</a:t>
            </a:r>
            <a:r>
              <a:rPr lang="en-US" sz="1600" dirty="0"/>
              <a:t>: yes</a:t>
            </a:r>
          </a:p>
          <a:p>
            <a:pPr algn="l"/>
            <a:r>
              <a:rPr lang="en-US" sz="1600" dirty="0"/>
              <a:t>            </a:t>
            </a:r>
            <a:r>
              <a:rPr lang="en-US" sz="1600" dirty="0" err="1"/>
              <a:t>return_content</a:t>
            </a:r>
            <a:r>
              <a:rPr lang="en-US" sz="1600" dirty="0"/>
              <a:t>: no</a:t>
            </a:r>
          </a:p>
          <a:p>
            <a:r>
              <a:rPr lang="en-US" sz="1600" dirty="0"/>
              <a:t>          environment:</a:t>
            </a:r>
          </a:p>
          <a:p>
            <a:r>
              <a:rPr lang="en-US" sz="1600" dirty="0"/>
              <a:t>            https_proxy:  "http://proxy.example.com:8080"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        - name: define global proxy</a:t>
            </a:r>
          </a:p>
          <a:p>
            <a:r>
              <a:rPr lang="en-US" sz="1600" dirty="0"/>
              <a:t>          </a:t>
            </a:r>
            <a:r>
              <a:rPr lang="en-US" sz="1600" dirty="0" err="1"/>
              <a:t>set_fact</a:t>
            </a:r>
            <a:r>
              <a:rPr lang="en-US" sz="1600" dirty="0"/>
              <a:t>: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global_proxy</a:t>
            </a:r>
            <a:r>
              <a:rPr lang="en-US" sz="1600"/>
              <a:t>: "</a:t>
            </a:r>
            <a:r>
              <a:rPr lang="en-US" sz="1600" b="0" i="1" u="none" strike="noStrike" cap="none" baseline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http://proxy.example.com:8080</a:t>
            </a:r>
            <a:r>
              <a:rPr lang="en-US" sz="1600"/>
              <a:t>"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1110620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1567EE5-F448-17AE-7A51-D8BEB076EFA2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Delegation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AD403DB-0F4D-8072-F0B0-83578D4308B3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https://docs.ansible.com/ansible/latest/user_guide/become.html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ADF7E4-AB59-ED5D-45EA-3DB63B2222C2}"/>
              </a:ext>
            </a:extLst>
          </p:cNvPr>
          <p:cNvSpPr txBox="1"/>
          <p:nvPr/>
        </p:nvSpPr>
        <p:spPr>
          <a:xfrm>
            <a:off x="457200" y="381000"/>
            <a:ext cx="83058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Definition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allow to execute tasks on a different host than the one specified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Purpose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help in managing tasks that need to be performed on a control node or a different host, ensuring efficient and precise management of inter-related environments.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Key Concepts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111111"/>
                </a:solidFill>
                <a:effectLst/>
                <a:latin typeface="-apple-system"/>
              </a:rPr>
              <a:t>delegate_to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used to specify the host on which a task should be executed.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111111"/>
                </a:solidFill>
                <a:effectLst/>
                <a:latin typeface="-apple-system"/>
              </a:rPr>
              <a:t>local_action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A shorthand syntax for delegating tasks to the local machine.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Usage Examples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Load Balancer Management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Add/Remove web servers from a load-balanced pool.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File Synchronization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Using RSYNC to copy files from the management server to target servers.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Benefits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enhance flexibility, allowing for complex orchestration and better control over task execution.</a:t>
            </a:r>
          </a:p>
          <a:p>
            <a:br>
              <a:rPr lang="en-US" dirty="0"/>
            </a:b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0109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59F9CDB-CDCF-6DC3-4A87-BA3684F078C3}"/>
              </a:ext>
            </a:extLst>
          </p:cNvPr>
          <p:cNvSpPr/>
          <p:nvPr/>
        </p:nvSpPr>
        <p:spPr>
          <a:xfrm>
            <a:off x="381000" y="546720"/>
            <a:ext cx="7632719" cy="181548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1" i="0" u="sng" strike="noStrike" cap="none" baseline="0" dirty="0" err="1">
                <a:ln>
                  <a:noFill/>
                </a:ln>
                <a:solidFill>
                  <a:srgbClr val="000000"/>
                </a:solidFill>
                <a:uFillTx/>
                <a:latin typeface="Arial" pitchFamily="18"/>
                <a:ea typeface="WenQuanYi Zen Hei Sharp" pitchFamily="2"/>
                <a:cs typeface="WenQuanYi Zen Hei Sharp" pitchFamily="2"/>
              </a:rPr>
              <a:t>Execute</a:t>
            </a:r>
            <a:r>
              <a:rPr lang="fr-FR" sz="1800" b="1" i="0" u="sng" strike="noStrike" cap="none" baseline="0" dirty="0">
                <a:ln>
                  <a:noFill/>
                </a:ln>
                <a:solidFill>
                  <a:srgbClr val="000000"/>
                </a:solidFill>
                <a:uFillTx/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800" b="1" i="0" u="sng" strike="noStrike" cap="none" baseline="0" dirty="0" err="1">
                <a:ln>
                  <a:noFill/>
                </a:ln>
                <a:solidFill>
                  <a:srgbClr val="000000"/>
                </a:solidFill>
                <a:uFillTx/>
                <a:latin typeface="Arial" pitchFamily="18"/>
                <a:ea typeface="WenQuanYi Zen Hei Sharp" pitchFamily="2"/>
                <a:cs typeface="WenQuanYi Zen Hei Sharp" pitchFamily="2"/>
              </a:rPr>
              <a:t>task</a:t>
            </a:r>
            <a:r>
              <a:rPr lang="fr-FR" sz="1800" b="1" i="0" u="sng" strike="noStrike" cap="none" baseline="0" dirty="0">
                <a:ln>
                  <a:noFill/>
                </a:ln>
                <a:solidFill>
                  <a:srgbClr val="000000"/>
                </a:solidFill>
                <a:uFillTx/>
                <a:latin typeface="Arial" pitchFamily="18"/>
                <a:ea typeface="WenQuanYi Zen Hei Sharp" pitchFamily="2"/>
                <a:cs typeface="WenQuanYi Zen Hei Sharp" pitchFamily="2"/>
              </a:rPr>
              <a:t> on </a:t>
            </a:r>
            <a:r>
              <a:rPr lang="fr-FR" sz="1800" b="1" i="0" u="sng" strike="noStrike" cap="none" baseline="0" dirty="0" err="1">
                <a:ln>
                  <a:noFill/>
                </a:ln>
                <a:solidFill>
                  <a:srgbClr val="000000"/>
                </a:solidFill>
                <a:uFillTx/>
                <a:latin typeface="Arial" pitchFamily="18"/>
                <a:ea typeface="WenQuanYi Zen Hei Sharp" pitchFamily="2"/>
                <a:cs typeface="WenQuanYi Zen Hei Sharp" pitchFamily="2"/>
              </a:rPr>
              <a:t>other</a:t>
            </a:r>
            <a:r>
              <a:rPr lang="fr-FR" sz="1800" b="1" i="0" u="sng" strike="noStrike" cap="none" baseline="0" dirty="0">
                <a:ln>
                  <a:noFill/>
                </a:ln>
                <a:solidFill>
                  <a:srgbClr val="000000"/>
                </a:solidFill>
                <a:uFillTx/>
                <a:latin typeface="Arial" pitchFamily="18"/>
                <a:ea typeface="WenQuanYi Zen Hei Sharp" pitchFamily="2"/>
                <a:cs typeface="WenQuanYi Zen Hei Sharp" pitchFamily="2"/>
              </a:rPr>
              <a:t> host </a:t>
            </a:r>
            <a:r>
              <a:rPr lang="fr-FR" sz="1800" b="1" i="0" u="sng" strike="noStrike" cap="none" baseline="0" dirty="0" err="1">
                <a:ln>
                  <a:noFill/>
                </a:ln>
                <a:solidFill>
                  <a:srgbClr val="000000"/>
                </a:solidFill>
                <a:uFillTx/>
                <a:latin typeface="Arial" pitchFamily="18"/>
                <a:ea typeface="WenQuanYi Zen Hei Sharp" pitchFamily="2"/>
                <a:cs typeface="WenQuanYi Zen Hei Sharp" pitchFamily="2"/>
              </a:rPr>
              <a:t>than</a:t>
            </a:r>
            <a:r>
              <a:rPr lang="fr-FR" sz="1800" b="1" i="0" u="sng" strike="noStrike" cap="none" baseline="0" dirty="0">
                <a:ln>
                  <a:noFill/>
                </a:ln>
                <a:solidFill>
                  <a:srgbClr val="000000"/>
                </a:solidFill>
                <a:uFillTx/>
                <a:latin typeface="Arial" pitchFamily="18"/>
                <a:ea typeface="WenQuanYi Zen Hei Sharp" pitchFamily="2"/>
                <a:cs typeface="WenQuanYi Zen Hei Sharp" pitchFamily="2"/>
              </a:rPr>
              <a:t> the </a:t>
            </a:r>
            <a:r>
              <a:rPr lang="fr-FR" sz="1800" b="1" i="0" u="sng" strike="noStrike" cap="none" baseline="0" dirty="0" err="1">
                <a:ln>
                  <a:noFill/>
                </a:ln>
                <a:solidFill>
                  <a:srgbClr val="000000"/>
                </a:solidFill>
                <a:uFillTx/>
                <a:latin typeface="Arial" pitchFamily="18"/>
                <a:ea typeface="WenQuanYi Zen Hei Sharp" pitchFamily="2"/>
                <a:cs typeface="WenQuanYi Zen Hei Sharp" pitchFamily="2"/>
              </a:rPr>
              <a:t>inventory</a:t>
            </a:r>
            <a:r>
              <a:rPr lang="fr-FR" sz="1800" b="1" i="0" u="sng" strike="noStrike" cap="none" baseline="0" dirty="0">
                <a:ln>
                  <a:noFill/>
                </a:ln>
                <a:solidFill>
                  <a:srgbClr val="000000"/>
                </a:solidFill>
                <a:uFillTx/>
                <a:latin typeface="Arial" pitchFamily="18"/>
                <a:ea typeface="WenQuanYi Zen Hei Sharp" pitchFamily="2"/>
                <a:cs typeface="WenQuanYi Zen Hei Sharp" pitchFamily="2"/>
              </a:rPr>
              <a:t> one: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i="1" dirty="0" err="1">
                <a:solidFill>
                  <a:srgbClr val="000000"/>
                </a:solidFill>
                <a:latin typeface="Arial" pitchFamily="18"/>
              </a:rPr>
              <a:t>local_action</a:t>
            </a:r>
            <a:r>
              <a:rPr lang="en-US" b="1" i="1" dirty="0">
                <a:solidFill>
                  <a:srgbClr val="000000"/>
                </a:solidFill>
                <a:latin typeface="Arial" pitchFamily="18"/>
              </a:rPr>
              <a:t> : </a:t>
            </a:r>
            <a:r>
              <a:rPr lang="en-US" dirty="0">
                <a:solidFill>
                  <a:srgbClr val="000000"/>
                </a:solidFill>
                <a:latin typeface="Arial" pitchFamily="18"/>
              </a:rPr>
              <a:t>module to execute an other module locally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1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delegate_to : host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		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The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task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will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be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executed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ont the server ‘host’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instead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of the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current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one</a:t>
            </a:r>
            <a:endParaRPr lang="fr-FR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1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delegated_facts : true/false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		</a:t>
            </a:r>
            <a:r>
              <a:rPr lang="fr-FR" sz="1600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The </a:t>
            </a:r>
            <a:r>
              <a:rPr lang="fr-FR" sz="1600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facts</a:t>
            </a:r>
            <a:r>
              <a:rPr lang="fr-FR" sz="1600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are the one of the </a:t>
            </a:r>
            <a:r>
              <a:rPr lang="fr-FR" sz="1600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delegated</a:t>
            </a:r>
            <a:r>
              <a:rPr lang="fr-FR" sz="1600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server </a:t>
            </a:r>
            <a:r>
              <a:rPr lang="fr-FR" sz="1600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instead</a:t>
            </a:r>
            <a:r>
              <a:rPr lang="fr-FR" sz="1600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of the </a:t>
            </a:r>
            <a:r>
              <a:rPr lang="fr-FR" sz="1600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current</a:t>
            </a:r>
            <a:r>
              <a:rPr lang="fr-FR" sz="1600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one</a:t>
            </a:r>
            <a:endParaRPr lang="fr-FR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07DAD59-84F9-CE72-0285-C7D3FDAECEBA}"/>
              </a:ext>
            </a:extLst>
          </p:cNvPr>
          <p:cNvSpPr/>
          <p:nvPr/>
        </p:nvSpPr>
        <p:spPr>
          <a:xfrm>
            <a:off x="381000" y="2590800"/>
            <a:ext cx="7632719" cy="372048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1" i="0" u="sng" strike="noStrike" cap="none" baseline="0" dirty="0" err="1">
                <a:ln>
                  <a:noFill/>
                </a:ln>
                <a:solidFill>
                  <a:srgbClr val="000000"/>
                </a:solidFill>
                <a:uFillTx/>
                <a:latin typeface="Arial" pitchFamily="18"/>
                <a:ea typeface="WenQuanYi Zen Hei Sharp" pitchFamily="2"/>
                <a:cs typeface="WenQuanYi Zen Hei Sharp" pitchFamily="2"/>
              </a:rPr>
              <a:t>Execute</a:t>
            </a:r>
            <a:r>
              <a:rPr lang="fr-FR" sz="1800" b="1" i="0" u="sng" strike="noStrike" cap="none" baseline="0" dirty="0">
                <a:ln>
                  <a:noFill/>
                </a:ln>
                <a:solidFill>
                  <a:srgbClr val="000000"/>
                </a:solidFill>
                <a:uFillTx/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800" b="1" i="0" u="sng" strike="noStrike" cap="none" baseline="0" dirty="0" err="1">
                <a:ln>
                  <a:noFill/>
                </a:ln>
                <a:solidFill>
                  <a:srgbClr val="000000"/>
                </a:solidFill>
                <a:uFillTx/>
                <a:latin typeface="Arial" pitchFamily="18"/>
                <a:ea typeface="WenQuanYi Zen Hei Sharp" pitchFamily="2"/>
                <a:cs typeface="WenQuanYi Zen Hei Sharp" pitchFamily="2"/>
              </a:rPr>
              <a:t>task</a:t>
            </a:r>
            <a:r>
              <a:rPr lang="fr-FR" sz="1800" b="1" i="0" u="sng" strike="noStrike" cap="none" baseline="0" dirty="0">
                <a:ln>
                  <a:noFill/>
                </a:ln>
                <a:solidFill>
                  <a:srgbClr val="000000"/>
                </a:solidFill>
                <a:uFillTx/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800" b="1" i="0" u="sng" strike="noStrike" cap="none" baseline="0" dirty="0" err="1">
                <a:ln>
                  <a:noFill/>
                </a:ln>
                <a:solidFill>
                  <a:srgbClr val="000000"/>
                </a:solidFill>
                <a:uFillTx/>
                <a:latin typeface="Arial" pitchFamily="18"/>
                <a:ea typeface="WenQuanYi Zen Hei Sharp" pitchFamily="2"/>
                <a:cs typeface="WenQuanYi Zen Hei Sharp" pitchFamily="2"/>
              </a:rPr>
              <a:t>from</a:t>
            </a:r>
            <a:r>
              <a:rPr lang="fr-FR" sz="1800" b="1" i="0" u="sng" strike="noStrike" cap="none" baseline="0" dirty="0">
                <a:ln>
                  <a:noFill/>
                </a:ln>
                <a:solidFill>
                  <a:srgbClr val="000000"/>
                </a:solidFill>
                <a:uFillTx/>
                <a:latin typeface="Arial" pitchFamily="18"/>
                <a:ea typeface="WenQuanYi Zen Hei Sharp" pitchFamily="2"/>
                <a:cs typeface="WenQuanYi Zen Hei Sharp" pitchFamily="2"/>
              </a:rPr>
              <a:t> a </a:t>
            </a:r>
            <a:r>
              <a:rPr lang="fr-FR" sz="1800" b="1" i="0" u="sng" strike="noStrike" cap="none" baseline="0" dirty="0" err="1">
                <a:ln>
                  <a:noFill/>
                </a:ln>
                <a:solidFill>
                  <a:srgbClr val="000000"/>
                </a:solidFill>
                <a:uFillTx/>
                <a:latin typeface="Arial" pitchFamily="18"/>
                <a:ea typeface="WenQuanYi Zen Hei Sharp" pitchFamily="2"/>
                <a:cs typeface="WenQuanYi Zen Hei Sharp" pitchFamily="2"/>
              </a:rPr>
              <a:t>different</a:t>
            </a:r>
            <a:r>
              <a:rPr lang="fr-FR" sz="1800" b="1" i="0" u="sng" strike="noStrike" cap="none" baseline="0" dirty="0">
                <a:ln>
                  <a:noFill/>
                </a:ln>
                <a:solidFill>
                  <a:srgbClr val="000000"/>
                </a:solidFill>
                <a:uFillTx/>
                <a:latin typeface="Arial" pitchFamily="18"/>
                <a:ea typeface="WenQuanYi Zen Hei Sharp" pitchFamily="2"/>
                <a:cs typeface="WenQuanYi Zen Hei Sharp" pitchFamily="2"/>
              </a:rPr>
              <a:t> user: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1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become</a:t>
            </a:r>
            <a:endParaRPr lang="fr-FR" sz="1800" b="1" i="1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set to yes to </a:t>
            </a:r>
            <a:r>
              <a:rPr lang="fr-FR" sz="16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activate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privilege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escalation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1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become_user</a:t>
            </a:r>
            <a:endParaRPr lang="fr-FR" sz="1800" b="1" i="1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lvl="1"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set to </a:t>
            </a:r>
            <a:r>
              <a:rPr lang="fr-FR" sz="16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user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with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desired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privileges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— the user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you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become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,</a:t>
            </a:r>
            <a:endParaRPr lang="fr-FR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1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become_method</a:t>
            </a:r>
            <a:endParaRPr lang="fr-FR" sz="1800" b="1" i="1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lvl="1"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overrides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the default </a:t>
            </a:r>
            <a:r>
              <a:rPr lang="fr-FR" sz="16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method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to set to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sudo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/su/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pbrun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/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pfexec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/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doas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/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dzdo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/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ksu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/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runas</a:t>
            </a:r>
            <a:endParaRPr lang="fr-FR" sz="16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1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become_flags</a:t>
            </a:r>
            <a:endParaRPr lang="fr-FR" sz="1800" b="1" i="1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		permit the use of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specific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flags for the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tasks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or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role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.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One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common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use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is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to change the user to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nobody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when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the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shell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is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set to no login</a:t>
            </a:r>
            <a:endParaRPr lang="fr-FR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51730516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7FD5B1-55D1-DAB5-70B4-1E84A5971431}"/>
              </a:ext>
            </a:extLst>
          </p:cNvPr>
          <p:cNvSpPr txBox="1"/>
          <p:nvPr/>
        </p:nvSpPr>
        <p:spPr>
          <a:xfrm flipH="1">
            <a:off x="579119" y="457200"/>
            <a:ext cx="696468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err="1"/>
              <a:t>Exercice</a:t>
            </a:r>
            <a:r>
              <a:rPr lang="en-US" sz="2400" b="1" u="sng" dirty="0"/>
              <a:t>:</a:t>
            </a:r>
          </a:p>
          <a:p>
            <a:pPr algn="ctr"/>
            <a:endParaRPr lang="en-US" sz="2400" b="1" u="sng" dirty="0"/>
          </a:p>
          <a:p>
            <a:r>
              <a:rPr lang="en-US" dirty="0"/>
              <a:t>- ping inventory hosts</a:t>
            </a:r>
          </a:p>
          <a:p>
            <a:r>
              <a:rPr lang="en-US" dirty="0"/>
              <a:t>- add hostname in /</a:t>
            </a:r>
            <a:r>
              <a:rPr lang="en-US" dirty="0" err="1"/>
              <a:t>tmp</a:t>
            </a:r>
            <a:r>
              <a:rPr lang="en-US" dirty="0"/>
              <a:t>/hosts of the </a:t>
            </a:r>
            <a:r>
              <a:rPr lang="en-US" b="1" u="sng" dirty="0"/>
              <a:t>controller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92731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02C955-EE68-9B6C-D856-47F20E1957FC}"/>
              </a:ext>
            </a:extLst>
          </p:cNvPr>
          <p:cNvSpPr txBox="1"/>
          <p:nvPr/>
        </p:nvSpPr>
        <p:spPr>
          <a:xfrm>
            <a:off x="685800" y="1219200"/>
            <a:ext cx="67818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---</a:t>
            </a:r>
          </a:p>
          <a:p>
            <a:r>
              <a:rPr lang="en-US" dirty="0"/>
              <a:t>- hosts: all</a:t>
            </a:r>
          </a:p>
          <a:p>
            <a:r>
              <a:rPr lang="en-US" dirty="0"/>
              <a:t>  </a:t>
            </a:r>
            <a:r>
              <a:rPr lang="en-US" dirty="0" err="1"/>
              <a:t>gather_facts</a:t>
            </a:r>
            <a:r>
              <a:rPr lang="en-US" dirty="0"/>
              <a:t>: no</a:t>
            </a:r>
          </a:p>
          <a:p>
            <a:r>
              <a:rPr lang="en-US" dirty="0"/>
              <a:t>  tasks:</a:t>
            </a:r>
          </a:p>
          <a:p>
            <a:r>
              <a:rPr lang="en-US" dirty="0"/>
              <a:t>    - name: Ping inventory hosts</a:t>
            </a:r>
          </a:p>
          <a:p>
            <a:r>
              <a:rPr lang="en-US" dirty="0"/>
              <a:t>      ping:</a:t>
            </a:r>
          </a:p>
          <a:p>
            <a:r>
              <a:rPr lang="en-US" dirty="0"/>
              <a:t>      #register: </a:t>
            </a:r>
            <a:r>
              <a:rPr lang="en-US" dirty="0" err="1"/>
              <a:t>myping</a:t>
            </a:r>
            <a:endParaRPr lang="en-US" dirty="0"/>
          </a:p>
          <a:p>
            <a:endParaRPr lang="en-US" dirty="0"/>
          </a:p>
          <a:p>
            <a:r>
              <a:rPr lang="en-US" dirty="0"/>
              <a:t>    - name: Add hostname to /</a:t>
            </a:r>
            <a:r>
              <a:rPr lang="en-US" dirty="0" err="1"/>
              <a:t>tmp</a:t>
            </a:r>
            <a:r>
              <a:rPr lang="en-US" dirty="0"/>
              <a:t>/hosts on the controller</a:t>
            </a:r>
          </a:p>
          <a:p>
            <a:r>
              <a:rPr lang="en-US" dirty="0"/>
              <a:t>      </a:t>
            </a:r>
            <a:r>
              <a:rPr lang="en-US" dirty="0" err="1"/>
              <a:t>local_action</a:t>
            </a:r>
            <a:r>
              <a:rPr lang="en-US" dirty="0"/>
              <a:t>: </a:t>
            </a:r>
          </a:p>
          <a:p>
            <a:r>
              <a:rPr lang="en-US" dirty="0"/>
              <a:t>        module: </a:t>
            </a:r>
            <a:r>
              <a:rPr lang="en-US" dirty="0" err="1"/>
              <a:t>lineinfile</a:t>
            </a:r>
            <a:endParaRPr lang="en-US" dirty="0"/>
          </a:p>
          <a:p>
            <a:r>
              <a:rPr lang="en-US" dirty="0"/>
              <a:t>        path: /</a:t>
            </a:r>
            <a:r>
              <a:rPr lang="en-US" dirty="0" err="1"/>
              <a:t>tmp</a:t>
            </a:r>
            <a:r>
              <a:rPr lang="en-US" dirty="0"/>
              <a:t>/hosts</a:t>
            </a:r>
          </a:p>
          <a:p>
            <a:r>
              <a:rPr lang="en-US" dirty="0"/>
              <a:t>        line: "{{ inventory_hostname }}"</a:t>
            </a:r>
          </a:p>
          <a:p>
            <a:r>
              <a:rPr lang="en-US" dirty="0"/>
              <a:t>      </a:t>
            </a:r>
            <a:r>
              <a:rPr lang="en-US" i="1" dirty="0"/>
              <a:t>#when: </a:t>
            </a:r>
            <a:r>
              <a:rPr lang="en-US" i="1" dirty="0" err="1"/>
              <a:t>myping.ok</a:t>
            </a:r>
            <a:r>
              <a:rPr lang="en-US" i="1" dirty="0"/>
              <a:t> </a:t>
            </a:r>
            <a:r>
              <a:rPr lang="en-US" i="1"/>
              <a:t>is useless</a:t>
            </a:r>
          </a:p>
          <a:p>
            <a:endParaRPr lang="en-US" dirty="0"/>
          </a:p>
          <a:p>
            <a:r>
              <a:rPr lang="en-US" dirty="0"/>
              <a:t>      </a:t>
            </a:r>
            <a:r>
              <a:rPr lang="en-US" i="1" dirty="0"/>
              <a:t>#delegate_to: localhost</a:t>
            </a:r>
          </a:p>
          <a:p>
            <a:r>
              <a:rPr lang="en-US" i="1" dirty="0"/>
              <a:t>      #connection: local</a:t>
            </a:r>
          </a:p>
          <a:p>
            <a:r>
              <a:rPr lang="en-US" i="1" dirty="0"/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94386711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B4C0F76-8EAB-309E-D63F-48A341F7BD50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Filtres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9B1960A-0AC7-DF04-443B-F94A780DFF21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https://docs.ansible.com/ansible/latest/user_guide/playbooks_filters.html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5D19B0-1649-D0E6-7C33-58C856851B8B}"/>
              </a:ext>
            </a:extLst>
          </p:cNvPr>
          <p:cNvSpPr txBox="1"/>
          <p:nvPr/>
        </p:nvSpPr>
        <p:spPr>
          <a:xfrm>
            <a:off x="685800" y="914400"/>
            <a:ext cx="76962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Definition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Filters in Ansible are used to transform and manipulate data within your playbooks and templates.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Purpose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They enhance the flexibility and power of your automation scripts by allowing you to format, modify, and manage data dynamically.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Key Concepts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Jinja2 Filters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Ansible uses Jinja2 templating, which includes a wide range of built-in filters.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Custom Filters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You can create your own filters to meet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Common Filters: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Formatting Data: </a:t>
            </a:r>
            <a:r>
              <a:rPr lang="en-US" dirty="0" err="1">
                <a:solidFill>
                  <a:srgbClr val="111111"/>
                </a:solidFill>
                <a:latin typeface="-apple-system"/>
              </a:rPr>
              <a:t>to_json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, </a:t>
            </a:r>
            <a:r>
              <a:rPr lang="en-US" dirty="0" err="1">
                <a:solidFill>
                  <a:srgbClr val="111111"/>
                </a:solidFill>
                <a:latin typeface="-apple-system"/>
              </a:rPr>
              <a:t>to_yaml</a:t>
            </a:r>
            <a:endParaRPr lang="en-US" dirty="0">
              <a:solidFill>
                <a:srgbClr val="111111"/>
              </a:solidFill>
              <a:latin typeface="-apple-system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Handling Undefined Variables: 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default, mandatory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String Manipulation:</a:t>
            </a:r>
            <a:r>
              <a:rPr lang="en-US" dirty="0"/>
              <a:t> 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split, replace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Math Operations: 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abs, 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Usage Examples: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Default Values: 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{{ </a:t>
            </a:r>
            <a:r>
              <a:rPr lang="en-US" dirty="0" err="1">
                <a:solidFill>
                  <a:srgbClr val="111111"/>
                </a:solidFill>
                <a:latin typeface="-apple-system"/>
              </a:rPr>
              <a:t>some_variable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 | default('</a:t>
            </a:r>
            <a:r>
              <a:rPr lang="en-US" dirty="0" err="1">
                <a:solidFill>
                  <a:srgbClr val="111111"/>
                </a:solidFill>
                <a:latin typeface="-apple-system"/>
              </a:rPr>
              <a:t>default_value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') }}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String Operations: 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{{ 'hello world' | upper 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Benefits: 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Filters simplify data handling, improve readability, and reduce the complexity of your playbooks.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74372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2091376-CED4-7781-6B05-D584F8E7D50D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Filtres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EFACF7C-C6EA-EEA7-0ACB-70A7CF94D30F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600" b="0" i="0" u="sng" strike="noStrike" cap="none" baseline="0" dirty="0">
                <a:ln>
                  <a:noFill/>
                </a:ln>
                <a:solidFill>
                  <a:srgbClr val="0E1012"/>
                </a:solidFill>
                <a:uFillTx/>
                <a:latin typeface="Courier New" pitchFamily="18"/>
                <a:ea typeface="WenQuanYi Zen Hei Sharp" pitchFamily="2"/>
                <a:cs typeface="WenQuanYi Zen Hei Sharp" pitchFamily="2"/>
              </a:rPr>
              <a:t>Modification and Format: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to</a:t>
            </a:r>
            <a:r>
              <a:rPr lang="en-US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(_nice)</a:t>
            </a:r>
            <a:r>
              <a:rPr lang="en-US" sz="2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_</a:t>
            </a:r>
            <a:r>
              <a:rPr lang="en-US" sz="28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json</a:t>
            </a:r>
            <a:r>
              <a:rPr lang="en-US" sz="2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/ to</a:t>
            </a:r>
            <a:r>
              <a:rPr lang="en-US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(_nice)</a:t>
            </a:r>
            <a:r>
              <a:rPr lang="en-US" sz="2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_</a:t>
            </a:r>
            <a:r>
              <a:rPr lang="en-US" sz="28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yaml</a:t>
            </a:r>
            <a:endParaRPr lang="en-US" sz="2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from_json</a:t>
            </a:r>
            <a:r>
              <a:rPr lang="en-US" sz="2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/ </a:t>
            </a:r>
            <a:r>
              <a:rPr lang="en-US" sz="2800" dirty="0" err="1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from</a:t>
            </a:r>
            <a:r>
              <a:rPr lang="en-US" sz="28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_yaml</a:t>
            </a:r>
            <a:endParaRPr lang="en-US" sz="2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{{ </a:t>
            </a:r>
            <a:r>
              <a:rPr lang="en-US" sz="24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ma_variable</a:t>
            </a:r>
            <a:r>
              <a:rPr lang="en-US" sz="2400" b="1" i="0" u="none" strike="noStrike" cap="none" baseline="0" dirty="0" err="1">
                <a:ln>
                  <a:noFill/>
                </a:ln>
                <a:solidFill>
                  <a:srgbClr val="00B05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|to_json</a:t>
            </a:r>
            <a:r>
              <a:rPr lang="en-US" sz="2400" b="1" i="0" u="none" strike="noStrike" cap="none" baseline="0" dirty="0">
                <a:ln>
                  <a:noFill/>
                </a:ln>
                <a:solidFill>
                  <a:srgbClr val="00B05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}}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{{ </a:t>
            </a:r>
            <a:r>
              <a:rPr lang="en-US" sz="24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an_other</a:t>
            </a:r>
            <a:r>
              <a:rPr lang="en-US" sz="2400" b="1" i="0" u="none" strike="noStrike" cap="none" baseline="0" dirty="0" err="1">
                <a:ln>
                  <a:noFill/>
                </a:ln>
                <a:solidFill>
                  <a:srgbClr val="00B05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|from_yaml</a:t>
            </a:r>
            <a:r>
              <a:rPr lang="en-US" sz="2400" b="1" i="0" u="none" strike="noStrike" cap="none" baseline="0" dirty="0">
                <a:ln>
                  <a:noFill/>
                </a:ln>
                <a:solidFill>
                  <a:srgbClr val="00B05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}}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DD03040-47EC-FC7A-44BB-C452CA751634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Filtres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1CA731-642D-604E-BC36-8D91173F8CA0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Mandatory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{{ ma_variable|mandatory("var requited") }}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default</a:t>
            </a:r>
            <a:r>
              <a:rPr lang="en-US" sz="3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(</a:t>
            </a:r>
            <a:r>
              <a:rPr lang="en-US" sz="36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default_var</a:t>
            </a:r>
            <a:r>
              <a:rPr lang="en-US" sz="3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)</a:t>
            </a:r>
            <a:endParaRPr lang="en-US" sz="24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{{ </a:t>
            </a:r>
            <a:r>
              <a:rPr lang="en-US" sz="24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my_other|default</a:t>
            </a: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(1234) }}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9B99A91-9858-D7EF-0A3C-22127E57351C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Filtres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BA29CF6-7AEA-5ED2-6AEA-3AF2A6445381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4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flatten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{{ [1,[2,3]]|flatten }}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400" dirty="0"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dirty="0">
                <a:solidFill>
                  <a:srgbClr val="0E1012"/>
                </a:solidFill>
                <a:latin typeface="Courier New" pitchFamily="18"/>
              </a:rPr>
              <a:t>Min, max,</a:t>
            </a:r>
            <a:endParaRPr lang="en-US" sz="24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{{ </a:t>
            </a:r>
            <a:r>
              <a:rPr lang="en-US" sz="24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other_variable|min</a:t>
            </a: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}}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A14F5C-E47B-04EB-1BDA-7F438EE12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0"/>
            <a:ext cx="291908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3F36FB-90CA-7929-6F68-D79A78C747B6}"/>
              </a:ext>
            </a:extLst>
          </p:cNvPr>
          <p:cNvSpPr txBox="1"/>
          <p:nvPr/>
        </p:nvSpPr>
        <p:spPr>
          <a:xfrm>
            <a:off x="152400" y="304800"/>
            <a:ext cx="487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https://docs.ansible.com/ansible/2.9/user_guide/playbooks_filters.html#</a:t>
            </a:r>
          </a:p>
        </p:txBody>
      </p:sp>
    </p:spTree>
    <p:extLst>
      <p:ext uri="{BB962C8B-B14F-4D97-AF65-F5344CB8AC3E}">
        <p14:creationId xmlns:p14="http://schemas.microsoft.com/office/powerpoint/2010/main" val="376391652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8948632-1291-3F06-F5AE-7F217CD1BDB5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Filtres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370F6C-B18E-DE65-B3A5-4103C4427307}"/>
              </a:ext>
            </a:extLst>
          </p:cNvPr>
          <p:cNvSpPr txBox="1"/>
          <p:nvPr/>
        </p:nvSpPr>
        <p:spPr>
          <a:xfrm flipH="1">
            <a:off x="381000" y="457200"/>
            <a:ext cx="830579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err="1"/>
              <a:t>Exercice</a:t>
            </a:r>
            <a:r>
              <a:rPr lang="en-US" sz="2400" b="1" u="sng" dirty="0"/>
              <a:t>:</a:t>
            </a:r>
          </a:p>
          <a:p>
            <a:pPr algn="ctr"/>
            <a:endParaRPr lang="en-US" sz="2400" b="1" u="sng" dirty="0"/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Write a playbook to add a user with variables:</a:t>
            </a:r>
          </a:p>
          <a:p>
            <a:pPr lvl="1"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a mandatory name</a:t>
            </a:r>
          </a:p>
          <a:p>
            <a:pPr lvl="1"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a group as “nobody” if not provided</a:t>
            </a:r>
            <a:endParaRPr lang="en-US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i="1" dirty="0"/>
              <a:t>ansible-playbook -i inventory set_user.yml -e user_name="toto" [-e user_group="titi"]</a:t>
            </a:r>
          </a:p>
          <a:p>
            <a:r>
              <a:rPr lang="en-US" i="1" dirty="0"/>
              <a:t>ansible-playbook -i inventory set_user.yml -e "user_name='toto' user_group='titi'"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882460-7952-B294-6E25-ABFE48DD74A9}"/>
              </a:ext>
            </a:extLst>
          </p:cNvPr>
          <p:cNvSpPr txBox="1"/>
          <p:nvPr/>
        </p:nvSpPr>
        <p:spPr>
          <a:xfrm>
            <a:off x="762000" y="335845"/>
            <a:ext cx="78486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---</a:t>
            </a:r>
          </a:p>
          <a:p>
            <a:r>
              <a:rPr lang="en-US" dirty="0"/>
              <a:t>- hosts: all</a:t>
            </a:r>
          </a:p>
          <a:p>
            <a:r>
              <a:rPr lang="en-US" dirty="0"/>
              <a:t>  become: true</a:t>
            </a:r>
          </a:p>
          <a:p>
            <a:r>
              <a:rPr lang="en-US" dirty="0"/>
              <a:t>  vars:</a:t>
            </a:r>
          </a:p>
          <a:p>
            <a:r>
              <a:rPr lang="en-US" dirty="0"/>
              <a:t>    The_Name: "{{ user_name | mandatory('user_name must be defined') }}"</a:t>
            </a:r>
          </a:p>
          <a:p>
            <a:r>
              <a:rPr lang="en-US" dirty="0"/>
              <a:t>    The_Group: "{{ user_group | default('nobody') }}"</a:t>
            </a:r>
          </a:p>
          <a:p>
            <a:r>
              <a:rPr lang="en-US" dirty="0"/>
              <a:t>  tasks:</a:t>
            </a:r>
          </a:p>
          <a:p>
            <a:r>
              <a:rPr lang="en-US" dirty="0"/>
              <a:t>    - name: set Group</a:t>
            </a:r>
          </a:p>
          <a:p>
            <a:r>
              <a:rPr lang="en-US" dirty="0"/>
              <a:t>      ansible.builtin.group:</a:t>
            </a:r>
          </a:p>
          <a:p>
            <a:r>
              <a:rPr lang="en-US" dirty="0"/>
              <a:t>        name: "{{ The_Group }}"</a:t>
            </a:r>
          </a:p>
          <a:p>
            <a:r>
              <a:rPr lang="en-US" dirty="0"/>
              <a:t>        state: present</a:t>
            </a:r>
          </a:p>
          <a:p>
            <a:endParaRPr lang="en-US" dirty="0"/>
          </a:p>
          <a:p>
            <a:r>
              <a:rPr lang="en-US" dirty="0"/>
              <a:t>    - name: Add user with specified or default group</a:t>
            </a:r>
          </a:p>
          <a:p>
            <a:r>
              <a:rPr lang="en-US" dirty="0"/>
              <a:t>      ansible.builtin.user:</a:t>
            </a:r>
          </a:p>
          <a:p>
            <a:r>
              <a:rPr lang="en-US" dirty="0"/>
              <a:t>        name: "{{ The_Name }}"</a:t>
            </a:r>
          </a:p>
          <a:p>
            <a:r>
              <a:rPr lang="en-US" dirty="0"/>
              <a:t>        group: "{{ The_Group }}"</a:t>
            </a:r>
          </a:p>
          <a:p>
            <a:r>
              <a:rPr lang="en-US" dirty="0"/>
              <a:t>        state: present</a:t>
            </a:r>
          </a:p>
        </p:txBody>
      </p:sp>
    </p:spTree>
    <p:extLst>
      <p:ext uri="{BB962C8B-B14F-4D97-AF65-F5344CB8AC3E}">
        <p14:creationId xmlns:p14="http://schemas.microsoft.com/office/powerpoint/2010/main" val="256064499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C4DE4D-59FA-B5A2-4EAA-925DF388260F}"/>
              </a:ext>
            </a:extLst>
          </p:cNvPr>
          <p:cNvSpPr txBox="1"/>
          <p:nvPr/>
        </p:nvSpPr>
        <p:spPr>
          <a:xfrm>
            <a:off x="533400" y="381000"/>
            <a:ext cx="7848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https://docs.ansible.com/ansible/2.9/plugins/lookup.html#plugin-list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AD113A-9A9B-BDEE-97EF-02E9E2699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48" y="782136"/>
            <a:ext cx="8317466" cy="584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35790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B514239-7839-2950-8572-A123C6EB420A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CONDITIONS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EB9C86D-B2FF-0656-5EF6-8D1FF04AFE67}"/>
              </a:ext>
            </a:extLst>
          </p:cNvPr>
          <p:cNvSpPr/>
          <p:nvPr/>
        </p:nvSpPr>
        <p:spPr>
          <a:xfrm>
            <a:off x="381001" y="1143000"/>
            <a:ext cx="7988278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https://docs.ansible.com/ansible/latest/user_guide/playbooks_conditionals.html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D5058D-ECA2-9D55-7FF3-6B0F35A58D42}"/>
              </a:ext>
            </a:extLst>
          </p:cNvPr>
          <p:cNvSpPr txBox="1"/>
          <p:nvPr/>
        </p:nvSpPr>
        <p:spPr>
          <a:xfrm>
            <a:off x="685800" y="1054779"/>
            <a:ext cx="7848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Definition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Conditions in Ansible allow you to control the execution of tasks based on specific criteria.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Purpose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They enable more dynamic and flexible playbooks by executing tasks only when certain conditions are met.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Key Concepts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when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A keyword used to specify conditions for task execution.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register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Used to store the result of a task, which can then be used in conditions.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111111"/>
                </a:solidFill>
                <a:effectLst/>
                <a:latin typeface="-apple-system"/>
              </a:rPr>
              <a:t>failed_when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and </a:t>
            </a:r>
            <a:r>
              <a:rPr lang="en-US" b="1" i="0" dirty="0" err="1">
                <a:solidFill>
                  <a:srgbClr val="111111"/>
                </a:solidFill>
                <a:effectLst/>
                <a:latin typeface="-apple-system"/>
              </a:rPr>
              <a:t>changed_when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Custom conditions to define task failure or change status.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Usage Examples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Simple Condition: 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when: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ansible_os_family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 == 'Debian'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92971172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1BF3FEF-4B15-3656-E7A1-DC4DC64829D6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CONDITIONS EXAMPLE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E1E9AE5-C485-68EF-581E-30352CCC6318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---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name: install and start </a:t>
            </a:r>
            <a:r>
              <a:rPr lang="en-US" sz="16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apache</a:t>
            </a:r>
            <a:endParaRPr lang="en-US" sz="1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hosts: WEB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vars: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en-US" sz="16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http_port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80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en-US" sz="16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max_clients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200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6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remote_user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root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tasks: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name: install httpd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yum: pkg=httpd state=latest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name: write the </a:t>
            </a:r>
            <a:r>
              <a:rPr lang="en-US" sz="16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apache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config file 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template: </a:t>
            </a:r>
            <a:r>
              <a:rPr lang="en-US" sz="16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src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=/</a:t>
            </a:r>
            <a:r>
              <a:rPr lang="en-US" sz="16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srv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/httpd.j2 </a:t>
            </a:r>
            <a:r>
              <a:rPr lang="en-US" sz="16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dest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=/</a:t>
            </a:r>
            <a:r>
              <a:rPr lang="en-US" sz="16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etc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/</a:t>
            </a:r>
            <a:r>
              <a:rPr lang="en-US" sz="16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httpd.conf</a:t>
            </a:r>
            <a:endParaRPr lang="en-US" sz="1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register: APACHE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name: start httpd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service: name=httpd state=restarted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when: </a:t>
            </a:r>
            <a:r>
              <a:rPr lang="en-US" sz="1600" b="0" i="0" u="none" strike="noStrike" cap="none" baseline="0" dirty="0" err="1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APACHE.changed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== true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63FCE7E-6C39-9C61-80B2-02296C906336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When Task generate a change: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5F5D0C4-C288-1AFA-4724-9223BCE35179}"/>
              </a:ext>
            </a:extLst>
          </p:cNvPr>
          <p:cNvSpPr/>
          <p:nvPr/>
        </p:nvSpPr>
        <p:spPr>
          <a:xfrm>
            <a:off x="298538" y="1221465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---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name: update all pkgs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tags: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prepare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ansible.builtin.dnf: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name: "*"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state: latest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4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name: check if REBOOT needed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ansible.builtin.shell: test $(rpm -q --last kernel | sed  's/^kernel-\(.*\)  .*/\1/'|head -1) == $(uname -r)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register: </a:t>
            </a:r>
            <a:r>
              <a:rPr lang="en-US" sz="1400" b="0" i="0" u="none" strike="noStrike" cap="none" baseline="0" dirty="0" err="1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reboot_needed</a:t>
            </a:r>
            <a:endParaRPr lang="en-US" sz="1400" b="0" i="0" u="none" strike="noStrike" cap="none" baseline="0" dirty="0">
              <a:ln>
                <a:noFill/>
              </a:ln>
              <a:solidFill>
                <a:srgbClr val="FF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4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ignore_errors</a:t>
            </a: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true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4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name: restart machine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ansible.builtin.shell: sleep 2 &amp;&amp; shutdown -r now "Ansible updates triggered"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async: 1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poll: 0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become: true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4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ignore_errors</a:t>
            </a: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true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when: reboot_needed is failed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400" b="0" i="0" u="none" strike="noStrike" cap="none" baseline="0" dirty="0">
              <a:ln>
                <a:noFill/>
              </a:ln>
              <a:solidFill>
                <a:srgbClr val="FF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FE9977C-1F33-D775-3E13-E24EDF21D128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CONDITIONS EXAMPLE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E540C03-F413-25B8-6FFF-E59EBEA5DA4A}"/>
              </a:ext>
            </a:extLst>
          </p:cNvPr>
          <p:cNvSpPr/>
          <p:nvPr/>
        </p:nvSpPr>
        <p:spPr>
          <a:xfrm>
            <a:off x="291960" y="838200"/>
            <a:ext cx="7632719" cy="5670939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---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name: update all pkgs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yum: state=latest name=*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4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name: check if REBOOT needed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shell: test $(rpm -q --last kernel | sed  's/^kernel-\(.*\)  .*/\1/'|head -1) == $(</a:t>
            </a:r>
            <a:r>
              <a:rPr lang="en-US" sz="14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uname</a:t>
            </a: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-r)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notify: restart machine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4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ignore_errors</a:t>
            </a: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true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name: update grub and kernel default values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shell: </a:t>
            </a:r>
            <a:r>
              <a:rPr lang="en-US" sz="14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update_boot_parameters</a:t>
            </a:r>
            <a:endParaRPr lang="en-US" sz="14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notify: restart machine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4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ignore_errors</a:t>
            </a: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true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4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Handlers: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dirty="0">
                <a:solidFill>
                  <a:srgbClr val="0E1012"/>
                </a:solidFill>
                <a:latin typeface="Courier New" pitchFamily="18"/>
              </a:rPr>
              <a:t>- name: </a:t>
            </a: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restart machine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dirty="0">
                <a:solidFill>
                  <a:srgbClr val="0E1012"/>
                </a:solidFill>
                <a:latin typeface="Courier New" pitchFamily="18"/>
              </a:rPr>
              <a:t>  reboot: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name: </a:t>
            </a: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restarted server</a:t>
            </a:r>
            <a:endParaRPr lang="en-US" sz="1400" dirty="0">
              <a:solidFill>
                <a:srgbClr val="0E1012"/>
              </a:solidFill>
              <a:latin typeface="Courier New" pitchFamily="18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dirty="0"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listen: </a:t>
            </a: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restart machine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debug: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msg: " {{ inventory_hostname }} REBOOTED"</a:t>
            </a:r>
            <a:endParaRPr lang="en-US" sz="1400" b="0" i="0" u="none" strike="noStrike" cap="none" baseline="0" dirty="0">
              <a:ln>
                <a:noFill/>
              </a:ln>
              <a:solidFill>
                <a:srgbClr val="FF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ECBC40B-AF1B-9077-F820-EFA184A96B51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CONDITIONS EXAMPLE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EB60A5D-2AEF-2E9D-DE48-AFE0641275EB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4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en-US" sz="14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Conditionals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* The When Statement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* Loops and Conditionals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* Loading Custom Facts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* Applying ‘when’ to roles and includes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* Conditional Imports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* Selecting Files And Templates Based On Variables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* Register Variables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4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DEFCD9B-A05A-BEF8-9E32-F3B07D5F8294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CONDITIONS Exercice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A1A425-5E69-26EF-B98B-2F357422571D}"/>
              </a:ext>
            </a:extLst>
          </p:cNvPr>
          <p:cNvSpPr txBox="1"/>
          <p:nvPr/>
        </p:nvSpPr>
        <p:spPr>
          <a:xfrm flipH="1">
            <a:off x="579119" y="457200"/>
            <a:ext cx="6964681" cy="2421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err="1"/>
              <a:t>Exercice</a:t>
            </a:r>
            <a:r>
              <a:rPr lang="en-US" sz="2400" b="1" u="sng" dirty="0"/>
              <a:t>:</a:t>
            </a:r>
          </a:p>
          <a:p>
            <a:pPr algn="ctr"/>
            <a:endParaRPr lang="en-US" sz="2400" b="1" u="sng" dirty="0"/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/>
              <a:t>- </a:t>
            </a:r>
            <a:r>
              <a:rPr lang="en-US" sz="18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Write a playbook: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</a:t>
            </a:r>
            <a:r>
              <a:rPr lang="en-US" sz="18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check internet access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set proxy variables if needed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reboot with handler if proxy updated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E99B14-6F64-11D1-44FB-CDEFEF6DE67C}"/>
              </a:ext>
            </a:extLst>
          </p:cNvPr>
          <p:cNvSpPr txBox="1"/>
          <p:nvPr/>
        </p:nvSpPr>
        <p:spPr>
          <a:xfrm>
            <a:off x="579119" y="3886200"/>
            <a:ext cx="63966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Update /</a:t>
            </a:r>
            <a:r>
              <a:rPr lang="en-US" sz="1800" dirty="0" err="1"/>
              <a:t>etc</a:t>
            </a:r>
            <a:r>
              <a:rPr lang="en-US" sz="1800" dirty="0"/>
              <a:t>/environment:</a:t>
            </a:r>
          </a:p>
          <a:p>
            <a:r>
              <a:rPr lang="en-US" sz="1800" dirty="0" err="1"/>
              <a:t>http_proxy</a:t>
            </a:r>
            <a:r>
              <a:rPr lang="en-US" sz="1800" dirty="0"/>
              <a:t>=</a:t>
            </a:r>
            <a:r>
              <a:rPr lang="en-US" sz="18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http://proxy.example.com:8080</a:t>
            </a:r>
            <a:endParaRPr lang="en-US" sz="1800" dirty="0"/>
          </a:p>
          <a:p>
            <a:r>
              <a:rPr lang="en-US" sz="1800" dirty="0"/>
              <a:t> </a:t>
            </a:r>
            <a:r>
              <a:rPr lang="en-US" sz="1800" dirty="0" err="1"/>
              <a:t>https_proxy</a:t>
            </a:r>
            <a:r>
              <a:rPr lang="en-US" sz="1800" dirty="0"/>
              <a:t>=</a:t>
            </a:r>
            <a:r>
              <a:rPr lang="en-US" sz="18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http://proxy.example.com:8080</a:t>
            </a:r>
            <a:endParaRPr lang="en-US" sz="18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6B4051-4328-9E9C-7305-D89547204FF4}"/>
              </a:ext>
            </a:extLst>
          </p:cNvPr>
          <p:cNvSpPr txBox="1"/>
          <p:nvPr/>
        </p:nvSpPr>
        <p:spPr>
          <a:xfrm>
            <a:off x="800100" y="533400"/>
            <a:ext cx="75438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- name: Check internet access and set proxy if needed</a:t>
            </a:r>
          </a:p>
          <a:p>
            <a:r>
              <a:rPr lang="en-US" sz="1400" dirty="0"/>
              <a:t>  hosts: all</a:t>
            </a:r>
          </a:p>
          <a:p>
            <a:r>
              <a:rPr lang="en-US" sz="1400" dirty="0"/>
              <a:t>  tasks:</a:t>
            </a:r>
          </a:p>
          <a:p>
            <a:r>
              <a:rPr lang="en-US" sz="1400" dirty="0"/>
              <a:t>    - name: Check internet access without proxy</a:t>
            </a:r>
          </a:p>
          <a:p>
            <a:r>
              <a:rPr lang="en-US" sz="1400" dirty="0"/>
              <a:t>      </a:t>
            </a:r>
            <a:r>
              <a:rPr lang="en-US" sz="1400" dirty="0" err="1"/>
              <a:t>uri</a:t>
            </a:r>
            <a:r>
              <a:rPr lang="en-US" sz="1400" dirty="0"/>
              <a:t>:</a:t>
            </a:r>
          </a:p>
          <a:p>
            <a:r>
              <a:rPr lang="en-US" sz="1400" dirty="0"/>
              <a:t>        url: http://gitlab.com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return_content</a:t>
            </a:r>
            <a:r>
              <a:rPr lang="en-US" sz="1400" dirty="0"/>
              <a:t>: no</a:t>
            </a:r>
          </a:p>
          <a:p>
            <a:r>
              <a:rPr lang="en-US" sz="1400" dirty="0"/>
              <a:t>      register: </a:t>
            </a:r>
            <a:r>
              <a:rPr lang="en-US" sz="1400" dirty="0" err="1"/>
              <a:t>internet_check</a:t>
            </a:r>
            <a:endParaRPr lang="en-US" sz="1400" dirty="0"/>
          </a:p>
          <a:p>
            <a:r>
              <a:rPr lang="en-US" sz="1400" dirty="0"/>
              <a:t>      </a:t>
            </a:r>
            <a:r>
              <a:rPr lang="en-US" sz="1400" dirty="0" err="1"/>
              <a:t>ignore_errors</a:t>
            </a:r>
            <a:r>
              <a:rPr lang="en-US" sz="1400" dirty="0"/>
              <a:t>: yes</a:t>
            </a:r>
          </a:p>
          <a:p>
            <a:endParaRPr lang="en-US" sz="1400" dirty="0"/>
          </a:p>
          <a:p>
            <a:r>
              <a:rPr lang="en-US" sz="1400" dirty="0"/>
              <a:t>    - name: Set proxy variables if internet access fails</a:t>
            </a:r>
          </a:p>
          <a:p>
            <a:r>
              <a:rPr lang="en-US" sz="1400" dirty="0"/>
              <a:t>      </a:t>
            </a:r>
            <a:r>
              <a:rPr lang="en-US" sz="1400" dirty="0" err="1"/>
              <a:t>lineinfile</a:t>
            </a:r>
            <a:r>
              <a:rPr lang="en-US" sz="1400" dirty="0"/>
              <a:t>: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dest</a:t>
            </a:r>
            <a:r>
              <a:rPr lang="en-US" sz="1400" dirty="0"/>
              <a:t>: /</a:t>
            </a:r>
            <a:r>
              <a:rPr lang="en-US" sz="1400" dirty="0" err="1"/>
              <a:t>etc</a:t>
            </a:r>
            <a:r>
              <a:rPr lang="en-US" sz="1400" dirty="0"/>
              <a:t>/environment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regexp</a:t>
            </a:r>
            <a:r>
              <a:rPr lang="en-US" sz="1400" dirty="0"/>
              <a:t>: "^{{ </a:t>
            </a:r>
            <a:r>
              <a:rPr lang="en-US" sz="1400" dirty="0" err="1"/>
              <a:t>item.var</a:t>
            </a:r>
            <a:r>
              <a:rPr lang="en-US" sz="1400" dirty="0"/>
              <a:t> }}="</a:t>
            </a:r>
          </a:p>
          <a:p>
            <a:r>
              <a:rPr lang="en-US" sz="1400" dirty="0"/>
              <a:t>        line: "{{ </a:t>
            </a:r>
            <a:r>
              <a:rPr lang="en-US" sz="1400" dirty="0" err="1"/>
              <a:t>item.var</a:t>
            </a:r>
            <a:r>
              <a:rPr lang="en-US" sz="1400" dirty="0"/>
              <a:t> }}={{ </a:t>
            </a:r>
            <a:r>
              <a:rPr lang="en-US" sz="1400" dirty="0" err="1"/>
              <a:t>item.value</a:t>
            </a:r>
            <a:r>
              <a:rPr lang="en-US" sz="1400" dirty="0"/>
              <a:t> }}"</a:t>
            </a:r>
          </a:p>
          <a:p>
            <a:r>
              <a:rPr lang="en-US" sz="1400" dirty="0"/>
              <a:t>        state: present</a:t>
            </a:r>
          </a:p>
          <a:p>
            <a:r>
              <a:rPr lang="en-US" sz="1400" dirty="0"/>
              <a:t>      loop:</a:t>
            </a:r>
          </a:p>
          <a:p>
            <a:r>
              <a:rPr lang="en-US" sz="1400" dirty="0"/>
              <a:t>        - { var: 'http_proxy', value: 'http://proxy.example.com:8080' }</a:t>
            </a:r>
          </a:p>
          <a:p>
            <a:r>
              <a:rPr lang="en-US" sz="1400" dirty="0"/>
              <a:t>        - { var: 'https_proxy', value: 'http://proxy.example.com:8080' }</a:t>
            </a:r>
          </a:p>
          <a:p>
            <a:r>
              <a:rPr lang="en-US" sz="1400" dirty="0"/>
              <a:t>      when: </a:t>
            </a:r>
            <a:r>
              <a:rPr lang="en-US" sz="1400" dirty="0" err="1"/>
              <a:t>internet_check.failed</a:t>
            </a:r>
            <a:endParaRPr lang="en-US" sz="1400" dirty="0"/>
          </a:p>
          <a:p>
            <a:r>
              <a:rPr lang="en-US" sz="1400" dirty="0"/>
              <a:t>      notify: </a:t>
            </a:r>
            <a:r>
              <a:rPr lang="en-US" sz="1400" dirty="0" err="1"/>
              <a:t>Reboot_Required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 handlers:</a:t>
            </a:r>
          </a:p>
          <a:p>
            <a:r>
              <a:rPr lang="en-US" sz="1400" dirty="0"/>
              <a:t>    - name: Reboot the machine</a:t>
            </a:r>
          </a:p>
          <a:p>
            <a:r>
              <a:rPr lang="en-US" sz="1400"/>
              <a:t>      Listen: </a:t>
            </a:r>
            <a:r>
              <a:rPr lang="en-US" sz="1400" dirty="0" err="1"/>
              <a:t>Reboot_Required</a:t>
            </a:r>
            <a:endParaRPr lang="en-US" sz="1400" dirty="0"/>
          </a:p>
          <a:p>
            <a:r>
              <a:rPr lang="en-US" sz="1400" dirty="0"/>
              <a:t>      reboot:</a:t>
            </a:r>
          </a:p>
          <a:p>
            <a:r>
              <a:rPr lang="en-US" sz="1400" dirty="0"/>
              <a:t>        msg: "Reboot required after proxy update"</a:t>
            </a:r>
          </a:p>
        </p:txBody>
      </p:sp>
    </p:spTree>
    <p:extLst>
      <p:ext uri="{BB962C8B-B14F-4D97-AF65-F5344CB8AC3E}">
        <p14:creationId xmlns:p14="http://schemas.microsoft.com/office/powerpoint/2010/main" val="144634785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9B8948C-B5F9-ECA6-220F-7F328A9C5727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Loops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46E01D7-DEA5-E70B-1B38-00C1C0222A74}"/>
              </a:ext>
            </a:extLst>
          </p:cNvPr>
          <p:cNvSpPr/>
          <p:nvPr/>
        </p:nvSpPr>
        <p:spPr>
          <a:xfrm>
            <a:off x="381001" y="1143000"/>
            <a:ext cx="7988278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https://docs.ansible.com/ansible/latest/user_guide/playbooks_loops.html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C0D377-F3F9-56C2-B686-5507FB89C418}"/>
              </a:ext>
            </a:extLst>
          </p:cNvPr>
          <p:cNvSpPr txBox="1"/>
          <p:nvPr/>
        </p:nvSpPr>
        <p:spPr>
          <a:xfrm>
            <a:off x="457200" y="1193279"/>
            <a:ext cx="83058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Definition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Loops in Ansible allow you to execute a task multiple times with different items, making your playbooks more efficient and concise.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Purpose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They help automate repetitive tasks, reducing the need for manual intervention and minimizing errors.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Key Concepts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loop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The primary keyword for creating loops in Ansible.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111111"/>
                </a:solidFill>
                <a:effectLst/>
                <a:latin typeface="-apple-system"/>
              </a:rPr>
              <a:t>with_items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An older syntax for loops, still supported but less recommended.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until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Used for retrying a task until a condition is met.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Benefits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Loops enhance the scalability and maintainability of your playbooks, allowing for more dynamic and flexible automation.</a:t>
            </a:r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64450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5CCBAA7-703A-E06D-4E22-A325D2F489DA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LOOP EXAMPLE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42EF031-2CD1-1629-3BD7-8626D78731B2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---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name: install pkgs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package: state=installed name=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{{ item }}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loop: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-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rsyslog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FF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-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ntp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FF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-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gpm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FF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- bash-completion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- screen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-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deltarpm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FF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 dirty="0">
              <a:ln>
                <a:noFill/>
              </a:ln>
              <a:solidFill>
                <a:srgbClr val="FF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=&gt; equivalent à </a:t>
            </a:r>
            <a:r>
              <a:rPr lang="en-US" sz="1800" b="1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with_item</a:t>
            </a:r>
            <a:endParaRPr lang="en-US" sz="1800" b="1" i="1" u="none" strike="noStrike" cap="none" baseline="0" dirty="0">
              <a:ln>
                <a:noFill/>
              </a:ln>
              <a:solidFill>
                <a:srgbClr val="00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A554625-0621-27A7-D726-EE7EA02D1AE6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loop EXAMPLE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D08F6D5-2C2D-C4E1-EB1A-3D64D7A362A0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---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name: setup myapp</a:t>
            </a:r>
            <a:endParaRPr lang="en-US" sz="1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ansible.builtin.lineinfile: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state: present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path: /etc/myapp.cfg</a:t>
            </a:r>
            <a:endParaRPr lang="en-US" sz="1600" dirty="0"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line: "{{ item['entry'] }} {{ item['column'] }}"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loop: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{ entry: image_path           , column: /opt/myapp/images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{ </a:t>
            </a:r>
            <a:r>
              <a:rPr lang="en-US" sz="1600" b="1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entry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</a:t>
            </a:r>
            <a:r>
              <a:rPr lang="en-US" sz="1600" b="0" i="0" u="none" strike="noStrike" cap="none" baseline="0" dirty="0" err="1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local_ip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 , </a:t>
            </a:r>
            <a:r>
              <a:rPr lang="en-US" sz="1600" b="1" i="0" u="none" strike="noStrike" cap="none" baseline="0" dirty="0">
                <a:ln>
                  <a:noFill/>
                </a:ln>
                <a:solidFill>
                  <a:srgbClr val="0000FF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column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000FF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"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{{ </a:t>
            </a:r>
            <a:r>
              <a:rPr lang="en-US" sz="1600" b="0" i="0" u="none" strike="noStrike" cap="none" baseline="0" dirty="0" err="1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deploy_network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}}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000FF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.35/24" 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{ </a:t>
            </a:r>
            <a:r>
              <a:rPr lang="en-US" sz="1600" b="1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entry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</a:t>
            </a:r>
            <a:r>
              <a:rPr lang="en-US" sz="1600" b="0" i="0" u="none" strike="noStrike" cap="none" baseline="0" dirty="0" err="1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network_gateway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, </a:t>
            </a:r>
            <a:r>
              <a:rPr lang="en-US" sz="1600" b="1" i="0" u="none" strike="noStrike" cap="none" baseline="0" dirty="0">
                <a:ln>
                  <a:noFill/>
                </a:ln>
                <a:solidFill>
                  <a:srgbClr val="0000FF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column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000FF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"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{{ </a:t>
            </a:r>
            <a:r>
              <a:rPr lang="en-US" sz="1600" b="0" i="0" u="none" strike="noStrike" cap="none" baseline="0" dirty="0" err="1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deploy_network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0CC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}}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000FF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.35" 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{ entry: public_vip           , column: "{{ deploy_network }}.10"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{ </a:t>
            </a:r>
            <a:r>
              <a:rPr lang="en-US" sz="1600" b="1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entry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</a:t>
            </a:r>
            <a:r>
              <a:rPr lang="en-US" sz="1600" b="0" i="0" u="none" strike="noStrike" cap="none" baseline="0" dirty="0" err="1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local_interface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, </a:t>
            </a:r>
            <a:r>
              <a:rPr lang="en-US" sz="1600" b="1" i="0" u="none" strike="noStrike" cap="none" baseline="0" dirty="0">
                <a:ln>
                  <a:noFill/>
                </a:ln>
                <a:solidFill>
                  <a:srgbClr val="0000FF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column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000FF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"eth0"</a:t>
            </a: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}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58F42B9-8F73-D7E3-22DA-2074BFDC14AD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loop with together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64EE8F7-7362-6411-787E-B2383AB73C4F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vars: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users: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- user1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- user2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- user4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groups: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- group1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- group2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- group3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4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loop: "{{ users |</a:t>
            </a:r>
            <a:r>
              <a:rPr lang="en-US" sz="14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zip</a:t>
            </a: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(groups)|list}}"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4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item=['user1', 'group1']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item=['user2', 'group2']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item=['user3', 'group3']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400" b="1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400" b="1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1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=&gt; equivalent à </a:t>
            </a:r>
            <a:r>
              <a:rPr lang="en-US" sz="1800" b="1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with_together</a:t>
            </a:r>
            <a:endParaRPr lang="en-US" sz="1800" b="1" i="1" u="none" strike="noStrike" cap="none" baseline="0" dirty="0">
              <a:ln>
                <a:noFill/>
              </a:ln>
              <a:solidFill>
                <a:srgbClr val="000000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BC3D4D0-5DD0-78D4-EAC3-5E656C9F0593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loop with nested :  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BB62829-FB3C-3C77-E08A-791BB810310C}"/>
              </a:ext>
            </a:extLst>
          </p:cNvPr>
          <p:cNvSpPr/>
          <p:nvPr/>
        </p:nvSpPr>
        <p:spPr>
          <a:xfrm>
            <a:off x="755640" y="6133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vars: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users: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- </a:t>
            </a: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highlight>
                  <a:srgbClr val="FFFF00"/>
                </a:highlight>
                <a:latin typeface="Courier New" pitchFamily="18"/>
                <a:ea typeface="WenQuanYi Zen Hei Sharp" pitchFamily="2"/>
                <a:cs typeface="WenQuanYi Zen Hei Sharp" pitchFamily="2"/>
              </a:rPr>
              <a:t>user1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- user2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- user3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groups: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- group1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- </a:t>
            </a: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highlight>
                  <a:srgbClr val="00FF00"/>
                </a:highlight>
                <a:latin typeface="Courier New" pitchFamily="18"/>
                <a:ea typeface="WenQuanYi Zen Hei Sharp" pitchFamily="2"/>
                <a:cs typeface="WenQuanYi Zen Hei Sharp" pitchFamily="2"/>
              </a:rPr>
              <a:t>group2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- group3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0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loop: "{{ list1 |</a:t>
            </a:r>
            <a:r>
              <a:rPr lang="en-US" sz="14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product</a:t>
            </a: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(list2)|list}}"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4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item=['user1', 'group1']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item=['user1', 'group2']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item=['user1', 'group3']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item=['user2', 'group1']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item=['user2', 'group2']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item=['user2', 'group3']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item=['user3', 'group1']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item=['user3', 'group2']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item=['user3', 'group3']</a:t>
            </a:r>
            <a:endParaRPr lang="en-US" sz="1400" b="1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400" b="1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1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=&gt; equivalent à </a:t>
            </a:r>
            <a:r>
              <a:rPr lang="en-US" sz="1800" b="1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with_nested</a:t>
            </a:r>
            <a:r>
              <a:rPr lang="en-US" sz="14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                            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400" b="1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400" b="1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400" b="1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B29BC0-5B9D-ED8B-DD5F-FF2077FA1583}"/>
              </a:ext>
            </a:extLst>
          </p:cNvPr>
          <p:cNvSpPr txBox="1"/>
          <p:nvPr/>
        </p:nvSpPr>
        <p:spPr>
          <a:xfrm>
            <a:off x="2362200" y="1676400"/>
            <a:ext cx="2209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Loop_control</a:t>
            </a:r>
            <a:r>
              <a:rPr lang="en-US" dirty="0"/>
              <a:t>:</a:t>
            </a:r>
          </a:p>
          <a:p>
            <a:r>
              <a:rPr lang="en-US" dirty="0"/>
              <a:t>  pause: 3</a:t>
            </a:r>
          </a:p>
          <a:p>
            <a:r>
              <a:rPr lang="en-US" dirty="0"/>
              <a:t>  </a:t>
            </a:r>
            <a:r>
              <a:rPr lang="en-US" dirty="0" err="1"/>
              <a:t>index_var</a:t>
            </a:r>
            <a:r>
              <a:rPr lang="en-US" dirty="0"/>
              <a:t>: </a:t>
            </a:r>
            <a:r>
              <a:rPr lang="en-US" dirty="0" err="1"/>
              <a:t>my_index</a:t>
            </a:r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loop_var</a:t>
            </a:r>
            <a:r>
              <a:rPr lang="en-US" dirty="0"/>
              <a:t>: </a:t>
            </a:r>
            <a:r>
              <a:rPr lang="en-US" dirty="0" err="1"/>
              <a:t>my_item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07455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717E568-0BA6-2ABF-21BA-5C04673540F2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loop DO-UNTIL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8B80F8E-FA9C-3E43-755A-AF0873751DA9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1" i="0" u="none" strike="noStrike" cap="none" baseline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shell: /usr/bin/foo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1" i="0" u="none" strike="noStrike" cap="none" baseline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register: </a:t>
            </a:r>
            <a:r>
              <a:rPr lang="en-US" sz="1600" b="1" i="0" u="none" strike="noStrike" cap="none" baseline="0">
                <a:ln>
                  <a:noFill/>
                </a:ln>
                <a:solidFill>
                  <a:srgbClr val="CE181E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result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1" i="0" u="none" strike="noStrike" cap="none" baseline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until: </a:t>
            </a:r>
            <a:r>
              <a:rPr lang="en-US" sz="1600" b="1" i="0" u="none" strike="noStrike" cap="none" baseline="0">
                <a:ln>
                  <a:noFill/>
                </a:ln>
                <a:solidFill>
                  <a:srgbClr val="CE181E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result</a:t>
            </a:r>
            <a:r>
              <a:rPr lang="en-US" sz="1600" b="1" i="0" u="none" strike="noStrike" cap="none" baseline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.stdout.find("all systems go") != -1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1" i="0" u="none" strike="noStrike" cap="none" baseline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retries: 5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1" i="0" u="none" strike="noStrike" cap="none" baseline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delay: 10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400" b="0" i="0" u="none" strike="noStrike" cap="none" baseline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86E1840-9BEB-4D76-BAFC-6CE374909F8D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loop EXAMPLE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33AA686-946A-CCCB-B1E9-C8D2597CD06F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1" i="0" u="none" strike="noStrike" cap="none" baseline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So many maner to loop: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600" b="1" i="0" u="none" strike="noStrike" cap="none" baseline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400" b="0" i="0" u="none" strike="noStrike" cap="none" baseline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*Standard Loops	        	   *Nested Loops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400" b="0" i="0" u="none" strike="noStrike" cap="none" baseline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*Looping over Hashes	       *Looping over Files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400" b="0" i="0" u="none" strike="noStrike" cap="none" baseline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*Looping over Fileglobs	   *Looping over Parallel Sets of *Data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400" b="0" i="0" u="none" strike="noStrike" cap="none" baseline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*Looping over Subelements	   *Looping over Integer Sequences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400" b="0" i="0" u="none" strike="noStrike" cap="none" baseline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*Random Choices	            *Iterating Over The Results of a Program 							Execution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*Finding First Matched Files *Do-Until Loops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*Looping Over A List With    *Using ini file with a loop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An Index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400" b="0" i="0" u="none" strike="noStrike" cap="none" baseline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*Flattening A List	        *Using register with a loop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*Looping over the inventory  *Loop Control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*Loops and Includes in 2.0   *Writing Your Own Iterators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400" b="0" i="0" u="none" strike="noStrike" cap="none" baseline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6E2EE0D-7FC1-687A-B0CC-BC8F6185EF34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 EXERCICE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17984EB-BD8A-E1D6-7C71-4E4ECE08CC8E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update /</a:t>
            </a:r>
            <a:r>
              <a:rPr lang="en-US" dirty="0" err="1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etc</a:t>
            </a:r>
            <a:r>
              <a:rPr lang="en-US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/hosts with ALL your servers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		</a:t>
            </a:r>
            <a:r>
              <a:rPr lang="en-US" i="1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&lt;</a:t>
            </a:r>
            <a:r>
              <a:rPr lang="en-US" i="1" dirty="0" err="1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ip</a:t>
            </a:r>
            <a:r>
              <a:rPr lang="en-US" i="1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&gt; &lt;hostname&gt; </a:t>
            </a:r>
            <a:br>
              <a:rPr lang="en-US" i="1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</a:br>
            <a:r>
              <a:rPr lang="en-US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add a host GOOGLE.COM 8.8.8.8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dirty="0"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dirty="0"/>
              <a:t>hostvars[inventory_hostname]['ansible_default_ipv4']['address'] </a:t>
            </a:r>
            <a:endParaRPr lang="en-US" sz="1200" kern="1200" dirty="0">
              <a:latin typeface="Arial" pitchFamily="18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C344FA-6E8F-7CCD-7AE3-AF3FCA954238}"/>
              </a:ext>
            </a:extLst>
          </p:cNvPr>
          <p:cNvSpPr txBox="1"/>
          <p:nvPr/>
        </p:nvSpPr>
        <p:spPr>
          <a:xfrm>
            <a:off x="2262253" y="457185"/>
            <a:ext cx="4581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u="sng" dirty="0" err="1"/>
              <a:t>Exercice</a:t>
            </a:r>
            <a:r>
              <a:rPr lang="en-US" sz="1800" b="1" u="sng" dirty="0"/>
              <a:t>: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FDEFE2-C8FA-2C8F-4228-7552442ED2A7}"/>
              </a:ext>
            </a:extLst>
          </p:cNvPr>
          <p:cNvSpPr txBox="1"/>
          <p:nvPr/>
        </p:nvSpPr>
        <p:spPr>
          <a:xfrm>
            <a:off x="609600" y="916280"/>
            <a:ext cx="80772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---</a:t>
            </a:r>
          </a:p>
          <a:p>
            <a:r>
              <a:rPr lang="en-US" dirty="0"/>
              <a:t>- name: Update /</a:t>
            </a:r>
            <a:r>
              <a:rPr lang="en-US" dirty="0" err="1"/>
              <a:t>etc</a:t>
            </a:r>
            <a:r>
              <a:rPr lang="en-US" dirty="0"/>
              <a:t>/hosts</a:t>
            </a:r>
          </a:p>
          <a:p>
            <a:r>
              <a:rPr lang="en-US" dirty="0"/>
              <a:t>  hosts: all</a:t>
            </a:r>
          </a:p>
          <a:p>
            <a:r>
              <a:rPr lang="en-US" dirty="0"/>
              <a:t>  become: yes</a:t>
            </a:r>
          </a:p>
          <a:p>
            <a:r>
              <a:rPr lang="en-US" dirty="0"/>
              <a:t>  tasks:</a:t>
            </a:r>
          </a:p>
          <a:p>
            <a:r>
              <a:rPr lang="en-US" dirty="0"/>
              <a:t>    - name: Update /</a:t>
            </a:r>
            <a:r>
              <a:rPr lang="en-US" dirty="0" err="1"/>
              <a:t>etc</a:t>
            </a:r>
            <a:r>
              <a:rPr lang="en-US" dirty="0"/>
              <a:t>/hosts with all servers and add/change GOOGLE.COM</a:t>
            </a:r>
          </a:p>
          <a:p>
            <a:r>
              <a:rPr lang="en-US" dirty="0"/>
              <a:t>      </a:t>
            </a:r>
            <a:r>
              <a:rPr lang="en-US" dirty="0" err="1"/>
              <a:t>lineinfile</a:t>
            </a:r>
            <a:r>
              <a:rPr lang="en-US" dirty="0"/>
              <a:t>:</a:t>
            </a:r>
          </a:p>
          <a:p>
            <a:r>
              <a:rPr lang="en-US" dirty="0"/>
              <a:t>        path: /</a:t>
            </a:r>
            <a:r>
              <a:rPr lang="en-US" dirty="0" err="1"/>
              <a:t>etc</a:t>
            </a:r>
            <a:r>
              <a:rPr lang="en-US" dirty="0"/>
              <a:t>/hosts</a:t>
            </a:r>
          </a:p>
          <a:p>
            <a:r>
              <a:rPr lang="en-US" dirty="0"/>
              <a:t>        line: "{{ hostvars[item]['ansible_default_ipv4']['address'] }} {{ item }}"</a:t>
            </a:r>
          </a:p>
          <a:p>
            <a:r>
              <a:rPr lang="en-US" dirty="0"/>
              <a:t>      loop: "{{ groups['all'] }}"</a:t>
            </a:r>
          </a:p>
        </p:txBody>
      </p:sp>
    </p:spTree>
    <p:extLst>
      <p:ext uri="{BB962C8B-B14F-4D97-AF65-F5344CB8AC3E}">
        <p14:creationId xmlns:p14="http://schemas.microsoft.com/office/powerpoint/2010/main" val="339195664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FDEFE2-C8FA-2C8F-4228-7552442ED2A7}"/>
              </a:ext>
            </a:extLst>
          </p:cNvPr>
          <p:cNvSpPr txBox="1"/>
          <p:nvPr/>
        </p:nvSpPr>
        <p:spPr>
          <a:xfrm>
            <a:off x="609600" y="916280"/>
            <a:ext cx="80772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---</a:t>
            </a:r>
          </a:p>
          <a:p>
            <a:r>
              <a:rPr lang="en-US" dirty="0"/>
              <a:t>- name: Update /</a:t>
            </a:r>
            <a:r>
              <a:rPr lang="en-US" dirty="0" err="1"/>
              <a:t>etc</a:t>
            </a:r>
            <a:r>
              <a:rPr lang="en-US" dirty="0"/>
              <a:t>/hosts</a:t>
            </a:r>
          </a:p>
          <a:p>
            <a:r>
              <a:rPr lang="en-US" dirty="0"/>
              <a:t>  hosts: all</a:t>
            </a:r>
          </a:p>
          <a:p>
            <a:r>
              <a:rPr lang="en-US" dirty="0"/>
              <a:t>  become: yes</a:t>
            </a:r>
          </a:p>
          <a:p>
            <a:r>
              <a:rPr lang="en-US" dirty="0"/>
              <a:t>  tasks:</a:t>
            </a:r>
          </a:p>
          <a:p>
            <a:r>
              <a:rPr lang="en-US" dirty="0"/>
              <a:t>    - name: Update /</a:t>
            </a:r>
            <a:r>
              <a:rPr lang="en-US" dirty="0" err="1"/>
              <a:t>etc</a:t>
            </a:r>
            <a:r>
              <a:rPr lang="en-US" dirty="0"/>
              <a:t>/hosts with all servers and add/change GOOGLE.COM</a:t>
            </a:r>
          </a:p>
          <a:p>
            <a:r>
              <a:rPr lang="en-US" dirty="0"/>
              <a:t>      </a:t>
            </a:r>
            <a:r>
              <a:rPr lang="en-US" dirty="0" err="1"/>
              <a:t>lineinfile</a:t>
            </a:r>
            <a:r>
              <a:rPr lang="en-US" dirty="0"/>
              <a:t>:</a:t>
            </a:r>
          </a:p>
          <a:p>
            <a:r>
              <a:rPr lang="en-US" dirty="0"/>
              <a:t>        path: /</a:t>
            </a:r>
            <a:r>
              <a:rPr lang="en-US" dirty="0" err="1"/>
              <a:t>etc</a:t>
            </a:r>
            <a:r>
              <a:rPr lang="en-US" dirty="0"/>
              <a:t>/hosts</a:t>
            </a:r>
          </a:p>
          <a:p>
            <a:r>
              <a:rPr lang="en-US" dirty="0"/>
              <a:t>        line: "{{ </a:t>
            </a:r>
            <a:r>
              <a:rPr lang="en-US" dirty="0" err="1"/>
              <a:t>item.ip</a:t>
            </a:r>
            <a:r>
              <a:rPr lang="en-US" dirty="0"/>
              <a:t> }} {{ </a:t>
            </a:r>
            <a:r>
              <a:rPr lang="en-US" dirty="0" err="1"/>
              <a:t>item.hostname</a:t>
            </a:r>
            <a:r>
              <a:rPr lang="en-US" dirty="0"/>
              <a:t> }}"</a:t>
            </a:r>
          </a:p>
          <a:p>
            <a:r>
              <a:rPr lang="en-US" dirty="0"/>
              <a:t>      loop: &gt;</a:t>
            </a:r>
          </a:p>
          <a:p>
            <a:r>
              <a:rPr lang="en-US" dirty="0"/>
              <a:t>        {{</a:t>
            </a:r>
          </a:p>
          <a:p>
            <a:r>
              <a:rPr lang="en-US" dirty="0"/>
              <a:t>          groups['all'] | map('extract', </a:t>
            </a:r>
            <a:r>
              <a:rPr lang="en-US" dirty="0" err="1"/>
              <a:t>hostvars</a:t>
            </a:r>
            <a:r>
              <a:rPr lang="en-US" dirty="0"/>
              <a:t>, ['ansible_default_ipv4', 'address']) | map('</a:t>
            </a:r>
            <a:r>
              <a:rPr lang="en-US" dirty="0" err="1"/>
              <a:t>community.general.dict_kv</a:t>
            </a:r>
            <a:r>
              <a:rPr lang="en-US" dirty="0"/>
              <a:t>', 'hostname', </a:t>
            </a:r>
            <a:r>
              <a:rPr lang="en-US" dirty="0" err="1"/>
              <a:t>inventory_hostname</a:t>
            </a:r>
            <a:r>
              <a:rPr lang="en-US" dirty="0"/>
              <a:t>, '</a:t>
            </a:r>
            <a:r>
              <a:rPr lang="en-US" dirty="0" err="1"/>
              <a:t>ip</a:t>
            </a:r>
            <a:r>
              <a:rPr lang="en-US" dirty="0"/>
              <a:t>') | list</a:t>
            </a:r>
          </a:p>
          <a:p>
            <a:r>
              <a:rPr lang="en-US" dirty="0"/>
              <a:t>          + [{'hostname': 'google.com', 'ip': '8.8.8.8'}]</a:t>
            </a:r>
          </a:p>
          <a:p>
            <a:r>
              <a:rPr lang="en-US" dirty="0"/>
              <a:t>        }}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- { ‘hostname’: “node1.example.com”, “</a:t>
            </a:r>
            <a:r>
              <a:rPr lang="en-US" dirty="0" err="1"/>
              <a:t>ip</a:t>
            </a:r>
            <a:r>
              <a:rPr lang="en-US" dirty="0"/>
              <a:t>; ”192.0.2.139”}</a:t>
            </a:r>
          </a:p>
          <a:p>
            <a:r>
              <a:rPr lang="en-US" dirty="0"/>
              <a:t> - { ‘hostname’: “</a:t>
            </a:r>
            <a:r>
              <a:rPr lang="en-US" dirty="0" err="1"/>
              <a:t>google.comm</a:t>
            </a:r>
            <a:r>
              <a:rPr lang="en-US" dirty="0"/>
              <a:t>”, “</a:t>
            </a:r>
            <a:r>
              <a:rPr lang="en-US" dirty="0" err="1"/>
              <a:t>ip</a:t>
            </a:r>
            <a:r>
              <a:rPr lang="en-US" dirty="0"/>
              <a:t>; ”8.8.8.8”}</a:t>
            </a:r>
          </a:p>
        </p:txBody>
      </p:sp>
    </p:spTree>
    <p:extLst>
      <p:ext uri="{BB962C8B-B14F-4D97-AF65-F5344CB8AC3E}">
        <p14:creationId xmlns:p14="http://schemas.microsoft.com/office/powerpoint/2010/main" val="161615672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670820-DDA2-5818-491B-76FFA5173FFD}"/>
              </a:ext>
            </a:extLst>
          </p:cNvPr>
          <p:cNvSpPr txBox="1"/>
          <p:nvPr/>
        </p:nvSpPr>
        <p:spPr>
          <a:xfrm>
            <a:off x="533400" y="826517"/>
            <a:ext cx="256692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host_groups</a:t>
            </a:r>
            <a:r>
              <a:rPr lang="en-US" dirty="0"/>
              <a:t>:</a:t>
            </a:r>
          </a:p>
          <a:p>
            <a:r>
              <a:rPr lang="en-US" dirty="0"/>
              <a:t>      HG-1-DC1:</a:t>
            </a:r>
          </a:p>
          <a:p>
            <a:r>
              <a:rPr lang="en-US" dirty="0"/>
              <a:t>        - id: 1</a:t>
            </a:r>
          </a:p>
          <a:p>
            <a:r>
              <a:rPr lang="en-US" dirty="0"/>
              <a:t>          name: lun1</a:t>
            </a:r>
          </a:p>
          <a:p>
            <a:r>
              <a:rPr lang="en-US" dirty="0"/>
              <a:t>        - id: 2</a:t>
            </a:r>
          </a:p>
          <a:p>
            <a:r>
              <a:rPr lang="en-US" dirty="0"/>
              <a:t>          name: lun_18</a:t>
            </a:r>
          </a:p>
          <a:p>
            <a:r>
              <a:rPr lang="en-US" dirty="0"/>
              <a:t>      HG-2-DC1 :</a:t>
            </a:r>
          </a:p>
          <a:p>
            <a:r>
              <a:rPr lang="en-US" dirty="0"/>
              <a:t>        - id: 1</a:t>
            </a:r>
          </a:p>
          <a:p>
            <a:r>
              <a:rPr lang="en-US" dirty="0"/>
              <a:t>          name: lun_432</a:t>
            </a:r>
          </a:p>
          <a:p>
            <a:r>
              <a:rPr lang="en-US" dirty="0"/>
              <a:t>        - id: 2</a:t>
            </a:r>
          </a:p>
          <a:p>
            <a:r>
              <a:rPr lang="en-US" dirty="0"/>
              <a:t>          name: lun_123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49186D-FA65-8006-3DF9-A912C21ACACB}"/>
              </a:ext>
            </a:extLst>
          </p:cNvPr>
          <p:cNvSpPr txBox="1"/>
          <p:nvPr/>
        </p:nvSpPr>
        <p:spPr>
          <a:xfrm>
            <a:off x="1447800" y="4724400"/>
            <a:ext cx="52322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  a playbook that loop over all</a:t>
            </a:r>
            <a:br>
              <a:rPr lang="en-US" dirty="0"/>
            </a:br>
            <a:r>
              <a:rPr lang="en-US" dirty="0"/>
              <a:t>- declare a fact &lt;id&gt;-&lt;name&gt;@&lt;parent_group_name&gt;</a:t>
            </a:r>
          </a:p>
          <a:p>
            <a:r>
              <a:rPr lang="en-US" dirty="0"/>
              <a:t>- display the content of the fact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91E222-AE60-7EAC-508B-36BFA09B8BFB}"/>
              </a:ext>
            </a:extLst>
          </p:cNvPr>
          <p:cNvSpPr txBox="1"/>
          <p:nvPr/>
        </p:nvSpPr>
        <p:spPr>
          <a:xfrm>
            <a:off x="2262253" y="457185"/>
            <a:ext cx="4581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u="sng" dirty="0" err="1"/>
              <a:t>Exercice</a:t>
            </a:r>
            <a:r>
              <a:rPr lang="en-US" sz="1800" b="1" u="sng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12142979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3AB37B-887A-73D9-1492-F6FBD601A67F}"/>
              </a:ext>
            </a:extLst>
          </p:cNvPr>
          <p:cNvSpPr txBox="1"/>
          <p:nvPr/>
        </p:nvSpPr>
        <p:spPr>
          <a:xfrm>
            <a:off x="609600" y="1193279"/>
            <a:ext cx="624373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---</a:t>
            </a:r>
          </a:p>
          <a:p>
            <a:r>
              <a:rPr lang="en-US" dirty="0"/>
              <a:t>- hosts: localhost</a:t>
            </a:r>
          </a:p>
          <a:p>
            <a:r>
              <a:rPr lang="en-US" dirty="0"/>
              <a:t>  </a:t>
            </a:r>
            <a:r>
              <a:rPr lang="en-US" dirty="0" err="1"/>
              <a:t>gather_facts</a:t>
            </a:r>
            <a:r>
              <a:rPr lang="en-US" dirty="0"/>
              <a:t>: no</a:t>
            </a:r>
          </a:p>
          <a:p>
            <a:r>
              <a:rPr lang="en-US" dirty="0"/>
              <a:t>  tasks:</a:t>
            </a:r>
          </a:p>
          <a:p>
            <a:r>
              <a:rPr lang="en-US" dirty="0"/>
              <a:t>    - name: Loop over </a:t>
            </a:r>
            <a:r>
              <a:rPr lang="en-US" dirty="0" err="1"/>
              <a:t>host_groups</a:t>
            </a:r>
            <a:r>
              <a:rPr lang="en-US" dirty="0"/>
              <a:t> and declare facts</a:t>
            </a:r>
          </a:p>
          <a:p>
            <a:r>
              <a:rPr lang="en-US" dirty="0"/>
              <a:t>      </a:t>
            </a:r>
            <a:r>
              <a:rPr lang="en-US" dirty="0" err="1"/>
              <a:t>set_fact</a:t>
            </a:r>
            <a:r>
              <a:rPr lang="en-US" dirty="0"/>
              <a:t>:</a:t>
            </a:r>
          </a:p>
          <a:p>
            <a:r>
              <a:rPr lang="en-US" dirty="0"/>
              <a:t>        </a:t>
            </a:r>
            <a:r>
              <a:rPr lang="en-US" dirty="0" err="1"/>
              <a:t>custom_fact</a:t>
            </a:r>
            <a:r>
              <a:rPr lang="en-US" dirty="0"/>
              <a:t>: "{{ item.1.id }}-{{ item.1.name }}@{{ item.0 }}"</a:t>
            </a:r>
          </a:p>
          <a:p>
            <a:r>
              <a:rPr lang="en-US" dirty="0"/>
              <a:t>      loop: "{{ lookup('</a:t>
            </a:r>
            <a:r>
              <a:rPr lang="en-US" dirty="0" err="1"/>
              <a:t>dict</a:t>
            </a:r>
            <a:r>
              <a:rPr lang="en-US" dirty="0"/>
              <a:t>', </a:t>
            </a:r>
            <a:r>
              <a:rPr lang="en-US" dirty="0" err="1"/>
              <a:t>host_groups</a:t>
            </a:r>
            <a:r>
              <a:rPr lang="en-US" dirty="0"/>
              <a:t>) }}"</a:t>
            </a:r>
          </a:p>
          <a:p>
            <a:r>
              <a:rPr lang="en-US" dirty="0"/>
              <a:t>      register: </a:t>
            </a:r>
            <a:r>
              <a:rPr lang="en-US" dirty="0" err="1"/>
              <a:t>custom_facts</a:t>
            </a:r>
            <a:endParaRPr lang="en-US" dirty="0"/>
          </a:p>
          <a:p>
            <a:endParaRPr lang="en-US" dirty="0"/>
          </a:p>
          <a:p>
            <a:r>
              <a:rPr lang="en-US" dirty="0"/>
              <a:t>    - name: Display the content of the facts</a:t>
            </a:r>
          </a:p>
          <a:p>
            <a:r>
              <a:rPr lang="en-US" dirty="0"/>
              <a:t>      debug:</a:t>
            </a:r>
          </a:p>
          <a:p>
            <a:r>
              <a:rPr lang="en-US" dirty="0"/>
              <a:t>        msg: "{{ </a:t>
            </a:r>
            <a:r>
              <a:rPr lang="en-US" dirty="0" err="1"/>
              <a:t>item.custom_fact</a:t>
            </a:r>
            <a:r>
              <a:rPr lang="en-US" dirty="0"/>
              <a:t> }}"</a:t>
            </a:r>
          </a:p>
          <a:p>
            <a:r>
              <a:rPr lang="en-US" dirty="0"/>
              <a:t>      loop: "{{ </a:t>
            </a:r>
            <a:r>
              <a:rPr lang="en-US" dirty="0" err="1"/>
              <a:t>custom_facts.results</a:t>
            </a:r>
            <a:r>
              <a:rPr lang="en-US" dirty="0"/>
              <a:t> }}"</a:t>
            </a:r>
          </a:p>
        </p:txBody>
      </p:sp>
    </p:spTree>
    <p:extLst>
      <p:ext uri="{BB962C8B-B14F-4D97-AF65-F5344CB8AC3E}">
        <p14:creationId xmlns:p14="http://schemas.microsoft.com/office/powerpoint/2010/main" val="155591769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839703E-0421-E6E1-E474-41AD6FAD4992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chemeClr val="bg1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Tags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3861580-94B9-0DC4-5344-921963891857}"/>
              </a:ext>
            </a:extLst>
          </p:cNvPr>
          <p:cNvSpPr/>
          <p:nvPr/>
        </p:nvSpPr>
        <p:spPr>
          <a:xfrm>
            <a:off x="381001" y="1143000"/>
            <a:ext cx="7988278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https://docs.ansible.com/ansible/latest/user_guide/playbooks_tags.html</a:t>
            </a:r>
          </a:p>
        </p:txBody>
      </p:sp>
    </p:spTree>
    <p:extLst>
      <p:ext uri="{BB962C8B-B14F-4D97-AF65-F5344CB8AC3E}">
        <p14:creationId xmlns:p14="http://schemas.microsoft.com/office/powerpoint/2010/main" val="286420908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44318B-2FE7-8A2C-97BB-DCB3D406F96F}"/>
              </a:ext>
            </a:extLst>
          </p:cNvPr>
          <p:cNvSpPr txBox="1"/>
          <p:nvPr/>
        </p:nvSpPr>
        <p:spPr>
          <a:xfrm>
            <a:off x="609600" y="838201"/>
            <a:ext cx="7924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Definition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Tags in Ansible are used to label tasks, allowing you to selectively run or skip specific parts of your playbooks.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Purpose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They provide a way to manage and control the execution of tasks, making your automation scripts more modular and efficient.</a:t>
            </a:r>
          </a:p>
          <a:p>
            <a:pPr algn="l"/>
            <a:r>
              <a:rPr lang="en-US" sz="1800" b="0" i="0" dirty="0">
                <a:solidFill>
                  <a:srgbClr val="111111"/>
                </a:solidFill>
                <a:effectLst/>
                <a:latin typeface="-apple-system"/>
              </a:rPr>
              <a:t>Save time by avoiding re-execution of already completed tasks.</a:t>
            </a:r>
          </a:p>
          <a:p>
            <a:pPr algn="l"/>
            <a:r>
              <a:rPr lang="en-US" sz="1800" b="0" i="0" dirty="0">
                <a:solidFill>
                  <a:srgbClr val="111111"/>
                </a:solidFill>
                <a:effectLst/>
                <a:latin typeface="-apple-system"/>
              </a:rPr>
              <a:t>Facilitate debugging by isolating specific sections of the playbook.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Key Concepts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Defining Tags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Assign tags to tasks using the 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tags 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keyword.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Running Tagged Tasks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Use the 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--tags 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option to run only tasks with specific tags.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Skipping Tagged Tasks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Use the 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--skip-tags 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option to skip tasks with specific tags.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Benefits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Tags enhance the flexibility and manageability of your playbooks, allowing for targeted execution and easier debugging.</a:t>
            </a:r>
          </a:p>
          <a:p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18725447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67E5D6-AC5E-CB86-5543-4A6D23D35411}"/>
              </a:ext>
            </a:extLst>
          </p:cNvPr>
          <p:cNvSpPr txBox="1"/>
          <p:nvPr/>
        </p:nvSpPr>
        <p:spPr>
          <a:xfrm>
            <a:off x="762000" y="533400"/>
            <a:ext cx="45813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111111"/>
                </a:solidFill>
                <a:effectLst/>
                <a:latin typeface="-apple-system"/>
              </a:rPr>
              <a:t>How to Add Tags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5EC67E-AAA7-38E5-F979-944EB8912F4C}"/>
              </a:ext>
            </a:extLst>
          </p:cNvPr>
          <p:cNvSpPr txBox="1"/>
          <p:nvPr/>
        </p:nvSpPr>
        <p:spPr>
          <a:xfrm>
            <a:off x="1066800" y="1066800"/>
            <a:ext cx="4581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Adding tags to individual tasks: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B8DE5E-1B27-BDBA-FEF0-85DF5D683332}"/>
              </a:ext>
            </a:extLst>
          </p:cNvPr>
          <p:cNvSpPr txBox="1"/>
          <p:nvPr/>
        </p:nvSpPr>
        <p:spPr>
          <a:xfrm>
            <a:off x="1066800" y="1507867"/>
            <a:ext cx="45813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tasks:</a:t>
            </a:r>
          </a:p>
          <a:p>
            <a:r>
              <a:rPr lang="en-US" dirty="0"/>
              <a:t>  - name: Install Apache</a:t>
            </a:r>
          </a:p>
          <a:p>
            <a:r>
              <a:rPr lang="en-US" dirty="0"/>
              <a:t>    apt:</a:t>
            </a:r>
          </a:p>
          <a:p>
            <a:r>
              <a:rPr lang="en-US" dirty="0"/>
              <a:t>      name: apache2</a:t>
            </a:r>
          </a:p>
          <a:p>
            <a:r>
              <a:rPr lang="en-US" dirty="0"/>
              <a:t>      state: present</a:t>
            </a:r>
          </a:p>
          <a:p>
            <a:r>
              <a:rPr lang="en-US" b="1" dirty="0">
                <a:solidFill>
                  <a:srgbClr val="FF0000"/>
                </a:solidFill>
              </a:rPr>
              <a:t>    tags: </a:t>
            </a:r>
          </a:p>
          <a:p>
            <a:r>
              <a:rPr lang="en-US" dirty="0"/>
              <a:t>      - installation</a:t>
            </a:r>
          </a:p>
          <a:p>
            <a:r>
              <a:rPr lang="en-US" dirty="0"/>
              <a:t>      - webserver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D051B1-D666-5126-4AF8-97B327C1D50F}"/>
              </a:ext>
            </a:extLst>
          </p:cNvPr>
          <p:cNvSpPr txBox="1"/>
          <p:nvPr/>
        </p:nvSpPr>
        <p:spPr>
          <a:xfrm>
            <a:off x="4579776" y="1066800"/>
            <a:ext cx="4581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Adding tags to blocks of tasks: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7AC29A-235C-5518-951C-A4CD03231E3F}"/>
              </a:ext>
            </a:extLst>
          </p:cNvPr>
          <p:cNvSpPr txBox="1"/>
          <p:nvPr/>
        </p:nvSpPr>
        <p:spPr>
          <a:xfrm>
            <a:off x="4579776" y="1507867"/>
            <a:ext cx="458133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tasks:</a:t>
            </a:r>
          </a:p>
          <a:p>
            <a:r>
              <a:rPr lang="en-US" dirty="0"/>
              <a:t>  - block:</a:t>
            </a:r>
          </a:p>
          <a:p>
            <a:r>
              <a:rPr lang="en-US" dirty="0"/>
              <a:t>      - name: Install NTP</a:t>
            </a:r>
          </a:p>
          <a:p>
            <a:r>
              <a:rPr lang="en-US" dirty="0"/>
              <a:t>        apt:</a:t>
            </a:r>
          </a:p>
          <a:p>
            <a:r>
              <a:rPr lang="en-US" dirty="0"/>
              <a:t>          name: </a:t>
            </a:r>
            <a:r>
              <a:rPr lang="en-US" dirty="0" err="1"/>
              <a:t>ntp</a:t>
            </a:r>
            <a:endParaRPr lang="en-US" dirty="0"/>
          </a:p>
          <a:p>
            <a:r>
              <a:rPr lang="en-US" dirty="0"/>
              <a:t>          state: present</a:t>
            </a:r>
          </a:p>
          <a:p>
            <a:r>
              <a:rPr lang="en-US" dirty="0"/>
              <a:t>      - name: Configure NTP</a:t>
            </a:r>
          </a:p>
          <a:p>
            <a:r>
              <a:rPr lang="en-US" dirty="0"/>
              <a:t>        template:</a:t>
            </a:r>
          </a:p>
          <a:p>
            <a:r>
              <a:rPr lang="en-US" dirty="0"/>
              <a:t>          </a:t>
            </a:r>
            <a:r>
              <a:rPr lang="en-US" dirty="0" err="1"/>
              <a:t>src</a:t>
            </a:r>
            <a:r>
              <a:rPr lang="en-US" dirty="0"/>
              <a:t>: ntp.conf.j2</a:t>
            </a:r>
          </a:p>
          <a:p>
            <a:r>
              <a:rPr lang="en-US" dirty="0"/>
              <a:t>          </a:t>
            </a:r>
            <a:r>
              <a:rPr lang="en-US" dirty="0" err="1"/>
              <a:t>dest</a:t>
            </a:r>
            <a:r>
              <a:rPr lang="en-US" dirty="0"/>
              <a:t>: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ntp.conf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    tags: </a:t>
            </a:r>
          </a:p>
          <a:p>
            <a:r>
              <a:rPr lang="en-US" dirty="0"/>
              <a:t>      - </a:t>
            </a:r>
            <a:r>
              <a:rPr lang="en-US" dirty="0" err="1"/>
              <a:t>ntp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79206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2EB392-AC12-2C91-3281-0AFFA7E7E3A5}"/>
              </a:ext>
            </a:extLst>
          </p:cNvPr>
          <p:cNvSpPr txBox="1"/>
          <p:nvPr/>
        </p:nvSpPr>
        <p:spPr>
          <a:xfrm>
            <a:off x="609600" y="533400"/>
            <a:ext cx="45813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111111"/>
                </a:solidFill>
                <a:effectLst/>
                <a:latin typeface="-apple-system"/>
              </a:rPr>
              <a:t>Using Tags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F5403B-3EB4-C03C-2D69-35D991BF671A}"/>
              </a:ext>
            </a:extLst>
          </p:cNvPr>
          <p:cNvSpPr txBox="1"/>
          <p:nvPr/>
        </p:nvSpPr>
        <p:spPr>
          <a:xfrm>
            <a:off x="612710" y="1563469"/>
            <a:ext cx="7696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Executing specific tasks with tags: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Use the </a:t>
            </a: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--tags 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option to execute only tasks marked with at least one specific tag.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5DB6A9-8922-34A3-14A9-E76FDAB70CC3}"/>
              </a:ext>
            </a:extLst>
          </p:cNvPr>
          <p:cNvSpPr txBox="1"/>
          <p:nvPr/>
        </p:nvSpPr>
        <p:spPr>
          <a:xfrm>
            <a:off x="1374710" y="2209800"/>
            <a:ext cx="6033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ansible-playbook </a:t>
            </a:r>
            <a:r>
              <a:rPr lang="en-US" dirty="0" err="1"/>
              <a:t>playbook.yml</a:t>
            </a:r>
            <a:r>
              <a:rPr lang="en-US" dirty="0"/>
              <a:t> --tags "installation"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714F56-D522-EDA1-4969-9781F4ED2E49}"/>
              </a:ext>
            </a:extLst>
          </p:cNvPr>
          <p:cNvSpPr txBox="1"/>
          <p:nvPr/>
        </p:nvSpPr>
        <p:spPr>
          <a:xfrm>
            <a:off x="611154" y="3341132"/>
            <a:ext cx="81518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Skipping specific tasks with tags: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Use the </a:t>
            </a: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--skip-tags 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option to skip tasks marked with a specific tag.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833FFE-CF29-1EEA-C1D6-B99611BF9E61}"/>
              </a:ext>
            </a:extLst>
          </p:cNvPr>
          <p:cNvSpPr txBox="1"/>
          <p:nvPr/>
        </p:nvSpPr>
        <p:spPr>
          <a:xfrm>
            <a:off x="1382486" y="4038600"/>
            <a:ext cx="6033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ansible-playbook </a:t>
            </a:r>
            <a:r>
              <a:rPr lang="en-US" dirty="0" err="1"/>
              <a:t>playbook.yml</a:t>
            </a:r>
            <a:r>
              <a:rPr lang="en-US" dirty="0"/>
              <a:t> --skip-tags "configuration"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223EB0-3AAD-AB27-A9F1-C159DA9EDE04}"/>
              </a:ext>
            </a:extLst>
          </p:cNvPr>
          <p:cNvSpPr txBox="1"/>
          <p:nvPr/>
        </p:nvSpPr>
        <p:spPr>
          <a:xfrm>
            <a:off x="496077" y="4819602"/>
            <a:ext cx="81518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Using -tags and -skip-tags: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When a task is tagged with both tags and skip-tags; the skip-tags take precedence and the task is skipped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21249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41DFDF-0DCD-2CC1-AEA1-67508F38E612}"/>
              </a:ext>
            </a:extLst>
          </p:cNvPr>
          <p:cNvSpPr txBox="1"/>
          <p:nvPr/>
        </p:nvSpPr>
        <p:spPr>
          <a:xfrm>
            <a:off x="762000" y="609600"/>
            <a:ext cx="45813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111111"/>
                </a:solidFill>
                <a:effectLst/>
                <a:latin typeface="-apple-system"/>
              </a:rPr>
              <a:t>Special Tags</a:t>
            </a:r>
            <a:endParaRPr lang="en-US" sz="24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DBE171A-46FD-4580-B051-656CCB64A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588" y="1071265"/>
            <a:ext cx="8077200" cy="1231106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61" tIns="0" rIns="4761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Special tags in Ansible:</a:t>
            </a: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always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: Tasks marked with this tag will always be executed, even if other tags are specified.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never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: Tasks marked with this tag will never be executed, unless the 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 Unicode MS"/>
              </a:rPr>
              <a:t>always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 tag is also present.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tagged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: Executes only tasks that have tags, ignoring those without tags.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Example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2BE7C9-69B0-3A1D-E7CC-EFD0D12BC651}"/>
              </a:ext>
            </a:extLst>
          </p:cNvPr>
          <p:cNvSpPr txBox="1"/>
          <p:nvPr/>
        </p:nvSpPr>
        <p:spPr>
          <a:xfrm>
            <a:off x="685800" y="2362200"/>
            <a:ext cx="458133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tasks:</a:t>
            </a:r>
          </a:p>
          <a:p>
            <a:r>
              <a:rPr lang="en-US" sz="1600" dirty="0"/>
              <a:t>  - name: Task always executed</a:t>
            </a:r>
          </a:p>
          <a:p>
            <a:r>
              <a:rPr lang="en-US" sz="1600" dirty="0"/>
              <a:t>    command: echo "This task is always executed"</a:t>
            </a:r>
          </a:p>
          <a:p>
            <a:r>
              <a:rPr lang="en-US" sz="1600" dirty="0"/>
              <a:t>    tags: </a:t>
            </a:r>
          </a:p>
          <a:p>
            <a:r>
              <a:rPr lang="en-US" sz="1600" dirty="0"/>
              <a:t>      - always</a:t>
            </a:r>
          </a:p>
          <a:p>
            <a:endParaRPr lang="en-US" sz="1600" dirty="0"/>
          </a:p>
          <a:p>
            <a:r>
              <a:rPr lang="en-US" sz="1600" dirty="0"/>
              <a:t>  - name: Task never executed</a:t>
            </a:r>
          </a:p>
          <a:p>
            <a:r>
              <a:rPr lang="en-US" sz="1600" dirty="0"/>
              <a:t>    command: echo "This task is never executed"</a:t>
            </a:r>
          </a:p>
          <a:p>
            <a:r>
              <a:rPr lang="en-US" sz="1600" dirty="0"/>
              <a:t>    tags: </a:t>
            </a:r>
          </a:p>
          <a:p>
            <a:r>
              <a:rPr lang="en-US" sz="1600" dirty="0"/>
              <a:t>      - never</a:t>
            </a:r>
          </a:p>
          <a:p>
            <a:endParaRPr lang="en-US" sz="1600" dirty="0"/>
          </a:p>
          <a:p>
            <a:r>
              <a:rPr lang="en-US" sz="1600" dirty="0"/>
              <a:t>  - name: Task with tag</a:t>
            </a:r>
          </a:p>
          <a:p>
            <a:r>
              <a:rPr lang="en-US" sz="1600" dirty="0"/>
              <a:t>    command: echo "This task has a tag"</a:t>
            </a:r>
          </a:p>
          <a:p>
            <a:r>
              <a:rPr lang="en-US" sz="1600" dirty="0"/>
              <a:t>    tags: </a:t>
            </a:r>
          </a:p>
          <a:p>
            <a:r>
              <a:rPr lang="en-US" sz="1600" dirty="0"/>
              <a:t>      - tagged</a:t>
            </a:r>
          </a:p>
        </p:txBody>
      </p:sp>
    </p:spTree>
    <p:extLst>
      <p:ext uri="{BB962C8B-B14F-4D97-AF65-F5344CB8AC3E}">
        <p14:creationId xmlns:p14="http://schemas.microsoft.com/office/powerpoint/2010/main" val="155198172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DEFCD9B-A05A-BEF8-9E32-F3B07D5F8294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CONDITIONS Exercice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A1A425-5E69-26EF-B98B-2F357422571D}"/>
              </a:ext>
            </a:extLst>
          </p:cNvPr>
          <p:cNvSpPr txBox="1"/>
          <p:nvPr/>
        </p:nvSpPr>
        <p:spPr>
          <a:xfrm flipH="1">
            <a:off x="579119" y="457200"/>
            <a:ext cx="696468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err="1"/>
              <a:t>Exercice</a:t>
            </a:r>
            <a:r>
              <a:rPr lang="en-US" sz="2400" b="1" u="sng" dirty="0"/>
              <a:t>:</a:t>
            </a:r>
          </a:p>
          <a:p>
            <a:pPr algn="ctr"/>
            <a:endParaRPr lang="en-US" sz="2400" b="1" u="sng" dirty="0"/>
          </a:p>
          <a:p>
            <a:pPr algn="l">
              <a:buFont typeface="+mj-lt"/>
              <a:buAutoNum type="arabicPeriod"/>
            </a:pPr>
            <a:r>
              <a:rPr lang="en-US" dirty="0"/>
              <a:t>- 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Create a playbook with the following tasks: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Install MySQL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Configure MySQL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Start the MySQL service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Add appropriate tags to each task.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Execute only the installation tasks using the tags.</a:t>
            </a:r>
          </a:p>
        </p:txBody>
      </p:sp>
    </p:spTree>
    <p:extLst>
      <p:ext uri="{BB962C8B-B14F-4D97-AF65-F5344CB8AC3E}">
        <p14:creationId xmlns:p14="http://schemas.microsoft.com/office/powerpoint/2010/main" val="43604444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95941F-E50E-EFFF-84CC-D6912650C573}"/>
              </a:ext>
            </a:extLst>
          </p:cNvPr>
          <p:cNvSpPr txBox="1"/>
          <p:nvPr/>
        </p:nvSpPr>
        <p:spPr>
          <a:xfrm>
            <a:off x="990600" y="474345"/>
            <a:ext cx="458133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---</a:t>
            </a:r>
          </a:p>
          <a:p>
            <a:r>
              <a:rPr lang="en-US" sz="1400" dirty="0"/>
              <a:t>- name: MySQL Deployment</a:t>
            </a:r>
          </a:p>
          <a:p>
            <a:r>
              <a:rPr lang="en-US" sz="1400" dirty="0"/>
              <a:t>  hosts: databases</a:t>
            </a:r>
          </a:p>
          <a:p>
            <a:r>
              <a:rPr lang="en-US" sz="1400" dirty="0"/>
              <a:t>  tasks:</a:t>
            </a:r>
          </a:p>
          <a:p>
            <a:r>
              <a:rPr lang="en-US" sz="1400" dirty="0"/>
              <a:t>    - name: Install MySQL</a:t>
            </a:r>
          </a:p>
          <a:p>
            <a:r>
              <a:rPr lang="en-US" sz="1400" dirty="0"/>
              <a:t>      apt:</a:t>
            </a:r>
          </a:p>
          <a:p>
            <a:r>
              <a:rPr lang="en-US" sz="1400" dirty="0"/>
              <a:t>        name: </a:t>
            </a:r>
            <a:r>
              <a:rPr lang="en-US" sz="1400" dirty="0" err="1"/>
              <a:t>mysql</a:t>
            </a:r>
            <a:r>
              <a:rPr lang="en-US" sz="1400" dirty="0"/>
              <a:t>-server</a:t>
            </a:r>
          </a:p>
          <a:p>
            <a:r>
              <a:rPr lang="en-US" sz="1400" dirty="0"/>
              <a:t>        state: present</a:t>
            </a:r>
          </a:p>
          <a:p>
            <a:r>
              <a:rPr lang="en-US" sz="1400" dirty="0"/>
              <a:t>      tags: </a:t>
            </a:r>
          </a:p>
          <a:p>
            <a:r>
              <a:rPr lang="en-US" sz="1400" dirty="0"/>
              <a:t>        - installation</a:t>
            </a:r>
          </a:p>
          <a:p>
            <a:r>
              <a:rPr lang="en-US" sz="1400" dirty="0"/>
              <a:t>        - </a:t>
            </a:r>
            <a:r>
              <a:rPr lang="en-US" sz="1400" dirty="0" err="1"/>
              <a:t>mysql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   - name: Configure MySQL</a:t>
            </a:r>
          </a:p>
          <a:p>
            <a:r>
              <a:rPr lang="en-US" sz="1400" dirty="0"/>
              <a:t>      template: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src</a:t>
            </a:r>
            <a:r>
              <a:rPr lang="en-US" sz="1400" dirty="0"/>
              <a:t>: my.cnf.j2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dest</a:t>
            </a:r>
            <a:r>
              <a:rPr lang="en-US" sz="1400" dirty="0"/>
              <a:t>: /</a:t>
            </a:r>
            <a:r>
              <a:rPr lang="en-US" sz="1400" dirty="0" err="1"/>
              <a:t>etc</a:t>
            </a:r>
            <a:r>
              <a:rPr lang="en-US" sz="1400" dirty="0"/>
              <a:t>/</a:t>
            </a:r>
            <a:r>
              <a:rPr lang="en-US" sz="1400" dirty="0" err="1"/>
              <a:t>mysql</a:t>
            </a:r>
            <a:r>
              <a:rPr lang="en-US" sz="1400" dirty="0"/>
              <a:t>/</a:t>
            </a:r>
            <a:r>
              <a:rPr lang="en-US" sz="1400" dirty="0" err="1"/>
              <a:t>my.cnf</a:t>
            </a:r>
            <a:endParaRPr lang="en-US" sz="1400" dirty="0"/>
          </a:p>
          <a:p>
            <a:r>
              <a:rPr lang="en-US" sz="1400" dirty="0"/>
              <a:t>      tags: </a:t>
            </a:r>
          </a:p>
          <a:p>
            <a:r>
              <a:rPr lang="en-US" sz="1400" dirty="0"/>
              <a:t>        - configuration</a:t>
            </a:r>
          </a:p>
          <a:p>
            <a:r>
              <a:rPr lang="en-US" sz="1400" dirty="0"/>
              <a:t>        - </a:t>
            </a:r>
            <a:r>
              <a:rPr lang="en-US" sz="1400" dirty="0" err="1"/>
              <a:t>mysql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   - name: Start MySQL service</a:t>
            </a:r>
          </a:p>
          <a:p>
            <a:r>
              <a:rPr lang="en-US" sz="1400" dirty="0"/>
              <a:t>      service:</a:t>
            </a:r>
          </a:p>
          <a:p>
            <a:r>
              <a:rPr lang="en-US" sz="1400" dirty="0"/>
              <a:t>        name: </a:t>
            </a:r>
            <a:r>
              <a:rPr lang="en-US" sz="1400" dirty="0" err="1"/>
              <a:t>mysql</a:t>
            </a:r>
            <a:endParaRPr lang="en-US" sz="1400" dirty="0"/>
          </a:p>
          <a:p>
            <a:r>
              <a:rPr lang="en-US" sz="1400" dirty="0"/>
              <a:t>        state: started</a:t>
            </a:r>
          </a:p>
          <a:p>
            <a:r>
              <a:rPr lang="en-US" sz="1400" dirty="0"/>
              <a:t>      tags: </a:t>
            </a:r>
          </a:p>
          <a:p>
            <a:r>
              <a:rPr lang="en-US" sz="1400" dirty="0"/>
              <a:t>        - service</a:t>
            </a:r>
          </a:p>
          <a:p>
            <a:r>
              <a:rPr lang="en-US" sz="1400" dirty="0"/>
              <a:t>        - </a:t>
            </a:r>
            <a:r>
              <a:rPr lang="en-US" sz="1400" dirty="0" err="1"/>
              <a:t>mysql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557FBD-6E57-F7A3-9866-4A6D3AF908BE}"/>
              </a:ext>
            </a:extLst>
          </p:cNvPr>
          <p:cNvSpPr txBox="1"/>
          <p:nvPr/>
        </p:nvSpPr>
        <p:spPr>
          <a:xfrm>
            <a:off x="2281335" y="228600"/>
            <a:ext cx="4581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u="sng" dirty="0"/>
              <a:t>Solution: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5D0ABE-2DCE-FAFC-3A5B-57D460EAE30E}"/>
              </a:ext>
            </a:extLst>
          </p:cNvPr>
          <p:cNvSpPr txBox="1"/>
          <p:nvPr/>
        </p:nvSpPr>
        <p:spPr>
          <a:xfrm>
            <a:off x="4343400" y="1398031"/>
            <a:ext cx="304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ansible-playbook </a:t>
            </a:r>
            <a:r>
              <a:rPr lang="en-US" dirty="0" err="1"/>
              <a:t>playbook.yml</a:t>
            </a:r>
            <a:r>
              <a:rPr lang="en-US" dirty="0"/>
              <a:t> --tags "installation"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4575EA-07D8-D59B-4910-E16CC55DDD0F}"/>
              </a:ext>
            </a:extLst>
          </p:cNvPr>
          <p:cNvSpPr txBox="1"/>
          <p:nvPr/>
        </p:nvSpPr>
        <p:spPr>
          <a:xfrm>
            <a:off x="4343400" y="2844462"/>
            <a:ext cx="3124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ansible-playbook </a:t>
            </a:r>
            <a:r>
              <a:rPr lang="en-US" dirty="0" err="1"/>
              <a:t>playbook.yml</a:t>
            </a:r>
            <a:r>
              <a:rPr lang="en-US" dirty="0"/>
              <a:t> --skip-tags "configuration"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0D1E0-7C58-C21F-C01B-F23C60F51218}"/>
              </a:ext>
            </a:extLst>
          </p:cNvPr>
          <p:cNvSpPr txBox="1"/>
          <p:nvPr/>
        </p:nvSpPr>
        <p:spPr>
          <a:xfrm>
            <a:off x="3614834" y="832791"/>
            <a:ext cx="47671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111111"/>
                </a:solidFill>
                <a:effectLst/>
                <a:latin typeface="-apple-system"/>
              </a:rPr>
              <a:t>Exécuter uniquement les tâches d’installation :</a:t>
            </a:r>
            <a:endParaRPr lang="fr-FR" b="0" i="0" dirty="0">
              <a:solidFill>
                <a:srgbClr val="111111"/>
              </a:solidFill>
              <a:effectLst/>
              <a:latin typeface="-apple-system"/>
            </a:endParaRPr>
          </a:p>
          <a:p>
            <a:br>
              <a:rPr lang="fr-FR" dirty="0"/>
            </a:b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E6FF64-60A4-EF55-7155-10FF896955EC}"/>
              </a:ext>
            </a:extLst>
          </p:cNvPr>
          <p:cNvSpPr txBox="1"/>
          <p:nvPr/>
        </p:nvSpPr>
        <p:spPr>
          <a:xfrm>
            <a:off x="3614835" y="2321361"/>
            <a:ext cx="45813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111111"/>
                </a:solidFill>
                <a:effectLst/>
                <a:latin typeface="-apple-system"/>
              </a:rPr>
              <a:t>Ignorer les tâches de configuration :</a:t>
            </a:r>
            <a:endParaRPr lang="fr-FR" b="0" i="0" dirty="0">
              <a:solidFill>
                <a:srgbClr val="111111"/>
              </a:solidFill>
              <a:effectLst/>
              <a:latin typeface="-apple-system"/>
            </a:endParaRPr>
          </a:p>
          <a:p>
            <a:br>
              <a:rPr lang="fr-F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3184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6B8DD34-C2E6-23CE-AEF2-FC178DE18716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Templates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8142161-362A-4EC0-4440-A0F84FC501C2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  <a:hlinkClick r:id="rId3"/>
              </a:rPr>
              <a:t>https://docs.ansible.com/ansible/latest/playbook_guide/playbooks_templating.html</a:t>
            </a:r>
            <a:b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</a:b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https://jinja.palletsprojects.com/en/latest/templates/</a:t>
            </a:r>
            <a:endParaRPr lang="en-US" sz="10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4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8ABCDA-19B3-6279-6FDF-ECFCE44098F9}"/>
              </a:ext>
            </a:extLst>
          </p:cNvPr>
          <p:cNvSpPr txBox="1"/>
          <p:nvPr/>
        </p:nvSpPr>
        <p:spPr>
          <a:xfrm>
            <a:off x="304800" y="533400"/>
            <a:ext cx="85344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What is Jinja?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Jinja is a powerful templating engine for Python, widely used in web development and automation tools like Ansible.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Purpose of Jinja Templates: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Jinja templates allow you to create dynamic content by embedding variables and expressions within text files.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Key Features: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Variables: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Embed dynamic data using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{{ ... }}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Control Structures: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Use 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{% ... %} 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for loops, conditionals, and more.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Filters: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Modify variables with built-in filters like 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{{ variable | filter }}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Comments: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Add comments with 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{# ... #}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that won’t appear in the output.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Why Use Jinja with Ansible?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Dynamic Configuration: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Generate configuration files dynamically based on variables and conditions.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Reusability: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Create reusable templates for different environments and scenarios.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Flexibility: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Easily integrate with Ansible playbooks to automate complex tasks.</a:t>
            </a:r>
          </a:p>
          <a:p>
            <a:endParaRPr lang="en-US" dirty="0">
              <a:solidFill>
                <a:srgbClr val="11111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18100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55D8719-0DD3-F2BC-E690-B334EDB7C411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Templates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C20D6F-5D39-6EA7-42C9-25F33E724790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sng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Variable</a:t>
            </a:r>
            <a:r>
              <a:rPr lang="en-US" sz="3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en-US" sz="36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{{</a:t>
            </a:r>
            <a:r>
              <a:rPr lang="en-US" sz="3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variable </a:t>
            </a:r>
            <a:r>
              <a:rPr lang="en-US" sz="36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}}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{{ </a:t>
            </a:r>
            <a:r>
              <a:rPr lang="en-US" sz="20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hostvars</a:t>
            </a: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[server].ansible_default_ipv4.address }}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dirty="0"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u="sng" dirty="0">
                <a:solidFill>
                  <a:srgbClr val="0E1012"/>
                </a:solidFill>
                <a:latin typeface="Courier New" pitchFamily="18"/>
              </a:rPr>
              <a:t>Action</a:t>
            </a:r>
            <a:r>
              <a:rPr lang="en-US" sz="3600" b="1" dirty="0">
                <a:solidFill>
                  <a:srgbClr val="0E1012"/>
                </a:solidFill>
                <a:latin typeface="Courier New" pitchFamily="18"/>
              </a:rPr>
              <a:t>: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dirty="0">
                <a:solidFill>
                  <a:srgbClr val="0E1012"/>
                </a:solidFill>
                <a:latin typeface="Courier New" pitchFamily="18"/>
              </a:rPr>
              <a:t> {% </a:t>
            </a:r>
            <a:r>
              <a:rPr lang="en-US" sz="3600" dirty="0">
                <a:solidFill>
                  <a:srgbClr val="0E1012"/>
                </a:solidFill>
                <a:latin typeface="Courier New" pitchFamily="18"/>
              </a:rPr>
              <a:t>action</a:t>
            </a:r>
            <a:r>
              <a:rPr lang="en-US" sz="3600" b="1" dirty="0">
                <a:solidFill>
                  <a:srgbClr val="0E1012"/>
                </a:solidFill>
                <a:latin typeface="Courier New" pitchFamily="18"/>
              </a:rPr>
              <a:t> %}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dirty="0">
                <a:solidFill>
                  <a:srgbClr val="0E1012"/>
                </a:solidFill>
                <a:latin typeface="Courier New" pitchFamily="18"/>
              </a:rPr>
              <a:t> {% </a:t>
            </a:r>
            <a:r>
              <a:rPr lang="en-US" sz="3600" b="1" dirty="0" err="1">
                <a:solidFill>
                  <a:srgbClr val="0E1012"/>
                </a:solidFill>
                <a:latin typeface="Courier New" pitchFamily="18"/>
              </a:rPr>
              <a:t>end</a:t>
            </a:r>
            <a:r>
              <a:rPr lang="en-US" sz="3600" dirty="0" err="1">
                <a:solidFill>
                  <a:srgbClr val="0E1012"/>
                </a:solidFill>
                <a:latin typeface="Courier New" pitchFamily="18"/>
              </a:rPr>
              <a:t>action</a:t>
            </a:r>
            <a:r>
              <a:rPr lang="en-US" sz="3600" b="1" dirty="0">
                <a:solidFill>
                  <a:srgbClr val="0E1012"/>
                </a:solidFill>
                <a:latin typeface="Courier New" pitchFamily="18"/>
              </a:rPr>
              <a:t> %}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600" b="1" dirty="0">
              <a:solidFill>
                <a:srgbClr val="0E1012"/>
              </a:solidFill>
              <a:latin typeface="Courier New" pitchFamily="18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4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3D1A698-D67D-184C-869F-33BFC62ABB19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Templates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FED6048-3CBB-EBBB-221D-F3A466060E59}"/>
              </a:ext>
            </a:extLst>
          </p:cNvPr>
          <p:cNvSpPr/>
          <p:nvPr/>
        </p:nvSpPr>
        <p:spPr>
          <a:xfrm>
            <a:off x="736559" y="1143000"/>
            <a:ext cx="7975440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sng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Loop</a:t>
            </a:r>
            <a:r>
              <a:rPr lang="en-US" sz="3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{%</a:t>
            </a: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for server in </a:t>
            </a:r>
            <a:r>
              <a:rPr lang="en-US" sz="20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groups.webservers</a:t>
            </a: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%}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Server{{ </a:t>
            </a:r>
            <a:r>
              <a:rPr lang="en-US" sz="20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loop.index</a:t>
            </a: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}} {{ server }}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{%</a:t>
            </a: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en-US" sz="20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endfor</a:t>
            </a: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%}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4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84F00BD-B257-7334-E0C7-5D0D578F3050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Templates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A6F3C57-A1FD-3979-6D59-64023D4BE7EC}"/>
              </a:ext>
            </a:extLst>
          </p:cNvPr>
          <p:cNvSpPr/>
          <p:nvPr/>
        </p:nvSpPr>
        <p:spPr>
          <a:xfrm>
            <a:off x="736559" y="1143000"/>
            <a:ext cx="7975440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sng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Conditions: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{% if </a:t>
            </a:r>
            <a:r>
              <a:rPr lang="en-US" sz="20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ansible_processor_core</a:t>
            </a: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&gt;=2 </a:t>
            </a: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%}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</a:t>
            </a:r>
            <a:r>
              <a:rPr lang="en-US" sz="20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smp</a:t>
            </a: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enable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{% else %}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</a:t>
            </a:r>
            <a:r>
              <a:rPr lang="en-US" sz="20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smp</a:t>
            </a: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disable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{% endif %}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{% if </a:t>
            </a:r>
            <a:r>
              <a:rPr lang="en-US" sz="20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my_variable</a:t>
            </a: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is defined %}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4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0698CDF-3E90-411D-C47E-8719336DA02E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Templates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A1FC51F-93E2-12B5-4961-89D2E8A02854}"/>
              </a:ext>
            </a:extLst>
          </p:cNvPr>
          <p:cNvSpPr/>
          <p:nvPr/>
        </p:nvSpPr>
        <p:spPr>
          <a:xfrm>
            <a:off x="736559" y="1143000"/>
            <a:ext cx="7975440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sng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Filtres</a:t>
            </a:r>
            <a:r>
              <a:rPr lang="en-US" sz="3600" b="1" i="0" u="sng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{% set my_var='mon-premier-test' %}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{{ my_var|replace('-',' ') }}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{% set servers='server1,server2,server3' %}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{% for server in servers.split(',') %}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{{ server }}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{% </a:t>
            </a:r>
            <a:r>
              <a:rPr lang="en-US" sz="20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endfor</a:t>
            </a:r>
            <a:r>
              <a:rPr lang="en-US" sz="2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%}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0698CDF-3E90-411D-C47E-8719336DA02E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Templates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A1FC51F-93E2-12B5-4961-89D2E8A02854}"/>
              </a:ext>
            </a:extLst>
          </p:cNvPr>
          <p:cNvSpPr/>
          <p:nvPr/>
        </p:nvSpPr>
        <p:spPr>
          <a:xfrm>
            <a:off x="736559" y="1143000"/>
            <a:ext cx="7975440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sng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EXAMPLE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u="sng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Template/environment.j2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i="0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http_proxy="{{ proxy_url }}"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i="0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https_proxy="{{ proxy_url }}"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200" i="0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Tasks: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template: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en-US" sz="3200" dirty="0" err="1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src</a:t>
            </a:r>
            <a:r>
              <a:rPr lang="en-US" sz="32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</a:t>
            </a:r>
            <a:r>
              <a:rPr lang="en-US" sz="3200" u="sng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Template/environment.j2</a:t>
            </a:r>
            <a:endParaRPr lang="en-US" sz="3200" dirty="0"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en-US" sz="3200" dirty="0" err="1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dest</a:t>
            </a:r>
            <a:r>
              <a:rPr lang="en-US" sz="32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/</a:t>
            </a:r>
            <a:r>
              <a:rPr lang="en-US" sz="3200" dirty="0" err="1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etc</a:t>
            </a:r>
            <a:r>
              <a:rPr lang="en-US" sz="32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/environment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600" b="1" i="0" u="sng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58318849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F697764-B310-ED60-0E61-A95E1EF063FC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Templates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AAE0244-19CE-8E66-30A5-7A1FBE6FFE20}"/>
              </a:ext>
            </a:extLst>
          </p:cNvPr>
          <p:cNvSpPr/>
          <p:nvPr/>
        </p:nvSpPr>
        <p:spPr>
          <a:xfrm>
            <a:off x="736559" y="1143000"/>
            <a:ext cx="7975440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Build the /</a:t>
            </a:r>
            <a:r>
              <a:rPr lang="en-US" sz="2800" dirty="0" err="1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etc</a:t>
            </a:r>
            <a:r>
              <a:rPr lang="en-US" sz="28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/hosts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from a template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based on inventory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r>
              <a:rPr lang="en-US" sz="28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Local hosts must be defined:</a:t>
            </a:r>
            <a:br>
              <a:rPr lang="en-US" sz="28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</a:br>
            <a:r>
              <a:rPr lang="en-US" sz="2800" dirty="0">
                <a:solidFill>
                  <a:schemeClr val="accent3">
                    <a:lumMod val="50000"/>
                  </a:schemeClr>
                </a:solidFill>
                <a:highlight>
                  <a:srgbClr val="C0C0C0"/>
                </a:highlight>
              </a:rPr>
              <a:t>127.0.0.1   localhost </a:t>
            </a:r>
            <a:r>
              <a:rPr lang="en-US" sz="2800" dirty="0" err="1">
                <a:solidFill>
                  <a:schemeClr val="accent3">
                    <a:lumMod val="50000"/>
                  </a:schemeClr>
                </a:solidFill>
                <a:highlight>
                  <a:srgbClr val="C0C0C0"/>
                </a:highlight>
              </a:rPr>
              <a:t>localhost.localdomain</a:t>
            </a:r>
            <a:endParaRPr lang="en-US" sz="2800" dirty="0">
              <a:solidFill>
                <a:schemeClr val="accent3">
                  <a:lumMod val="50000"/>
                </a:schemeClr>
              </a:solidFill>
              <a:highlight>
                <a:srgbClr val="C0C0C0"/>
              </a:highlight>
            </a:endParaRPr>
          </a:p>
          <a:p>
            <a:r>
              <a:rPr lang="en-US" sz="2800" dirty="0">
                <a:solidFill>
                  <a:schemeClr val="accent3">
                    <a:lumMod val="50000"/>
                  </a:schemeClr>
                </a:solidFill>
                <a:highlight>
                  <a:srgbClr val="C0C0C0"/>
                </a:highlight>
              </a:rPr>
              <a:t>::1         localhost </a:t>
            </a:r>
            <a:r>
              <a:rPr lang="en-US" sz="2800" dirty="0" err="1">
                <a:solidFill>
                  <a:schemeClr val="accent3">
                    <a:lumMod val="50000"/>
                  </a:schemeClr>
                </a:solidFill>
                <a:highlight>
                  <a:srgbClr val="C0C0C0"/>
                </a:highlight>
              </a:rPr>
              <a:t>localhost.localdomain</a:t>
            </a:r>
            <a:endParaRPr lang="en-US" sz="2800" dirty="0">
              <a:solidFill>
                <a:schemeClr val="accent3">
                  <a:lumMod val="50000"/>
                </a:schemeClr>
              </a:solidFill>
              <a:highlight>
                <a:srgbClr val="C0C0C0"/>
              </a:highlight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378310-F8B8-A09F-B5AD-02DDF58A70F9}"/>
              </a:ext>
            </a:extLst>
          </p:cNvPr>
          <p:cNvSpPr txBox="1"/>
          <p:nvPr/>
        </p:nvSpPr>
        <p:spPr>
          <a:xfrm>
            <a:off x="2262253" y="457185"/>
            <a:ext cx="4581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u="sng" dirty="0" err="1"/>
              <a:t>Exercice</a:t>
            </a:r>
            <a:r>
              <a:rPr lang="en-US" sz="1800" b="1" u="sng" dirty="0"/>
              <a:t>: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C02C29-680E-7EAE-6B56-7098A98BD7DB}"/>
              </a:ext>
            </a:extLst>
          </p:cNvPr>
          <p:cNvSpPr txBox="1"/>
          <p:nvPr/>
        </p:nvSpPr>
        <p:spPr>
          <a:xfrm>
            <a:off x="152400" y="2600386"/>
            <a:ext cx="876300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3">
                    <a:lumMod val="50000"/>
                  </a:schemeClr>
                </a:solidFill>
                <a:highlight>
                  <a:srgbClr val="C0C0C0"/>
                </a:highlight>
              </a:rPr>
              <a:t># /</a:t>
            </a:r>
            <a:r>
              <a:rPr lang="en-US" sz="1600" dirty="0" err="1">
                <a:solidFill>
                  <a:schemeClr val="accent3">
                    <a:lumMod val="50000"/>
                  </a:schemeClr>
                </a:solidFill>
                <a:highlight>
                  <a:srgbClr val="C0C0C0"/>
                </a:highlight>
              </a:rPr>
              <a:t>etc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  <a:highlight>
                  <a:srgbClr val="C0C0C0"/>
                </a:highlight>
              </a:rPr>
              <a:t>/hosts template</a:t>
            </a:r>
          </a:p>
          <a:p>
            <a:r>
              <a:rPr lang="en-US" sz="1600" dirty="0">
                <a:solidFill>
                  <a:schemeClr val="accent3">
                    <a:lumMod val="50000"/>
                  </a:schemeClr>
                </a:solidFill>
                <a:highlight>
                  <a:srgbClr val="C0C0C0"/>
                </a:highlight>
              </a:rPr>
              <a:t>127.0.0.1   localhost </a:t>
            </a:r>
            <a:r>
              <a:rPr lang="en-US" sz="1600" dirty="0" err="1">
                <a:solidFill>
                  <a:schemeClr val="accent3">
                    <a:lumMod val="50000"/>
                  </a:schemeClr>
                </a:solidFill>
                <a:highlight>
                  <a:srgbClr val="C0C0C0"/>
                </a:highlight>
              </a:rPr>
              <a:t>localhost.localdomain</a:t>
            </a:r>
            <a:endParaRPr lang="en-US" sz="1600" dirty="0">
              <a:solidFill>
                <a:schemeClr val="accent3">
                  <a:lumMod val="50000"/>
                </a:schemeClr>
              </a:solidFill>
              <a:highlight>
                <a:srgbClr val="C0C0C0"/>
              </a:highlight>
            </a:endParaRPr>
          </a:p>
          <a:p>
            <a:r>
              <a:rPr lang="en-US" sz="1600" dirty="0">
                <a:solidFill>
                  <a:schemeClr val="accent3">
                    <a:lumMod val="50000"/>
                  </a:schemeClr>
                </a:solidFill>
                <a:highlight>
                  <a:srgbClr val="C0C0C0"/>
                </a:highlight>
              </a:rPr>
              <a:t>::1         localhost </a:t>
            </a:r>
            <a:r>
              <a:rPr lang="en-US" sz="1600" dirty="0" err="1">
                <a:solidFill>
                  <a:schemeClr val="accent3">
                    <a:lumMod val="50000"/>
                  </a:schemeClr>
                </a:solidFill>
                <a:highlight>
                  <a:srgbClr val="C0C0C0"/>
                </a:highlight>
              </a:rPr>
              <a:t>localhost.localdomain</a:t>
            </a:r>
            <a:endParaRPr lang="en-US" sz="1600" dirty="0">
              <a:solidFill>
                <a:schemeClr val="accent3">
                  <a:lumMod val="50000"/>
                </a:schemeClr>
              </a:solidFill>
              <a:highlight>
                <a:srgbClr val="C0C0C0"/>
              </a:highlight>
            </a:endParaRPr>
          </a:p>
          <a:p>
            <a:endParaRPr lang="en-US" sz="1600" dirty="0">
              <a:solidFill>
                <a:schemeClr val="accent3">
                  <a:lumMod val="50000"/>
                </a:schemeClr>
              </a:solidFill>
              <a:highlight>
                <a:srgbClr val="C0C0C0"/>
              </a:highlight>
            </a:endParaRPr>
          </a:p>
          <a:p>
            <a:r>
              <a:rPr lang="en-US" sz="1600" dirty="0">
                <a:solidFill>
                  <a:schemeClr val="accent3">
                    <a:lumMod val="50000"/>
                  </a:schemeClr>
                </a:solidFill>
                <a:highlight>
                  <a:srgbClr val="C0C0C0"/>
                </a:highlight>
              </a:rPr>
              <a:t>{% for host in groups['all'] %}</a:t>
            </a:r>
          </a:p>
          <a:p>
            <a:r>
              <a:rPr lang="en-US" sz="1600" dirty="0">
                <a:solidFill>
                  <a:schemeClr val="accent3">
                    <a:lumMod val="50000"/>
                  </a:schemeClr>
                </a:solidFill>
                <a:highlight>
                  <a:srgbClr val="C0C0C0"/>
                </a:highlight>
              </a:rPr>
              <a:t>{{ </a:t>
            </a:r>
            <a:r>
              <a:rPr lang="en-US" sz="1600" dirty="0" err="1">
                <a:solidFill>
                  <a:schemeClr val="accent3">
                    <a:lumMod val="50000"/>
                  </a:schemeClr>
                </a:solidFill>
                <a:highlight>
                  <a:srgbClr val="C0C0C0"/>
                </a:highlight>
              </a:rPr>
              <a:t>hostvars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  <a:highlight>
                  <a:srgbClr val="C0C0C0"/>
                </a:highlight>
              </a:rPr>
              <a:t>[host]['ansible_default_ipv4']['address'] }} {{ host }} {{ </a:t>
            </a:r>
            <a:r>
              <a:rPr lang="en-US" sz="1600" dirty="0" err="1">
                <a:solidFill>
                  <a:schemeClr val="accent3">
                    <a:lumMod val="50000"/>
                  </a:schemeClr>
                </a:solidFill>
                <a:highlight>
                  <a:srgbClr val="C0C0C0"/>
                </a:highlight>
              </a:rPr>
              <a:t>hostvars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  <a:highlight>
                  <a:srgbClr val="C0C0C0"/>
                </a:highlight>
              </a:rPr>
              <a:t>[host]['</a:t>
            </a:r>
            <a:r>
              <a:rPr lang="en-US" sz="1600" dirty="0" err="1">
                <a:solidFill>
                  <a:schemeClr val="accent3">
                    <a:lumMod val="50000"/>
                  </a:schemeClr>
                </a:solidFill>
                <a:highlight>
                  <a:srgbClr val="C0C0C0"/>
                </a:highlight>
              </a:rPr>
              <a:t>ansible_hostname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  <a:highlight>
                  <a:srgbClr val="C0C0C0"/>
                </a:highlight>
              </a:rPr>
              <a:t>'] }}</a:t>
            </a:r>
          </a:p>
          <a:p>
            <a:r>
              <a:rPr lang="en-US" sz="1600" dirty="0">
                <a:solidFill>
                  <a:schemeClr val="accent3">
                    <a:lumMod val="50000"/>
                  </a:schemeClr>
                </a:solidFill>
                <a:highlight>
                  <a:srgbClr val="C0C0C0"/>
                </a:highlight>
              </a:rPr>
              <a:t>{% </a:t>
            </a:r>
            <a:r>
              <a:rPr lang="en-US" sz="1600" dirty="0" err="1">
                <a:solidFill>
                  <a:schemeClr val="accent3">
                    <a:lumMod val="50000"/>
                  </a:schemeClr>
                </a:solidFill>
                <a:highlight>
                  <a:srgbClr val="C0C0C0"/>
                </a:highlight>
              </a:rPr>
              <a:t>endfor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  <a:highlight>
                  <a:srgbClr val="C0C0C0"/>
                </a:highlight>
              </a:rPr>
              <a:t> %}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734DC0-B280-8CA0-AAFB-34CF71A2F033}"/>
              </a:ext>
            </a:extLst>
          </p:cNvPr>
          <p:cNvSpPr txBox="1"/>
          <p:nvPr/>
        </p:nvSpPr>
        <p:spPr>
          <a:xfrm>
            <a:off x="228600" y="4343400"/>
            <a:ext cx="7772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---</a:t>
            </a:r>
          </a:p>
          <a:p>
            <a:r>
              <a:rPr lang="en-US" sz="1600" dirty="0"/>
              <a:t>- hosts: all</a:t>
            </a:r>
          </a:p>
          <a:p>
            <a:r>
              <a:rPr lang="en-US" sz="1600" dirty="0"/>
              <a:t>  become: yes</a:t>
            </a:r>
          </a:p>
          <a:p>
            <a:r>
              <a:rPr lang="en-US" sz="1600" dirty="0"/>
              <a:t>  tasks:</a:t>
            </a:r>
          </a:p>
          <a:p>
            <a:r>
              <a:rPr lang="en-US" sz="1600" dirty="0"/>
              <a:t>    - name: Generate /</a:t>
            </a:r>
            <a:r>
              <a:rPr lang="en-US" sz="1600" dirty="0" err="1"/>
              <a:t>etc</a:t>
            </a:r>
            <a:r>
              <a:rPr lang="en-US" sz="1600" dirty="0"/>
              <a:t>/hosts file from template</a:t>
            </a:r>
          </a:p>
          <a:p>
            <a:r>
              <a:rPr lang="en-US" sz="1600" dirty="0"/>
              <a:t>      template: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src</a:t>
            </a:r>
            <a:r>
              <a:rPr lang="en-US" sz="1600" dirty="0"/>
              <a:t>: hosts.j2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dest</a:t>
            </a:r>
            <a:r>
              <a:rPr lang="en-US" sz="1600" dirty="0"/>
              <a:t>: /</a:t>
            </a:r>
            <a:r>
              <a:rPr lang="en-US" sz="1600" dirty="0" err="1"/>
              <a:t>etc</a:t>
            </a:r>
            <a:r>
              <a:rPr lang="en-US" sz="1600" dirty="0"/>
              <a:t>/hosts</a:t>
            </a:r>
          </a:p>
          <a:p>
            <a:r>
              <a:rPr lang="en-US" sz="1600" dirty="0"/>
              <a:t>      when: </a:t>
            </a:r>
            <a:r>
              <a:rPr lang="en-US" sz="1600" dirty="0" err="1"/>
              <a:t>hostvars</a:t>
            </a:r>
            <a:r>
              <a:rPr lang="en-US" sz="1600" dirty="0"/>
              <a:t>[</a:t>
            </a:r>
            <a:r>
              <a:rPr lang="en-US" sz="1600" dirty="0" err="1"/>
              <a:t>inventory_hostname</a:t>
            </a:r>
            <a:r>
              <a:rPr lang="en-US" sz="1600" dirty="0"/>
              <a:t>]['ansible_default_ipv4'] is defined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420C57-ED08-DDA7-1EFE-BDA878FA5828}"/>
              </a:ext>
            </a:extLst>
          </p:cNvPr>
          <p:cNvSpPr txBox="1"/>
          <p:nvPr/>
        </p:nvSpPr>
        <p:spPr>
          <a:xfrm>
            <a:off x="152400" y="127099"/>
            <a:ext cx="86487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highlight>
                  <a:srgbClr val="C0C0C0"/>
                </a:highlight>
              </a:rPr>
              <a:t>---</a:t>
            </a:r>
          </a:p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highlight>
                  <a:srgbClr val="C0C0C0"/>
                </a:highlight>
              </a:rPr>
              <a:t>- name: Update /</a:t>
            </a:r>
            <a:r>
              <a:rPr lang="en-US" sz="1400" dirty="0" err="1">
                <a:solidFill>
                  <a:schemeClr val="accent2">
                    <a:lumMod val="75000"/>
                  </a:schemeClr>
                </a:solidFill>
                <a:highlight>
                  <a:srgbClr val="C0C0C0"/>
                </a:highlight>
              </a:rPr>
              <a:t>etc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highlight>
                  <a:srgbClr val="C0C0C0"/>
                </a:highlight>
              </a:rPr>
              <a:t>/hosts</a:t>
            </a:r>
          </a:p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highlight>
                  <a:srgbClr val="C0C0C0"/>
                </a:highlight>
              </a:rPr>
              <a:t>  hosts: all</a:t>
            </a:r>
          </a:p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highlight>
                  <a:srgbClr val="C0C0C0"/>
                </a:highlight>
              </a:rPr>
              <a:t>  become: yes</a:t>
            </a:r>
          </a:p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highlight>
                  <a:srgbClr val="C0C0C0"/>
                </a:highlight>
              </a:rPr>
              <a:t>  tasks:</a:t>
            </a:r>
          </a:p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highlight>
                  <a:srgbClr val="C0C0C0"/>
                </a:highlight>
              </a:rPr>
              <a:t>    - name: Update /</a:t>
            </a:r>
            <a:r>
              <a:rPr lang="en-US" sz="1400" dirty="0" err="1">
                <a:solidFill>
                  <a:schemeClr val="accent2">
                    <a:lumMod val="75000"/>
                  </a:schemeClr>
                </a:solidFill>
                <a:highlight>
                  <a:srgbClr val="C0C0C0"/>
                </a:highlight>
              </a:rPr>
              <a:t>etc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highlight>
                  <a:srgbClr val="C0C0C0"/>
                </a:highlight>
              </a:rPr>
              <a:t>/hosts with all servers and add/change GOOGLE.COM</a:t>
            </a:r>
          </a:p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highlight>
                  <a:srgbClr val="C0C0C0"/>
                </a:highlight>
              </a:rPr>
              <a:t>      </a:t>
            </a:r>
            <a:r>
              <a:rPr lang="en-US" sz="1400" dirty="0" err="1">
                <a:solidFill>
                  <a:schemeClr val="accent2">
                    <a:lumMod val="75000"/>
                  </a:schemeClr>
                </a:solidFill>
                <a:highlight>
                  <a:srgbClr val="C0C0C0"/>
                </a:highlight>
              </a:rPr>
              <a:t>lineinfile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highlight>
                  <a:srgbClr val="C0C0C0"/>
                </a:highlight>
              </a:rPr>
              <a:t>:</a:t>
            </a:r>
          </a:p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highlight>
                  <a:srgbClr val="C0C0C0"/>
                </a:highlight>
              </a:rPr>
              <a:t>        path: /</a:t>
            </a:r>
            <a:r>
              <a:rPr lang="en-US" sz="1400" dirty="0" err="1">
                <a:solidFill>
                  <a:schemeClr val="accent2">
                    <a:lumMod val="75000"/>
                  </a:schemeClr>
                </a:solidFill>
                <a:highlight>
                  <a:srgbClr val="C0C0C0"/>
                </a:highlight>
              </a:rPr>
              <a:t>etc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highlight>
                  <a:srgbClr val="C0C0C0"/>
                </a:highlight>
              </a:rPr>
              <a:t>/hosts</a:t>
            </a:r>
          </a:p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highlight>
                  <a:srgbClr val="C0C0C0"/>
                </a:highlight>
              </a:rPr>
              <a:t>        line: "{{ hostvars[item]['ansible_default_ipv4']['address'] }} {{ item }}"</a:t>
            </a:r>
          </a:p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highlight>
                  <a:srgbClr val="C0C0C0"/>
                </a:highlight>
              </a:rPr>
              <a:t>      loop: "{{ groups['all'] }}"</a:t>
            </a:r>
          </a:p>
        </p:txBody>
      </p:sp>
    </p:spTree>
    <p:extLst>
      <p:ext uri="{BB962C8B-B14F-4D97-AF65-F5344CB8AC3E}">
        <p14:creationId xmlns:p14="http://schemas.microsoft.com/office/powerpoint/2010/main" val="267189653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8037882-B925-366B-2747-946D51351062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36F16F3-9510-8CE1-EE41-B48DB624FEC0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sng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Asynchroneous</a:t>
            </a:r>
            <a:r>
              <a:rPr lang="en-US" sz="3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https://docs.ansible.com/ansible/latest/user_guide/playbooks_async.html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0E9BAB-E1E5-57C8-9E4E-CFD63DFEE526}"/>
              </a:ext>
            </a:extLst>
          </p:cNvPr>
          <p:cNvSpPr txBox="1"/>
          <p:nvPr/>
        </p:nvSpPr>
        <p:spPr>
          <a:xfrm>
            <a:off x="342900" y="751344"/>
            <a:ext cx="84582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What Does Asynchronous Mean?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Asynchronous operations do not occur at the same time. They allow tasks to run independently of the main program flow.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Importance in Programming: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Asynchronous programming is crucial for improving the efficiency and responsiveness of applications, especially in I/O-bound and high-latency operations.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Key Concepts: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Concurrency: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Multiple tasks make progress without waiting for each other.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Non-blocking: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Operations that do not block the execution of other tasks.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Callbacks, Promises, and Async/Await: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Mechanisms to handle asynchronous code in various programming languages.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Why Use Asynchronous Programming?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Performance: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Enhances the performance of applications by allowing multiple operations to run concurrently.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User Experience: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Improves the responsiveness of applications, providing a smoother user experience.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Scalability: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Helps in building scalable applications that can handle numerous simultaneous operations efficiently.</a:t>
            </a:r>
          </a:p>
        </p:txBody>
      </p:sp>
    </p:spTree>
    <p:extLst>
      <p:ext uri="{BB962C8B-B14F-4D97-AF65-F5344CB8AC3E}">
        <p14:creationId xmlns:p14="http://schemas.microsoft.com/office/powerpoint/2010/main" val="239831652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9D12A94-EBBD-6A7E-1FCE-858AFF83B752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CD38BC3-CA3A-F34A-42C6-BEE1EB3CE019}"/>
              </a:ext>
            </a:extLst>
          </p:cNvPr>
          <p:cNvSpPr/>
          <p:nvPr/>
        </p:nvSpPr>
        <p:spPr>
          <a:xfrm>
            <a:off x="736559" y="1143000"/>
            <a:ext cx="7632719" cy="53340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Run tasks in background until timeout: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F00B33-0BC7-EAC9-EDCF-BBBB28DFAE62}"/>
              </a:ext>
            </a:extLst>
          </p:cNvPr>
          <p:cNvSpPr txBox="1"/>
          <p:nvPr/>
        </p:nvSpPr>
        <p:spPr>
          <a:xfrm>
            <a:off x="533400" y="310680"/>
            <a:ext cx="3198240" cy="6393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/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0" i="0" u="none" strike="noStrike" cap="none" baseline="0" dirty="0" err="1">
                <a:ln>
                  <a:noFill/>
                </a:ln>
                <a:solidFill>
                  <a:srgbClr val="00437A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Asynchroneous</a:t>
            </a:r>
            <a:endParaRPr lang="en-US" sz="3600" b="0" i="0" u="none" strike="noStrike" cap="none" baseline="0" dirty="0">
              <a:ln>
                <a:noFill/>
              </a:ln>
              <a:solidFill>
                <a:srgbClr val="00437A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3CCEC4-7C65-B5BB-AFA6-68513702AB04}"/>
              </a:ext>
            </a:extLst>
          </p:cNvPr>
          <p:cNvSpPr txBox="1"/>
          <p:nvPr/>
        </p:nvSpPr>
        <p:spPr>
          <a:xfrm>
            <a:off x="773824" y="1828800"/>
            <a:ext cx="6581519" cy="137160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/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tasks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-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name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: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simulate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long running op (15 sec),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wait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for up to 45 sec,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poll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every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5 sec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command: /bin/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sleep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15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</a:t>
            </a:r>
            <a:r>
              <a:rPr lang="fr-FR" sz="1200" b="1" i="0" u="none" strike="noStrike" cap="none" baseline="0" dirty="0" err="1">
                <a:ln>
                  <a:noFill/>
                </a:ln>
                <a:solidFill>
                  <a:srgbClr val="00B05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async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: 45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</a:t>
            </a:r>
            <a:r>
              <a:rPr lang="fr-FR" sz="1200" b="1" i="0" u="none" strike="noStrike" cap="none" baseline="0" dirty="0" err="1">
                <a:ln>
                  <a:noFill/>
                </a:ln>
                <a:solidFill>
                  <a:srgbClr val="00B05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poll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: 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EBC79A-1D6A-9327-C14E-462D6A05AE04}"/>
              </a:ext>
            </a:extLst>
          </p:cNvPr>
          <p:cNvSpPr/>
          <p:nvPr/>
        </p:nvSpPr>
        <p:spPr>
          <a:xfrm>
            <a:off x="609601" y="3581400"/>
            <a:ext cx="70866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26EB47-B0E4-4C4C-FEF6-10F5E74E9FC6}"/>
              </a:ext>
            </a:extLst>
          </p:cNvPr>
          <p:cNvSpPr/>
          <p:nvPr/>
        </p:nvSpPr>
        <p:spPr>
          <a:xfrm>
            <a:off x="926984" y="3581400"/>
            <a:ext cx="220266" cy="381000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6779AD-B1F4-7E4F-89AB-B0FED1ED4AB3}"/>
              </a:ext>
            </a:extLst>
          </p:cNvPr>
          <p:cNvSpPr/>
          <p:nvPr/>
        </p:nvSpPr>
        <p:spPr>
          <a:xfrm>
            <a:off x="2374784" y="3581400"/>
            <a:ext cx="220266" cy="381000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F1AE17-0096-932C-7519-81E04702AE07}"/>
              </a:ext>
            </a:extLst>
          </p:cNvPr>
          <p:cNvSpPr/>
          <p:nvPr/>
        </p:nvSpPr>
        <p:spPr>
          <a:xfrm>
            <a:off x="3822584" y="3581400"/>
            <a:ext cx="220266" cy="381000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698C8A-8C6D-9E49-7296-FE8B38EEAEAD}"/>
              </a:ext>
            </a:extLst>
          </p:cNvPr>
          <p:cNvSpPr/>
          <p:nvPr/>
        </p:nvSpPr>
        <p:spPr>
          <a:xfrm>
            <a:off x="5271013" y="3581400"/>
            <a:ext cx="220266" cy="381000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C202D2-F8EB-B0C2-C99D-71A5F39FF860}"/>
              </a:ext>
            </a:extLst>
          </p:cNvPr>
          <p:cNvSpPr/>
          <p:nvPr/>
        </p:nvSpPr>
        <p:spPr>
          <a:xfrm>
            <a:off x="6790135" y="3581400"/>
            <a:ext cx="220266" cy="381000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28E358-21AF-9F2F-B6C2-11804CDEEF5F}"/>
              </a:ext>
            </a:extLst>
          </p:cNvPr>
          <p:cNvSpPr/>
          <p:nvPr/>
        </p:nvSpPr>
        <p:spPr>
          <a:xfrm>
            <a:off x="1680649" y="3581400"/>
            <a:ext cx="220266" cy="381000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0DAE51-7207-89AD-9CE7-FFB325568821}"/>
              </a:ext>
            </a:extLst>
          </p:cNvPr>
          <p:cNvSpPr/>
          <p:nvPr/>
        </p:nvSpPr>
        <p:spPr>
          <a:xfrm>
            <a:off x="3128449" y="3581400"/>
            <a:ext cx="220266" cy="381000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486DC9-59FE-AAFC-2E1B-15D524D2AAEA}"/>
              </a:ext>
            </a:extLst>
          </p:cNvPr>
          <p:cNvSpPr/>
          <p:nvPr/>
        </p:nvSpPr>
        <p:spPr>
          <a:xfrm>
            <a:off x="4576249" y="3581400"/>
            <a:ext cx="220266" cy="381000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5691AD-013E-0B20-26BE-91846861A9DD}"/>
              </a:ext>
            </a:extLst>
          </p:cNvPr>
          <p:cNvSpPr/>
          <p:nvPr/>
        </p:nvSpPr>
        <p:spPr>
          <a:xfrm>
            <a:off x="6024678" y="3581400"/>
            <a:ext cx="220266" cy="381000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6DBDFD-CCBB-15BC-D3D2-8B85C48C9CE4}"/>
              </a:ext>
            </a:extLst>
          </p:cNvPr>
          <p:cNvSpPr/>
          <p:nvPr/>
        </p:nvSpPr>
        <p:spPr>
          <a:xfrm>
            <a:off x="7543800" y="3581400"/>
            <a:ext cx="220266" cy="381000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331BE160-8AC7-DA7F-58ED-D93E0D14FB99}"/>
              </a:ext>
            </a:extLst>
          </p:cNvPr>
          <p:cNvSpPr/>
          <p:nvPr/>
        </p:nvSpPr>
        <p:spPr>
          <a:xfrm>
            <a:off x="609601" y="4427376"/>
            <a:ext cx="7154465" cy="53340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Async: 45 seconds</a:t>
            </a:r>
          </a:p>
        </p:txBody>
      </p:sp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80B44F40-9FCE-78DF-8A9B-39BE48DA474D}"/>
              </a:ext>
            </a:extLst>
          </p:cNvPr>
          <p:cNvSpPr/>
          <p:nvPr/>
        </p:nvSpPr>
        <p:spPr>
          <a:xfrm>
            <a:off x="2371674" y="4004388"/>
            <a:ext cx="753665" cy="38100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poll: 5 seconds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9D12A94-EBBD-6A7E-1FCE-858AFF83B752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CD38BC3-CA3A-F34A-42C6-BEE1EB3CE019}"/>
              </a:ext>
            </a:extLst>
          </p:cNvPr>
          <p:cNvSpPr/>
          <p:nvPr/>
        </p:nvSpPr>
        <p:spPr>
          <a:xfrm>
            <a:off x="736559" y="1143000"/>
            <a:ext cx="7632719" cy="53340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6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Run tasks in background: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F00B33-0BC7-EAC9-EDCF-BBBB28DFAE62}"/>
              </a:ext>
            </a:extLst>
          </p:cNvPr>
          <p:cNvSpPr txBox="1"/>
          <p:nvPr/>
        </p:nvSpPr>
        <p:spPr>
          <a:xfrm>
            <a:off x="459441" y="160140"/>
            <a:ext cx="3198240" cy="6393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/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0" i="0" u="none" strike="noStrike" cap="none" baseline="0" dirty="0" err="1">
                <a:ln>
                  <a:noFill/>
                </a:ln>
                <a:solidFill>
                  <a:srgbClr val="00437A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Asynchrone</a:t>
            </a:r>
            <a:endParaRPr lang="en-US" sz="3600" b="0" i="0" u="none" strike="noStrike" cap="none" baseline="0" dirty="0">
              <a:ln>
                <a:noFill/>
              </a:ln>
              <a:solidFill>
                <a:srgbClr val="00437A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0E5B21-C9FC-DE7B-C238-1033EDF5B614}"/>
              </a:ext>
            </a:extLst>
          </p:cNvPr>
          <p:cNvSpPr txBox="1"/>
          <p:nvPr/>
        </p:nvSpPr>
        <p:spPr>
          <a:xfrm>
            <a:off x="773824" y="1676400"/>
            <a:ext cx="6581519" cy="108108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/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- </a:t>
            </a:r>
            <a:r>
              <a:rPr lang="fr-FR" sz="10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name</a:t>
            </a: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: 'YUM - </a:t>
            </a:r>
            <a:r>
              <a:rPr lang="fr-FR" sz="10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async</a:t>
            </a: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</a:t>
            </a:r>
            <a:r>
              <a:rPr lang="fr-FR" sz="10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task</a:t>
            </a: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'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</a:t>
            </a:r>
            <a:r>
              <a:rPr lang="fr-FR" sz="10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yum</a:t>
            </a: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</a:t>
            </a:r>
            <a:r>
              <a:rPr lang="fr-FR" sz="10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name</a:t>
            </a: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: docker-</a:t>
            </a:r>
            <a:r>
              <a:rPr lang="fr-FR" sz="10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io</a:t>
            </a:r>
            <a:endParaRPr lang="fr-FR" sz="10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Liberation Mono" pitchFamily="49"/>
              <a:ea typeface="Liberation Mono" pitchFamily="49"/>
              <a:cs typeface="Liberation Mono" pitchFamily="49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state: </a:t>
            </a:r>
            <a:r>
              <a:rPr lang="fr-FR" sz="10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installed</a:t>
            </a:r>
            <a:endParaRPr lang="fr-FR" sz="10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Liberation Mono" pitchFamily="49"/>
              <a:ea typeface="Liberation Mono" pitchFamily="49"/>
              <a:cs typeface="Liberation Mono" pitchFamily="49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</a:t>
            </a:r>
            <a:r>
              <a:rPr lang="fr-FR" sz="1000" b="1" i="0" u="none" strike="noStrike" cap="none" baseline="0" dirty="0" err="1">
                <a:ln>
                  <a:noFill/>
                </a:ln>
                <a:solidFill>
                  <a:srgbClr val="00B05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async</a:t>
            </a: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: 1000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</a:t>
            </a:r>
            <a:r>
              <a:rPr lang="fr-FR" sz="1000" b="1" i="0" u="none" strike="noStrike" cap="none" baseline="0" dirty="0" err="1">
                <a:ln>
                  <a:noFill/>
                </a:ln>
                <a:solidFill>
                  <a:srgbClr val="00B05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poll</a:t>
            </a: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: 0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</a:t>
            </a:r>
            <a:r>
              <a:rPr lang="fr-FR" sz="10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register</a:t>
            </a: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: </a:t>
            </a:r>
            <a:r>
              <a:rPr lang="fr-FR" sz="1000" b="1" i="0" u="none" strike="noStrike" cap="none" baseline="0" dirty="0" err="1">
                <a:ln>
                  <a:noFill/>
                </a:ln>
                <a:solidFill>
                  <a:srgbClr val="FF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yum_sleeper</a:t>
            </a:r>
            <a:endParaRPr lang="fr-FR" sz="1000" b="1" i="0" u="none" strike="noStrike" cap="none" baseline="0" dirty="0">
              <a:ln>
                <a:noFill/>
              </a:ln>
              <a:solidFill>
                <a:srgbClr val="FF0000"/>
              </a:solidFill>
              <a:latin typeface="Liberation Mono" pitchFamily="49"/>
              <a:ea typeface="Liberation Mono" pitchFamily="49"/>
              <a:cs typeface="Liberation Mono" pitchFamily="4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30775B-7EB5-2C50-84A6-406880A1564F}"/>
              </a:ext>
            </a:extLst>
          </p:cNvPr>
          <p:cNvSpPr txBox="1"/>
          <p:nvPr/>
        </p:nvSpPr>
        <p:spPr>
          <a:xfrm>
            <a:off x="792000" y="3744000"/>
            <a:ext cx="7057440" cy="109410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/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- </a:t>
            </a:r>
            <a:r>
              <a:rPr lang="fr-FR" sz="10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name</a:t>
            </a: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: 'YUM - check on </a:t>
            </a:r>
            <a:r>
              <a:rPr lang="fr-FR" sz="10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async</a:t>
            </a: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</a:t>
            </a:r>
            <a:r>
              <a:rPr lang="fr-FR" sz="10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task</a:t>
            </a: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'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</a:t>
            </a:r>
            <a:r>
              <a:rPr lang="fr-FR" sz="10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async_status</a:t>
            </a: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</a:t>
            </a:r>
            <a:r>
              <a:rPr lang="fr-FR" sz="10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jid</a:t>
            </a: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: "{{ </a:t>
            </a:r>
            <a:r>
              <a:rPr lang="fr-FR" sz="1000" b="1" i="0" u="none" strike="noStrike" cap="none" baseline="0" dirty="0" err="1">
                <a:ln>
                  <a:noFill/>
                </a:ln>
                <a:solidFill>
                  <a:srgbClr val="FF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yum_sleeper</a:t>
            </a:r>
            <a:r>
              <a:rPr lang="fr-FR" sz="10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.ansible_job_id</a:t>
            </a: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}}"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</a:t>
            </a:r>
            <a:r>
              <a:rPr lang="fr-FR" sz="10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register</a:t>
            </a: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: </a:t>
            </a:r>
            <a:r>
              <a:rPr lang="fr-FR" sz="10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job_result</a:t>
            </a:r>
            <a:endParaRPr lang="fr-FR" sz="10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Liberation Mono" pitchFamily="49"/>
              <a:ea typeface="Liberation Mono" pitchFamily="49"/>
              <a:cs typeface="Liberation Mono" pitchFamily="49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</a:t>
            </a:r>
            <a:r>
              <a:rPr lang="fr-FR" sz="1000" b="1" i="0" u="none" strike="noStrike" cap="none" baseline="0" dirty="0" err="1">
                <a:ln>
                  <a:noFill/>
                </a:ln>
                <a:solidFill>
                  <a:srgbClr val="00B05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until</a:t>
            </a: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: </a:t>
            </a:r>
            <a:r>
              <a:rPr lang="fr-FR" sz="10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job_result.finished</a:t>
            </a:r>
            <a:endParaRPr lang="fr-FR" sz="10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Liberation Mono" pitchFamily="49"/>
              <a:ea typeface="Liberation Mono" pitchFamily="49"/>
              <a:cs typeface="Liberation Mono" pitchFamily="49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</a:t>
            </a:r>
            <a:r>
              <a:rPr lang="fr-FR" sz="1000" b="1" i="0" u="none" strike="noStrike" cap="none" baseline="0" dirty="0">
                <a:ln>
                  <a:noFill/>
                </a:ln>
                <a:solidFill>
                  <a:srgbClr val="00B05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retries</a:t>
            </a:r>
            <a:r>
              <a:rPr lang="fr-FR" sz="10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: 30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000" dirty="0"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</a:t>
            </a:r>
            <a:r>
              <a:rPr lang="fr-FR" sz="1000" b="1" dirty="0" err="1">
                <a:solidFill>
                  <a:srgbClr val="00B05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delay</a:t>
            </a:r>
            <a:r>
              <a:rPr lang="fr-FR" sz="1000" dirty="0"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: 10</a:t>
            </a:r>
            <a:endParaRPr lang="fr-FR" sz="10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Liberation Mono" pitchFamily="49"/>
              <a:ea typeface="Liberation Mono" pitchFamily="49"/>
              <a:cs typeface="Liberation Mono" pitchFamily="49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C8C1CE4-B4EC-8B53-E354-B53AE4BB7E65}"/>
              </a:ext>
            </a:extLst>
          </p:cNvPr>
          <p:cNvSpPr/>
          <p:nvPr/>
        </p:nvSpPr>
        <p:spPr>
          <a:xfrm>
            <a:off x="736559" y="3114000"/>
            <a:ext cx="7632719" cy="53340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6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Check and wait for task end: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A3B616-CCC5-31B3-88BB-E593CA053F97}"/>
              </a:ext>
            </a:extLst>
          </p:cNvPr>
          <p:cNvSpPr/>
          <p:nvPr/>
        </p:nvSpPr>
        <p:spPr>
          <a:xfrm>
            <a:off x="609600" y="4991100"/>
            <a:ext cx="708660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84475E-15A1-41C0-0B63-6DF635C90654}"/>
              </a:ext>
            </a:extLst>
          </p:cNvPr>
          <p:cNvSpPr/>
          <p:nvPr/>
        </p:nvSpPr>
        <p:spPr>
          <a:xfrm>
            <a:off x="926983" y="4991100"/>
            <a:ext cx="220266" cy="381000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54F228-6F46-001A-0CF6-81324676E60D}"/>
              </a:ext>
            </a:extLst>
          </p:cNvPr>
          <p:cNvSpPr/>
          <p:nvPr/>
        </p:nvSpPr>
        <p:spPr>
          <a:xfrm>
            <a:off x="2374783" y="4991100"/>
            <a:ext cx="220266" cy="381000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5500F3-21A3-A041-75B1-80B07649138C}"/>
              </a:ext>
            </a:extLst>
          </p:cNvPr>
          <p:cNvSpPr/>
          <p:nvPr/>
        </p:nvSpPr>
        <p:spPr>
          <a:xfrm>
            <a:off x="3822583" y="4991100"/>
            <a:ext cx="220266" cy="381000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59EA27-96D3-1CD9-11C4-D55665B451AD}"/>
              </a:ext>
            </a:extLst>
          </p:cNvPr>
          <p:cNvSpPr/>
          <p:nvPr/>
        </p:nvSpPr>
        <p:spPr>
          <a:xfrm>
            <a:off x="5271012" y="4991100"/>
            <a:ext cx="220266" cy="381000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EA7CAC-0BDD-9ABC-5A72-993720A8B24E}"/>
              </a:ext>
            </a:extLst>
          </p:cNvPr>
          <p:cNvSpPr/>
          <p:nvPr/>
        </p:nvSpPr>
        <p:spPr>
          <a:xfrm>
            <a:off x="6790134" y="4991100"/>
            <a:ext cx="220266" cy="381000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B6EE1D-D43C-B118-CBB6-3B800B858048}"/>
              </a:ext>
            </a:extLst>
          </p:cNvPr>
          <p:cNvSpPr/>
          <p:nvPr/>
        </p:nvSpPr>
        <p:spPr>
          <a:xfrm>
            <a:off x="1680648" y="4991100"/>
            <a:ext cx="220266" cy="381000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41FB77-269C-428A-F799-41E48F6118A5}"/>
              </a:ext>
            </a:extLst>
          </p:cNvPr>
          <p:cNvSpPr/>
          <p:nvPr/>
        </p:nvSpPr>
        <p:spPr>
          <a:xfrm>
            <a:off x="3128448" y="4991100"/>
            <a:ext cx="220266" cy="381000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A0C506-68D3-21BB-1993-C5105F714771}"/>
              </a:ext>
            </a:extLst>
          </p:cNvPr>
          <p:cNvSpPr/>
          <p:nvPr/>
        </p:nvSpPr>
        <p:spPr>
          <a:xfrm>
            <a:off x="4576248" y="4991100"/>
            <a:ext cx="220266" cy="381000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D5704A-0D4C-52E3-D0B5-0BFFD2081B32}"/>
              </a:ext>
            </a:extLst>
          </p:cNvPr>
          <p:cNvSpPr/>
          <p:nvPr/>
        </p:nvSpPr>
        <p:spPr>
          <a:xfrm>
            <a:off x="6024677" y="4991100"/>
            <a:ext cx="220266" cy="381000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76156D-847B-9205-CD4C-FE03831F7639}"/>
              </a:ext>
            </a:extLst>
          </p:cNvPr>
          <p:cNvSpPr/>
          <p:nvPr/>
        </p:nvSpPr>
        <p:spPr>
          <a:xfrm>
            <a:off x="7543799" y="4991100"/>
            <a:ext cx="220266" cy="381000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CE2778-804A-86A1-7B62-72C838D3FB5A}"/>
              </a:ext>
            </a:extLst>
          </p:cNvPr>
          <p:cNvSpPr/>
          <p:nvPr/>
        </p:nvSpPr>
        <p:spPr>
          <a:xfrm>
            <a:off x="1028700" y="5525100"/>
            <a:ext cx="7086600" cy="38100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1E6451-1E52-E58E-96EC-51CAA125A8D5}"/>
              </a:ext>
            </a:extLst>
          </p:cNvPr>
          <p:cNvSpPr/>
          <p:nvPr/>
        </p:nvSpPr>
        <p:spPr>
          <a:xfrm>
            <a:off x="2099748" y="5525100"/>
            <a:ext cx="220266" cy="381000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1813E9-B169-01AB-B2DF-2E44416E28B1}"/>
              </a:ext>
            </a:extLst>
          </p:cNvPr>
          <p:cNvSpPr/>
          <p:nvPr/>
        </p:nvSpPr>
        <p:spPr>
          <a:xfrm>
            <a:off x="3547548" y="5525100"/>
            <a:ext cx="220266" cy="381000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309B10-5252-CEA1-D837-466F709BCECD}"/>
              </a:ext>
            </a:extLst>
          </p:cNvPr>
          <p:cNvSpPr/>
          <p:nvPr/>
        </p:nvSpPr>
        <p:spPr>
          <a:xfrm>
            <a:off x="4995348" y="5525100"/>
            <a:ext cx="220266" cy="381000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4F96D21-98FE-90DF-B66B-549FF8C45D48}"/>
              </a:ext>
            </a:extLst>
          </p:cNvPr>
          <p:cNvSpPr/>
          <p:nvPr/>
        </p:nvSpPr>
        <p:spPr>
          <a:xfrm>
            <a:off x="6443777" y="5525100"/>
            <a:ext cx="220266" cy="381000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40FCD3-106E-97D4-D553-118504AAF314}"/>
              </a:ext>
            </a:extLst>
          </p:cNvPr>
          <p:cNvSpPr/>
          <p:nvPr/>
        </p:nvSpPr>
        <p:spPr>
          <a:xfrm>
            <a:off x="7962899" y="5525100"/>
            <a:ext cx="220266" cy="381000"/>
          </a:xfrm>
          <a:prstGeom prst="rect">
            <a:avLst/>
          </a:prstGeom>
          <a:pattFill prst="lt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49042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EBEBFD-36A0-472A-FD6E-C9024EE40F93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571500" marR="0" lvl="0" indent="-57150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FontTx/>
              <a:buChar char="-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Upgrade packages</a:t>
            </a:r>
          </a:p>
          <a:p>
            <a:pPr marL="571500" marR="0" lvl="0" indent="-57150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FontTx/>
              <a:buChar char="-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Print “Upgrade ongoing”</a:t>
            </a:r>
            <a:endParaRPr lang="en-US" sz="3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Wait for upgrade done</a:t>
            </a:r>
            <a:endParaRPr lang="en-US" sz="3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Reboot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Wait for server UP</a:t>
            </a:r>
            <a:endParaRPr lang="en-US" sz="36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</a:t>
            </a:r>
            <a:r>
              <a:rPr lang="en-US" sz="3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Print « All done 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82863E-4C7F-9889-510E-3C175C5E46C5}"/>
              </a:ext>
            </a:extLst>
          </p:cNvPr>
          <p:cNvSpPr txBox="1"/>
          <p:nvPr/>
        </p:nvSpPr>
        <p:spPr>
          <a:xfrm>
            <a:off x="2262253" y="457185"/>
            <a:ext cx="4581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u="sng" dirty="0" err="1"/>
              <a:t>Exercice</a:t>
            </a:r>
            <a:r>
              <a:rPr lang="en-US" sz="1800" b="1" u="sng" dirty="0"/>
              <a:t>: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CC7C8E-B97F-0A71-CC24-FCDC23A67D00}"/>
              </a:ext>
            </a:extLst>
          </p:cNvPr>
          <p:cNvSpPr txBox="1"/>
          <p:nvPr/>
        </p:nvSpPr>
        <p:spPr>
          <a:xfrm>
            <a:off x="2281335" y="243512"/>
            <a:ext cx="4581330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---</a:t>
            </a:r>
          </a:p>
          <a:p>
            <a:r>
              <a:rPr lang="en-US" sz="1100" dirty="0"/>
              <a:t>- hosts: all</a:t>
            </a:r>
          </a:p>
          <a:p>
            <a:r>
              <a:rPr lang="en-US" sz="1100" dirty="0"/>
              <a:t>  become: yes</a:t>
            </a:r>
          </a:p>
          <a:p>
            <a:r>
              <a:rPr lang="en-US" sz="1100" dirty="0"/>
              <a:t>  tasks:</a:t>
            </a:r>
          </a:p>
          <a:p>
            <a:r>
              <a:rPr lang="en-US" sz="1100" dirty="0"/>
              <a:t>    - name: Upgrade packages</a:t>
            </a:r>
          </a:p>
          <a:p>
            <a:r>
              <a:rPr lang="en-US" sz="1100" dirty="0"/>
              <a:t>      yum:</a:t>
            </a:r>
          </a:p>
          <a:p>
            <a:r>
              <a:rPr lang="en-US" sz="1100" dirty="0"/>
              <a:t>        name: "*"</a:t>
            </a:r>
          </a:p>
          <a:p>
            <a:r>
              <a:rPr lang="en-US" sz="1100" dirty="0"/>
              <a:t>        state: latest</a:t>
            </a:r>
          </a:p>
          <a:p>
            <a:r>
              <a:rPr lang="en-US" sz="1100" dirty="0"/>
              <a:t>      register: </a:t>
            </a:r>
            <a:r>
              <a:rPr lang="en-US" sz="1100" dirty="0" err="1"/>
              <a:t>upgrade_result</a:t>
            </a:r>
            <a:endParaRPr lang="en-US" sz="1100" dirty="0"/>
          </a:p>
          <a:p>
            <a:r>
              <a:rPr lang="en-US" sz="1100" dirty="0"/>
              <a:t>      async: 3600</a:t>
            </a:r>
          </a:p>
          <a:p>
            <a:r>
              <a:rPr lang="en-US" sz="1100" dirty="0"/>
              <a:t>      poll: 0</a:t>
            </a:r>
          </a:p>
          <a:p>
            <a:endParaRPr lang="en-US" sz="1100" dirty="0"/>
          </a:p>
          <a:p>
            <a:r>
              <a:rPr lang="en-US" sz="1100" dirty="0"/>
              <a:t>   - name: Print completion message</a:t>
            </a:r>
          </a:p>
          <a:p>
            <a:r>
              <a:rPr lang="en-US" sz="1100" dirty="0"/>
              <a:t>      debug:</a:t>
            </a:r>
          </a:p>
          <a:p>
            <a:r>
              <a:rPr lang="en-US" sz="1100" dirty="0"/>
              <a:t>        msg: "Upgrade ongoing "</a:t>
            </a:r>
          </a:p>
          <a:p>
            <a:endParaRPr lang="en-US" sz="1100" dirty="0"/>
          </a:p>
          <a:p>
            <a:r>
              <a:rPr lang="en-US" sz="1100" dirty="0"/>
              <a:t>    - name: Wait for upgrade to complete</a:t>
            </a:r>
          </a:p>
          <a:p>
            <a:r>
              <a:rPr lang="en-US" sz="1100" dirty="0"/>
              <a:t>      </a:t>
            </a:r>
            <a:r>
              <a:rPr lang="en-US" sz="1100" dirty="0" err="1"/>
              <a:t>async_status</a:t>
            </a:r>
            <a:r>
              <a:rPr lang="en-US" sz="1100" dirty="0"/>
              <a:t>: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jid</a:t>
            </a:r>
            <a:r>
              <a:rPr lang="en-US" sz="1100" dirty="0"/>
              <a:t>: "{{ </a:t>
            </a:r>
            <a:r>
              <a:rPr lang="en-US" sz="1100" dirty="0" err="1"/>
              <a:t>upgrade_result.ansible_job_id</a:t>
            </a:r>
            <a:r>
              <a:rPr lang="en-US" sz="1100" dirty="0"/>
              <a:t> }}"</a:t>
            </a:r>
          </a:p>
          <a:p>
            <a:r>
              <a:rPr lang="en-US" sz="1100" dirty="0"/>
              <a:t>      register: </a:t>
            </a:r>
            <a:r>
              <a:rPr lang="en-US" sz="1100" dirty="0" err="1"/>
              <a:t>job_result</a:t>
            </a:r>
            <a:endParaRPr lang="en-US" sz="1100" dirty="0"/>
          </a:p>
          <a:p>
            <a:r>
              <a:rPr lang="en-US" sz="1100" dirty="0"/>
              <a:t>      until: </a:t>
            </a:r>
            <a:r>
              <a:rPr lang="en-US" sz="1100" dirty="0" err="1"/>
              <a:t>job_result.finished</a:t>
            </a:r>
            <a:endParaRPr lang="en-US" sz="1100" dirty="0"/>
          </a:p>
          <a:p>
            <a:r>
              <a:rPr lang="en-US" sz="1100" dirty="0"/>
              <a:t>      retries: 30</a:t>
            </a:r>
          </a:p>
          <a:p>
            <a:r>
              <a:rPr lang="en-US" sz="1100" dirty="0"/>
              <a:t>      delay: 60</a:t>
            </a:r>
          </a:p>
          <a:p>
            <a:endParaRPr lang="en-US" sz="1100" dirty="0"/>
          </a:p>
          <a:p>
            <a:r>
              <a:rPr lang="en-US" sz="1100" dirty="0"/>
              <a:t>    - name: Reboot the server</a:t>
            </a:r>
          </a:p>
          <a:p>
            <a:r>
              <a:rPr lang="en-US" sz="1100" dirty="0"/>
              <a:t>      reboot:</a:t>
            </a:r>
          </a:p>
          <a:p>
            <a:r>
              <a:rPr lang="en-US" sz="1100" dirty="0"/>
              <a:t>        msg: "Reboot initiated by Ansible"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pre_reboot_delay</a:t>
            </a:r>
            <a:r>
              <a:rPr lang="en-US" sz="1100" dirty="0"/>
              <a:t>: 10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post_reboot_delay</a:t>
            </a:r>
            <a:r>
              <a:rPr lang="en-US" sz="1100" dirty="0"/>
              <a:t>: 30</a:t>
            </a:r>
          </a:p>
          <a:p>
            <a:r>
              <a:rPr lang="en-US" sz="1100" dirty="0"/>
              <a:t>        </a:t>
            </a:r>
            <a:r>
              <a:rPr lang="en-US" sz="1100" dirty="0" err="1"/>
              <a:t>reboot_timeout</a:t>
            </a:r>
            <a:r>
              <a:rPr lang="en-US" sz="1100" dirty="0"/>
              <a:t>: 600</a:t>
            </a:r>
          </a:p>
          <a:p>
            <a:endParaRPr lang="en-US" sz="1100" dirty="0"/>
          </a:p>
          <a:p>
            <a:r>
              <a:rPr lang="en-US" sz="1100" dirty="0"/>
              <a:t>    - name: Wait for server to come back up</a:t>
            </a:r>
          </a:p>
          <a:p>
            <a:r>
              <a:rPr lang="en-US" sz="1100" dirty="0"/>
              <a:t>      </a:t>
            </a:r>
            <a:r>
              <a:rPr lang="en-US" sz="1100" dirty="0" err="1"/>
              <a:t>wait_for_connection</a:t>
            </a:r>
            <a:r>
              <a:rPr lang="en-US" sz="1100" dirty="0"/>
              <a:t>:</a:t>
            </a:r>
          </a:p>
          <a:p>
            <a:r>
              <a:rPr lang="en-US" sz="1100" dirty="0"/>
              <a:t>        timeout: 300</a:t>
            </a:r>
          </a:p>
          <a:p>
            <a:endParaRPr lang="en-US" sz="1100" dirty="0"/>
          </a:p>
          <a:p>
            <a:r>
              <a:rPr lang="en-US" sz="1100" dirty="0"/>
              <a:t>    - name: Print completion message</a:t>
            </a:r>
          </a:p>
          <a:p>
            <a:r>
              <a:rPr lang="en-US" sz="1100" dirty="0"/>
              <a:t>      debug:</a:t>
            </a:r>
          </a:p>
          <a:p>
            <a:r>
              <a:rPr lang="en-US" sz="1100" dirty="0"/>
              <a:t>        msg: "All done"</a:t>
            </a:r>
          </a:p>
        </p:txBody>
      </p:sp>
    </p:spTree>
    <p:extLst>
      <p:ext uri="{BB962C8B-B14F-4D97-AF65-F5344CB8AC3E}">
        <p14:creationId xmlns:p14="http://schemas.microsoft.com/office/powerpoint/2010/main" val="222741068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A2BDF8D-63E1-8578-EC02-328F93A8A3B8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Vault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DF0433A-CD64-CD4F-6EBA-E7C8D10F0D79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sng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Vault</a:t>
            </a:r>
            <a:r>
              <a:rPr lang="en-US" sz="3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https://docs.ansible.com/ansible/latest/user_guide/vault.html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C8D014-1885-2AE0-1510-EC3ECDB4F911}"/>
              </a:ext>
            </a:extLst>
          </p:cNvPr>
          <p:cNvSpPr txBox="1"/>
          <p:nvPr/>
        </p:nvSpPr>
        <p:spPr>
          <a:xfrm>
            <a:off x="304800" y="751344"/>
            <a:ext cx="85344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What is Ansible Vault?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Ansible Vault is a feature within Ansible that allows you to securely store and manage sensitive data such as passwords, keys, and other secrets.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Purpose of Ansible Vault: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It enables encryption of variables, files, and entire playbooks to protect sensitive information from unauthorized access.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Key Features: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Encryption and Decryption: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Encrypt and decrypt files and variables using a password or key.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Integration: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Seamlessly integrate encrypted data into your playbooks and roles.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Flexibility: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Encrypt entire files or specific variables within a file.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Access Control: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Control who can access and modify the encrypted data.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Why Use Ansible Vault?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Security: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Protect sensitive information within your automation scripts and playbooks.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Compliance: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Ensure compliance with security policies by encrypting sensitive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Ease of Use: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Easily integrate encrypted data into your existing Ansible workflows without significant changes.</a:t>
            </a:r>
          </a:p>
        </p:txBody>
      </p:sp>
    </p:spTree>
    <p:extLst>
      <p:ext uri="{BB962C8B-B14F-4D97-AF65-F5344CB8AC3E}">
        <p14:creationId xmlns:p14="http://schemas.microsoft.com/office/powerpoint/2010/main" val="167818675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01808FF-10EF-233F-FB20-0644C2AF8AD8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VAULT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616F220-3143-47CC-DBF3-DA9B71B01D68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b="0" i="0" u="none" strike="noStrike" cap="none" baseline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store secured values in a crypted file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600" b="0" i="0" u="none" strike="noStrike" cap="none" baseline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b="0" i="0" u="none" strike="noStrike" cap="none" baseline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encrypt the secured value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B6CCF28-2D6E-8A38-6404-B16B9E117C3F}"/>
              </a:ext>
            </a:extLst>
          </p:cNvPr>
          <p:cNvSpPr/>
          <p:nvPr/>
        </p:nvSpPr>
        <p:spPr>
          <a:xfrm>
            <a:off x="207360" y="28800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VAUL file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CB18EBA-DBFF-7374-7BE4-2F0A2EACD241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sng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Store in a sidekick encrypted file: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$ ansible-vault create --vault-id test1@prompt vault1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$ ansible-vault edit --vault-id 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  <a:hlinkClick r:id="rId3"/>
              </a:rPr>
              <a:t>test1@prompt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vault1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$ ansible-vault encrypt --vault-id 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  <a:hlinkClick r:id="rId3"/>
              </a:rPr>
              <a:t>test2@prompt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inventaire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10CC2A0-C7C8-12B3-EBAF-5AB9E17A6E67}"/>
              </a:ext>
            </a:extLst>
          </p:cNvPr>
          <p:cNvSpPr/>
          <p:nvPr/>
        </p:nvSpPr>
        <p:spPr>
          <a:xfrm>
            <a:off x="207360" y="28800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VAULT vars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409DA2E-F45D-01BB-2BC0-9CEDD92A4979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sng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Store encrypted var in any var storage place: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dirty="0"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$ ansible-vault 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encrypt_string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--vault-id test1@prompt \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'</a:t>
            </a:r>
            <a:r>
              <a:rPr lang="en-US" sz="18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mon_password_secret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' --name </a:t>
            </a:r>
            <a:r>
              <a:rPr lang="en-US" sz="18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'password</a:t>
            </a: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'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password</a:t>
            </a: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!vault |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$ANSIBLE_VAULT;1.2;AES256;test1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62313365396662343061393464336163383764373764613633653634306231386433626436623361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6134333665353966363534333632666535333761666131620a663537646436643839616531643561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63396265333966386166373632626539326166353965363262633030333630313338646335303630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3438626666666137650a353638643435666633633964366338633066623234616432373231333331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6564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0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0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0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dirty="0"/>
              <a:t>ansible-playbook --ask-vault-pass --vault-id test1 -i inventory.yml my_playbook.yml</a:t>
            </a:r>
            <a:endParaRPr lang="en-US" sz="1600" dirty="0"/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600" dirty="0"/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dirty="0"/>
              <a:t>ansible-playbook --vault-password-file /tmp/my_file.sh --vault-id test1 -i inventory.yml my_playbook.yml</a:t>
            </a:r>
            <a:endParaRPr lang="en-US" sz="1600" dirty="0"/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0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A75DF40-EC1F-A8B3-7075-7E76B23DE482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Create inventory file with 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user and password connection encrypted</a:t>
            </a:r>
            <a:endParaRPr lang="en-US" sz="18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(</a:t>
            </a:r>
            <a:r>
              <a:rPr lang="en-US" sz="1100" b="0" i="1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ansible_user</a:t>
            </a: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, </a:t>
            </a:r>
            <a:r>
              <a:rPr lang="en-US" sz="1100" b="0" i="1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ansible_password</a:t>
            </a: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)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i="1" dirty="0"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b="0" i="1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i="1" dirty="0"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b="0" i="1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i="1" dirty="0"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dirty="0"/>
              <a:t>ansible-playbook --ask-vault-pass --vault-id test1 -i inventory.yml my_playbook.yml</a:t>
            </a:r>
            <a:endParaRPr lang="en-US" sz="1100" dirty="0"/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dirty="0"/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1" u="sng" dirty="0" err="1"/>
              <a:t>Ini</a:t>
            </a:r>
            <a:r>
              <a:rPr lang="en-US" sz="1100" b="1" u="sng" dirty="0"/>
              <a:t>: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dirty="0"/>
              <a:t>[</a:t>
            </a:r>
            <a:r>
              <a:rPr lang="en-US" sz="1100" dirty="0" err="1"/>
              <a:t>group:var</a:t>
            </a:r>
            <a:r>
              <a:rPr lang="en-US" sz="1100" dirty="0"/>
              <a:t>]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dirty="0" err="1"/>
              <a:t>Ansible_user</a:t>
            </a:r>
            <a:r>
              <a:rPr lang="en-US" sz="1100" dirty="0"/>
              <a:t>=!vault ……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dirty="0"/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1" u="sng" dirty="0" err="1"/>
              <a:t>Yaml</a:t>
            </a:r>
            <a:r>
              <a:rPr lang="en-US" sz="1100" b="1" u="sng" dirty="0"/>
              <a:t>: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dirty="0"/>
              <a:t>All: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dirty="0"/>
              <a:t>  hosts: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dirty="0"/>
              <a:t>    …..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dirty="0"/>
              <a:t>  vars: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dirty="0"/>
              <a:t>    </a:t>
            </a:r>
            <a:r>
              <a:rPr lang="en-US" sz="1100" dirty="0" err="1"/>
              <a:t>ansible_user</a:t>
            </a:r>
            <a:r>
              <a:rPr lang="en-US" sz="1100" dirty="0"/>
              <a:t>: !vault…..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dirty="0"/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dirty="0"/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b="0" i="1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260AFD-E107-A3A4-A062-4D27A9652F96}"/>
              </a:ext>
            </a:extLst>
          </p:cNvPr>
          <p:cNvSpPr txBox="1"/>
          <p:nvPr/>
        </p:nvSpPr>
        <p:spPr>
          <a:xfrm>
            <a:off x="2262253" y="457185"/>
            <a:ext cx="4581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u="sng" dirty="0" err="1"/>
              <a:t>Exercice</a:t>
            </a:r>
            <a:r>
              <a:rPr lang="en-US" sz="1800" b="1" u="sng" dirty="0"/>
              <a:t>: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433CF8-E1F8-8806-CE6A-B52CEFE2304D}"/>
              </a:ext>
            </a:extLst>
          </p:cNvPr>
          <p:cNvSpPr txBox="1"/>
          <p:nvPr/>
        </p:nvSpPr>
        <p:spPr>
          <a:xfrm>
            <a:off x="304800" y="457200"/>
            <a:ext cx="8458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ansible-vault encrypt_string 'myuser' --name 'ansible_user' --vault-id user_key@prompt</a:t>
            </a:r>
            <a:endParaRPr lang="en-US" dirty="0"/>
          </a:p>
          <a:p>
            <a:r>
              <a:rPr lang="en-US" dirty="0"/>
              <a:t>ansible-vault encrypt_string 'mypassword' --name 'ansible_password' --vault-id pass_key@prompt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3B862C-0B4D-F4CB-7082-188608FFBE25}"/>
              </a:ext>
            </a:extLst>
          </p:cNvPr>
          <p:cNvSpPr txBox="1"/>
          <p:nvPr/>
        </p:nvSpPr>
        <p:spPr>
          <a:xfrm>
            <a:off x="638961" y="1649839"/>
            <a:ext cx="457200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all:</a:t>
            </a:r>
          </a:p>
          <a:p>
            <a:r>
              <a:rPr lang="en-US" sz="800" dirty="0"/>
              <a:t>  hosts:</a:t>
            </a:r>
          </a:p>
          <a:p>
            <a:r>
              <a:rPr lang="en-US" sz="800" dirty="0"/>
              <a:t>    server1:</a:t>
            </a:r>
          </a:p>
          <a:p>
            <a:r>
              <a:rPr lang="en-US" sz="800" dirty="0"/>
              <a:t>      </a:t>
            </a:r>
            <a:r>
              <a:rPr lang="en-US" sz="800" dirty="0" err="1"/>
              <a:t>ansible_host</a:t>
            </a:r>
            <a:r>
              <a:rPr lang="en-US" sz="800" dirty="0"/>
              <a:t>: 192.168.1.10</a:t>
            </a:r>
          </a:p>
          <a:p>
            <a:r>
              <a:rPr lang="en-US" sz="800" dirty="0"/>
              <a:t>      </a:t>
            </a:r>
            <a:r>
              <a:rPr lang="en-US" sz="800" dirty="0" err="1"/>
              <a:t>ansible_user</a:t>
            </a:r>
            <a:r>
              <a:rPr lang="en-US" sz="800" dirty="0"/>
              <a:t>: !vault |</a:t>
            </a:r>
          </a:p>
          <a:p>
            <a:r>
              <a:rPr lang="en-US" sz="800" dirty="0"/>
              <a:t>        $ANSIBLE_VAULT;1.1;AES256</a:t>
            </a:r>
            <a:r>
              <a:rPr lang="en-US" sz="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;user_key</a:t>
            </a:r>
            <a:endParaRPr lang="en-US" sz="800" dirty="0"/>
          </a:p>
          <a:p>
            <a:r>
              <a:rPr lang="en-US" sz="800" dirty="0"/>
              <a:t>        62313365396662343061393464336163383764373764613633653634306231386433626436623361</a:t>
            </a:r>
          </a:p>
          <a:p>
            <a:r>
              <a:rPr lang="en-US" sz="800" dirty="0"/>
              <a:t>        6134333665353966363534333632666535333761666131620a663537646436643839616531643561</a:t>
            </a:r>
          </a:p>
          <a:p>
            <a:r>
              <a:rPr lang="en-US" sz="800" dirty="0"/>
              <a:t>        63396265333966386166373632626539326166353965363262633030333630313338646335303630</a:t>
            </a:r>
          </a:p>
          <a:p>
            <a:r>
              <a:rPr lang="en-US" sz="800" dirty="0"/>
              <a:t>        3438626666666137650a353638643435666633633964366338633066623234616432373231333331</a:t>
            </a:r>
          </a:p>
          <a:p>
            <a:r>
              <a:rPr lang="en-US" sz="800" dirty="0"/>
              <a:t>        6564</a:t>
            </a:r>
          </a:p>
          <a:p>
            <a:r>
              <a:rPr lang="en-US" sz="800" dirty="0"/>
              <a:t>      </a:t>
            </a:r>
            <a:r>
              <a:rPr lang="en-US" sz="800" dirty="0" err="1"/>
              <a:t>ansible_password</a:t>
            </a:r>
            <a:r>
              <a:rPr lang="en-US" sz="800" dirty="0"/>
              <a:t>: !vault |</a:t>
            </a:r>
          </a:p>
          <a:p>
            <a:r>
              <a:rPr lang="en-US" sz="800" dirty="0"/>
              <a:t>        $ANSIBLE_VAULT;1.1;AES256;pass_key</a:t>
            </a:r>
            <a:endParaRPr lang="en-US" sz="800" dirty="0"/>
          </a:p>
          <a:p>
            <a:r>
              <a:rPr lang="en-US" sz="800" dirty="0"/>
              <a:t>        62313365396662343061393464336163383764373764613633653634306231386433626436623361</a:t>
            </a:r>
          </a:p>
          <a:p>
            <a:r>
              <a:rPr lang="en-US" sz="800" dirty="0"/>
              <a:t>        6134333665353966363534333632666535333761666131620a663537646436643839616531643561</a:t>
            </a:r>
          </a:p>
          <a:p>
            <a:r>
              <a:rPr lang="en-US" sz="800" dirty="0"/>
              <a:t>        63396265333966386166373632626539326166353965363262633030333630313338646335303630</a:t>
            </a:r>
          </a:p>
          <a:p>
            <a:r>
              <a:rPr lang="en-US" sz="800" dirty="0"/>
              <a:t>        3438626666666137650a353638643435666633633964366338633066623234616432373231333331</a:t>
            </a:r>
          </a:p>
          <a:p>
            <a:r>
              <a:rPr lang="en-US" sz="800" dirty="0"/>
              <a:t>        6564</a:t>
            </a:r>
          </a:p>
          <a:p>
            <a:r>
              <a:rPr lang="en-US" sz="800" dirty="0"/>
              <a:t>    server2:</a:t>
            </a:r>
          </a:p>
          <a:p>
            <a:r>
              <a:rPr lang="en-US" sz="800" dirty="0"/>
              <a:t>      </a:t>
            </a:r>
            <a:r>
              <a:rPr lang="en-US" sz="800" dirty="0" err="1"/>
              <a:t>ansible_host</a:t>
            </a:r>
            <a:r>
              <a:rPr lang="en-US" sz="800" dirty="0"/>
              <a:t>: 192.168.1.11</a:t>
            </a:r>
          </a:p>
          <a:p>
            <a:r>
              <a:rPr lang="en-US" sz="800" dirty="0"/>
              <a:t>      </a:t>
            </a:r>
            <a:r>
              <a:rPr lang="en-US" sz="800" dirty="0" err="1"/>
              <a:t>ansible_user</a:t>
            </a:r>
            <a:r>
              <a:rPr lang="en-US" sz="800" dirty="0"/>
              <a:t>: !vault |</a:t>
            </a:r>
          </a:p>
          <a:p>
            <a:r>
              <a:rPr lang="en-US" sz="800" dirty="0"/>
              <a:t>        $ANSIBLE_VAULT;1.1;AES256</a:t>
            </a:r>
            <a:r>
              <a:rPr lang="en-US" sz="8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;user_key</a:t>
            </a:r>
            <a:endParaRPr lang="en-US" sz="800" dirty="0"/>
          </a:p>
          <a:p>
            <a:r>
              <a:rPr lang="en-US" sz="800" dirty="0"/>
              <a:t>        62313365396662343061393464336163383764373764613633653634306231386433626436623361</a:t>
            </a:r>
          </a:p>
          <a:p>
            <a:r>
              <a:rPr lang="en-US" sz="800" dirty="0"/>
              <a:t>        6134333665353966363534333632666535333761666131620a663537646436643839616531643561</a:t>
            </a:r>
          </a:p>
          <a:p>
            <a:r>
              <a:rPr lang="en-US" sz="800" dirty="0"/>
              <a:t>        63396265333966386166373632626539326166353965363262633030333630313338646335303630</a:t>
            </a:r>
          </a:p>
          <a:p>
            <a:r>
              <a:rPr lang="en-US" sz="800" dirty="0"/>
              <a:t>        3438626666666137650a353638643435666633633964366338633066623234616432373231333331</a:t>
            </a:r>
          </a:p>
          <a:p>
            <a:r>
              <a:rPr lang="en-US" sz="800" dirty="0"/>
              <a:t>        6564</a:t>
            </a:r>
          </a:p>
          <a:p>
            <a:r>
              <a:rPr lang="en-US" sz="800" dirty="0"/>
              <a:t>      </a:t>
            </a:r>
            <a:r>
              <a:rPr lang="en-US" sz="800" dirty="0" err="1"/>
              <a:t>ansible_password</a:t>
            </a:r>
            <a:r>
              <a:rPr lang="en-US" sz="800" dirty="0"/>
              <a:t>: !vault |</a:t>
            </a:r>
          </a:p>
          <a:p>
            <a:r>
              <a:rPr lang="en-US" sz="800" dirty="0"/>
              <a:t>        $ANSIBLE_VAULT;1.1;AES256;pass_key</a:t>
            </a:r>
            <a:endParaRPr lang="en-US" sz="800" dirty="0"/>
          </a:p>
          <a:p>
            <a:r>
              <a:rPr lang="en-US" sz="800" dirty="0"/>
              <a:t>        62313365396662343061393464336163383764373764613633653634306231386433626436623361</a:t>
            </a:r>
          </a:p>
          <a:p>
            <a:r>
              <a:rPr lang="en-US" sz="800" dirty="0"/>
              <a:t>        6134333665353966363534333632666535333761666131620a663537646436643839616531643561</a:t>
            </a:r>
          </a:p>
          <a:p>
            <a:r>
              <a:rPr lang="en-US" sz="800" dirty="0"/>
              <a:t>        63396265333966386166373632626539326166353965363262633030333630313338646335303630</a:t>
            </a:r>
          </a:p>
          <a:p>
            <a:r>
              <a:rPr lang="en-US" sz="800" dirty="0"/>
              <a:t>        3438626666666137650a353638643435666633633964366338633066623234616432373231333331</a:t>
            </a:r>
          </a:p>
          <a:p>
            <a:r>
              <a:rPr lang="en-US" sz="800" dirty="0"/>
              <a:t>        6564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5F0B75-417C-1536-0873-D95E0ECE42AE}"/>
              </a:ext>
            </a:extLst>
          </p:cNvPr>
          <p:cNvSpPr txBox="1"/>
          <p:nvPr/>
        </p:nvSpPr>
        <p:spPr>
          <a:xfrm>
            <a:off x="5486400" y="1289953"/>
            <a:ext cx="458133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---</a:t>
            </a:r>
          </a:p>
          <a:p>
            <a:r>
              <a:rPr lang="en-US" dirty="0"/>
              <a:t>- hosts: all</a:t>
            </a:r>
          </a:p>
          <a:p>
            <a:r>
              <a:rPr lang="en-US" dirty="0"/>
              <a:t>  tasks:</a:t>
            </a:r>
          </a:p>
          <a:p>
            <a:r>
              <a:rPr lang="en-US" dirty="0"/>
              <a:t>    - name: Test connection</a:t>
            </a:r>
          </a:p>
          <a:p>
            <a:r>
              <a:rPr lang="en-US" dirty="0"/>
              <a:t>      ping: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406280-14FE-9041-D381-473FA5A78FE7}"/>
              </a:ext>
            </a:extLst>
          </p:cNvPr>
          <p:cNvSpPr txBox="1"/>
          <p:nvPr/>
        </p:nvSpPr>
        <p:spPr>
          <a:xfrm>
            <a:off x="304800" y="6031468"/>
            <a:ext cx="708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ansible-playbook </a:t>
            </a:r>
            <a:r>
              <a:rPr lang="en-US" dirty="0" err="1"/>
              <a:t>playbook.yml</a:t>
            </a:r>
            <a:r>
              <a:rPr lang="en-US" dirty="0"/>
              <a:t> --ask-vault-pass -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inventory.yml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565161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D535B8-613D-2FF9-D607-B488BB429D10}"/>
              </a:ext>
            </a:extLst>
          </p:cNvPr>
          <p:cNvSpPr txBox="1"/>
          <p:nvPr/>
        </p:nvSpPr>
        <p:spPr>
          <a:xfrm>
            <a:off x="304800" y="2413337"/>
            <a:ext cx="85344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Ansible Roles: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a way to organize playbooks and other Ansible content by grouping related tasks, variables, files, templates, and modules into reusable units.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Purpose of Roles: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Simplify the management of complex playbooks by breaking them down into smaller, reusable components.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Promote reusability and maintainability of Ansible code.</a:t>
            </a:r>
          </a:p>
        </p:txBody>
      </p:sp>
    </p:spTree>
    <p:extLst>
      <p:ext uri="{BB962C8B-B14F-4D97-AF65-F5344CB8AC3E}">
        <p14:creationId xmlns:p14="http://schemas.microsoft.com/office/powerpoint/2010/main" val="381116448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4B4EDD-30CE-6E6A-BD35-E9AB9F4FA4BC}"/>
              </a:ext>
            </a:extLst>
          </p:cNvPr>
          <p:cNvSpPr txBox="1"/>
          <p:nvPr/>
        </p:nvSpPr>
        <p:spPr>
          <a:xfrm>
            <a:off x="457200" y="1166842"/>
            <a:ext cx="8229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Ansible Collections: </a:t>
            </a:r>
          </a:p>
          <a:p>
            <a:r>
              <a:rPr lang="en-US" dirty="0">
                <a:solidFill>
                  <a:srgbClr val="111111"/>
                </a:solidFill>
                <a:latin typeface="-apple-system"/>
              </a:rPr>
              <a:t>The standard way to distribute and manage Ansible content.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Key Features: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Content Organization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: Organize roles, modules, and plugins into logical groups.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Versioning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: Manage multiple versions of your content and track changes.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Dependency Management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: Easily declare and manage dependencies between collections.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Certification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: Ensure your collections meet Ansible's quality and security standards.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Why Use Collections?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Modularity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: Break down complex automation projects into reusable, modular components.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Reusability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: Share and reuse content across multiple projects and teams.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Simplification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: Simplify your automation workflow by managing dependencies and versions in one place. </a:t>
            </a:r>
          </a:p>
        </p:txBody>
      </p:sp>
    </p:spTree>
    <p:extLst>
      <p:ext uri="{BB962C8B-B14F-4D97-AF65-F5344CB8AC3E}">
        <p14:creationId xmlns:p14="http://schemas.microsoft.com/office/powerpoint/2010/main" val="1555512851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D535B8-613D-2FF9-D607-B488BB429D10}"/>
              </a:ext>
            </a:extLst>
          </p:cNvPr>
          <p:cNvSpPr txBox="1"/>
          <p:nvPr/>
        </p:nvSpPr>
        <p:spPr>
          <a:xfrm>
            <a:off x="304800" y="1166842"/>
            <a:ext cx="85344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Ansible Galaxy: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public repository for sharing Ansible roles and collections.</a:t>
            </a:r>
            <a:endParaRPr lang="en-US" b="0" i="0" baseline="30000" dirty="0">
              <a:solidFill>
                <a:srgbClr val="111111"/>
              </a:solidFill>
              <a:effectLst/>
              <a:latin typeface="-apple-system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Key Features: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Role Discovery: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Search and download roles from the Galaxy website or using the 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ansible-galaxy 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command.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Community Contributions: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Access a wide range of roles contributed by the Ansible community.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Role Management: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Easily manage roles and collections within your Ansible projects.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Why Use Roles and Galaxy?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Efficiency: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Save time by reusing existing roles instead of writing everything from scratch.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Collaboration: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Leverage the collective knowledge and contributions of the Ansible community.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Scalability: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Organize and scale your automation projects more effectively by using roles and collections.</a:t>
            </a:r>
          </a:p>
        </p:txBody>
      </p:sp>
    </p:spTree>
    <p:extLst>
      <p:ext uri="{BB962C8B-B14F-4D97-AF65-F5344CB8AC3E}">
        <p14:creationId xmlns:p14="http://schemas.microsoft.com/office/powerpoint/2010/main" val="1964982294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194FFF2-DFC2-4C8D-2B1D-44A12C39DF87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Re-usable: Role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C3FD52-3922-82EB-38EF-2669F2C0FF2C}"/>
              </a:ext>
            </a:extLst>
          </p:cNvPr>
          <p:cNvSpPr txBox="1"/>
          <p:nvPr/>
        </p:nvSpPr>
        <p:spPr>
          <a:xfrm>
            <a:off x="690839" y="2736000"/>
            <a:ext cx="7724520" cy="1727281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/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-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name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: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my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installer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hosts: all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roles: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- role: configure SSH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- role: secure OS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- role: install APACHE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- role: secure APACHE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5D0D79-B77D-8B05-FE94-45F9AC063EC4}"/>
              </a:ext>
            </a:extLst>
          </p:cNvPr>
          <p:cNvSpPr txBox="1"/>
          <p:nvPr/>
        </p:nvSpPr>
        <p:spPr>
          <a:xfrm>
            <a:off x="144000" y="1007640"/>
            <a:ext cx="8784000" cy="138708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/>
          <a:lstStyle/>
          <a:p>
            <a:pPr marL="0" marR="0" lvl="0" indent="0" algn="l" hangingPunct="0">
              <a:lnSpc>
                <a:spcPct val="93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Roles</a:t>
            </a:r>
            <a:r>
              <a:rPr lang="fr-FR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are </a:t>
            </a:r>
            <a:r>
              <a:rPr lang="fr-FR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ways</a:t>
            </a:r>
            <a:r>
              <a:rPr lang="fr-FR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of </a:t>
            </a:r>
            <a:r>
              <a:rPr lang="fr-FR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automatically</a:t>
            </a:r>
            <a:r>
              <a:rPr lang="fr-FR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loading</a:t>
            </a:r>
            <a:r>
              <a:rPr lang="fr-FR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vars_files</a:t>
            </a:r>
            <a:r>
              <a:rPr lang="fr-FR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, </a:t>
            </a:r>
            <a:r>
              <a:rPr lang="fr-FR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tasks</a:t>
            </a:r>
            <a:r>
              <a:rPr lang="fr-FR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, and handlers 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based</a:t>
            </a:r>
            <a:r>
              <a:rPr lang="fr-FR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on a </a:t>
            </a:r>
            <a:r>
              <a:rPr lang="fr-FR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known</a:t>
            </a:r>
            <a:r>
              <a:rPr lang="fr-FR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file structure. 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Grouping</a:t>
            </a:r>
            <a:r>
              <a:rPr lang="fr-FR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content by </a:t>
            </a:r>
            <a:r>
              <a:rPr lang="fr-FR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roles</a:t>
            </a:r>
            <a:r>
              <a:rPr lang="fr-FR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also</a:t>
            </a:r>
            <a:r>
              <a:rPr lang="fr-FR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allows</a:t>
            </a:r>
            <a:r>
              <a:rPr lang="fr-FR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easy</a:t>
            </a:r>
            <a:r>
              <a:rPr lang="fr-FR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sharing of </a:t>
            </a:r>
            <a:r>
              <a:rPr lang="fr-FR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roles</a:t>
            </a:r>
            <a:r>
              <a:rPr lang="fr-FR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with</a:t>
            </a:r>
            <a:r>
              <a:rPr lang="fr-FR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other</a:t>
            </a:r>
            <a:r>
              <a:rPr lang="fr-FR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users</a:t>
            </a:r>
            <a:r>
              <a:rPr lang="fr-FR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.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1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624571-4420-B567-5CF8-01D8C41990FF}"/>
              </a:ext>
            </a:extLst>
          </p:cNvPr>
          <p:cNvSpPr txBox="1"/>
          <p:nvPr/>
        </p:nvSpPr>
        <p:spPr>
          <a:xfrm>
            <a:off x="673740" y="4572000"/>
            <a:ext cx="7724520" cy="1727281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/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-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name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: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my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installer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hosts: all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tasks: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- include_role: {name: configure SSH}      &lt;= Dynamic Role</a:t>
            </a:r>
            <a:endParaRPr lang="fr-FR" sz="16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Liberation Mono" pitchFamily="49"/>
              <a:ea typeface="Liberation Mono" pitchFamily="49"/>
              <a:cs typeface="Liberation Mono" pitchFamily="49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- import_role: {name: secure OS}           &lt;= Static Role</a:t>
            </a:r>
            <a:endParaRPr lang="fr-FR" sz="16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Liberation Mono" pitchFamily="49"/>
              <a:ea typeface="Liberation Mono" pitchFamily="49"/>
              <a:cs typeface="Liberation Mono" pitchFamily="49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2F48D0A-235D-F6F5-BE4F-08262363D8B7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Re-uasable: Role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376FB1-D94E-0583-7CD6-6CEBB36E17DE}"/>
              </a:ext>
            </a:extLst>
          </p:cNvPr>
          <p:cNvSpPr txBox="1"/>
          <p:nvPr/>
        </p:nvSpPr>
        <p:spPr>
          <a:xfrm>
            <a:off x="690839" y="1752600"/>
            <a:ext cx="7724520" cy="4633799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/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2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Liberation Mono" pitchFamily="49"/>
              <a:ea typeface="Liberation Mono" pitchFamily="49"/>
              <a:cs typeface="Liberation Mono" pitchFamily="49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roles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/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common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/               #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this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hierarchy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represents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a "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role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"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tasks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/            #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  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main.yml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#  &lt;--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tasks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file can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include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smaller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files if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warranted</a:t>
            </a:r>
            <a:endParaRPr lang="fr-FR" sz="12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Liberation Mono" pitchFamily="49"/>
              <a:ea typeface="Liberation Mono" pitchFamily="49"/>
              <a:cs typeface="Liberation Mono" pitchFamily="49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  handlers/         #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  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main.yml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#  &lt;-- handlers file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templates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/        #  &lt;-- files for use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with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the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template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resource</a:t>
            </a:r>
            <a:endParaRPr lang="fr-FR" sz="12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Liberation Mono" pitchFamily="49"/>
              <a:ea typeface="Liberation Mono" pitchFamily="49"/>
              <a:cs typeface="Liberation Mono" pitchFamily="49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      ntp.conf.j2   #  &lt;-------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templates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end in .j2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  files/            #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      bar.txt       #  &lt;-- files for use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with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the copy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resource</a:t>
            </a:r>
            <a:endParaRPr lang="fr-FR" sz="12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Liberation Mono" pitchFamily="49"/>
              <a:ea typeface="Liberation Mono" pitchFamily="49"/>
              <a:cs typeface="Liberation Mono" pitchFamily="49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      foo.sh        #  &lt;-- script files for use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with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the script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resource</a:t>
            </a:r>
            <a:endParaRPr lang="fr-FR" sz="12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Liberation Mono" pitchFamily="49"/>
              <a:ea typeface="Liberation Mono" pitchFamily="49"/>
              <a:cs typeface="Liberation Mono" pitchFamily="49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  vars/             #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  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main.yml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#  &lt;-- variables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associated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with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this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role</a:t>
            </a:r>
            <a:endParaRPr lang="fr-FR" sz="12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Liberation Mono" pitchFamily="49"/>
              <a:ea typeface="Liberation Mono" pitchFamily="49"/>
              <a:cs typeface="Liberation Mono" pitchFamily="49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  defaults/         #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  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main.yml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#  &lt;-- default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lower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priority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variables for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this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role</a:t>
            </a:r>
            <a:endParaRPr lang="fr-FR" sz="12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Liberation Mono" pitchFamily="49"/>
              <a:ea typeface="Liberation Mono" pitchFamily="49"/>
              <a:cs typeface="Liberation Mono" pitchFamily="49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meta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/             #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  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main.yml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#  &lt;--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role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dependencies</a:t>
            </a:r>
            <a:endParaRPr lang="fr-FR" sz="12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Liberation Mono" pitchFamily="49"/>
              <a:ea typeface="Liberation Mono" pitchFamily="49"/>
              <a:cs typeface="Liberation Mono" pitchFamily="49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library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/          #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roles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can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also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include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custom modules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module_utils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/     #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roles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can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also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include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custom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module_utils</a:t>
            </a:r>
            <a:endParaRPr lang="fr-FR" sz="12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Liberation Mono" pitchFamily="49"/>
              <a:ea typeface="Liberation Mono" pitchFamily="49"/>
              <a:cs typeface="Liberation Mono" pitchFamily="49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lookup_plugins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/   # or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other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types of plugins, like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lookup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in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this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case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webtier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/              #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same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kind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of structure as "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common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"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was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above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,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done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for the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webtier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role</a:t>
            </a:r>
            <a:endParaRPr lang="fr-FR" sz="12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Liberation Mono" pitchFamily="49"/>
              <a:ea typeface="Liberation Mono" pitchFamily="49"/>
              <a:cs typeface="Liberation Mono" pitchFamily="49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monitoring/           # ""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fooapp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/               # ""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2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Liberation Mono" pitchFamily="49"/>
              <a:ea typeface="Liberation Mono" pitchFamily="49"/>
              <a:cs typeface="Liberation Mono" pitchFamily="49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D6D6D7-CA32-23F9-22A3-137B02810588}"/>
              </a:ext>
            </a:extLst>
          </p:cNvPr>
          <p:cNvSpPr txBox="1"/>
          <p:nvPr/>
        </p:nvSpPr>
        <p:spPr>
          <a:xfrm>
            <a:off x="144000" y="1007640"/>
            <a:ext cx="8784000" cy="138708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/>
          <a:lstStyle/>
          <a:p>
            <a:pPr marL="0" marR="0" lvl="0" indent="0" algn="l" hangingPunct="0">
              <a:lnSpc>
                <a:spcPct val="93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1" i="0" u="none" strike="noStrike" cap="none" baseline="0" dirty="0">
              <a:ln>
                <a:noFill/>
              </a:ln>
              <a:solidFill>
                <a:srgbClr val="00437A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1" i="0" u="none" strike="noStrike" cap="none" baseline="0" dirty="0">
              <a:ln>
                <a:noFill/>
              </a:ln>
              <a:solidFill>
                <a:srgbClr val="00437A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194FFF2-DFC2-4C8D-2B1D-44A12C39DF87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Re-usable: Role Documentation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C3FD52-3922-82EB-38EF-2669F2C0FF2C}"/>
              </a:ext>
            </a:extLst>
          </p:cNvPr>
          <p:cNvSpPr txBox="1"/>
          <p:nvPr/>
        </p:nvSpPr>
        <p:spPr>
          <a:xfrm>
            <a:off x="690839" y="1600200"/>
            <a:ext cx="7724520" cy="441960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/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meta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/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argument_specs.yml</a:t>
            </a:r>
            <a:endParaRPr lang="fr-FR" sz="16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Liberation Mono" pitchFamily="49"/>
              <a:ea typeface="Liberation Mono" pitchFamily="49"/>
              <a:cs typeface="Liberation Mono" pitchFamily="49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---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argument_specs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#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roles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/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myapp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/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tasks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/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main.yml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entry point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main: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short_description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: Main entry point for the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myapp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role</a:t>
            </a:r>
            <a:endParaRPr lang="fr-FR" sz="16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Liberation Mono" pitchFamily="49"/>
              <a:ea typeface="Liberation Mono" pitchFamily="49"/>
              <a:cs typeface="Liberation Mono" pitchFamily="49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description: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-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human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readable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description.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author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- Cyril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Coupel</a:t>
            </a:r>
            <a:endParaRPr lang="fr-FR" sz="16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Liberation Mono" pitchFamily="49"/>
              <a:ea typeface="Liberation Mono" pitchFamily="49"/>
              <a:cs typeface="Liberation Mono" pitchFamily="49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options: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myapp_int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  type: "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int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"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 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required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: false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  default: 42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  description: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    - "The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integer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value,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defaulting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to 42."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         - "This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is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 a second </a:t>
            </a:r>
            <a:r>
              <a:rPr lang="fr-FR" sz="16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paragraph</a:t>
            </a:r>
            <a:r>
              <a:rPr lang="fr-FR" sz="16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Liberation Mono" pitchFamily="49"/>
                <a:ea typeface="Liberation Mono" pitchFamily="49"/>
                <a:cs typeface="Liberation Mono" pitchFamily="49"/>
              </a:rPr>
              <a:t>."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5D0D79-B77D-8B05-FE94-45F9AC063EC4}"/>
              </a:ext>
            </a:extLst>
          </p:cNvPr>
          <p:cNvSpPr txBox="1"/>
          <p:nvPr/>
        </p:nvSpPr>
        <p:spPr>
          <a:xfrm>
            <a:off x="144000" y="1007640"/>
            <a:ext cx="8784000" cy="4401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/>
          <a:lstStyle/>
          <a:p>
            <a:pPr marL="0" marR="0" lvl="0" indent="0" algn="l" hangingPunct="0">
              <a:lnSpc>
                <a:spcPct val="93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Roles</a:t>
            </a:r>
            <a:r>
              <a:rPr lang="fr-FR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are </a:t>
            </a:r>
            <a:r>
              <a:rPr lang="fr-FR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shared</a:t>
            </a:r>
            <a:r>
              <a:rPr lang="fr-FR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=&gt; </a:t>
            </a:r>
            <a:r>
              <a:rPr lang="fr-FR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needs</a:t>
            </a:r>
            <a:r>
              <a:rPr lang="fr-FR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and must </a:t>
            </a:r>
            <a:r>
              <a:rPr lang="fr-FR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be</a:t>
            </a:r>
            <a:r>
              <a:rPr lang="fr-FR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documented</a:t>
            </a:r>
            <a:endParaRPr lang="fr-FR" sz="1800" b="1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1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591017550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E35947B-CC5F-2FAC-C1C0-A804EC1813A3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Re-usable: Collection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6CA6DE-CAE1-39C9-2DB6-3005C4C1E89D}"/>
              </a:ext>
            </a:extLst>
          </p:cNvPr>
          <p:cNvSpPr txBox="1"/>
          <p:nvPr/>
        </p:nvSpPr>
        <p:spPr>
          <a:xfrm>
            <a:off x="533400" y="1066800"/>
            <a:ext cx="458133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mynamespace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└── </a:t>
            </a:r>
            <a:r>
              <a:rPr lang="en-US" sz="1400" b="1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mycollection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├── docs/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├──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galaxy.yml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├── plugins/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│   ├── modules/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│   │   └── module1.py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│   ├── inventory/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│   └── .../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├── README.md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├── roles/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│   ├──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role1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│   ├── role2/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│   └── .../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├── playbooks/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│   ├── files/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│   ├── vars/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│   ├── templates/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│   └── tasks/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└── tests/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81DD39-A3CB-D539-9B6F-3A89AC9A5CFC}"/>
              </a:ext>
            </a:extLst>
          </p:cNvPr>
          <p:cNvSpPr txBox="1"/>
          <p:nvPr/>
        </p:nvSpPr>
        <p:spPr>
          <a:xfrm>
            <a:off x="4267200" y="3393233"/>
            <a:ext cx="4581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mynamespace</a:t>
            </a:r>
            <a:r>
              <a:rPr lang="en-US" dirty="0"/>
              <a:t>.</a:t>
            </a:r>
            <a:r>
              <a:rPr lang="en-US" b="1" dirty="0">
                <a:solidFill>
                  <a:srgbClr val="FFC000"/>
                </a:solidFill>
              </a:rPr>
              <a:t>mycollection</a:t>
            </a:r>
            <a:r>
              <a:rPr lang="en-US" dirty="0"/>
              <a:t>.</a:t>
            </a:r>
            <a:r>
              <a:rPr lang="en-US" b="1" dirty="0">
                <a:solidFill>
                  <a:srgbClr val="FF0000"/>
                </a:solidFill>
              </a:rPr>
              <a:t>role1</a:t>
            </a:r>
          </a:p>
        </p:txBody>
      </p:sp>
    </p:spTree>
    <p:extLst>
      <p:ext uri="{BB962C8B-B14F-4D97-AF65-F5344CB8AC3E}">
        <p14:creationId xmlns:p14="http://schemas.microsoft.com/office/powerpoint/2010/main" val="4781852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16372A7-9ABF-E97C-B74D-77C90A079CAB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Re-usable: Collection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5B6959-6999-9668-0C5E-943311D68EC9}"/>
              </a:ext>
            </a:extLst>
          </p:cNvPr>
          <p:cNvSpPr txBox="1"/>
          <p:nvPr/>
        </p:nvSpPr>
        <p:spPr>
          <a:xfrm>
            <a:off x="228600" y="819662"/>
            <a:ext cx="8560080" cy="21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00000"/>
                </a:solidFill>
                <a:effectLst/>
                <a:latin typeface="futura"/>
              </a:rPr>
              <a:t>Step 1: Create a new collection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000000"/>
                </a:solidFill>
                <a:effectLst/>
                <a:latin typeface="futura"/>
              </a:rPr>
              <a:t>Create a new directory for your collection and navigate into it: `</a:t>
            </a:r>
            <a:r>
              <a:rPr lang="en-US" sz="1050" b="0" i="1" dirty="0" err="1">
                <a:solidFill>
                  <a:srgbClr val="000000"/>
                </a:solidFill>
                <a:effectLst/>
                <a:latin typeface="futura"/>
              </a:rPr>
              <a:t>mkdir</a:t>
            </a:r>
            <a:r>
              <a:rPr lang="en-US" sz="1050" b="0" i="1" dirty="0">
                <a:solidFill>
                  <a:srgbClr val="000000"/>
                </a:solidFill>
                <a:effectLst/>
                <a:latin typeface="futura"/>
              </a:rPr>
              <a:t> </a:t>
            </a:r>
            <a:r>
              <a:rPr lang="en-US" sz="1050" b="0" i="1" dirty="0" err="1">
                <a:solidFill>
                  <a:srgbClr val="000000"/>
                </a:solidFill>
                <a:effectLst/>
                <a:latin typeface="futura"/>
              </a:rPr>
              <a:t>my_collection</a:t>
            </a:r>
            <a:r>
              <a:rPr lang="en-US" sz="1050" b="0" i="1" dirty="0">
                <a:solidFill>
                  <a:srgbClr val="000000"/>
                </a:solidFill>
                <a:effectLst/>
                <a:latin typeface="futura"/>
              </a:rPr>
              <a:t> &amp;&amp; cd </a:t>
            </a:r>
            <a:r>
              <a:rPr lang="en-US" sz="1050" b="0" i="1" dirty="0" err="1">
                <a:solidFill>
                  <a:srgbClr val="000000"/>
                </a:solidFill>
                <a:effectLst/>
                <a:latin typeface="futura"/>
              </a:rPr>
              <a:t>my_collection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futura"/>
              </a:rPr>
              <a:t>`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000000"/>
                </a:solidFill>
                <a:effectLst/>
                <a:latin typeface="futura"/>
              </a:rPr>
              <a:t>Initialize the collection using `</a:t>
            </a:r>
            <a:r>
              <a:rPr lang="en-US" sz="1050" b="0" i="1" dirty="0">
                <a:solidFill>
                  <a:srgbClr val="000000"/>
                </a:solidFill>
                <a:effectLst/>
                <a:latin typeface="futura"/>
              </a:rPr>
              <a:t>ansible-galaxy collection </a:t>
            </a:r>
            <a:r>
              <a:rPr lang="en-US" sz="1050" b="0" i="1" dirty="0" err="1">
                <a:solidFill>
                  <a:srgbClr val="000000"/>
                </a:solidFill>
                <a:effectLst/>
                <a:latin typeface="futura"/>
              </a:rPr>
              <a:t>init</a:t>
            </a:r>
            <a:r>
              <a:rPr lang="en-US" sz="1050" b="0" i="1" dirty="0">
                <a:solidFill>
                  <a:srgbClr val="000000"/>
                </a:solidFill>
                <a:effectLst/>
                <a:latin typeface="futura"/>
              </a:rPr>
              <a:t> </a:t>
            </a:r>
            <a:r>
              <a:rPr lang="en-US" sz="1050" b="0" i="1" dirty="0" err="1">
                <a:solidFill>
                  <a:srgbClr val="000000"/>
                </a:solidFill>
                <a:effectLst/>
                <a:latin typeface="futura"/>
              </a:rPr>
              <a:t>my_namespace.my_collection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futura"/>
              </a:rPr>
              <a:t>`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00000"/>
                </a:solidFill>
                <a:effectLst/>
                <a:latin typeface="futura"/>
              </a:rPr>
              <a:t>Step 2: Create a new role within the collection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000000"/>
                </a:solidFill>
                <a:effectLst/>
                <a:latin typeface="futura"/>
              </a:rPr>
              <a:t>Create a new directory for your role within the collection: `</a:t>
            </a:r>
            <a:r>
              <a:rPr lang="en-US" sz="1050" b="0" i="1" dirty="0" err="1">
                <a:solidFill>
                  <a:srgbClr val="000000"/>
                </a:solidFill>
                <a:effectLst/>
                <a:latin typeface="futura"/>
              </a:rPr>
              <a:t>mkdir</a:t>
            </a:r>
            <a:r>
              <a:rPr lang="en-US" sz="1050" b="0" i="1" dirty="0">
                <a:solidFill>
                  <a:srgbClr val="000000"/>
                </a:solidFill>
                <a:effectLst/>
                <a:latin typeface="futura"/>
              </a:rPr>
              <a:t> roles/</a:t>
            </a:r>
            <a:r>
              <a:rPr lang="en-US" sz="1050" b="0" i="1" dirty="0" err="1">
                <a:solidFill>
                  <a:srgbClr val="000000"/>
                </a:solidFill>
                <a:effectLst/>
                <a:latin typeface="futura"/>
              </a:rPr>
              <a:t>my_role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futura"/>
              </a:rPr>
              <a:t>`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000000"/>
                </a:solidFill>
                <a:effectLst/>
                <a:latin typeface="futura"/>
              </a:rPr>
              <a:t>Navigate into the role directory: `</a:t>
            </a:r>
            <a:r>
              <a:rPr lang="en-US" sz="1050" b="0" i="1" dirty="0">
                <a:solidFill>
                  <a:srgbClr val="000000"/>
                </a:solidFill>
                <a:effectLst/>
                <a:latin typeface="futura"/>
              </a:rPr>
              <a:t>cd roles/</a:t>
            </a:r>
            <a:r>
              <a:rPr lang="en-US" sz="1050" b="0" i="1" dirty="0" err="1">
                <a:solidFill>
                  <a:srgbClr val="000000"/>
                </a:solidFill>
                <a:effectLst/>
                <a:latin typeface="futura"/>
              </a:rPr>
              <a:t>my_role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futura"/>
              </a:rPr>
              <a:t>`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000000"/>
                </a:solidFill>
                <a:effectLst/>
                <a:latin typeface="futura"/>
              </a:rPr>
              <a:t>Initialize the role using `</a:t>
            </a:r>
            <a:r>
              <a:rPr lang="en-US" sz="1050" b="0" i="1" dirty="0">
                <a:solidFill>
                  <a:srgbClr val="000000"/>
                </a:solidFill>
                <a:effectLst/>
                <a:latin typeface="futura"/>
              </a:rPr>
              <a:t>ansible-galaxy role </a:t>
            </a:r>
            <a:r>
              <a:rPr lang="en-US" sz="1050" b="0" i="1" dirty="0" err="1">
                <a:solidFill>
                  <a:srgbClr val="000000"/>
                </a:solidFill>
                <a:effectLst/>
                <a:latin typeface="futura"/>
              </a:rPr>
              <a:t>init</a:t>
            </a:r>
            <a:r>
              <a:rPr lang="en-US" sz="1050" b="0" i="1" dirty="0">
                <a:solidFill>
                  <a:srgbClr val="000000"/>
                </a:solidFill>
                <a:effectLst/>
                <a:latin typeface="futura"/>
              </a:rPr>
              <a:t> </a:t>
            </a:r>
            <a:r>
              <a:rPr lang="en-US" sz="1050" b="0" i="1" dirty="0" err="1">
                <a:solidFill>
                  <a:srgbClr val="000000"/>
                </a:solidFill>
                <a:effectLst/>
                <a:latin typeface="futura"/>
              </a:rPr>
              <a:t>my_role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futura"/>
              </a:rPr>
              <a:t>`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00000"/>
                </a:solidFill>
                <a:effectLst/>
                <a:latin typeface="futura"/>
              </a:rPr>
              <a:t>Step 3: Develop your role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000000"/>
                </a:solidFill>
                <a:effectLst/>
                <a:latin typeface="futura"/>
              </a:rPr>
              <a:t>Write your role's code in the `tasks`, `handlers`, `templates`, and `defaults` directories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000000"/>
                </a:solidFill>
                <a:effectLst/>
                <a:latin typeface="futura"/>
              </a:rPr>
              <a:t>Test your role locally using `</a:t>
            </a:r>
            <a:r>
              <a:rPr lang="en-US" sz="1050" b="0" i="1" dirty="0">
                <a:solidFill>
                  <a:srgbClr val="000000"/>
                </a:solidFill>
                <a:effectLst/>
                <a:latin typeface="futura"/>
              </a:rPr>
              <a:t>ansible-playbook -</a:t>
            </a:r>
            <a:r>
              <a:rPr lang="en-US" sz="1050" b="0" i="1" dirty="0" err="1">
                <a:solidFill>
                  <a:srgbClr val="000000"/>
                </a:solidFill>
                <a:effectLst/>
                <a:latin typeface="futura"/>
              </a:rPr>
              <a:t>i</a:t>
            </a:r>
            <a:r>
              <a:rPr lang="en-US" sz="1050" b="0" i="1" dirty="0">
                <a:solidFill>
                  <a:srgbClr val="000000"/>
                </a:solidFill>
                <a:effectLst/>
                <a:latin typeface="futura"/>
              </a:rPr>
              <a:t> &lt;</a:t>
            </a:r>
            <a:r>
              <a:rPr lang="en-US" sz="1050" b="0" i="1" dirty="0" err="1">
                <a:solidFill>
                  <a:srgbClr val="000000"/>
                </a:solidFill>
                <a:effectLst/>
                <a:latin typeface="futura"/>
              </a:rPr>
              <a:t>hosts_file</a:t>
            </a:r>
            <a:r>
              <a:rPr lang="en-US" sz="1050" b="0" i="1" dirty="0">
                <a:solidFill>
                  <a:srgbClr val="000000"/>
                </a:solidFill>
                <a:effectLst/>
                <a:latin typeface="futura"/>
              </a:rPr>
              <a:t>&gt; &lt;</a:t>
            </a:r>
            <a:r>
              <a:rPr lang="en-US" sz="1050" b="0" i="1" dirty="0" err="1">
                <a:solidFill>
                  <a:srgbClr val="000000"/>
                </a:solidFill>
                <a:effectLst/>
                <a:latin typeface="futura"/>
              </a:rPr>
              <a:t>playbook_file</a:t>
            </a:r>
            <a:r>
              <a:rPr lang="en-US" sz="1050" b="0" i="1" dirty="0">
                <a:solidFill>
                  <a:srgbClr val="000000"/>
                </a:solidFill>
                <a:effectLst/>
                <a:latin typeface="futura"/>
              </a:rPr>
              <a:t>&gt;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futura"/>
              </a:rPr>
              <a:t>`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00000"/>
                </a:solidFill>
                <a:effectLst/>
                <a:latin typeface="futura"/>
              </a:rPr>
              <a:t>Step 4: Configure your collection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000000"/>
                </a:solidFill>
                <a:effectLst/>
                <a:latin typeface="futura"/>
              </a:rPr>
              <a:t>In the collection's root directory, edit the `</a:t>
            </a:r>
            <a:r>
              <a:rPr lang="en-US" sz="1050" b="0" i="0" dirty="0" err="1">
                <a:solidFill>
                  <a:srgbClr val="000000"/>
                </a:solidFill>
                <a:effectLst/>
                <a:latin typeface="futura"/>
              </a:rPr>
              <a:t>galaxy.yml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futura"/>
              </a:rPr>
              <a:t>` file to include information about your collection and role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000000"/>
                </a:solidFill>
                <a:effectLst/>
                <a:latin typeface="futura"/>
              </a:rPr>
              <a:t>Add the following lines to the `</a:t>
            </a:r>
            <a:r>
              <a:rPr lang="en-US" sz="1050" b="0" i="0" dirty="0" err="1">
                <a:solidFill>
                  <a:srgbClr val="000000"/>
                </a:solidFill>
                <a:effectLst/>
                <a:latin typeface="futura"/>
              </a:rPr>
              <a:t>galaxy.yml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futura"/>
              </a:rPr>
              <a:t>` file: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6E42DE-A61E-3605-8900-8A4E5BB2E3F4}"/>
              </a:ext>
            </a:extLst>
          </p:cNvPr>
          <p:cNvSpPr txBox="1"/>
          <p:nvPr/>
        </p:nvSpPr>
        <p:spPr>
          <a:xfrm>
            <a:off x="228600" y="4038600"/>
            <a:ext cx="8560080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00000"/>
                </a:solidFill>
                <a:effectLst/>
                <a:latin typeface="futura"/>
              </a:rPr>
              <a:t>Step 5: Build your collection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000000"/>
                </a:solidFill>
                <a:effectLst/>
                <a:latin typeface="futura"/>
              </a:rPr>
              <a:t>Run `</a:t>
            </a:r>
            <a:r>
              <a:rPr lang="en-US" sz="1050" b="0" i="1" dirty="0">
                <a:solidFill>
                  <a:srgbClr val="000000"/>
                </a:solidFill>
                <a:effectLst/>
                <a:latin typeface="futura"/>
              </a:rPr>
              <a:t>ansible-galaxy collection build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futura"/>
              </a:rPr>
              <a:t>` to build your collection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000000"/>
                </a:solidFill>
                <a:effectLst/>
                <a:latin typeface="futura"/>
              </a:rPr>
              <a:t>This will create a `</a:t>
            </a:r>
            <a:r>
              <a:rPr lang="en-US" sz="1050" b="0" i="0" dirty="0" err="1">
                <a:solidFill>
                  <a:srgbClr val="000000"/>
                </a:solidFill>
                <a:effectLst/>
                <a:latin typeface="futura"/>
              </a:rPr>
              <a:t>my_namespace-my_collection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futura"/>
              </a:rPr>
              <a:t>-&lt;version&gt;.tar.gz` file in the collection's root directory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00000"/>
                </a:solidFill>
                <a:effectLst/>
                <a:latin typeface="futura"/>
              </a:rPr>
              <a:t>Step 6: Publish your collection to Ansible Galaxy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000000"/>
                </a:solidFill>
                <a:effectLst/>
                <a:latin typeface="futura"/>
              </a:rPr>
              <a:t>Run `</a:t>
            </a:r>
            <a:r>
              <a:rPr lang="en-US" sz="1050" b="0" i="1" dirty="0">
                <a:solidFill>
                  <a:srgbClr val="000000"/>
                </a:solidFill>
                <a:effectLst/>
                <a:latin typeface="futura"/>
              </a:rPr>
              <a:t>ansible-galaxy collection publish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futura"/>
              </a:rPr>
              <a:t>` to upload your collection to Ansible Galaxy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000000"/>
                </a:solidFill>
                <a:effectLst/>
                <a:latin typeface="futura"/>
              </a:rPr>
              <a:t>Run `ansible-galaxy collection publish --server &lt;your_automation_hub_url&gt; --token &lt;your_api_token&gt; my_namespace-my_collection-&lt;version&gt;.tar.gz`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78D884-A38F-57DC-A873-C23AF0918A3D}"/>
              </a:ext>
            </a:extLst>
          </p:cNvPr>
          <p:cNvSpPr txBox="1"/>
          <p:nvPr/>
        </p:nvSpPr>
        <p:spPr>
          <a:xfrm>
            <a:off x="1981200" y="3201873"/>
            <a:ext cx="45813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roles:</a:t>
            </a:r>
          </a:p>
          <a:p>
            <a:r>
              <a:rPr lang="en-US" dirty="0"/>
              <a:t>  - </a:t>
            </a:r>
            <a:r>
              <a:rPr lang="en-US" dirty="0" err="1"/>
              <a:t>my_role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754941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DB8870-D36D-1DC2-8EAC-7AB55715378D}"/>
              </a:ext>
            </a:extLst>
          </p:cNvPr>
          <p:cNvSpPr txBox="1"/>
          <p:nvPr/>
        </p:nvSpPr>
        <p:spPr>
          <a:xfrm>
            <a:off x="335903" y="5105400"/>
            <a:ext cx="8784000" cy="4401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/>
          <a:lstStyle/>
          <a:p>
            <a:pPr marL="0" marR="0" lvl="0" indent="0" algn="l" hangingPunct="0">
              <a:lnSpc>
                <a:spcPct val="93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# ansible-doc -t role my-role</a:t>
            </a:r>
            <a:endParaRPr lang="fr-FR" sz="1800" b="1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1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4600D82-6634-8D14-99BE-71540F805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03" y="1600200"/>
            <a:ext cx="8382000" cy="2923877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61" tIns="0" rIns="4761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Description: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 Unicode MS"/>
              </a:rPr>
              <a:t>ansible-doc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 displays information about installed modules and roles in Ansible.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Provides a concise list of plugins with short descriptions and documentation snippets.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Basic Usage: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ansible-doc &lt;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module_or_role_name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 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Common Options: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 Unicode MS"/>
              </a:rPr>
              <a:t>-h, --help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 : Show help message and exit.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 Unicode MS"/>
              </a:rPr>
              <a:t>--version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 : Show version number, config file location, module search path, and exit.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 Unicode MS"/>
              </a:rPr>
              <a:t>-t &lt;TYPE&gt;, --type &lt;TYPE&gt;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 : Choose plugin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ype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 (default is “module”). Available types: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 Unicode MS"/>
              </a:rPr>
              <a:t>become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,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 Unicode MS"/>
              </a:rPr>
              <a:t>cache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,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 Unicode MS"/>
              </a:rPr>
              <a:t>callback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Arial Unicode MS"/>
              </a:rPr>
              <a:t>cliconf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,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 Unicode MS"/>
              </a:rPr>
              <a:t>connection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Arial Unicode MS"/>
              </a:rPr>
              <a:t>httpapi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,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 Unicode MS"/>
              </a:rPr>
              <a:t>inventory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,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 Unicode MS"/>
              </a:rPr>
              <a:t>lookup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Arial Unicode MS"/>
              </a:rPr>
              <a:t>netconf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,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 Unicode MS"/>
              </a:rPr>
              <a:t>shell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,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 Unicode MS"/>
              </a:rPr>
              <a:t>vars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,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 Unicode MS"/>
              </a:rPr>
              <a:t>module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,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 Unicode MS"/>
              </a:rPr>
              <a:t>strategy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,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 Unicode MS"/>
              </a:rPr>
              <a:t>test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,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 Unicode MS"/>
              </a:rPr>
              <a:t>filter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,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 Unicode MS"/>
              </a:rPr>
              <a:t>role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,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 Unicode MS"/>
              </a:rPr>
              <a:t>keyword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 Unicode MS"/>
              </a:rPr>
              <a:t>-l, --list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 : List available plugins. An argument can be used for filtering.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 Unicode MS"/>
              </a:rPr>
              <a:t>-s, --snippet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 : Show playbook snippet for these plugin types: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 Unicode MS"/>
              </a:rPr>
              <a:t>inventory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,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 Unicode MS"/>
              </a:rPr>
              <a:t>lookup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,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 Unicode MS"/>
              </a:rPr>
              <a:t>module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E14E49-3E37-E61A-1BBB-904CC898DEDC}"/>
              </a:ext>
            </a:extLst>
          </p:cNvPr>
          <p:cNvSpPr txBox="1"/>
          <p:nvPr/>
        </p:nvSpPr>
        <p:spPr>
          <a:xfrm>
            <a:off x="335903" y="304800"/>
            <a:ext cx="46684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rgbClr val="00437A"/>
                </a:solidFill>
                <a:latin typeface="Open Sans" pitchFamily="18"/>
              </a:rPr>
              <a:t>Ansible-doc Overview</a:t>
            </a:r>
          </a:p>
        </p:txBody>
      </p:sp>
    </p:spTree>
    <p:extLst>
      <p:ext uri="{BB962C8B-B14F-4D97-AF65-F5344CB8AC3E}">
        <p14:creationId xmlns:p14="http://schemas.microsoft.com/office/powerpoint/2010/main" val="1785587151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F511E2-6AFD-4262-2D52-4391DFE5DD27}"/>
              </a:ext>
            </a:extLst>
          </p:cNvPr>
          <p:cNvSpPr txBox="1"/>
          <p:nvPr/>
        </p:nvSpPr>
        <p:spPr>
          <a:xfrm>
            <a:off x="144000" y="1007640"/>
            <a:ext cx="8784000" cy="138708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/>
          <a:lstStyle/>
          <a:p>
            <a:pPr marL="0" marR="0" lvl="0" indent="0" algn="l" hangingPunct="0">
              <a:lnSpc>
                <a:spcPct val="93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Create</a:t>
            </a:r>
            <a:r>
              <a:rPr lang="fr-FR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a Rôle to reboot and </a:t>
            </a:r>
            <a:r>
              <a:rPr lang="fr-FR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wait</a:t>
            </a:r>
            <a:r>
              <a:rPr lang="fr-FR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for the server to </a:t>
            </a:r>
            <a:r>
              <a:rPr lang="fr-FR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be</a:t>
            </a:r>
            <a:r>
              <a:rPr lang="fr-FR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UP and </a:t>
            </a:r>
            <a:r>
              <a:rPr lang="fr-FR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then</a:t>
            </a:r>
            <a:r>
              <a:rPr lang="fr-FR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re </a:t>
            </a:r>
            <a:r>
              <a:rPr lang="fr-FR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Gather</a:t>
            </a:r>
            <a:r>
              <a:rPr lang="fr-FR" sz="18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8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facts</a:t>
            </a:r>
            <a:endParaRPr lang="fr-FR" sz="1800" b="1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3C8CA1-4041-5409-FE8F-7B57E46FC6E5}"/>
              </a:ext>
            </a:extLst>
          </p:cNvPr>
          <p:cNvSpPr txBox="1"/>
          <p:nvPr/>
        </p:nvSpPr>
        <p:spPr>
          <a:xfrm>
            <a:off x="2262253" y="457185"/>
            <a:ext cx="4581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u="sng" dirty="0" err="1"/>
              <a:t>Exercice</a:t>
            </a:r>
            <a:r>
              <a:rPr lang="en-US" sz="1800" b="1" u="sng" dirty="0"/>
              <a:t>: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61957E-0F78-296E-B4A2-21FAB4614600}"/>
              </a:ext>
            </a:extLst>
          </p:cNvPr>
          <p:cNvSpPr txBox="1"/>
          <p:nvPr/>
        </p:nvSpPr>
        <p:spPr>
          <a:xfrm>
            <a:off x="533400" y="304800"/>
            <a:ext cx="6567196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# File: roles/reboot-server/tasks/</a:t>
            </a:r>
            <a:r>
              <a:rPr lang="en-US" sz="1400" dirty="0" err="1"/>
              <a:t>main.yml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---</a:t>
            </a:r>
          </a:p>
          <a:p>
            <a:r>
              <a:rPr lang="en-US" sz="1400" dirty="0"/>
              <a:t>- name: Reboot server and wait for it to come back up</a:t>
            </a:r>
          </a:p>
          <a:p>
            <a:r>
              <a:rPr lang="en-US" sz="1400" dirty="0"/>
              <a:t>  tasks:</a:t>
            </a:r>
          </a:p>
          <a:p>
            <a:r>
              <a:rPr lang="en-US" sz="1400" dirty="0"/>
              <a:t>    - name: Reboot server</a:t>
            </a:r>
          </a:p>
          <a:p>
            <a:r>
              <a:rPr lang="en-US" sz="1400" dirty="0"/>
              <a:t>      reboot:</a:t>
            </a:r>
          </a:p>
          <a:p>
            <a:r>
              <a:rPr lang="en-US" sz="1400" dirty="0"/>
              <a:t>        msg: "Rebooting server"</a:t>
            </a:r>
          </a:p>
          <a:p>
            <a:endParaRPr lang="en-US" sz="1400" dirty="0"/>
          </a:p>
          <a:p>
            <a:r>
              <a:rPr lang="en-US" sz="1400" dirty="0"/>
              <a:t>    - name: Wait for server to come back up</a:t>
            </a:r>
          </a:p>
          <a:p>
            <a:r>
              <a:rPr lang="en-US" sz="1400" dirty="0"/>
              <a:t>      </a:t>
            </a:r>
            <a:r>
              <a:rPr lang="en-US" sz="1400" dirty="0" err="1"/>
              <a:t>wait_for</a:t>
            </a:r>
            <a:r>
              <a:rPr lang="en-US" sz="1400" dirty="0"/>
              <a:t>:</a:t>
            </a:r>
          </a:p>
          <a:p>
            <a:r>
              <a:rPr lang="en-US" sz="1400" dirty="0"/>
              <a:t>        host: "{{ </a:t>
            </a:r>
            <a:r>
              <a:rPr lang="en-US" sz="1400" dirty="0" err="1"/>
              <a:t>ansible_host</a:t>
            </a:r>
            <a:r>
              <a:rPr lang="en-US" sz="1400" dirty="0"/>
              <a:t> }}"</a:t>
            </a:r>
          </a:p>
          <a:p>
            <a:r>
              <a:rPr lang="en-US" sz="1400" dirty="0"/>
              <a:t>        port: 22</a:t>
            </a:r>
          </a:p>
          <a:p>
            <a:r>
              <a:rPr lang="en-US" sz="1400" dirty="0"/>
              <a:t>        delay: 30</a:t>
            </a:r>
          </a:p>
          <a:p>
            <a:r>
              <a:rPr lang="en-US" sz="1400" dirty="0"/>
              <a:t>        timeout: 300</a:t>
            </a:r>
          </a:p>
          <a:p>
            <a:r>
              <a:rPr lang="en-US" sz="1400" dirty="0"/>
              <a:t>  - name: Regather Facts</a:t>
            </a:r>
          </a:p>
          <a:p>
            <a:r>
              <a:rPr lang="en-US" sz="1400" dirty="0"/>
              <a:t>    setup: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EFA970-FC6C-B61E-C6F5-02ED55B61A5F}"/>
              </a:ext>
            </a:extLst>
          </p:cNvPr>
          <p:cNvSpPr txBox="1"/>
          <p:nvPr/>
        </p:nvSpPr>
        <p:spPr>
          <a:xfrm>
            <a:off x="533400" y="4419600"/>
            <a:ext cx="458133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---</a:t>
            </a:r>
          </a:p>
          <a:p>
            <a:r>
              <a:rPr lang="en-US" sz="1400" dirty="0"/>
              <a:t>- name: Check internet access and set proxy if needed</a:t>
            </a:r>
          </a:p>
          <a:p>
            <a:r>
              <a:rPr lang="en-US" sz="1400" dirty="0"/>
              <a:t>  hosts: all</a:t>
            </a:r>
          </a:p>
          <a:p>
            <a:r>
              <a:rPr lang="en-US" sz="1400" dirty="0"/>
              <a:t>  roles:</a:t>
            </a:r>
          </a:p>
          <a:p>
            <a:r>
              <a:rPr lang="en-US" sz="1400" dirty="0"/>
              <a:t>    - reboot-server</a:t>
            </a:r>
          </a:p>
        </p:txBody>
      </p:sp>
    </p:spTree>
    <p:extLst>
      <p:ext uri="{BB962C8B-B14F-4D97-AF65-F5344CB8AC3E}">
        <p14:creationId xmlns:p14="http://schemas.microsoft.com/office/powerpoint/2010/main" val="2817144527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76AC588-DBF8-EDA5-22B7-66236E681984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Re-usable: GALAXY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FA2A6A6-2D64-7172-18EC-8DE6A0292612}"/>
              </a:ext>
            </a:extLst>
          </p:cNvPr>
          <p:cNvSpPr/>
          <p:nvPr/>
        </p:nvSpPr>
        <p:spPr>
          <a:xfrm>
            <a:off x="1025639" y="2085839"/>
            <a:ext cx="954000" cy="2937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0CCFF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40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Tasks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2BC88AC-57FE-789E-A5B6-9DC3F21FEF76}"/>
              </a:ext>
            </a:extLst>
          </p:cNvPr>
          <p:cNvSpPr/>
          <p:nvPr/>
        </p:nvSpPr>
        <p:spPr>
          <a:xfrm>
            <a:off x="1025639" y="2486160"/>
            <a:ext cx="954000" cy="2934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0CCFF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40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Tasks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1501E72-FB59-FE40-C423-2851B589D0D9}"/>
              </a:ext>
            </a:extLst>
          </p:cNvPr>
          <p:cNvSpPr/>
          <p:nvPr/>
        </p:nvSpPr>
        <p:spPr>
          <a:xfrm>
            <a:off x="1025639" y="2914560"/>
            <a:ext cx="954000" cy="2937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0CCFF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40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Tasks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93DF5FE-CE93-CDF2-B27D-EB533C2ACC1D}"/>
              </a:ext>
            </a:extLst>
          </p:cNvPr>
          <p:cNvSpPr/>
          <p:nvPr/>
        </p:nvSpPr>
        <p:spPr>
          <a:xfrm>
            <a:off x="1025639" y="3333600"/>
            <a:ext cx="954000" cy="2937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0CCFF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40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Tasks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AF4AA10-6826-4ADB-6093-143629BAF02B}"/>
              </a:ext>
            </a:extLst>
          </p:cNvPr>
          <p:cNvSpPr/>
          <p:nvPr/>
        </p:nvSpPr>
        <p:spPr>
          <a:xfrm>
            <a:off x="1025639" y="3787920"/>
            <a:ext cx="954000" cy="2934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0CCFF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40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Tasks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9CA5DE1-55DB-68F7-A2B3-26D7DCB2F35C}"/>
              </a:ext>
            </a:extLst>
          </p:cNvPr>
          <p:cNvSpPr/>
          <p:nvPr/>
        </p:nvSpPr>
        <p:spPr>
          <a:xfrm>
            <a:off x="2549520" y="2227320"/>
            <a:ext cx="1139760" cy="5252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76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Role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2E4D3E7-463C-DC27-5568-809E26CC8FE6}"/>
              </a:ext>
            </a:extLst>
          </p:cNvPr>
          <p:cNvSpPr/>
          <p:nvPr/>
        </p:nvSpPr>
        <p:spPr>
          <a:xfrm>
            <a:off x="2567160" y="3332160"/>
            <a:ext cx="1139760" cy="5256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76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Role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F354438-D744-8554-C856-12469E18116A}"/>
              </a:ext>
            </a:extLst>
          </p:cNvPr>
          <p:cNvSpPr/>
          <p:nvPr/>
        </p:nvSpPr>
        <p:spPr>
          <a:xfrm>
            <a:off x="7958160" y="2085839"/>
            <a:ext cx="954000" cy="2937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0CCFF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40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Tasks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A21D5E5-85D7-D85F-67A1-6A0CC4B2AF6E}"/>
              </a:ext>
            </a:extLst>
          </p:cNvPr>
          <p:cNvSpPr/>
          <p:nvPr/>
        </p:nvSpPr>
        <p:spPr>
          <a:xfrm>
            <a:off x="7958160" y="2486160"/>
            <a:ext cx="954000" cy="2934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0CCFF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40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Tasks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88BE0DF-22A5-BC68-61FD-F01C010FB52F}"/>
              </a:ext>
            </a:extLst>
          </p:cNvPr>
          <p:cNvSpPr/>
          <p:nvPr/>
        </p:nvSpPr>
        <p:spPr>
          <a:xfrm>
            <a:off x="7958160" y="2914560"/>
            <a:ext cx="954000" cy="2937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0CCFF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40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Tasks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FC30819-C557-0090-EE7F-99D1C8823259}"/>
              </a:ext>
            </a:extLst>
          </p:cNvPr>
          <p:cNvSpPr/>
          <p:nvPr/>
        </p:nvSpPr>
        <p:spPr>
          <a:xfrm>
            <a:off x="7958160" y="3333600"/>
            <a:ext cx="954000" cy="2937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0CCFF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40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Tasks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FA7C01-6E93-4FB8-5024-496A04B4300C}"/>
              </a:ext>
            </a:extLst>
          </p:cNvPr>
          <p:cNvSpPr/>
          <p:nvPr/>
        </p:nvSpPr>
        <p:spPr>
          <a:xfrm>
            <a:off x="7958160" y="3787920"/>
            <a:ext cx="954000" cy="2934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0CCFF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40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Tasks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925EC42-F8F2-D122-220C-F30C9E408E1C}"/>
              </a:ext>
            </a:extLst>
          </p:cNvPr>
          <p:cNvSpPr/>
          <p:nvPr/>
        </p:nvSpPr>
        <p:spPr>
          <a:xfrm>
            <a:off x="6399360" y="2227320"/>
            <a:ext cx="1139760" cy="5252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76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Role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441C659-4FE7-E9EA-1FC0-B0E50B32EAAA}"/>
              </a:ext>
            </a:extLst>
          </p:cNvPr>
          <p:cNvSpPr/>
          <p:nvPr/>
        </p:nvSpPr>
        <p:spPr>
          <a:xfrm>
            <a:off x="6416640" y="3332160"/>
            <a:ext cx="1139760" cy="5256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5760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Role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69EDBF7-F939-FB32-7AED-E9E25EEB71CF}"/>
              </a:ext>
            </a:extLst>
          </p:cNvPr>
          <p:cNvSpPr/>
          <p:nvPr/>
        </p:nvSpPr>
        <p:spPr>
          <a:xfrm>
            <a:off x="4286160" y="2460600"/>
            <a:ext cx="1622519" cy="13813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780"/>
              <a:gd name="f7" fmla="val 907"/>
              <a:gd name="f8" fmla="val 390"/>
              <a:gd name="f9" fmla="val 492"/>
              <a:gd name="f10" fmla="val 276"/>
              <a:gd name="f11" fmla="val 228"/>
              <a:gd name="f12" fmla="val 594"/>
              <a:gd name="f13" fmla="val 457"/>
              <a:gd name="f14" fmla="val 679"/>
              <a:gd name="f15" fmla="val 631"/>
              <a:gd name="f16" fmla="val 288"/>
              <a:gd name="f17" fmla="val 186"/>
              <a:gd name="f18" fmla="+- 0 0 0"/>
              <a:gd name="f19" fmla="*/ f3 1 780"/>
              <a:gd name="f20" fmla="*/ f4 1 907"/>
              <a:gd name="f21" fmla="*/ f18 f0 1"/>
              <a:gd name="f22" fmla="*/ 390 f19 1"/>
              <a:gd name="f23" fmla="*/ 0 f20 1"/>
              <a:gd name="f24" fmla="*/ f21 1 f2"/>
              <a:gd name="f25" fmla="*/ 492 f19 1"/>
              <a:gd name="f26" fmla="*/ 276 f20 1"/>
              <a:gd name="f27" fmla="*/ 594 f19 1"/>
              <a:gd name="f28" fmla="*/ 457 f20 1"/>
              <a:gd name="f29" fmla="*/ 780 f19 1"/>
              <a:gd name="f30" fmla="*/ 228 f20 1"/>
              <a:gd name="f31" fmla="+- f24 0 f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1">
                <a:pos x="f22" y="f23"/>
              </a:cxn>
              <a:cxn ang="f31">
                <a:pos x="f25" y="f26"/>
              </a:cxn>
              <a:cxn ang="f31">
                <a:pos x="f27" y="f28"/>
              </a:cxn>
              <a:cxn ang="f31">
                <a:pos x="f29" y="f30"/>
              </a:cxn>
            </a:cxnLst>
            <a:rect l="l" t="t" r="r" b="b"/>
            <a:pathLst>
              <a:path w="780" h="907">
                <a:moveTo>
                  <a:pt x="f8" y="f5"/>
                </a:moveTo>
                <a:lnTo>
                  <a:pt x="f9" y="f10"/>
                </a:lnTo>
                <a:lnTo>
                  <a:pt x="f6" y="f11"/>
                </a:lnTo>
                <a:lnTo>
                  <a:pt x="f12" y="f13"/>
                </a:lnTo>
                <a:lnTo>
                  <a:pt x="f6" y="f14"/>
                </a:lnTo>
                <a:lnTo>
                  <a:pt x="f9" y="f15"/>
                </a:lnTo>
                <a:lnTo>
                  <a:pt x="f8" y="f7"/>
                </a:lnTo>
                <a:lnTo>
                  <a:pt x="f16" y="f15"/>
                </a:lnTo>
                <a:lnTo>
                  <a:pt x="f5" y="f14"/>
                </a:lnTo>
                <a:lnTo>
                  <a:pt x="f17" y="f13"/>
                </a:lnTo>
                <a:lnTo>
                  <a:pt x="f5" y="f11"/>
                </a:lnTo>
                <a:lnTo>
                  <a:pt x="f16" y="f10"/>
                </a:lnTo>
                <a:lnTo>
                  <a:pt x="f8" y="f5"/>
                </a:lnTo>
                <a:close/>
              </a:path>
            </a:pathLst>
          </a:custGeom>
          <a:solidFill>
            <a:srgbClr val="729FCF"/>
          </a:solidFill>
          <a:ln w="9360">
            <a:solidFill>
              <a:srgbClr val="3465A4"/>
            </a:solidFill>
            <a:prstDash val="solid"/>
            <a:round/>
          </a:ln>
        </p:spPr>
        <p:txBody>
          <a:bodyPr wrap="none" lIns="90000" tIns="60840" rIns="90000" bIns="45000" anchor="ctr" anchorCtr="0" compatLnSpc="1">
            <a:noAutofit/>
          </a:bodyPr>
          <a:lstStyle/>
          <a:p>
            <a:pPr marL="0" marR="0" lvl="0" indent="0" algn="ctr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Galaxy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2C7A2540-103A-18AA-8FB1-AF82B2BE8C02}"/>
              </a:ext>
            </a:extLst>
          </p:cNvPr>
          <p:cNvCxnSpPr>
            <a:stCxn id="3" idx="1"/>
            <a:endCxn id="8" idx="5"/>
          </p:cNvCxnSpPr>
          <p:nvPr/>
        </p:nvCxnSpPr>
        <p:spPr>
          <a:xfrm>
            <a:off x="1979639" y="2232719"/>
            <a:ext cx="736782" cy="71515"/>
          </a:xfrm>
          <a:prstGeom prst="bentConnector4">
            <a:avLst>
              <a:gd name="adj1" fmla="val 38674"/>
              <a:gd name="adj2" fmla="val -525037"/>
            </a:avLst>
          </a:prstGeom>
          <a:noFill/>
          <a:ln w="9360">
            <a:solidFill>
              <a:srgbClr val="3465A4"/>
            </a:solidFill>
            <a:prstDash val="solid"/>
            <a:round/>
          </a:ln>
        </p:spPr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97BEBC1F-EF68-C109-1941-23447E18D8F5}"/>
              </a:ext>
            </a:extLst>
          </p:cNvPr>
          <p:cNvCxnSpPr>
            <a:stCxn id="4" idx="1"/>
            <a:endCxn id="8" idx="6"/>
          </p:cNvCxnSpPr>
          <p:nvPr/>
        </p:nvCxnSpPr>
        <p:spPr>
          <a:xfrm flipV="1">
            <a:off x="1979639" y="2489940"/>
            <a:ext cx="569881" cy="142920"/>
          </a:xfrm>
          <a:prstGeom prst="bentConnector4">
            <a:avLst>
              <a:gd name="adj1" fmla="val 50000"/>
              <a:gd name="adj2" fmla="val 443703"/>
            </a:avLst>
          </a:prstGeom>
          <a:noFill/>
          <a:ln w="9360">
            <a:solidFill>
              <a:srgbClr val="3465A4"/>
            </a:solidFill>
            <a:prstDash val="solid"/>
            <a:round/>
          </a:ln>
        </p:spPr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BB1A7A89-6A5B-7C0E-DED0-C083F3AA094A}"/>
              </a:ext>
            </a:extLst>
          </p:cNvPr>
          <p:cNvCxnSpPr>
            <a:stCxn id="5" idx="1"/>
            <a:endCxn id="8" idx="7"/>
          </p:cNvCxnSpPr>
          <p:nvPr/>
        </p:nvCxnSpPr>
        <p:spPr>
          <a:xfrm flipV="1">
            <a:off x="1979639" y="2675646"/>
            <a:ext cx="736782" cy="385794"/>
          </a:xfrm>
          <a:prstGeom prst="bentConnector4">
            <a:avLst>
              <a:gd name="adj1" fmla="val 38674"/>
              <a:gd name="adj2" fmla="val 275463"/>
            </a:avLst>
          </a:prstGeom>
          <a:noFill/>
          <a:ln w="9360">
            <a:solidFill>
              <a:srgbClr val="3465A4"/>
            </a:solidFill>
            <a:prstDash val="solid"/>
            <a:round/>
          </a:ln>
        </p:spPr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532F1F72-CA36-1916-6886-CA5059719E91}"/>
              </a:ext>
            </a:extLst>
          </p:cNvPr>
          <p:cNvCxnSpPr>
            <a:stCxn id="5" idx="1"/>
            <a:endCxn id="9" idx="5"/>
          </p:cNvCxnSpPr>
          <p:nvPr/>
        </p:nvCxnSpPr>
        <p:spPr>
          <a:xfrm>
            <a:off x="1979639" y="3061440"/>
            <a:ext cx="754422" cy="347686"/>
          </a:xfrm>
          <a:prstGeom prst="bentConnector2">
            <a:avLst/>
          </a:prstGeom>
          <a:noFill/>
          <a:ln w="9360">
            <a:solidFill>
              <a:srgbClr val="3465A4"/>
            </a:solidFill>
            <a:prstDash val="solid"/>
            <a:round/>
          </a:ln>
        </p:spPr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EFD7B669-8AB7-A32B-E859-C8CBEFA199C4}"/>
              </a:ext>
            </a:extLst>
          </p:cNvPr>
          <p:cNvCxnSpPr>
            <a:stCxn id="6" idx="1"/>
            <a:endCxn id="9" idx="6"/>
          </p:cNvCxnSpPr>
          <p:nvPr/>
        </p:nvCxnSpPr>
        <p:spPr>
          <a:xfrm>
            <a:off x="1979639" y="3480480"/>
            <a:ext cx="587521" cy="114480"/>
          </a:xfrm>
          <a:prstGeom prst="bentConnector4">
            <a:avLst>
              <a:gd name="adj1" fmla="val 50000"/>
              <a:gd name="adj2" fmla="val -329245"/>
            </a:avLst>
          </a:prstGeom>
          <a:noFill/>
          <a:ln w="9360">
            <a:solidFill>
              <a:srgbClr val="3465A4"/>
            </a:solidFill>
            <a:prstDash val="solid"/>
            <a:round/>
          </a:ln>
        </p:spPr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3718AF9C-7CE5-54C1-E9EA-188CCDD0BF3A}"/>
              </a:ext>
            </a:extLst>
          </p:cNvPr>
          <p:cNvCxnSpPr>
            <a:stCxn id="7" idx="1"/>
            <a:endCxn id="9" idx="7"/>
          </p:cNvCxnSpPr>
          <p:nvPr/>
        </p:nvCxnSpPr>
        <p:spPr>
          <a:xfrm flipV="1">
            <a:off x="1979639" y="3780794"/>
            <a:ext cx="754422" cy="153826"/>
          </a:xfrm>
          <a:prstGeom prst="bentConnector4">
            <a:avLst>
              <a:gd name="adj1" fmla="val 38938"/>
              <a:gd name="adj2" fmla="val 540260"/>
            </a:avLst>
          </a:prstGeom>
          <a:noFill/>
          <a:ln w="9360">
            <a:solidFill>
              <a:srgbClr val="3465A4"/>
            </a:solidFill>
            <a:prstDash val="solid"/>
            <a:round/>
          </a:ln>
        </p:spPr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60101A83-9CD2-F6F8-1CD1-E4C9AC4DAF9D}"/>
              </a:ext>
            </a:extLst>
          </p:cNvPr>
          <p:cNvCxnSpPr>
            <a:stCxn id="14" idx="3"/>
            <a:endCxn id="16" idx="9"/>
          </p:cNvCxnSpPr>
          <p:nvPr/>
        </p:nvCxnSpPr>
        <p:spPr>
          <a:xfrm rot="10800000">
            <a:off x="7389500" y="3780794"/>
            <a:ext cx="568661" cy="153826"/>
          </a:xfrm>
          <a:prstGeom prst="bentConnector4">
            <a:avLst>
              <a:gd name="adj1" fmla="val 35325"/>
              <a:gd name="adj2" fmla="val 248609"/>
            </a:avLst>
          </a:prstGeom>
          <a:noFill/>
          <a:ln w="9360">
            <a:solidFill>
              <a:srgbClr val="3465A4"/>
            </a:solidFill>
            <a:prstDash val="solid"/>
            <a:round/>
          </a:ln>
        </p:spPr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885625F9-DE9C-20A4-4403-0282DDBCC21B}"/>
              </a:ext>
            </a:extLst>
          </p:cNvPr>
          <p:cNvCxnSpPr>
            <a:stCxn id="13" idx="3"/>
            <a:endCxn id="16" idx="10"/>
          </p:cNvCxnSpPr>
          <p:nvPr/>
        </p:nvCxnSpPr>
        <p:spPr>
          <a:xfrm rot="10800000" flipV="1">
            <a:off x="7556400" y="3480480"/>
            <a:ext cx="401760" cy="114480"/>
          </a:xfrm>
          <a:prstGeom prst="bentConnector4">
            <a:avLst>
              <a:gd name="adj1" fmla="val 50000"/>
              <a:gd name="adj2" fmla="val -99686"/>
            </a:avLst>
          </a:prstGeom>
          <a:noFill/>
          <a:ln w="9360">
            <a:solidFill>
              <a:srgbClr val="3465A4"/>
            </a:solidFill>
            <a:prstDash val="solid"/>
            <a:round/>
          </a:ln>
        </p:spPr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F1D9E365-15CB-7799-0E24-BE947378B007}"/>
              </a:ext>
            </a:extLst>
          </p:cNvPr>
          <p:cNvCxnSpPr>
            <a:stCxn id="12" idx="3"/>
            <a:endCxn id="16" idx="11"/>
          </p:cNvCxnSpPr>
          <p:nvPr/>
        </p:nvCxnSpPr>
        <p:spPr>
          <a:xfrm rot="10800000" flipV="1">
            <a:off x="7389500" y="3061440"/>
            <a:ext cx="568661" cy="347686"/>
          </a:xfrm>
          <a:prstGeom prst="bentConnector2">
            <a:avLst/>
          </a:prstGeom>
          <a:noFill/>
          <a:ln w="9360">
            <a:solidFill>
              <a:srgbClr val="3465A4"/>
            </a:solidFill>
            <a:prstDash val="solid"/>
            <a:round/>
          </a:ln>
        </p:spPr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E53AE9DE-25F2-6F52-F30A-271954F409BE}"/>
              </a:ext>
            </a:extLst>
          </p:cNvPr>
          <p:cNvCxnSpPr>
            <a:stCxn id="11" idx="3"/>
            <a:endCxn id="15" idx="9"/>
          </p:cNvCxnSpPr>
          <p:nvPr/>
        </p:nvCxnSpPr>
        <p:spPr>
          <a:xfrm rot="10800000" flipV="1">
            <a:off x="7372220" y="2632860"/>
            <a:ext cx="585941" cy="42786"/>
          </a:xfrm>
          <a:prstGeom prst="bentConnector4">
            <a:avLst>
              <a:gd name="adj1" fmla="val 35758"/>
              <a:gd name="adj2" fmla="val -434287"/>
            </a:avLst>
          </a:prstGeom>
          <a:noFill/>
          <a:ln w="9360">
            <a:solidFill>
              <a:srgbClr val="3465A4"/>
            </a:solidFill>
            <a:prstDash val="solid"/>
            <a:round/>
          </a:ln>
        </p:spPr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923A308B-D724-FC41-6BDE-F95547A3638D}"/>
              </a:ext>
            </a:extLst>
          </p:cNvPr>
          <p:cNvCxnSpPr>
            <a:stCxn id="10" idx="3"/>
            <a:endCxn id="15" idx="11"/>
          </p:cNvCxnSpPr>
          <p:nvPr/>
        </p:nvCxnSpPr>
        <p:spPr>
          <a:xfrm rot="10800000" flipV="1">
            <a:off x="7372220" y="2232718"/>
            <a:ext cx="585941" cy="71515"/>
          </a:xfrm>
          <a:prstGeom prst="bentConnector4">
            <a:avLst>
              <a:gd name="adj1" fmla="val 35758"/>
              <a:gd name="adj2" fmla="val -219653"/>
            </a:avLst>
          </a:prstGeom>
          <a:noFill/>
          <a:ln w="9360">
            <a:solidFill>
              <a:srgbClr val="3465A4"/>
            </a:solidFill>
            <a:prstDash val="solid"/>
            <a:round/>
          </a:ln>
        </p:spPr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0705788B-3C6F-40E8-F314-2B9AD0782ACF}"/>
              </a:ext>
            </a:extLst>
          </p:cNvPr>
          <p:cNvCxnSpPr>
            <a:stCxn id="8" idx="10"/>
            <a:endCxn id="17" idx="4"/>
          </p:cNvCxnSpPr>
          <p:nvPr/>
        </p:nvCxnSpPr>
        <p:spPr>
          <a:xfrm rot="5400000" flipH="1" flipV="1">
            <a:off x="4378680" y="1771200"/>
            <a:ext cx="29340" cy="1408140"/>
          </a:xfrm>
          <a:prstGeom prst="bentConnector3">
            <a:avLst>
              <a:gd name="adj1" fmla="val 1674233"/>
            </a:avLst>
          </a:prstGeom>
          <a:noFill/>
          <a:ln w="9360">
            <a:solidFill>
              <a:srgbClr val="3465A4"/>
            </a:solidFill>
            <a:prstDash val="solid"/>
            <a:round/>
          </a:ln>
        </p:spPr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2FCB47E5-7F7D-DA94-EAAA-8992E85DFBAE}"/>
              </a:ext>
            </a:extLst>
          </p:cNvPr>
          <p:cNvCxnSpPr>
            <a:stCxn id="9" idx="10"/>
            <a:endCxn id="17" idx="5"/>
          </p:cNvCxnSpPr>
          <p:nvPr/>
        </p:nvCxnSpPr>
        <p:spPr>
          <a:xfrm rot="5400000" flipH="1" flipV="1">
            <a:off x="4151245" y="2436611"/>
            <a:ext cx="714024" cy="1602675"/>
          </a:xfrm>
          <a:prstGeom prst="bentConnector3">
            <a:avLst>
              <a:gd name="adj1" fmla="val 190884"/>
            </a:avLst>
          </a:prstGeom>
          <a:noFill/>
          <a:ln w="9360">
            <a:solidFill>
              <a:srgbClr val="3465A4"/>
            </a:solidFill>
            <a:prstDash val="solid"/>
            <a:round/>
          </a:ln>
        </p:spPr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4C932DBF-1AC0-4B58-EBAF-4C3EF3717461}"/>
              </a:ext>
            </a:extLst>
          </p:cNvPr>
          <p:cNvCxnSpPr>
            <a:stCxn id="15" idx="6"/>
            <a:endCxn id="17" idx="6"/>
          </p:cNvCxnSpPr>
          <p:nvPr/>
        </p:nvCxnSpPr>
        <p:spPr>
          <a:xfrm rot="16200000" flipH="1" flipV="1">
            <a:off x="5627241" y="2384470"/>
            <a:ext cx="666650" cy="877589"/>
          </a:xfrm>
          <a:prstGeom prst="bentConnector3">
            <a:avLst>
              <a:gd name="adj1" fmla="val -73685"/>
            </a:avLst>
          </a:prstGeom>
          <a:noFill/>
          <a:ln w="9360">
            <a:solidFill>
              <a:srgbClr val="3465A4"/>
            </a:solidFill>
            <a:prstDash val="solid"/>
            <a:round/>
          </a:ln>
        </p:spPr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45A8EBDC-95D6-8CE4-8413-79C3F303552F}"/>
              </a:ext>
            </a:extLst>
          </p:cNvPr>
          <p:cNvCxnSpPr>
            <a:stCxn id="16" idx="6"/>
            <a:endCxn id="17" idx="7"/>
          </p:cNvCxnSpPr>
          <p:nvPr/>
        </p:nvCxnSpPr>
        <p:spPr>
          <a:xfrm rot="16200000" flipV="1">
            <a:off x="5769097" y="2947416"/>
            <a:ext cx="787126" cy="507961"/>
          </a:xfrm>
          <a:prstGeom prst="bentConnector3">
            <a:avLst>
              <a:gd name="adj1" fmla="val 173157"/>
            </a:avLst>
          </a:prstGeom>
          <a:noFill/>
          <a:ln w="9360">
            <a:solidFill>
              <a:srgbClr val="3465A4"/>
            </a:solidFill>
            <a:prstDash val="solid"/>
            <a:round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ACB1B48-ECED-FB46-7BB4-03899BE99A2D}"/>
              </a:ext>
            </a:extLst>
          </p:cNvPr>
          <p:cNvSpPr txBox="1"/>
          <p:nvPr/>
        </p:nvSpPr>
        <p:spPr>
          <a:xfrm>
            <a:off x="648000" y="4752000"/>
            <a:ext cx="8352000" cy="854999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>
            <a:sp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https://galaxy.ansible.com/search?order_by=-relevance&amp;page_size=10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9A80BEA-F2FF-CCC4-113B-DAB5341AD7C6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Re-usable: GALAXY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67D35A-D895-7EFD-0BAE-B097456BC192}"/>
              </a:ext>
            </a:extLst>
          </p:cNvPr>
          <p:cNvSpPr txBox="1"/>
          <p:nvPr/>
        </p:nvSpPr>
        <p:spPr>
          <a:xfrm>
            <a:off x="0" y="1066800"/>
            <a:ext cx="9333302" cy="3525473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>
            <a:sp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ansible-</a:t>
            </a:r>
            <a:r>
              <a:rPr lang="fr-FR" sz="14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galaxy</a:t>
            </a: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--help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usage: ansible-galaxy [-h] [--version] [-v] TYPE ...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/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Perform various Role and Collection related operations.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/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positional arguments: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TYPE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collection   Manage an Ansible Galaxy collection.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role         Manage an Ansible Galaxy role.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/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options: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--version      show program's version number, config file location,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             configured module search path, module location, executable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             location and exit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-h, --help     show this help message and exit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-v, --verbose  Causes Ansible to print more debug messages. Adding multiple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             -v will increase the verbosity, the builtin plugins currently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             evaluate up to -vvvvvv. A reasonable level to start is -vvv,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             connection debugging might require -vvvv. This argument may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             be specified multiple times.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4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F688DC-BA5A-D468-7CDD-3C4A740DA2E4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Re-usable: GALAXY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7DA47F-3A4C-EBB7-0EBC-70478B8455DE}"/>
              </a:ext>
            </a:extLst>
          </p:cNvPr>
          <p:cNvSpPr txBox="1"/>
          <p:nvPr/>
        </p:nvSpPr>
        <p:spPr>
          <a:xfrm>
            <a:off x="360000" y="1080000"/>
            <a:ext cx="8352000" cy="161964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>
            <a:sp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# ansible-galaxy search haproxy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# ansible-galaxy install haproxy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# ansible-galaxy remove  haproxy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# ansible-galaxy import mon_role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F688DC-BA5A-D468-7CDD-3C4A740DA2E4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Re-usable: GALAXY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7DA47F-3A4C-EBB7-0EBC-70478B8455DE}"/>
              </a:ext>
            </a:extLst>
          </p:cNvPr>
          <p:cNvSpPr txBox="1"/>
          <p:nvPr/>
        </p:nvSpPr>
        <p:spPr>
          <a:xfrm>
            <a:off x="291960" y="791967"/>
            <a:ext cx="6991314" cy="348514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>
            <a:sp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Declare</a:t>
            </a:r>
            <a:r>
              <a:rPr lang="fr-FR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the use of </a:t>
            </a:r>
            <a:r>
              <a:rPr lang="fr-FR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external</a:t>
            </a:r>
            <a:r>
              <a:rPr lang="fr-FR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roles</a:t>
            </a:r>
            <a:r>
              <a:rPr lang="fr-FR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from</a:t>
            </a:r>
            <a:r>
              <a:rPr lang="fr-FR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b="1" u="sng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roles</a:t>
            </a:r>
            <a:r>
              <a:rPr lang="fr-FR" b="1" u="sng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/</a:t>
            </a:r>
            <a:r>
              <a:rPr lang="fr-FR" b="1" u="sng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requirements.yml</a:t>
            </a:r>
            <a:r>
              <a:rPr lang="fr-FR" b="1" u="sng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file</a:t>
            </a:r>
            <a:endParaRPr lang="fr-FR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A15A374-1A34-801D-2A2F-7053538AA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273513"/>
            <a:ext cx="6549422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roles: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  - name: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geerlingguy.nginx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C0D0E"/>
              </a:solidFill>
              <a:effectLst/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    version: 3.3.1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  - src: git@git.example.com:my_namespace/ansible-nginx-acme.git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C0D0E"/>
              </a:solidFill>
              <a:effectLst/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scm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: git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    version: main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    name: nginx-acme-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ssh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C0D0E"/>
              </a:solidFill>
              <a:effectLst/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C0D0E"/>
              </a:solidFill>
              <a:effectLst/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collections: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  - name: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ansible.posix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C0D0E"/>
              </a:solidFill>
              <a:effectLst/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    version: 2.2.2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  - name: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my_namespace.my_collection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C0D0E"/>
              </a:solidFill>
              <a:effectLst/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    src: git@git.example.com:my_namespace/ansible-my-collection.git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C0D0E"/>
              </a:solidFill>
              <a:effectLst/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scm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: git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    version: "1.2.3"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inherit"/>
              </a:rPr>
              <a:t># versions read on galaxy.ansible.com on 2026-10-06</a:t>
            </a:r>
          </a:p>
        </p:txBody>
      </p:sp>
    </p:spTree>
    <p:extLst>
      <p:ext uri="{BB962C8B-B14F-4D97-AF65-F5344CB8AC3E}">
        <p14:creationId xmlns:p14="http://schemas.microsoft.com/office/powerpoint/2010/main" val="721833499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82B6089-2BC4-3BE0-B3A8-89C2AE4E7C5D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Re-usable: GALAXY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9AC667-A46B-A455-2CB0-FB04DBD31DFE}"/>
              </a:ext>
            </a:extLst>
          </p:cNvPr>
          <p:cNvSpPr txBox="1"/>
          <p:nvPr/>
        </p:nvSpPr>
        <p:spPr>
          <a:xfrm>
            <a:off x="360000" y="1080000"/>
            <a:ext cx="4054613" cy="1121417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>
            <a:sp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Exercise</a:t>
            </a: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 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Install the NGINX rôle </a:t>
            </a:r>
            <a:r>
              <a:rPr lang="fr-FR" sz="18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from</a:t>
            </a: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the </a:t>
            </a:r>
            <a:r>
              <a:rPr lang="fr-FR" sz="18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galaxy</a:t>
            </a:r>
            <a:endParaRPr lang="fr-FR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Where</a:t>
            </a: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8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is</a:t>
            </a: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8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it</a:t>
            </a: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store?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C6CDF6-921C-9EE2-02B7-A99B3DA1E363}"/>
              </a:ext>
            </a:extLst>
          </p:cNvPr>
          <p:cNvSpPr txBox="1"/>
          <p:nvPr/>
        </p:nvSpPr>
        <p:spPr>
          <a:xfrm>
            <a:off x="533400" y="914400"/>
            <a:ext cx="4581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ansible-galaxy install nginx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149C7A-82AF-7F87-5304-0B765684E0C4}"/>
              </a:ext>
            </a:extLst>
          </p:cNvPr>
          <p:cNvSpPr txBox="1"/>
          <p:nvPr/>
        </p:nvSpPr>
        <p:spPr>
          <a:xfrm>
            <a:off x="533400" y="1524000"/>
            <a:ext cx="640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futura"/>
              </a:rPr>
              <a:t>By default, Ansible Galaxy roles are installed in the </a:t>
            </a:r>
            <a:r>
              <a:rPr lang="en-US" b="1" i="0" dirty="0">
                <a:solidFill>
                  <a:srgbClr val="000000"/>
                </a:solidFill>
                <a:effectLst/>
                <a:latin typeface="futura"/>
              </a:rPr>
              <a:t>`~/.ansible/roles` </a:t>
            </a:r>
            <a:r>
              <a:rPr lang="en-US" b="0" i="0" dirty="0">
                <a:solidFill>
                  <a:srgbClr val="000000"/>
                </a:solidFill>
                <a:effectLst/>
                <a:latin typeface="futura"/>
              </a:rPr>
              <a:t>directory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D6765D-2724-74DD-554A-4D8B8B9874E2}"/>
              </a:ext>
            </a:extLst>
          </p:cNvPr>
          <p:cNvSpPr txBox="1"/>
          <p:nvPr/>
        </p:nvSpPr>
        <p:spPr>
          <a:xfrm>
            <a:off x="533400" y="2590800"/>
            <a:ext cx="670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ansible-galaxy install --roles-path /path/to/roles nginx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95449C-76BE-2C79-178C-CEF9F2C62048}"/>
              </a:ext>
            </a:extLst>
          </p:cNvPr>
          <p:cNvSpPr txBox="1"/>
          <p:nvPr/>
        </p:nvSpPr>
        <p:spPr>
          <a:xfrm>
            <a:off x="533400" y="4419600"/>
            <a:ext cx="45813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roles:</a:t>
            </a:r>
          </a:p>
          <a:p>
            <a:r>
              <a:rPr lang="en-US" dirty="0"/>
              <a:t>  - nginx</a:t>
            </a:r>
          </a:p>
        </p:txBody>
      </p:sp>
    </p:spTree>
    <p:extLst>
      <p:ext uri="{BB962C8B-B14F-4D97-AF65-F5344CB8AC3E}">
        <p14:creationId xmlns:p14="http://schemas.microsoft.com/office/powerpoint/2010/main" val="3110133772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82B6089-2BC4-3BE0-B3A8-89C2AE4E7C5D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Re-usable: GALAXY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9AC667-A46B-A455-2CB0-FB04DBD31DFE}"/>
              </a:ext>
            </a:extLst>
          </p:cNvPr>
          <p:cNvSpPr txBox="1"/>
          <p:nvPr/>
        </p:nvSpPr>
        <p:spPr>
          <a:xfrm>
            <a:off x="360000" y="1080000"/>
            <a:ext cx="5862800" cy="1379052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>
            <a:sp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ansible-</a:t>
            </a:r>
            <a:r>
              <a:rPr lang="fr-FR" sz="18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galaxy</a:t>
            </a: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collection init &lt;</a:t>
            </a:r>
            <a:r>
              <a:rPr lang="fr-FR" sz="18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namespace</a:t>
            </a: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&gt;.&lt;collection&gt;</a:t>
            </a:r>
          </a:p>
          <a:p>
            <a:pPr hangingPunct="0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		=&gt; </a:t>
            </a:r>
            <a:r>
              <a:rPr lang="fr-FR" i="1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generate</a:t>
            </a:r>
            <a:r>
              <a:rPr lang="fr-FR" i="1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&lt;</a:t>
            </a:r>
            <a:r>
              <a:rPr lang="fr-FR" i="1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namespace</a:t>
            </a:r>
            <a:r>
              <a:rPr lang="fr-FR" i="1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&gt; </a:t>
            </a:r>
            <a:r>
              <a:rPr lang="fr-FR" i="1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tree</a:t>
            </a:r>
            <a:r>
              <a:rPr lang="fr-FR" i="1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directories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dirty="0"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Galaxy.yml</a:t>
            </a: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8D62D2-E5DE-50D9-0B42-E6E84955E313}"/>
              </a:ext>
            </a:extLst>
          </p:cNvPr>
          <p:cNvSpPr txBox="1"/>
          <p:nvPr/>
        </p:nvSpPr>
        <p:spPr>
          <a:xfrm>
            <a:off x="609600" y="2590800"/>
            <a:ext cx="71628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Namespace : "my_namespace"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Name: "miq"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Version: "0.1.0"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Description: "ManageIQ management tool"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Readme: "README.md"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License: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"GPL-2.0-or-later"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Author: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"CCO"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Repository: "https://gitlab.example.com/........"</a:t>
            </a:r>
          </a:p>
        </p:txBody>
      </p:sp>
    </p:spTree>
    <p:extLst>
      <p:ext uri="{BB962C8B-B14F-4D97-AF65-F5344CB8AC3E}">
        <p14:creationId xmlns:p14="http://schemas.microsoft.com/office/powerpoint/2010/main" val="1329333009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82B6089-2BC4-3BE0-B3A8-89C2AE4E7C5D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Re-usable: GALAXY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9AC667-A46B-A455-2CB0-FB04DBD31DFE}"/>
              </a:ext>
            </a:extLst>
          </p:cNvPr>
          <p:cNvSpPr txBox="1"/>
          <p:nvPr/>
        </p:nvSpPr>
        <p:spPr>
          <a:xfrm>
            <a:off x="360000" y="1080000"/>
            <a:ext cx="4195677" cy="1379052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>
            <a:sp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ansible-</a:t>
            </a:r>
            <a:r>
              <a:rPr lang="fr-FR" sz="18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galaxy</a:t>
            </a: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8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role</a:t>
            </a: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init &lt;</a:t>
            </a:r>
            <a:r>
              <a:rPr lang="fr-FR" sz="18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role</a:t>
            </a: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&gt;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		=&gt; </a:t>
            </a:r>
            <a:r>
              <a:rPr lang="fr-FR" i="1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generate</a:t>
            </a:r>
            <a:r>
              <a:rPr lang="fr-FR" i="1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&lt;</a:t>
            </a:r>
            <a:r>
              <a:rPr lang="fr-FR" i="1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role</a:t>
            </a:r>
            <a:r>
              <a:rPr lang="fr-FR" i="1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&gt; </a:t>
            </a:r>
            <a:r>
              <a:rPr lang="fr-FR" i="1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tree</a:t>
            </a:r>
            <a:r>
              <a:rPr lang="fr-FR" i="1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directories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i="1" dirty="0"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Meta/</a:t>
            </a:r>
            <a:r>
              <a:rPr lang="fr-FR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main.yml</a:t>
            </a:r>
            <a:endParaRPr lang="fr-FR" dirty="0"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091355-0577-F406-05F5-41CED4185C1E}"/>
              </a:ext>
            </a:extLst>
          </p:cNvPr>
          <p:cNvSpPr txBox="1"/>
          <p:nvPr/>
        </p:nvSpPr>
        <p:spPr>
          <a:xfrm>
            <a:off x="609600" y="2136791"/>
            <a:ext cx="7162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galaxy_info: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role_name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manageiq_service_action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version: "0.1.0"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author: CCO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description: "ManageIQ custom action request"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license: "GPL-2.0-or-later"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min_ansible_version: "2.20"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platforms: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- name: EL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versions: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- all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- name: Ubuntu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versions: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- all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galaxy_tags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manageiq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- automation</a:t>
            </a:r>
          </a:p>
        </p:txBody>
      </p:sp>
    </p:spTree>
    <p:extLst>
      <p:ext uri="{BB962C8B-B14F-4D97-AF65-F5344CB8AC3E}">
        <p14:creationId xmlns:p14="http://schemas.microsoft.com/office/powerpoint/2010/main" val="2090522500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82B6089-2BC4-3BE0-B3A8-89C2AE4E7C5D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Re-usable: GALAXY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9AC667-A46B-A455-2CB0-FB04DBD31DFE}"/>
              </a:ext>
            </a:extLst>
          </p:cNvPr>
          <p:cNvSpPr txBox="1"/>
          <p:nvPr/>
        </p:nvSpPr>
        <p:spPr>
          <a:xfrm>
            <a:off x="360000" y="1080000"/>
            <a:ext cx="5888448" cy="2151956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>
            <a:sp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ansible-galaxy collection build --force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		=&gt; </a:t>
            </a:r>
            <a:r>
              <a:rPr lang="fr-FR" i="1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generate</a:t>
            </a:r>
            <a:r>
              <a:rPr lang="fr-FR" i="1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tar.gz file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ansible-</a:t>
            </a:r>
            <a:r>
              <a:rPr lang="fr-FR" sz="18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galaxy</a:t>
            </a: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collection </a:t>
            </a:r>
            <a:r>
              <a:rPr lang="fr-FR" sz="18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publish</a:t>
            </a: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\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--server </a:t>
            </a: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  <a:hlinkClick r:id="rId3"/>
              </a:rPr>
              <a:t>https://galaxy-test.example.com/api/galaxy \</a:t>
            </a:r>
            <a:endParaRPr lang="fr-FR" sz="18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--ignore-</a:t>
            </a:r>
            <a:r>
              <a:rPr lang="fr-FR" sz="18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certs</a:t>
            </a: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\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--</a:t>
            </a:r>
            <a:r>
              <a:rPr lang="fr-FR" sz="18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token</a:t>
            </a: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xxx \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</a:t>
            </a:r>
            <a:r>
              <a:rPr lang="fr-FR" sz="18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my_namespace-miq-1.0.1.tar.gz</a:t>
            </a:r>
          </a:p>
        </p:txBody>
      </p:sp>
    </p:spTree>
    <p:extLst>
      <p:ext uri="{BB962C8B-B14F-4D97-AF65-F5344CB8AC3E}">
        <p14:creationId xmlns:p14="http://schemas.microsoft.com/office/powerpoint/2010/main" val="466848221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DBF88D9-6E15-FF02-4304-7F1F3107FD6B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 err="1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Strategie</a:t>
            </a: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: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513080D-BBD7-5B09-73E4-9EEE09191AA5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1" i="0" u="sng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Strategie</a:t>
            </a:r>
            <a:r>
              <a:rPr lang="en-US" sz="3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https://docs.ansible.com/ansible/latest/user_guide/playbooks_strategies.html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78514C-4A85-2BC5-C1DB-13C0249375F5}"/>
              </a:ext>
            </a:extLst>
          </p:cNvPr>
          <p:cNvSpPr txBox="1"/>
          <p:nvPr/>
        </p:nvSpPr>
        <p:spPr>
          <a:xfrm>
            <a:off x="342900" y="197346"/>
            <a:ext cx="84582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What are Ansible Strategies?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define how tasks are executed across multiple hosts. They control the flow and behavior of task execution.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Purpose of Strategies: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Optimize the execution of playbooks to meet different operational requirements and improve efficiency.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Key Strategies: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Linear Strategy: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The </a:t>
            </a:r>
            <a:r>
              <a:rPr lang="en-US" b="0" i="0" u="sng" dirty="0">
                <a:solidFill>
                  <a:srgbClr val="111111"/>
                </a:solidFill>
                <a:effectLst/>
                <a:latin typeface="-apple-system"/>
              </a:rPr>
              <a:t>default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strategy where tasks are executed in a linear fashion, one after the other, across all hosts.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Free Strategy: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Allows tasks to run independently on each host, without waiting for other hosts to complete the same task.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Host-pinned Strategy: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Ensures that tasks are executed on a per-host basis, maintaining the order of tasks for each host.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Why Use Different Strategies?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Performance Optimization: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Choose the best strategy to optimize the performance of your playbooks based on the specific needs of your environment.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Flexibility: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Adapt the execution flow to handle different scenarios, such as high-latency networks or resource-constrained environments.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Control: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Gain finer control over how tasks are executed, improving the reliability and predictability of your automation processes.</a:t>
            </a:r>
          </a:p>
        </p:txBody>
      </p:sp>
    </p:spTree>
    <p:extLst>
      <p:ext uri="{BB962C8B-B14F-4D97-AF65-F5344CB8AC3E}">
        <p14:creationId xmlns:p14="http://schemas.microsoft.com/office/powerpoint/2010/main" val="1747370540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D67DBAC-6EE7-C673-0717-588936255A98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Strategies: Control Playbook Execution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3AEE280-03B6-8FBF-9B54-7255ACBA3122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Linear: D</a:t>
            </a:r>
            <a:r>
              <a:rPr lang="en-US" sz="1400" b="0" i="0" dirty="0">
                <a:solidFill>
                  <a:srgbClr val="404040"/>
                </a:solidFill>
                <a:effectLst/>
                <a:latin typeface="Lato"/>
              </a:rPr>
              <a:t>efault: runs each task on all hosts before starting the next task on any host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u="none" strike="noStrike" cap="none" baseline="0" dirty="0">
                <a:ln>
                  <a:noFill/>
                </a:ln>
                <a:solidFill>
                  <a:srgbClr val="404040"/>
                </a:solidFill>
                <a:latin typeface="Lato"/>
                <a:ea typeface="WenQuanYi Zen Hei Sharp" pitchFamily="2"/>
                <a:cs typeface="WenQuanYi Zen Hei Sharp" pitchFamily="2"/>
              </a:rPr>
              <a:t>			Stops when a task fails</a:t>
            </a:r>
            <a:endParaRPr lang="en-US" sz="130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Free: </a:t>
            </a:r>
            <a:r>
              <a:rPr lang="en-US" sz="1400" dirty="0">
                <a:solidFill>
                  <a:srgbClr val="404040"/>
                </a:solidFill>
                <a:latin typeface="Lato"/>
              </a:rPr>
              <a:t>allows each host to run until the end of the play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dirty="0">
                <a:solidFill>
                  <a:srgbClr val="404040"/>
                </a:solidFill>
                <a:latin typeface="Lato"/>
              </a:rPr>
              <a:t>			Stops when a host fails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30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hosts: all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3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strategy</a:t>
            </a:r>
            <a:r>
              <a:rPr lang="en-US" sz="13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free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Tasks: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….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D67DBAC-6EE7-C673-0717-588936255A98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Strategies: Control Playbook Execution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3AEE280-03B6-8FBF-9B54-7255ACBA3122}"/>
              </a:ext>
            </a:extLst>
          </p:cNvPr>
          <p:cNvSpPr/>
          <p:nvPr/>
        </p:nvSpPr>
        <p:spPr>
          <a:xfrm>
            <a:off x="736559" y="1143000"/>
            <a:ext cx="7632719" cy="236220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Serial</a:t>
            </a:r>
            <a:r>
              <a:rPr lang="en-US" sz="13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Do all tasks for a subset of hosts before next subset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			Stops when a subset fails</a:t>
            </a:r>
            <a:endParaRPr lang="en-US" sz="130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30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name: test play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hosts: webservers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3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serial</a:t>
            </a:r>
            <a:r>
              <a:rPr lang="en-US" sz="13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- 1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- 5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- "20%"</a:t>
            </a:r>
          </a:p>
        </p:txBody>
      </p:sp>
    </p:spTree>
    <p:extLst>
      <p:ext uri="{BB962C8B-B14F-4D97-AF65-F5344CB8AC3E}">
        <p14:creationId xmlns:p14="http://schemas.microsoft.com/office/powerpoint/2010/main" val="3227893186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D67DBAC-6EE7-C673-0717-588936255A98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Strategies: Control Task Execution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3AEE280-03B6-8FBF-9B54-7255ACBA3122}"/>
              </a:ext>
            </a:extLst>
          </p:cNvPr>
          <p:cNvSpPr/>
          <p:nvPr/>
        </p:nvSpPr>
        <p:spPr>
          <a:xfrm>
            <a:off x="736559" y="1143000"/>
            <a:ext cx="7632719" cy="205740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Throttle</a:t>
            </a:r>
            <a:r>
              <a:rPr lang="en-US" sz="13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Limit the parallel servers execution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			Stops when a task fails</a:t>
            </a:r>
            <a:endParaRPr lang="en-US" sz="130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30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name: test task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command: /path/to/</a:t>
            </a:r>
            <a:r>
              <a:rPr lang="en-US" sz="130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cpu_intensive_command</a:t>
            </a:r>
            <a:endParaRPr lang="en-US" sz="130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3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throttle</a:t>
            </a:r>
            <a:r>
              <a:rPr lang="en-US" sz="13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1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67FA39D-91E2-5ECA-6F0A-D47B74BB4F97}"/>
              </a:ext>
            </a:extLst>
          </p:cNvPr>
          <p:cNvSpPr/>
          <p:nvPr/>
        </p:nvSpPr>
        <p:spPr>
          <a:xfrm>
            <a:off x="755640" y="3417815"/>
            <a:ext cx="7632719" cy="205740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1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Run_Once</a:t>
            </a:r>
            <a:r>
              <a:rPr lang="en-US" sz="13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The task is run only on the FIRST host of the batch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			Stops when a task fails</a:t>
            </a:r>
            <a:endParaRPr lang="en-US" sz="130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30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name: test task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command: /path/to/</a:t>
            </a:r>
            <a:r>
              <a:rPr lang="en-US" sz="130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cpu_intensive_command</a:t>
            </a:r>
            <a:endParaRPr lang="en-US" sz="130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en-US" sz="1300" b="1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run_once</a:t>
            </a:r>
            <a:r>
              <a:rPr lang="en-US" sz="130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: </a:t>
            </a:r>
            <a:r>
              <a:rPr lang="en-US" sz="13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true</a:t>
            </a:r>
            <a:endParaRPr lang="en-US" sz="130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28096912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1D80E4-4683-578C-6160-761A2575D3D9}"/>
              </a:ext>
            </a:extLst>
          </p:cNvPr>
          <p:cNvSpPr txBox="1"/>
          <p:nvPr/>
        </p:nvSpPr>
        <p:spPr>
          <a:xfrm>
            <a:off x="266700" y="58846"/>
            <a:ext cx="86106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What Does Extending Ansible Mean?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involves adding custom functionality to Ansible through modules, plugins, and collections.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Purpose of Extending Ansible: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Enhance Ansible’s capabilities to meet specific needs and integrate with various systems and workflows.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Key Methods to Extend Ansible: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Custom Modules: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Create new modules to perform specific tasks that are not covered by existing modules.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Modules can be written in any language, though Python is commonly used.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Plugins: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Action Plugins: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Extend the behavior of modules.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Callback Plugins: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Hook into Ansible events for logging or custom actions.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Connection Plugins: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Define how to communicate with inventory hosts.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Filter Plugins: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Manipulate data within playbooks and templates.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Lookup Plugins: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Retrieve data from external sources.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Collections: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Package and distribute modules, plugins, roles, and playbooks together.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Share collections via Ansible Galaxy or internally within your organization.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Why Extend Ansible?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Customization: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Tailor Ansible to fit unique requirements and environments.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Integration: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Seamlessly integrate with other tools and systems.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Efficiency: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Automate complex tasks and workflows that are specific to your needs.</a:t>
            </a:r>
          </a:p>
        </p:txBody>
      </p:sp>
    </p:spTree>
    <p:extLst>
      <p:ext uri="{BB962C8B-B14F-4D97-AF65-F5344CB8AC3E}">
        <p14:creationId xmlns:p14="http://schemas.microsoft.com/office/powerpoint/2010/main" val="1092456023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C362423-7178-FF1B-4D62-53C223326DA4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Extend Ansible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B9979C5-6864-ED31-4E19-E45902180C2F}"/>
              </a:ext>
            </a:extLst>
          </p:cNvPr>
          <p:cNvSpPr/>
          <p:nvPr/>
        </p:nvSpPr>
        <p:spPr>
          <a:xfrm>
            <a:off x="381000" y="1143000"/>
            <a:ext cx="845819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</a:t>
            </a:r>
            <a:r>
              <a:rPr lang="en-US" sz="24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Connection</a:t>
            </a: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plugins</a:t>
            </a:r>
            <a:br>
              <a:rPr lang="en-US" sz="12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</a:br>
            <a:r>
              <a:rPr lang="en-US" sz="12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https://docs.ansible.com/ansible/latest/plugins/connection.html#plugin-list</a:t>
            </a:r>
            <a:endParaRPr lang="en-US" sz="2400" b="0" i="1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Connection plugins allow Ansible to connect to the target hosts so it can execute tasks on them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Ex: </a:t>
            </a:r>
            <a:r>
              <a:rPr lang="en-US" sz="1300" b="0" i="1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ssh</a:t>
            </a:r>
            <a:r>
              <a:rPr lang="en-US" sz="13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, local, </a:t>
            </a:r>
            <a:r>
              <a:rPr lang="en-US" sz="1300" b="0" i="1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winrm</a:t>
            </a:r>
            <a:r>
              <a:rPr lang="en-US" sz="13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, docker, </a:t>
            </a:r>
            <a:r>
              <a:rPr lang="en-US" sz="1300" b="0" i="1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paramiko</a:t>
            </a:r>
            <a:r>
              <a:rPr lang="en-US" sz="13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...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</a:t>
            </a:r>
            <a:r>
              <a:rPr lang="en-US" sz="24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Callback</a:t>
            </a: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plugins</a:t>
            </a:r>
            <a:br>
              <a:rPr lang="en-US" sz="12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</a:br>
            <a:r>
              <a:rPr lang="en-US" sz="12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https://docs.ansible.com/ansible/latest/plugins/callback.html#plugin-list</a:t>
            </a:r>
            <a:endParaRPr lang="en-US" sz="24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Callback plugins enable adding new behaviors to Ansible when responding to events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</a:t>
            </a:r>
            <a:r>
              <a:rPr lang="en-US" sz="24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Inventory</a:t>
            </a: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plugins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https://docs.ansible.com/ansible/latest/plugins/inventory.html#inventory-plugins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Inventory plugins are invoked via the </a:t>
            </a:r>
            <a:r>
              <a:rPr lang="en-US" sz="13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InventoryManager</a:t>
            </a:r>
            <a:r>
              <a:rPr lang="en-US" sz="13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are given access to any existing inventory data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Ex: </a:t>
            </a:r>
            <a:r>
              <a:rPr lang="en-US" sz="1300" b="0" i="1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openstack</a:t>
            </a:r>
            <a:r>
              <a:rPr lang="en-US" sz="13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, </a:t>
            </a:r>
            <a:r>
              <a:rPr lang="en-US" sz="1300" b="0" i="1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openshift</a:t>
            </a:r>
            <a:r>
              <a:rPr lang="en-US" sz="13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, </a:t>
            </a:r>
            <a:r>
              <a:rPr lang="en-US" sz="1300" b="0" i="1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vmware</a:t>
            </a:r>
            <a:r>
              <a:rPr lang="en-US" sz="13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, ...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4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FA3B3EA-A008-E7D6-7DF9-0CE9CC6659C5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Extend Ansible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927AF66-0F36-FF99-8C06-0D34CADB57AA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</a:t>
            </a:r>
            <a:r>
              <a:rPr lang="en-US" sz="24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Lookup</a:t>
            </a: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plugins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https://docs.ansible.com/ansible/latest/plugins/lookup.html#lookup-plugins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dirty="0">
                <a:solidFill>
                  <a:srgbClr val="0E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Lookup plugins are used to pull in data from external data stores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Ex: file, </a:t>
            </a:r>
            <a:r>
              <a:rPr lang="en-US" sz="13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hiera</a:t>
            </a:r>
            <a:r>
              <a:rPr lang="en-US" sz="13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, </a:t>
            </a:r>
            <a:r>
              <a:rPr lang="en-US" sz="13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csvfile</a:t>
            </a:r>
            <a:r>
              <a:rPr lang="en-US" sz="13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, nested, items, ...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</a:t>
            </a:r>
            <a:r>
              <a:rPr lang="en-US" sz="24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vars</a:t>
            </a: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plugins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https://docs.ansible.com/ansible/latest/plugins/vars.html#vars-plugins</a:t>
            </a: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dirty="0">
                <a:solidFill>
                  <a:srgbClr val="0E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Vars plugins inject additional variable data into Ansible runs that did not come from </a:t>
            </a:r>
            <a:br>
              <a:rPr lang="en-US" sz="1300" dirty="0">
                <a:solidFill>
                  <a:srgbClr val="0E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1300" dirty="0">
                <a:solidFill>
                  <a:srgbClr val="0E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 inventory source, playbook, or command line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Ex: </a:t>
            </a:r>
            <a:r>
              <a:rPr lang="en-US" sz="1300" b="0" i="1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host_group_vars</a:t>
            </a:r>
            <a:endParaRPr lang="en-US" sz="1300" b="0" i="1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</a:t>
            </a:r>
            <a:r>
              <a:rPr lang="en-US" sz="2400" b="1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filter</a:t>
            </a:r>
            <a:r>
              <a:rPr lang="en-US" sz="24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plugins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https://docs.ansible.com/ansible/latest/plugins/filter.html#filter-plugins</a:t>
            </a:r>
          </a:p>
          <a:p>
            <a:pPr marR="0" lvl="0" indent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dirty="0">
                <a:solidFill>
                  <a:srgbClr val="0E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Filter plugins are used for manipulating data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Ex: </a:t>
            </a:r>
            <a:r>
              <a:rPr lang="en-US" sz="1300" b="0" i="1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ipaddr</a:t>
            </a:r>
            <a:r>
              <a:rPr lang="en-US" sz="13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, </a:t>
            </a:r>
            <a:r>
              <a:rPr lang="en-US" sz="1300" b="0" i="1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urlsplit</a:t>
            </a:r>
            <a:r>
              <a:rPr lang="en-US" sz="13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, network, ...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300" i="1" dirty="0"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300" b="0" i="1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300" b="1" i="1" u="none" strike="noStrike" cap="none" baseline="0" dirty="0">
                <a:ln>
                  <a:noFill/>
                </a:ln>
                <a:solidFill>
                  <a:srgbClr val="FF0000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https://docs.ansible.com/ansible/latest/module_plugin_guide/index.html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1AFC1-209B-C0D9-AEF5-22F0D6DF0414}"/>
              </a:ext>
            </a:extLst>
          </p:cNvPr>
          <p:cNvSpPr txBox="1"/>
          <p:nvPr/>
        </p:nvSpPr>
        <p:spPr>
          <a:xfrm>
            <a:off x="266700" y="197346"/>
            <a:ext cx="86106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What are Ansible Callbacks?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plugins that allow you to hook into various stages of the Ansible execution process to perform custom actions.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Purpose of Callbacks: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Enhance the functionality of Ansible by adding custom behaviors, logging, notifications, and more.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Key Features: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Event Handling: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triggered by specific events during playbook execution, such as task start, task end, playbook start, and playbook end.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Custom Actions: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Perform custom actions like sending notifications, logging to external systems, or modifying the output format.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Built-in Callbacks: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Ansible includes several built-in callback plugins for common tasks like logging, profiling, and sending email notifications.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Why Use Callbacks?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Customization: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Tailor the behavior of Ansible to meet specific requirements and workflows.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Monitoring: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Improve monitoring and visibility of playbook executions by integrating with external logging and monitoring systems.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Automation: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Automate responses to specific events, such as sending alerts or updating dashboards.</a:t>
            </a:r>
          </a:p>
        </p:txBody>
      </p:sp>
    </p:spTree>
    <p:extLst>
      <p:ext uri="{BB962C8B-B14F-4D97-AF65-F5344CB8AC3E}">
        <p14:creationId xmlns:p14="http://schemas.microsoft.com/office/powerpoint/2010/main" val="120509298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2A882DB-8871-C7CB-3156-3C8A8D2E04BD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Call Back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C605602-DB77-B721-5883-7F81A5ACBB61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Change how ansible handle playbook events: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200" dirty="0"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in </a:t>
            </a:r>
            <a:r>
              <a:rPr lang="en-US" sz="22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callback_plugins</a:t>
            </a:r>
            <a:r>
              <a:rPr lang="en-US" sz="2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folder of playbook or role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in folder of </a:t>
            </a:r>
            <a:r>
              <a:rPr lang="en-US" sz="2200" b="0" i="0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ansible.cfg</a:t>
            </a:r>
            <a:endParaRPr lang="en-US" sz="22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6F169F3-AF39-940A-1BB9-DE7A462036AE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Callback events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7AFBE69-7CB0-9283-3F33-3C78592D905D}"/>
              </a:ext>
            </a:extLst>
          </p:cNvPr>
          <p:cNvSpPr/>
          <p:nvPr/>
        </p:nvSpPr>
        <p:spPr>
          <a:xfrm>
            <a:off x="303462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def v2_on_any(self, *args, **kwargs):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def v2_runner_on_failed(self, result, ignore_errors=False):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def v2_runner_on_ok(self, result):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def v2_runner_on_skipped(self, result):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def v2_runner_on_unreachable(self, result):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def v2_runner_on_async_poll(self, result):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def v2_runner_on_async_ok(self, result):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def v2_runner_on_async_failed(self, result):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def v2_playbook_on_start(self, playbook):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def v2_playbook_on_notify(self, handler, host):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def v2_playbook_on_no_hosts_matched(self):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def v2_playbook_on_no_hosts_remaining(self):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def v2_playbook_on_task_start(self, task, is_conditional):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def v2_playbook_on_handler_task_start(self, task):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def v2_playbook_on_vars_prompt(self, varname, private=True, prompt=None, encrypt=None, confirm=False, salt_size=None, salt=None, default=None, unsafe=None):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def v2_playbook_on_play_start(self, play):</a:t>
            </a:r>
            <a:b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</a:b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def v2_playbook_on_stats(self, stats):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def v2_playbook_on_include(self, included_file):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def v2_runner_item_on_ok(self, result):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def v2_runner_item_on_failed(self, result):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def v2_runner_retry(self, result):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42608A-5895-B755-F035-CF55D47FA985}"/>
              </a:ext>
            </a:extLst>
          </p:cNvPr>
          <p:cNvSpPr txBox="1"/>
          <p:nvPr/>
        </p:nvSpPr>
        <p:spPr>
          <a:xfrm>
            <a:off x="228600" y="474345"/>
            <a:ext cx="86868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What is a Custom Module?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-apple-system"/>
              </a:rPr>
              <a:t>A custom module is a reusable, self-contained piece of code that extends Ansible's functionality to perform a specific task or set of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Purpose of Custom Modules: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  <a:latin typeface="-apple-system"/>
              </a:rPr>
              <a:t>Custom modules allow you to write your own logic to interact with your infrastructure, applications, or services, and integrate it seamlessly with Ansible playbooks.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Key Features: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Modular code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: Write reusable, modular code that can be easily maintained and updated.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Flexibility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: Create custom modules in any language, including Python, PowerShell, or Bash.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Integration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: Integrate custom modules with Ansible playbooks to automate complex tasks and workflows.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Why Use Custom Modules with Ansible?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Extensibility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: Extend Ansible's capabilities to support custom infrastructure, applications, or services.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Reusability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: Write once, use many times - custom modules can be reused across multiple playbooks and environments.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Efficiency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: Automate complex tasks and workflows with custom modules, reducing the need for manual intervention.</a:t>
            </a:r>
          </a:p>
        </p:txBody>
      </p:sp>
    </p:spTree>
    <p:extLst>
      <p:ext uri="{BB962C8B-B14F-4D97-AF65-F5344CB8AC3E}">
        <p14:creationId xmlns:p14="http://schemas.microsoft.com/office/powerpoint/2010/main" val="3253638159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3A0CE9F-4E12-3D17-7BC1-0187C689491B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 Module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439F126-BF7A-330B-641A-ED26634FA0C2}"/>
              </a:ext>
            </a:extLst>
          </p:cNvPr>
          <p:cNvSpPr/>
          <p:nvPr/>
        </p:nvSpPr>
        <p:spPr>
          <a:xfrm>
            <a:off x="736559" y="1143000"/>
            <a:ext cx="7632719" cy="327660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rm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i="1" dirty="0">
              <a:solidFill>
                <a:srgbClr val="0E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i="1" dirty="0">
                <a:solidFill>
                  <a:srgbClr val="0E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Write a module that waits for an incoming network connection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i="1" dirty="0">
                <a:solidFill>
                  <a:srgbClr val="0E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echoes all received data 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i="1" dirty="0">
              <a:solidFill>
                <a:srgbClr val="0E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"BindIP": default=0.0.0.0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"Port": required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"Protocol": default="tcp",['tcp', 'udp','http']</a:t>
            </a:r>
            <a:endParaRPr lang="en-US" sz="2000" b="0" i="1" u="none" strike="noStrike" cap="none" baseline="0" dirty="0">
              <a:ln>
                <a:noFill/>
              </a:ln>
              <a:solidFill>
                <a:srgbClr val="0E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9F0BDC-E857-CBFB-3670-09B29307B555}"/>
              </a:ext>
            </a:extLst>
          </p:cNvPr>
          <p:cNvSpPr txBox="1"/>
          <p:nvPr/>
        </p:nvSpPr>
        <p:spPr>
          <a:xfrm>
            <a:off x="457200" y="773668"/>
            <a:ext cx="82295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rgbClr val="0E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https://docs.ansible.com/ansible/latest/dev_guide/developing_modules_general.html</a:t>
            </a:r>
          </a:p>
          <a:p>
            <a:r>
              <a:rPr lang="en-US" sz="1600" i="1" dirty="0">
                <a:solidFill>
                  <a:srgbClr val="0E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https://example.com/repo/checknetwork-playbook</a:t>
            </a:r>
            <a:endParaRPr lang="en-US" sz="1600" i="1" dirty="0">
              <a:solidFill>
                <a:srgbClr val="0E101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16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3A0CE9F-4E12-3D17-7BC1-0187C689491B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Module: Declare inputs </a:t>
            </a:r>
            <a:r>
              <a:rPr lang="en-US" sz="2000" b="1" i="0" u="none" strike="noStrike" cap="none" baseline="0" dirty="0" err="1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constraintes</a:t>
            </a:r>
            <a:endParaRPr lang="en-US" sz="2000" b="1" i="0" u="none" strike="noStrike" cap="none" baseline="0" dirty="0">
              <a:ln>
                <a:noFill/>
              </a:ln>
              <a:solidFill>
                <a:srgbClr val="00437A"/>
              </a:solidFill>
              <a:latin typeface="Open Sans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439F126-BF7A-330B-641A-ED26634FA0C2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fields =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"</a:t>
            </a:r>
            <a:r>
              <a:rPr lang="en-US" sz="1100" b="0" i="1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BindIP</a:t>
            </a: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": {"default": "0.0.0.0", "type": "str"},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"Port": {"required": True, "type": "int"},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"Protocol":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"default": "</a:t>
            </a:r>
            <a:r>
              <a:rPr lang="en-US" sz="1100" b="0" i="1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tcp</a:t>
            </a: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",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"choices": ['</a:t>
            </a:r>
            <a:r>
              <a:rPr lang="en-US" sz="1100" b="0" i="1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tcp</a:t>
            </a: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', '</a:t>
            </a:r>
            <a:r>
              <a:rPr lang="en-US" sz="1100" b="0" i="1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udp</a:t>
            </a: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','http'],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  "type": 'str',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  },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b="0" i="1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module = </a:t>
            </a:r>
            <a:r>
              <a:rPr lang="en-US" sz="1100" b="0" i="1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AnsibleModule</a:t>
            </a: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(</a:t>
            </a:r>
            <a:r>
              <a:rPr lang="en-US" sz="1100" b="0" i="1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argument_spec</a:t>
            </a: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=fields)</a:t>
            </a:r>
          </a:p>
        </p:txBody>
      </p:sp>
    </p:spTree>
    <p:extLst>
      <p:ext uri="{BB962C8B-B14F-4D97-AF65-F5344CB8AC3E}">
        <p14:creationId xmlns:p14="http://schemas.microsoft.com/office/powerpoint/2010/main" val="2187876329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57F14A1-56C7-69B2-B61F-FF2B7B07AE63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Module: </a:t>
            </a:r>
            <a:r>
              <a:rPr lang="en-US" sz="2000" b="1" i="0" u="none" strike="noStrike" cap="none" baseline="0" dirty="0" err="1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Retreive</a:t>
            </a: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 inputs values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7041E86-ABDF-8115-CF7F-ADD4B8C48E6A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b="0" i="1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IP = </a:t>
            </a:r>
            <a:r>
              <a:rPr lang="en-US" sz="1100" b="0" i="1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module.params</a:t>
            </a: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["</a:t>
            </a:r>
            <a:r>
              <a:rPr lang="en-US" sz="1100" b="0" i="1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BindIP</a:t>
            </a: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"]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PORT = </a:t>
            </a:r>
            <a:r>
              <a:rPr lang="en-US" sz="1100" b="0" i="1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module.params</a:t>
            </a: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["Port"]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PROTO=</a:t>
            </a:r>
            <a:r>
              <a:rPr lang="en-US" sz="1100" b="0" i="1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module.params</a:t>
            </a: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["Protocol"]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1024728-F9B2-655E-2377-287F1D0562F7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Module: Do and Return values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D2E36CC-4CFC-6429-2DBE-BD0742375259}"/>
              </a:ext>
            </a:extLst>
          </p:cNvPr>
          <p:cNvSpPr/>
          <p:nvPr/>
        </p:nvSpPr>
        <p:spPr>
          <a:xfrm>
            <a:off x="291961" y="1143000"/>
            <a:ext cx="8077318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b="0" i="1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Result, data, msg=</a:t>
            </a:r>
            <a:r>
              <a:rPr lang="en-US" sz="1100" b="0" i="1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do_something</a:t>
            </a: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(IP,PORT, PROTO)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b="0" i="1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 module.exit_json(changed=False,failed=result, stderr=str(msg), stdout=str(data), my_data="data") )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100" b="0" i="1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F3BA85A-29F4-28D4-5D70-951E44ED0D97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 Module: All In One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A2326EF-F18A-147E-3924-C4A3BC77747F}"/>
              </a:ext>
            </a:extLst>
          </p:cNvPr>
          <p:cNvSpPr/>
          <p:nvPr/>
        </p:nvSpPr>
        <p:spPr>
          <a:xfrm>
            <a:off x="736559" y="630360"/>
            <a:ext cx="7632719" cy="554328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r>
              <a:rPr lang="en-US" sz="1400" b="0" i="1" dirty="0">
                <a:solidFill>
                  <a:srgbClr val="A0A0A0"/>
                </a:solidFill>
                <a:effectLst/>
                <a:latin typeface="ui-monospace"/>
              </a:rPr>
              <a:t>#!/usr/bin/python</a:t>
            </a:r>
            <a:endParaRPr lang="en-US" sz="1400" b="0" dirty="0">
              <a:solidFill>
                <a:srgbClr val="000000"/>
              </a:solidFill>
              <a:effectLst/>
              <a:latin typeface="ui-monospace"/>
            </a:endParaRPr>
          </a:p>
          <a:p>
            <a:r>
              <a:rPr lang="en-US" sz="1400" b="1" dirty="0">
                <a:solidFill>
                  <a:srgbClr val="091E42"/>
                </a:solidFill>
                <a:effectLst/>
                <a:latin typeface="ui-monospace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 </a:t>
            </a:r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sys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, </a:t>
            </a:r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socket</a:t>
            </a:r>
            <a:endParaRPr lang="en-US" sz="1400" b="0" dirty="0">
              <a:solidFill>
                <a:srgbClr val="000000"/>
              </a:solidFill>
              <a:effectLst/>
              <a:latin typeface="ui-monospace"/>
            </a:endParaRPr>
          </a:p>
          <a:p>
            <a:r>
              <a:rPr lang="en-US" sz="1400" b="1" dirty="0">
                <a:solidFill>
                  <a:srgbClr val="091E42"/>
                </a:solidFill>
                <a:effectLst/>
                <a:latin typeface="ui-monospace"/>
              </a:rPr>
              <a:t>from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 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ansible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ui-monospace"/>
              </a:rPr>
              <a:t>.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module_utils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ui-monospace"/>
              </a:rPr>
              <a:t>.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basic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 </a:t>
            </a:r>
            <a:r>
              <a:rPr lang="en-US" sz="1400" b="1" dirty="0">
                <a:solidFill>
                  <a:srgbClr val="091E42"/>
                </a:solidFill>
                <a:effectLst/>
                <a:latin typeface="ui-monospace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 *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400" b="0" i="1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r>
              <a:rPr lang="en-US" sz="1400" b="1" dirty="0">
                <a:solidFill>
                  <a:srgbClr val="0049B0"/>
                </a:solidFill>
                <a:effectLst/>
                <a:latin typeface="ui-monospace"/>
              </a:rPr>
              <a:t>def </a:t>
            </a:r>
            <a:r>
              <a:rPr lang="en-US" sz="1400" b="1" dirty="0">
                <a:solidFill>
                  <a:srgbClr val="BF2600"/>
                </a:solidFill>
                <a:effectLst/>
                <a:latin typeface="ui-monospace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():</a:t>
            </a:r>
          </a:p>
          <a:p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  fields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 = {</a:t>
            </a:r>
          </a:p>
          <a:p>
            <a:r>
              <a:rPr lang="en-US" sz="1400" b="0" dirty="0">
                <a:solidFill>
                  <a:srgbClr val="096545"/>
                </a:solidFill>
                <a:effectLst/>
                <a:latin typeface="ui-monospace"/>
              </a:rPr>
              <a:t>    "</a:t>
            </a:r>
            <a:r>
              <a:rPr lang="en-US" sz="1400" b="0" dirty="0" err="1">
                <a:solidFill>
                  <a:srgbClr val="096545"/>
                </a:solidFill>
                <a:effectLst/>
                <a:latin typeface="ui-monospace"/>
              </a:rPr>
              <a:t>BindIP</a:t>
            </a:r>
            <a:r>
              <a:rPr lang="en-US" sz="1400" b="0" dirty="0">
                <a:solidFill>
                  <a:srgbClr val="096545"/>
                </a:solidFill>
                <a:effectLst/>
                <a:latin typeface="ui-monospace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: {</a:t>
            </a:r>
            <a:r>
              <a:rPr lang="en-US" sz="1400" b="0" dirty="0">
                <a:solidFill>
                  <a:srgbClr val="096545"/>
                </a:solidFill>
                <a:effectLst/>
                <a:latin typeface="ui-monospace"/>
              </a:rPr>
              <a:t>"default"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: </a:t>
            </a:r>
            <a:r>
              <a:rPr lang="en-US" sz="1400" b="0" dirty="0">
                <a:solidFill>
                  <a:srgbClr val="096545"/>
                </a:solidFill>
                <a:effectLst/>
                <a:latin typeface="ui-monospace"/>
              </a:rPr>
              <a:t>"0.0.0.0"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, </a:t>
            </a:r>
            <a:r>
              <a:rPr lang="en-US" sz="1400" b="0" dirty="0">
                <a:solidFill>
                  <a:srgbClr val="096545"/>
                </a:solidFill>
                <a:effectLst/>
                <a:latin typeface="ui-monospace"/>
              </a:rPr>
              <a:t>"type"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: </a:t>
            </a:r>
            <a:r>
              <a:rPr lang="en-US" sz="1400" b="0" dirty="0">
                <a:solidFill>
                  <a:srgbClr val="096545"/>
                </a:solidFill>
                <a:effectLst/>
                <a:latin typeface="ui-monospace"/>
              </a:rPr>
              <a:t>"str"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},</a:t>
            </a:r>
          </a:p>
          <a:p>
            <a:r>
              <a:rPr lang="en-US" sz="1400" b="0" dirty="0">
                <a:solidFill>
                  <a:srgbClr val="096545"/>
                </a:solidFill>
                <a:effectLst/>
                <a:latin typeface="ui-monospace"/>
              </a:rPr>
              <a:t>    "Port"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: {</a:t>
            </a:r>
            <a:r>
              <a:rPr lang="en-US" sz="1400" b="0" dirty="0">
                <a:solidFill>
                  <a:srgbClr val="096545"/>
                </a:solidFill>
                <a:effectLst/>
                <a:latin typeface="ui-monospace"/>
              </a:rPr>
              <a:t>"required"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: </a:t>
            </a:r>
            <a:r>
              <a:rPr lang="en-US" sz="1400" b="0" dirty="0">
                <a:solidFill>
                  <a:srgbClr val="6554C0"/>
                </a:solidFill>
                <a:effectLst/>
                <a:latin typeface="ui-monospace"/>
              </a:rPr>
              <a:t>True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, </a:t>
            </a:r>
            <a:r>
              <a:rPr lang="en-US" sz="1400" b="0" dirty="0">
                <a:solidFill>
                  <a:srgbClr val="096545"/>
                </a:solidFill>
                <a:effectLst/>
                <a:latin typeface="ui-monospace"/>
              </a:rPr>
              <a:t>"type"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: </a:t>
            </a:r>
            <a:r>
              <a:rPr lang="en-US" sz="1400" b="0" dirty="0">
                <a:solidFill>
                  <a:srgbClr val="096545"/>
                </a:solidFill>
                <a:effectLst/>
                <a:latin typeface="ui-monospace"/>
              </a:rPr>
              <a:t>"int"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},</a:t>
            </a:r>
          </a:p>
          <a:p>
            <a:r>
              <a:rPr lang="en-US" sz="1400" b="0" dirty="0">
                <a:solidFill>
                  <a:srgbClr val="096545"/>
                </a:solidFill>
                <a:effectLst/>
                <a:latin typeface="ui-monospace"/>
              </a:rPr>
              <a:t>    "Protocol"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: {</a:t>
            </a:r>
          </a:p>
          <a:p>
            <a:r>
              <a:rPr lang="en-US" sz="1400" b="0" dirty="0">
                <a:solidFill>
                  <a:srgbClr val="096545"/>
                </a:solidFill>
                <a:effectLst/>
                <a:latin typeface="ui-monospace"/>
              </a:rPr>
              <a:t>    "default"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: </a:t>
            </a:r>
            <a:r>
              <a:rPr lang="en-US" sz="1400" b="0" dirty="0">
                <a:solidFill>
                  <a:srgbClr val="096545"/>
                </a:solidFill>
                <a:effectLst/>
                <a:latin typeface="ui-monospace"/>
              </a:rPr>
              <a:t>"</a:t>
            </a:r>
            <a:r>
              <a:rPr lang="en-US" sz="1400" b="0" dirty="0" err="1">
                <a:solidFill>
                  <a:srgbClr val="096545"/>
                </a:solidFill>
                <a:effectLst/>
                <a:latin typeface="ui-monospace"/>
              </a:rPr>
              <a:t>tcp</a:t>
            </a:r>
            <a:r>
              <a:rPr lang="en-US" sz="1400" b="0" dirty="0">
                <a:solidFill>
                  <a:srgbClr val="096545"/>
                </a:solidFill>
                <a:effectLst/>
                <a:latin typeface="ui-monospace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,</a:t>
            </a:r>
          </a:p>
          <a:p>
            <a:r>
              <a:rPr lang="en-US" sz="1400" b="0" dirty="0">
                <a:solidFill>
                  <a:srgbClr val="096545"/>
                </a:solidFill>
                <a:effectLst/>
                <a:latin typeface="ui-monospace"/>
              </a:rPr>
              <a:t>    "choices": ['tcp', 'udp','http'],</a:t>
            </a:r>
          </a:p>
          <a:p>
            <a:r>
              <a:rPr lang="en-US" sz="1400" b="0" dirty="0">
                <a:solidFill>
                  <a:srgbClr val="096545"/>
                </a:solidFill>
                <a:effectLst/>
                <a:latin typeface="ui-monospace"/>
              </a:rPr>
              <a:t>    "type": 'str',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    },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  }</a:t>
            </a:r>
            <a:b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  </a:t>
            </a:r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module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 = 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AnsibleModule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(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argument_spec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=</a:t>
            </a:r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fields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)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  </a:t>
            </a:r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result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=</a:t>
            </a:r>
            <a:r>
              <a:rPr lang="en-US" sz="1400" b="0" dirty="0">
                <a:solidFill>
                  <a:srgbClr val="6554C0"/>
                </a:solidFill>
                <a:effectLst/>
                <a:latin typeface="ui-monospace"/>
              </a:rPr>
              <a:t>False</a:t>
            </a:r>
            <a:endParaRPr lang="en-US" sz="1400" b="0" dirty="0">
              <a:solidFill>
                <a:srgbClr val="000000"/>
              </a:solidFill>
              <a:effectLst/>
              <a:latin typeface="ui-monospace"/>
            </a:endParaRPr>
          </a:p>
          <a:p>
            <a:r>
              <a:rPr lang="en-US" sz="1400" b="0" dirty="0">
                <a:solidFill>
                  <a:srgbClr val="6554C0"/>
                </a:solidFill>
                <a:effectLst/>
                <a:latin typeface="ui-monospace"/>
              </a:rPr>
              <a:t>  IP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 = 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module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ui-monospace"/>
              </a:rPr>
              <a:t>.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params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[</a:t>
            </a:r>
            <a:r>
              <a:rPr lang="en-US" sz="1400" b="0" dirty="0">
                <a:solidFill>
                  <a:srgbClr val="096545"/>
                </a:solidFill>
                <a:effectLst/>
                <a:latin typeface="ui-monospace"/>
              </a:rPr>
              <a:t>"</a:t>
            </a:r>
            <a:r>
              <a:rPr lang="en-US" sz="1400" b="0" dirty="0" err="1">
                <a:solidFill>
                  <a:srgbClr val="096545"/>
                </a:solidFill>
                <a:effectLst/>
                <a:latin typeface="ui-monospace"/>
              </a:rPr>
              <a:t>BindIP</a:t>
            </a:r>
            <a:r>
              <a:rPr lang="en-US" sz="1400" b="0" dirty="0">
                <a:solidFill>
                  <a:srgbClr val="096545"/>
                </a:solidFill>
                <a:effectLst/>
                <a:latin typeface="ui-monospace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]</a:t>
            </a:r>
          </a:p>
          <a:p>
            <a:r>
              <a:rPr lang="en-US" sz="1400" b="0" dirty="0">
                <a:solidFill>
                  <a:srgbClr val="6554C0"/>
                </a:solidFill>
                <a:effectLst/>
                <a:latin typeface="ui-monospace"/>
              </a:rPr>
              <a:t>  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 = 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module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ui-monospace"/>
              </a:rPr>
              <a:t>.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params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[</a:t>
            </a:r>
            <a:r>
              <a:rPr lang="en-US" sz="1400" b="0" dirty="0">
                <a:solidFill>
                  <a:srgbClr val="096545"/>
                </a:solidFill>
                <a:effectLst/>
                <a:latin typeface="ui-monospace"/>
              </a:rPr>
              <a:t>"Port"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]</a:t>
            </a:r>
          </a:p>
          <a:p>
            <a:r>
              <a:rPr lang="en-US" sz="1400" b="0" dirty="0">
                <a:solidFill>
                  <a:srgbClr val="6554C0"/>
                </a:solidFill>
                <a:effectLst/>
                <a:latin typeface="ui-monospace"/>
              </a:rPr>
              <a:t>  PROTO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=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module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ui-monospace"/>
              </a:rPr>
              <a:t>.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params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[</a:t>
            </a:r>
            <a:r>
              <a:rPr lang="en-US" sz="1400" b="0" dirty="0">
                <a:solidFill>
                  <a:srgbClr val="096545"/>
                </a:solidFill>
                <a:effectLst/>
                <a:latin typeface="ui-monospace"/>
              </a:rPr>
              <a:t>"Protocol"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]</a:t>
            </a:r>
          </a:p>
          <a:p>
            <a:r>
              <a:rPr lang="en-US" sz="14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</a:t>
            </a:r>
            <a:endParaRPr lang="en-US" sz="1400" i="1" dirty="0"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r>
              <a:rPr lang="en-US" sz="14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Result, data, msg=</a:t>
            </a:r>
            <a:r>
              <a:rPr lang="en-US" sz="1400" b="0" i="1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do_something</a:t>
            </a:r>
            <a:r>
              <a:rPr lang="en-US" sz="14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(</a:t>
            </a:r>
            <a:r>
              <a:rPr lang="en-US" sz="1400" dirty="0">
                <a:solidFill>
                  <a:srgbClr val="6554C0"/>
                </a:solidFill>
                <a:latin typeface="ui-monospace"/>
              </a:rPr>
              <a:t>IP,PORT, PROTO</a:t>
            </a:r>
            <a:r>
              <a:rPr lang="en-US" sz="14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)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  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module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ui-monospace"/>
              </a:rPr>
              <a:t>.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exit_json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(</a:t>
            </a:r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changed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=</a:t>
            </a:r>
            <a:r>
              <a:rPr lang="en-US" sz="1400" b="0" dirty="0" err="1">
                <a:solidFill>
                  <a:srgbClr val="6554C0"/>
                </a:solidFill>
                <a:effectLst/>
                <a:latin typeface="ui-monospace"/>
              </a:rPr>
              <a:t>False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ui-monospace"/>
              </a:rPr>
              <a:t>,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failed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=</a:t>
            </a:r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result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, </a:t>
            </a:r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stderr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=</a:t>
            </a:r>
            <a:r>
              <a:rPr lang="en-US" sz="1400" b="1" dirty="0">
                <a:solidFill>
                  <a:srgbClr val="091E42"/>
                </a:solidFill>
                <a:effectLst/>
                <a:latin typeface="ui-monospace"/>
              </a:rPr>
              <a:t>str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(</a:t>
            </a:r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msg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), 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stdout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=</a:t>
            </a:r>
            <a:r>
              <a:rPr lang="en-US" sz="1400" b="1" dirty="0">
                <a:solidFill>
                  <a:srgbClr val="091E42"/>
                </a:solidFill>
                <a:effectLst/>
                <a:latin typeface="ui-monospace"/>
              </a:rPr>
              <a:t>str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(</a:t>
            </a:r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data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) )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</a:br>
            <a:r>
              <a:rPr lang="en-US" sz="1400" b="1" dirty="0">
                <a:solidFill>
                  <a:srgbClr val="091E42"/>
                </a:solidFill>
                <a:effectLst/>
                <a:latin typeface="ui-monospace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 __</a:t>
            </a:r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name__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 == </a:t>
            </a:r>
            <a:r>
              <a:rPr lang="en-US" sz="1400" b="0" dirty="0">
                <a:solidFill>
                  <a:srgbClr val="096545"/>
                </a:solidFill>
                <a:effectLst/>
                <a:latin typeface="ui-monospace"/>
              </a:rPr>
              <a:t>'__main__'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:</a:t>
            </a:r>
          </a:p>
          <a:p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()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</a:br>
            <a:endParaRPr lang="en-US" sz="1400" b="0" dirty="0">
              <a:solidFill>
                <a:srgbClr val="000000"/>
              </a:solidFill>
              <a:effectLst/>
              <a:latin typeface="ui-monospace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F3BA85A-29F4-28D4-5D70-951E44ED0D97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 Module: All In One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import socket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BUFFER_SIZE = 1024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/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A2326EF-F18A-147E-3924-C4A3BC77747F}"/>
              </a:ext>
            </a:extLst>
          </p:cNvPr>
          <p:cNvSpPr/>
          <p:nvPr/>
        </p:nvSpPr>
        <p:spPr>
          <a:xfrm>
            <a:off x="736559" y="630360"/>
            <a:ext cx="7632719" cy="554328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r>
              <a:rPr lang="en-US" sz="1400" b="1" dirty="0">
                <a:solidFill>
                  <a:srgbClr val="0049B0"/>
                </a:solidFill>
                <a:effectLst/>
                <a:latin typeface="ui-monospace"/>
              </a:rPr>
              <a:t>def </a:t>
            </a:r>
            <a:r>
              <a:rPr lang="en-US" sz="1400" b="0" i="1" u="none" strike="noStrike" cap="none" baseline="0" dirty="0" err="1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do_something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(</a:t>
            </a:r>
            <a:r>
              <a:rPr lang="en-US" sz="1400" b="0" dirty="0">
                <a:solidFill>
                  <a:srgbClr val="6554C0"/>
                </a:solidFill>
                <a:effectLst/>
                <a:latin typeface="ui-monospace"/>
              </a:rPr>
              <a:t>IP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, </a:t>
            </a:r>
            <a:r>
              <a:rPr lang="en-US" sz="1400" b="0" dirty="0">
                <a:solidFill>
                  <a:srgbClr val="6554C0"/>
                </a:solidFill>
                <a:effectLst/>
                <a:latin typeface="ui-monospace"/>
              </a:rPr>
              <a:t>PORT, PROTO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) :</a:t>
            </a:r>
          </a:p>
          <a:p>
            <a:r>
              <a:rPr lang="en-US" sz="1400" b="0" i="1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en-US" sz="1400" b="1" dirty="0">
                <a:solidFill>
                  <a:srgbClr val="091E42"/>
                </a:solidFill>
                <a:effectLst/>
                <a:latin typeface="ui-monospace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 </a:t>
            </a:r>
            <a:r>
              <a:rPr lang="en-US" sz="1400" b="0" dirty="0" err="1">
                <a:solidFill>
                  <a:srgbClr val="6554C0"/>
                </a:solidFill>
                <a:effectLst/>
                <a:latin typeface="ui-monospace"/>
              </a:rPr>
              <a:t>PROTO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ui-monospace"/>
              </a:rPr>
              <a:t>.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upper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() == </a:t>
            </a:r>
            <a:r>
              <a:rPr lang="en-US" sz="1400" b="0" dirty="0">
                <a:solidFill>
                  <a:srgbClr val="096545"/>
                </a:solidFill>
                <a:effectLst/>
                <a:latin typeface="ui-monospace"/>
              </a:rPr>
              <a:t>"TCP"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:</a:t>
            </a:r>
          </a:p>
          <a:p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      result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, </a:t>
            </a:r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data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, </a:t>
            </a:r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msg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=</a:t>
            </a:r>
            <a:r>
              <a:rPr lang="en-US" sz="1400" b="0" dirty="0">
                <a:solidFill>
                  <a:srgbClr val="6554C0"/>
                </a:solidFill>
                <a:effectLst/>
                <a:latin typeface="ui-monospace"/>
              </a:rPr>
              <a:t>TCP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(</a:t>
            </a:r>
            <a:r>
              <a:rPr lang="en-US" sz="1400" b="0" dirty="0">
                <a:solidFill>
                  <a:srgbClr val="6554C0"/>
                </a:solidFill>
                <a:effectLst/>
                <a:latin typeface="ui-monospace"/>
              </a:rPr>
              <a:t>IP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, </a:t>
            </a:r>
            <a:r>
              <a:rPr lang="en-US" sz="1400" b="0" dirty="0">
                <a:solidFill>
                  <a:srgbClr val="6554C0"/>
                </a:solidFill>
                <a:effectLst/>
                <a:latin typeface="ui-monospace"/>
              </a:rPr>
              <a:t>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)</a:t>
            </a:r>
          </a:p>
          <a:p>
            <a:r>
              <a:rPr lang="en-US" sz="1400" b="1" dirty="0">
                <a:solidFill>
                  <a:srgbClr val="0049B0"/>
                </a:solidFill>
                <a:effectLst/>
                <a:latin typeface="ui-monospace"/>
              </a:rPr>
              <a:t>def </a:t>
            </a:r>
            <a:r>
              <a:rPr lang="en-US" sz="1400" b="1" dirty="0">
                <a:solidFill>
                  <a:srgbClr val="BF2600"/>
                </a:solidFill>
                <a:effectLst/>
                <a:latin typeface="ui-monospace"/>
              </a:rPr>
              <a:t>TCP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(</a:t>
            </a:r>
            <a:r>
              <a:rPr lang="en-US" sz="1400" b="0" dirty="0">
                <a:solidFill>
                  <a:srgbClr val="6554C0"/>
                </a:solidFill>
                <a:effectLst/>
                <a:latin typeface="ui-monospace"/>
              </a:rPr>
              <a:t>IP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, </a:t>
            </a:r>
            <a:r>
              <a:rPr lang="en-US" sz="1400" b="0" dirty="0">
                <a:solidFill>
                  <a:srgbClr val="6554C0"/>
                </a:solidFill>
                <a:effectLst/>
                <a:latin typeface="ui-monospace"/>
              </a:rPr>
              <a:t>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) :</a:t>
            </a:r>
          </a:p>
          <a:p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  data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=</a:t>
            </a:r>
            <a:r>
              <a:rPr lang="en-US" sz="1400" b="0" dirty="0">
                <a:solidFill>
                  <a:srgbClr val="096545"/>
                </a:solidFill>
                <a:effectLst/>
                <a:latin typeface="ui-monospace"/>
              </a:rPr>
              <a:t>""</a:t>
            </a:r>
            <a:endParaRPr lang="en-US" sz="1400" b="0" dirty="0">
              <a:solidFill>
                <a:srgbClr val="000000"/>
              </a:solidFill>
              <a:effectLst/>
              <a:latin typeface="ui-monospace"/>
            </a:endParaRPr>
          </a:p>
          <a:p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  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tcp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 = 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socket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ui-monospace"/>
              </a:rPr>
              <a:t>.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socket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(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socket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ui-monospace"/>
              </a:rPr>
              <a:t>.</a:t>
            </a:r>
            <a:r>
              <a:rPr lang="en-US" sz="1400" b="0" dirty="0" err="1">
                <a:solidFill>
                  <a:srgbClr val="6554C0"/>
                </a:solidFill>
                <a:effectLst/>
                <a:latin typeface="ui-monospace"/>
              </a:rPr>
              <a:t>AF_INET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, 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socket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ui-monospace"/>
              </a:rPr>
              <a:t>.</a:t>
            </a:r>
            <a:r>
              <a:rPr lang="en-US" sz="1400" b="0" dirty="0" err="1">
                <a:solidFill>
                  <a:srgbClr val="6554C0"/>
                </a:solidFill>
                <a:effectLst/>
                <a:latin typeface="ui-monospace"/>
              </a:rPr>
              <a:t>SOCK_STREAM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)</a:t>
            </a:r>
          </a:p>
          <a:p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  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tcp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ui-monospace"/>
              </a:rPr>
              <a:t>.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setsockopt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(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socket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ui-monospace"/>
              </a:rPr>
              <a:t>.</a:t>
            </a:r>
            <a:r>
              <a:rPr lang="en-US" sz="1400" b="0" dirty="0" err="1">
                <a:solidFill>
                  <a:srgbClr val="6554C0"/>
                </a:solidFill>
                <a:effectLst/>
                <a:latin typeface="ui-monospace"/>
              </a:rPr>
              <a:t>SOL_SOCKET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, 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socket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ui-monospace"/>
              </a:rPr>
              <a:t>.</a:t>
            </a:r>
            <a:r>
              <a:rPr lang="en-US" sz="1400" b="0" dirty="0" err="1">
                <a:solidFill>
                  <a:srgbClr val="6554C0"/>
                </a:solidFill>
                <a:effectLst/>
                <a:latin typeface="ui-monospace"/>
              </a:rPr>
              <a:t>SO_REUSEADDR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, </a:t>
            </a:r>
            <a:r>
              <a:rPr lang="en-US" sz="1400" b="0" dirty="0">
                <a:solidFill>
                  <a:srgbClr val="6554C0"/>
                </a:solidFill>
                <a:effectLst/>
                <a:latin typeface="ui-monospace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)</a:t>
            </a:r>
          </a:p>
          <a:p>
            <a:r>
              <a:rPr lang="en-US" sz="1400" b="1" dirty="0">
                <a:solidFill>
                  <a:srgbClr val="091E42"/>
                </a:solidFill>
                <a:effectLst/>
                <a:latin typeface="ui-monospace"/>
              </a:rPr>
              <a:t>  try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:</a:t>
            </a:r>
          </a:p>
          <a:p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    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tcp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ui-monospace"/>
              </a:rPr>
              <a:t>.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bind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((</a:t>
            </a:r>
            <a:r>
              <a:rPr lang="en-US" sz="1400" b="0" dirty="0">
                <a:solidFill>
                  <a:srgbClr val="6554C0"/>
                </a:solidFill>
                <a:effectLst/>
                <a:latin typeface="ui-monospace"/>
              </a:rPr>
              <a:t>IP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, </a:t>
            </a:r>
            <a:r>
              <a:rPr lang="en-US" sz="1400" b="0" dirty="0">
                <a:solidFill>
                  <a:srgbClr val="6554C0"/>
                </a:solidFill>
                <a:effectLst/>
                <a:latin typeface="ui-monospace"/>
              </a:rPr>
              <a:t>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))</a:t>
            </a:r>
          </a:p>
          <a:p>
            <a:r>
              <a:rPr lang="en-US" sz="1400" b="1" dirty="0">
                <a:solidFill>
                  <a:srgbClr val="091E42"/>
                </a:solidFill>
                <a:effectLst/>
                <a:latin typeface="ui-monospace"/>
              </a:rPr>
              <a:t>  except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 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socket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ui-monospace"/>
              </a:rPr>
              <a:t>.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 </a:t>
            </a:r>
            <a:r>
              <a:rPr lang="en-US" sz="1400" b="1" dirty="0">
                <a:solidFill>
                  <a:srgbClr val="091E42"/>
                </a:solidFill>
                <a:effectLst/>
                <a:latin typeface="ui-monospace"/>
              </a:rPr>
              <a:t>as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 </a:t>
            </a:r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msg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:</a:t>
            </a:r>
          </a:p>
          <a:p>
            <a:r>
              <a:rPr lang="en-US" sz="1400" b="1" dirty="0">
                <a:solidFill>
                  <a:srgbClr val="091E42"/>
                </a:solidFill>
                <a:effectLst/>
                <a:latin typeface="ui-monospace"/>
              </a:rPr>
              <a:t>    print("Couldnt connect with the socket-server: %s\n terminating program" % msg)</a:t>
            </a:r>
            <a:endParaRPr lang="en-US" sz="1400" b="0" dirty="0">
              <a:solidFill>
                <a:srgbClr val="000000"/>
              </a:solidFill>
              <a:effectLst/>
              <a:latin typeface="ui-monospace"/>
            </a:endParaRPr>
          </a:p>
          <a:p>
            <a:r>
              <a:rPr lang="en-US" sz="1400" b="1" dirty="0">
                <a:solidFill>
                  <a:srgbClr val="091E42"/>
                </a:solidFill>
                <a:effectLst/>
                <a:latin typeface="ui-monospace"/>
              </a:rPr>
              <a:t>    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 </a:t>
            </a:r>
            <a:r>
              <a:rPr lang="en-US" sz="1400" b="0" dirty="0" err="1">
                <a:solidFill>
                  <a:srgbClr val="6554C0"/>
                </a:solidFill>
                <a:effectLst/>
                <a:latin typeface="ui-monospace"/>
              </a:rPr>
              <a:t>True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ui-monospace"/>
              </a:rPr>
              <a:t>,</a:t>
            </a:r>
            <a:r>
              <a:rPr lang="en-US" sz="1400" b="0" dirty="0" err="1">
                <a:solidFill>
                  <a:srgbClr val="096545"/>
                </a:solidFill>
                <a:effectLst/>
                <a:latin typeface="ui-monospace"/>
              </a:rPr>
              <a:t>""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ui-monospace"/>
              </a:rPr>
              <a:t>,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msg</a:t>
            </a:r>
            <a:endParaRPr lang="en-US" sz="1400" b="0" dirty="0">
              <a:solidFill>
                <a:srgbClr val="000000"/>
              </a:solidFill>
              <a:effectLst/>
              <a:latin typeface="ui-monospace"/>
            </a:endParaRPr>
          </a:p>
          <a:p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  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tcp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ui-monospace"/>
              </a:rPr>
              <a:t>.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listen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(</a:t>
            </a:r>
            <a:r>
              <a:rPr lang="en-US" sz="1400" b="0" dirty="0">
                <a:solidFill>
                  <a:srgbClr val="6554C0"/>
                </a:solidFill>
                <a:effectLst/>
                <a:latin typeface="ui-monospace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)</a:t>
            </a:r>
          </a:p>
          <a:p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  conn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, 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addr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 = 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tcp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ui-monospace"/>
              </a:rPr>
              <a:t>.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accept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()</a:t>
            </a:r>
          </a:p>
          <a:p>
            <a:r>
              <a:rPr lang="en-US" sz="1400" b="1" dirty="0">
                <a:solidFill>
                  <a:srgbClr val="091E42"/>
                </a:solidFill>
                <a:effectLst/>
                <a:latin typeface="ui-monospace"/>
              </a:rPr>
              <a:t>  print('Connection address:', addr)</a:t>
            </a:r>
            <a:endParaRPr lang="en-US" sz="1400" b="0" dirty="0">
              <a:solidFill>
                <a:srgbClr val="000000"/>
              </a:solidFill>
              <a:effectLst/>
              <a:latin typeface="ui-monospace"/>
            </a:endParaRPr>
          </a:p>
          <a:p>
            <a:r>
              <a:rPr lang="en-US" sz="1400" b="1" dirty="0">
                <a:solidFill>
                  <a:srgbClr val="091E42"/>
                </a:solidFill>
                <a:effectLst/>
                <a:latin typeface="ui-monospace"/>
              </a:rPr>
              <a:t>  while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 </a:t>
            </a:r>
            <a:r>
              <a:rPr lang="en-US" sz="1400" b="1" dirty="0" err="1">
                <a:solidFill>
                  <a:srgbClr val="091E42"/>
                </a:solidFill>
                <a:effectLst/>
                <a:latin typeface="ui-monospace"/>
              </a:rPr>
              <a:t>len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(</a:t>
            </a:r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data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) == </a:t>
            </a:r>
            <a:r>
              <a:rPr lang="en-US" sz="1400" b="0" dirty="0">
                <a:solidFill>
                  <a:srgbClr val="6554C0"/>
                </a:solidFill>
                <a:effectLst/>
                <a:latin typeface="ui-monospace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:</a:t>
            </a:r>
          </a:p>
          <a:p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    Failed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=</a:t>
            </a:r>
            <a:r>
              <a:rPr lang="en-US" sz="1400" b="0" dirty="0">
                <a:solidFill>
                  <a:srgbClr val="6554C0"/>
                </a:solidFill>
                <a:effectLst/>
                <a:latin typeface="ui-monospace"/>
              </a:rPr>
              <a:t>False</a:t>
            </a:r>
            <a:endParaRPr lang="en-US" sz="1400" b="0" dirty="0">
              <a:solidFill>
                <a:srgbClr val="000000"/>
              </a:solidFill>
              <a:effectLst/>
              <a:latin typeface="ui-monospace"/>
            </a:endParaRPr>
          </a:p>
          <a:p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    data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 = 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conn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ui-monospace"/>
              </a:rPr>
              <a:t>.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recv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(</a:t>
            </a:r>
            <a:r>
              <a:rPr lang="en-US" sz="1400" b="0" dirty="0">
                <a:solidFill>
                  <a:srgbClr val="6554C0"/>
                </a:solidFill>
                <a:effectLst/>
                <a:latin typeface="ui-monospace"/>
              </a:rPr>
              <a:t>BUFFER_SIZE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)</a:t>
            </a:r>
          </a:p>
          <a:p>
            <a:r>
              <a:rPr lang="en-US" sz="1400" b="1" dirty="0">
                <a:solidFill>
                  <a:srgbClr val="091E42"/>
                </a:solidFill>
                <a:effectLst/>
                <a:latin typeface="ui-monospace"/>
              </a:rPr>
              <a:t>    if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 </a:t>
            </a:r>
            <a:r>
              <a:rPr lang="en-US" sz="1400" b="1" dirty="0">
                <a:solidFill>
                  <a:srgbClr val="091E42"/>
                </a:solidFill>
                <a:effectLst/>
                <a:latin typeface="ui-monospace"/>
              </a:rPr>
              <a:t>not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 </a:t>
            </a:r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data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: </a:t>
            </a:r>
            <a:r>
              <a:rPr lang="en-US" sz="1400" b="1" dirty="0">
                <a:solidFill>
                  <a:srgbClr val="091E42"/>
                </a:solidFill>
                <a:effectLst/>
                <a:latin typeface="ui-monospace"/>
              </a:rPr>
              <a:t>break</a:t>
            </a:r>
            <a:endParaRPr lang="en-US" sz="1400" b="0" dirty="0">
              <a:solidFill>
                <a:srgbClr val="000000"/>
              </a:solidFill>
              <a:effectLst/>
              <a:latin typeface="ui-monospace"/>
            </a:endParaRPr>
          </a:p>
          <a:p>
            <a:r>
              <a:rPr lang="en-US" sz="1400" b="1" dirty="0">
                <a:solidFill>
                  <a:srgbClr val="091E42"/>
                </a:solidFill>
                <a:effectLst/>
                <a:latin typeface="ui-monospace"/>
              </a:rPr>
              <a:t>    print("received TCP data:", data)</a:t>
            </a:r>
            <a:endParaRPr lang="en-US" sz="1400" b="0" dirty="0">
              <a:solidFill>
                <a:srgbClr val="000000"/>
              </a:solidFill>
              <a:effectLst/>
              <a:latin typeface="ui-monospace"/>
            </a:endParaRPr>
          </a:p>
          <a:p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    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conn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ui-monospace"/>
              </a:rPr>
              <a:t>.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send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(</a:t>
            </a:r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data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) </a:t>
            </a:r>
            <a:r>
              <a:rPr lang="en-US" sz="1400" b="0" i="1" dirty="0">
                <a:solidFill>
                  <a:srgbClr val="A0A0A0"/>
                </a:solidFill>
                <a:effectLst/>
                <a:latin typeface="ui-monospace"/>
              </a:rPr>
              <a:t># echo</a:t>
            </a:r>
            <a:endParaRPr lang="en-US" sz="1400" b="0" dirty="0">
              <a:solidFill>
                <a:srgbClr val="000000"/>
              </a:solidFill>
              <a:effectLst/>
              <a:latin typeface="ui-monospace"/>
            </a:endParaRPr>
          </a:p>
          <a:p>
            <a:r>
              <a:rPr lang="en-US" sz="1400" b="0" dirty="0">
                <a:solidFill>
                  <a:srgbClr val="202020"/>
                </a:solidFill>
                <a:effectLst/>
                <a:latin typeface="ui-monospace"/>
              </a:rPr>
              <a:t>  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conn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ui-monospace"/>
              </a:rPr>
              <a:t>.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close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()</a:t>
            </a:r>
          </a:p>
          <a:p>
            <a:r>
              <a:rPr lang="en-US" sz="1400" b="1" dirty="0">
                <a:solidFill>
                  <a:srgbClr val="091E42"/>
                </a:solidFill>
                <a:effectLst/>
                <a:latin typeface="ui-monospace"/>
              </a:rPr>
              <a:t>  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 </a:t>
            </a:r>
            <a:r>
              <a:rPr lang="en-US" sz="1400" b="0" dirty="0" err="1">
                <a:solidFill>
                  <a:srgbClr val="6554C0"/>
                </a:solidFill>
                <a:effectLst/>
                <a:latin typeface="ui-monospace"/>
              </a:rPr>
              <a:t>False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ui-monospace"/>
              </a:rPr>
              <a:t>,</a:t>
            </a:r>
            <a:r>
              <a:rPr lang="en-US" sz="1400" b="0" dirty="0" err="1">
                <a:solidFill>
                  <a:srgbClr val="202020"/>
                </a:solidFill>
                <a:effectLst/>
                <a:latin typeface="ui-monospace"/>
              </a:rPr>
              <a:t>data</a:t>
            </a:r>
            <a:r>
              <a:rPr lang="en-US" sz="1400" b="0" dirty="0">
                <a:solidFill>
                  <a:srgbClr val="000000"/>
                </a:solidFill>
                <a:effectLst/>
                <a:latin typeface="ui-monospace"/>
              </a:rPr>
              <a:t>, </a:t>
            </a:r>
            <a:r>
              <a:rPr lang="en-US" sz="1400" b="0" dirty="0">
                <a:solidFill>
                  <a:srgbClr val="096545"/>
                </a:solidFill>
                <a:effectLst/>
                <a:latin typeface="ui-monospace"/>
              </a:rPr>
              <a:t>""</a:t>
            </a:r>
            <a:endParaRPr lang="en-US" sz="1400" b="0" dirty="0">
              <a:solidFill>
                <a:srgbClr val="000000"/>
              </a:solidFill>
              <a:effectLst/>
              <a:latin typeface="ui-monospace"/>
            </a:endParaRPr>
          </a:p>
          <a:p>
            <a:pPr>
              <a:spcBef>
                <a:spcPts val="360"/>
              </a:spcBef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400" b="0" i="1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844437327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8AF946B-EB6E-D990-CC90-4DC80C364FA4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 Module: Call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042D247-7CE4-0F47-B1A1-9E9C6D0D169E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name: Mon module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fr-FR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Mon_Module</a:t>
            </a:r>
            <a:r>
              <a:rPr lang="fr-FR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   </a:t>
            </a:r>
            <a:r>
              <a:rPr lang="fr-FR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BindIP</a:t>
            </a:r>
            <a:r>
              <a:rPr lang="fr-FR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="{{</a:t>
            </a:r>
            <a:r>
              <a:rPr lang="fr-FR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Flux.SRC</a:t>
            </a:r>
            <a:r>
              <a:rPr lang="fr-FR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}}"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   Port="{{</a:t>
            </a:r>
            <a:r>
              <a:rPr lang="fr-FR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Flux.Port</a:t>
            </a:r>
            <a:r>
              <a:rPr lang="fr-FR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}}"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   Protocol="{{</a:t>
            </a:r>
            <a:r>
              <a:rPr lang="fr-FR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Flux.Proto</a:t>
            </a:r>
            <a:r>
              <a:rPr lang="fr-FR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}} " 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fr-FR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register</a:t>
            </a:r>
            <a:r>
              <a:rPr lang="fr-FR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</a:t>
            </a:r>
            <a:r>
              <a:rPr lang="fr-FR" dirty="0" err="1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MyData</a:t>
            </a:r>
            <a:endParaRPr lang="fr-FR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62B78A5-BFB8-BC4C-A0B8-BF32AF603056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 dirty="0">
                <a:ln>
                  <a:noFill/>
                </a:ln>
                <a:solidFill>
                  <a:srgbClr val="00437A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 Module: Exercise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71937B2-ACCC-1FDD-BF29-7CC6453322B3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i="0" u="none" strike="noStrike" cap="none" baseline="0" dirty="0">
              <a:ln>
                <a:noFill/>
              </a:ln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Write a module ‘</a:t>
            </a:r>
            <a:r>
              <a:rPr lang="en-US" sz="1200" dirty="0" err="1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REPLACEinFile</a:t>
            </a:r>
            <a:r>
              <a:rPr lang="en-US" sz="12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’ 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return changed=true if a replace was success</a:t>
            </a:r>
          </a:p>
          <a:p>
            <a:pPr hangingPunct="0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return changed=false if no replace was done</a:t>
            </a:r>
          </a:p>
          <a:p>
            <a:pPr hangingPunct="0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return failed=true if replacement is not </a:t>
            </a:r>
            <a:r>
              <a:rPr lang="en-US" sz="1200" dirty="0" err="1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successfull</a:t>
            </a:r>
            <a:endParaRPr lang="en-US" sz="1200" dirty="0"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dirty="0">
              <a:solidFill>
                <a:srgbClr val="0E1012"/>
              </a:solidFill>
              <a:latin typeface="Courier New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dirty="0"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3 parameters: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find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replace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- file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3EFFC7-D0E9-CC40-D5F5-14F47200B894}"/>
              </a:ext>
            </a:extLst>
          </p:cNvPr>
          <p:cNvSpPr txBox="1"/>
          <p:nvPr/>
        </p:nvSpPr>
        <p:spPr>
          <a:xfrm>
            <a:off x="381000" y="152400"/>
            <a:ext cx="4191000" cy="6394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# File: library/replace_in_file.py</a:t>
            </a:r>
          </a:p>
          <a:p>
            <a:endParaRPr lang="en-US" sz="1050" dirty="0"/>
          </a:p>
          <a:p>
            <a:r>
              <a:rPr lang="en-US" sz="1050" dirty="0"/>
              <a:t>import </a:t>
            </a:r>
            <a:r>
              <a:rPr lang="en-US" sz="1050" dirty="0" err="1"/>
              <a:t>os</a:t>
            </a:r>
            <a:endParaRPr lang="en-US" sz="1050" dirty="0"/>
          </a:p>
          <a:p>
            <a:endParaRPr lang="en-US" sz="1050" dirty="0"/>
          </a:p>
          <a:p>
            <a:r>
              <a:rPr lang="en-US" sz="1050" dirty="0"/>
              <a:t>def main():</a:t>
            </a:r>
          </a:p>
          <a:p>
            <a:r>
              <a:rPr lang="en-US" sz="1050" dirty="0"/>
              <a:t>    module = </a:t>
            </a:r>
            <a:r>
              <a:rPr lang="en-US" sz="1050" dirty="0" err="1"/>
              <a:t>AnsibleModule</a:t>
            </a:r>
            <a:r>
              <a:rPr lang="en-US" sz="1050" dirty="0"/>
              <a:t>(</a:t>
            </a:r>
          </a:p>
          <a:p>
            <a:r>
              <a:rPr lang="en-US" sz="1050" dirty="0"/>
              <a:t>        </a:t>
            </a:r>
            <a:r>
              <a:rPr lang="en-US" sz="1050" dirty="0" err="1"/>
              <a:t>argument_spec</a:t>
            </a:r>
            <a:r>
              <a:rPr lang="en-US" sz="1050" dirty="0"/>
              <a:t>=</a:t>
            </a:r>
            <a:r>
              <a:rPr lang="en-US" sz="1050" dirty="0" err="1"/>
              <a:t>dict</a:t>
            </a:r>
            <a:r>
              <a:rPr lang="en-US" sz="1050" dirty="0"/>
              <a:t>(</a:t>
            </a:r>
          </a:p>
          <a:p>
            <a:r>
              <a:rPr lang="en-US" sz="1050" dirty="0"/>
              <a:t>            find=</a:t>
            </a:r>
            <a:r>
              <a:rPr lang="en-US" sz="1050" dirty="0" err="1"/>
              <a:t>dict</a:t>
            </a:r>
            <a:r>
              <a:rPr lang="en-US" sz="1050" dirty="0"/>
              <a:t>(required=True, type='str'),</a:t>
            </a:r>
          </a:p>
          <a:p>
            <a:r>
              <a:rPr lang="en-US" sz="1050" dirty="0"/>
              <a:t>            replace=</a:t>
            </a:r>
            <a:r>
              <a:rPr lang="en-US" sz="1050" dirty="0" err="1"/>
              <a:t>dict</a:t>
            </a:r>
            <a:r>
              <a:rPr lang="en-US" sz="1050" dirty="0"/>
              <a:t>(required=True, type='str'),</a:t>
            </a:r>
          </a:p>
          <a:p>
            <a:r>
              <a:rPr lang="en-US" sz="1050" dirty="0"/>
              <a:t>            file=</a:t>
            </a:r>
            <a:r>
              <a:rPr lang="en-US" sz="1050" dirty="0" err="1"/>
              <a:t>dict</a:t>
            </a:r>
            <a:r>
              <a:rPr lang="en-US" sz="1050" dirty="0"/>
              <a:t>(required=True, type='str')</a:t>
            </a:r>
          </a:p>
          <a:p>
            <a:r>
              <a:rPr lang="en-US" sz="1050" dirty="0"/>
              <a:t>        )</a:t>
            </a:r>
          </a:p>
          <a:p>
            <a:r>
              <a:rPr lang="en-US" sz="1050" dirty="0"/>
              <a:t>    )</a:t>
            </a:r>
          </a:p>
          <a:p>
            <a:endParaRPr lang="en-US" sz="1050" dirty="0"/>
          </a:p>
          <a:p>
            <a:r>
              <a:rPr lang="en-US" sz="1050" dirty="0"/>
              <a:t>    find = </a:t>
            </a:r>
            <a:r>
              <a:rPr lang="en-US" sz="1050" dirty="0" err="1"/>
              <a:t>module.params</a:t>
            </a:r>
            <a:r>
              <a:rPr lang="en-US" sz="1050" dirty="0"/>
              <a:t>['find']</a:t>
            </a:r>
          </a:p>
          <a:p>
            <a:r>
              <a:rPr lang="en-US" sz="1050" dirty="0"/>
              <a:t>    replace = </a:t>
            </a:r>
            <a:r>
              <a:rPr lang="en-US" sz="1050" dirty="0" err="1"/>
              <a:t>module.params</a:t>
            </a:r>
            <a:r>
              <a:rPr lang="en-US" sz="1050" dirty="0"/>
              <a:t>['replace']</a:t>
            </a:r>
          </a:p>
          <a:p>
            <a:r>
              <a:rPr lang="en-US" sz="1050" dirty="0"/>
              <a:t>    </a:t>
            </a:r>
            <a:r>
              <a:rPr lang="en-US" sz="1050" dirty="0" err="1"/>
              <a:t>file_path</a:t>
            </a:r>
            <a:r>
              <a:rPr lang="en-US" sz="1050" dirty="0"/>
              <a:t> = </a:t>
            </a:r>
            <a:r>
              <a:rPr lang="en-US" sz="1050" dirty="0" err="1"/>
              <a:t>module.params</a:t>
            </a:r>
            <a:r>
              <a:rPr lang="en-US" sz="1050" dirty="0"/>
              <a:t>['file']</a:t>
            </a:r>
          </a:p>
          <a:p>
            <a:endParaRPr lang="en-US" sz="1050" dirty="0"/>
          </a:p>
          <a:p>
            <a:r>
              <a:rPr lang="en-US" sz="1050" dirty="0"/>
              <a:t>    if not </a:t>
            </a:r>
            <a:r>
              <a:rPr lang="en-US" sz="1050" dirty="0" err="1"/>
              <a:t>os.path.exists</a:t>
            </a:r>
            <a:r>
              <a:rPr lang="en-US" sz="1050" dirty="0"/>
              <a:t>(</a:t>
            </a:r>
            <a:r>
              <a:rPr lang="en-US" sz="1050" dirty="0" err="1"/>
              <a:t>file_path</a:t>
            </a:r>
            <a:r>
              <a:rPr lang="en-US" sz="1050" dirty="0"/>
              <a:t>):</a:t>
            </a:r>
          </a:p>
          <a:p>
            <a:r>
              <a:rPr lang="en-US" sz="1050" dirty="0"/>
              <a:t>        </a:t>
            </a:r>
            <a:r>
              <a:rPr lang="en-US" sz="1050" dirty="0" err="1"/>
              <a:t>module.fail_json</a:t>
            </a:r>
            <a:r>
              <a:rPr lang="en-US" sz="1050" dirty="0"/>
              <a:t>(msg=</a:t>
            </a:r>
            <a:r>
              <a:rPr lang="en-US" sz="1050" dirty="0" err="1"/>
              <a:t>f"File</a:t>
            </a:r>
            <a:r>
              <a:rPr lang="en-US" sz="1050" dirty="0"/>
              <a:t> {</a:t>
            </a:r>
            <a:r>
              <a:rPr lang="en-US" sz="1050" dirty="0" err="1"/>
              <a:t>file_path</a:t>
            </a:r>
            <a:r>
              <a:rPr lang="en-US" sz="1050" dirty="0"/>
              <a:t>} does not exist")</a:t>
            </a:r>
          </a:p>
          <a:p>
            <a:endParaRPr lang="en-US" sz="1050" dirty="0"/>
          </a:p>
          <a:p>
            <a:r>
              <a:rPr lang="en-US" sz="1050" dirty="0"/>
              <a:t>    with open(</a:t>
            </a:r>
            <a:r>
              <a:rPr lang="en-US" sz="1050" dirty="0" err="1"/>
              <a:t>file_path</a:t>
            </a:r>
            <a:r>
              <a:rPr lang="en-US" sz="1050" dirty="0"/>
              <a:t>, 'r') as f:</a:t>
            </a:r>
          </a:p>
          <a:p>
            <a:r>
              <a:rPr lang="en-US" sz="1050" dirty="0"/>
              <a:t>        content = </a:t>
            </a:r>
            <a:r>
              <a:rPr lang="en-US" sz="1050" dirty="0" err="1"/>
              <a:t>f.read</a:t>
            </a:r>
            <a:r>
              <a:rPr lang="en-US" sz="1050" dirty="0"/>
              <a:t>()</a:t>
            </a:r>
          </a:p>
          <a:p>
            <a:endParaRPr lang="en-US" sz="1050" dirty="0"/>
          </a:p>
          <a:p>
            <a:r>
              <a:rPr lang="en-US" sz="1050" dirty="0"/>
              <a:t>    if find not in content:</a:t>
            </a:r>
          </a:p>
          <a:p>
            <a:r>
              <a:rPr lang="en-US" sz="1050" dirty="0"/>
              <a:t>        </a:t>
            </a:r>
            <a:r>
              <a:rPr lang="en-US" sz="1050" dirty="0" err="1"/>
              <a:t>module.exit_json</a:t>
            </a:r>
            <a:r>
              <a:rPr lang="en-US" sz="1050" dirty="0"/>
              <a:t>(changed=False)</a:t>
            </a:r>
          </a:p>
          <a:p>
            <a:endParaRPr lang="en-US" sz="1050" dirty="0"/>
          </a:p>
          <a:p>
            <a:r>
              <a:rPr lang="en-US" sz="1050" dirty="0"/>
              <a:t>    </a:t>
            </a:r>
            <a:r>
              <a:rPr lang="en-US" sz="1050" dirty="0" err="1"/>
              <a:t>new_content</a:t>
            </a:r>
            <a:r>
              <a:rPr lang="en-US" sz="1050" dirty="0"/>
              <a:t> = </a:t>
            </a:r>
            <a:r>
              <a:rPr lang="en-US" sz="1050" dirty="0" err="1"/>
              <a:t>content.replace</a:t>
            </a:r>
            <a:r>
              <a:rPr lang="en-US" sz="1050" dirty="0"/>
              <a:t>(find, replace)</a:t>
            </a:r>
          </a:p>
          <a:p>
            <a:endParaRPr lang="en-US" sz="1050" dirty="0"/>
          </a:p>
          <a:p>
            <a:r>
              <a:rPr lang="en-US" sz="1050" dirty="0"/>
              <a:t>    if </a:t>
            </a:r>
            <a:r>
              <a:rPr lang="en-US" sz="1050" dirty="0" err="1"/>
              <a:t>new_content</a:t>
            </a:r>
            <a:r>
              <a:rPr lang="en-US" sz="1050" dirty="0"/>
              <a:t> == content:</a:t>
            </a:r>
          </a:p>
          <a:p>
            <a:r>
              <a:rPr lang="en-US" sz="1050" dirty="0"/>
              <a:t>        </a:t>
            </a:r>
            <a:r>
              <a:rPr lang="en-US" sz="1050" dirty="0" err="1"/>
              <a:t>module.exit_json</a:t>
            </a:r>
            <a:r>
              <a:rPr lang="en-US" sz="1050" dirty="0"/>
              <a:t>(changed=False)</a:t>
            </a:r>
          </a:p>
          <a:p>
            <a:endParaRPr lang="en-US" sz="1050" dirty="0"/>
          </a:p>
          <a:p>
            <a:r>
              <a:rPr lang="en-US" sz="1050" dirty="0"/>
              <a:t>    with open(</a:t>
            </a:r>
            <a:r>
              <a:rPr lang="en-US" sz="1050" dirty="0" err="1"/>
              <a:t>file_path</a:t>
            </a:r>
            <a:r>
              <a:rPr lang="en-US" sz="1050" dirty="0"/>
              <a:t>, 'w') as f:</a:t>
            </a:r>
          </a:p>
          <a:p>
            <a:r>
              <a:rPr lang="en-US" sz="1050" dirty="0"/>
              <a:t>        </a:t>
            </a:r>
            <a:r>
              <a:rPr lang="en-US" sz="1050" dirty="0" err="1"/>
              <a:t>f.write</a:t>
            </a:r>
            <a:r>
              <a:rPr lang="en-US" sz="1050" dirty="0"/>
              <a:t>(</a:t>
            </a:r>
            <a:r>
              <a:rPr lang="en-US" sz="1050" dirty="0" err="1"/>
              <a:t>new_content</a:t>
            </a:r>
            <a:r>
              <a:rPr lang="en-US" sz="1050" dirty="0"/>
              <a:t>)</a:t>
            </a:r>
          </a:p>
          <a:p>
            <a:endParaRPr lang="en-US" sz="1050" dirty="0"/>
          </a:p>
          <a:p>
            <a:r>
              <a:rPr lang="en-US" sz="1050" dirty="0"/>
              <a:t>    </a:t>
            </a:r>
            <a:r>
              <a:rPr lang="en-US" sz="1050" dirty="0" err="1"/>
              <a:t>module.exit_json</a:t>
            </a:r>
            <a:r>
              <a:rPr lang="en-US" sz="1050" dirty="0"/>
              <a:t>(changed=True)</a:t>
            </a:r>
          </a:p>
          <a:p>
            <a:endParaRPr lang="en-US" sz="1050" dirty="0"/>
          </a:p>
          <a:p>
            <a:r>
              <a:rPr lang="en-US" sz="1050" dirty="0"/>
              <a:t>if __name__ == '__main__':</a:t>
            </a:r>
          </a:p>
          <a:p>
            <a:r>
              <a:rPr lang="en-US" sz="1050" dirty="0"/>
              <a:t>    main()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0DF4E8-7CEF-7FA0-2CA5-1438A1F3B33A}"/>
              </a:ext>
            </a:extLst>
          </p:cNvPr>
          <p:cNvSpPr txBox="1"/>
          <p:nvPr/>
        </p:nvSpPr>
        <p:spPr>
          <a:xfrm>
            <a:off x="5638800" y="2181493"/>
            <a:ext cx="3048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---</a:t>
            </a:r>
          </a:p>
          <a:p>
            <a:r>
              <a:rPr lang="en-US" dirty="0"/>
              <a:t>- name: Replace string in file</a:t>
            </a:r>
          </a:p>
          <a:p>
            <a:r>
              <a:rPr lang="en-US" dirty="0"/>
              <a:t>  </a:t>
            </a:r>
            <a:r>
              <a:rPr lang="en-US" dirty="0" err="1"/>
              <a:t>replace_in_file</a:t>
            </a:r>
            <a:r>
              <a:rPr lang="en-US" dirty="0"/>
              <a:t>:</a:t>
            </a:r>
          </a:p>
          <a:p>
            <a:r>
              <a:rPr lang="en-US" dirty="0"/>
              <a:t>    find: '</a:t>
            </a:r>
            <a:r>
              <a:rPr lang="en-US" dirty="0" err="1"/>
              <a:t>old_string</a:t>
            </a:r>
            <a:r>
              <a:rPr lang="en-US" dirty="0"/>
              <a:t>'</a:t>
            </a:r>
          </a:p>
          <a:p>
            <a:r>
              <a:rPr lang="en-US" dirty="0"/>
              <a:t>    replace: '</a:t>
            </a:r>
            <a:r>
              <a:rPr lang="en-US" dirty="0" err="1"/>
              <a:t>new_string</a:t>
            </a:r>
            <a:r>
              <a:rPr lang="en-US" dirty="0"/>
              <a:t>'</a:t>
            </a:r>
          </a:p>
          <a:p>
            <a:r>
              <a:rPr lang="en-US" dirty="0"/>
              <a:t>    file: '/path/to/file.txt'</a:t>
            </a:r>
          </a:p>
        </p:txBody>
      </p:sp>
    </p:spTree>
    <p:extLst>
      <p:ext uri="{BB962C8B-B14F-4D97-AF65-F5344CB8AC3E}">
        <p14:creationId xmlns:p14="http://schemas.microsoft.com/office/powerpoint/2010/main" val="2340361485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6CEFCD6-AE5F-0254-CADF-CD6B209A61BB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Cas concret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07FE212-E697-8CCB-6F67-D8BB697F25BC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Network tester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531E265-8C0E-323E-7207-CDE8EA4A0CC3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dirty="0">
                <a:solidFill>
                  <a:srgbClr val="00437A"/>
                </a:solidFill>
                <a:latin typeface="Open Sans" pitchFamily="18"/>
              </a:rPr>
              <a:t>Real-Life Example : Network tester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 i="0" u="none" strike="noStrike" cap="none" baseline="0" dirty="0">
              <a:ln>
                <a:noFill/>
              </a:ln>
              <a:solidFill>
                <a:srgbClr val="00437A"/>
              </a:solidFill>
              <a:latin typeface="Open Sans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298AD0A-EB85-D29E-F704-6167A83A0724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6A49AA-7FB2-3988-E28A-C676E2C69197}"/>
              </a:ext>
            </a:extLst>
          </p:cNvPr>
          <p:cNvSpPr txBox="1"/>
          <p:nvPr/>
        </p:nvSpPr>
        <p:spPr>
          <a:xfrm>
            <a:off x="864000" y="1296000"/>
            <a:ext cx="6452705" cy="29248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>
            <a:sp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0" i="0" dirty="0">
                <a:solidFill>
                  <a:srgbClr val="000000"/>
                </a:solidFill>
                <a:effectLst/>
                <a:latin typeface="futura"/>
              </a:rPr>
              <a:t>Objective: 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0" i="0" dirty="0">
                <a:solidFill>
                  <a:srgbClr val="000000"/>
                </a:solidFill>
                <a:effectLst/>
                <a:latin typeface="futura"/>
              </a:rPr>
              <a:t>Verify that network flows are open between two servers 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0" i="0" dirty="0">
                <a:solidFill>
                  <a:srgbClr val="000000"/>
                </a:solidFill>
                <a:effectLst/>
                <a:latin typeface="futura"/>
              </a:rPr>
              <a:t>Constraints: </a:t>
            </a:r>
          </a:p>
          <a:p>
            <a:pPr marL="285750" marR="0" lvl="0" indent="-28575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0" i="0" dirty="0">
                <a:solidFill>
                  <a:srgbClr val="000000"/>
                </a:solidFill>
                <a:effectLst/>
                <a:latin typeface="futura"/>
              </a:rPr>
              <a:t>The flow may be blocked by a firewall </a:t>
            </a:r>
          </a:p>
          <a:p>
            <a:pPr marL="285750" marR="0" lvl="0" indent="-28575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0" i="0" dirty="0">
                <a:solidFill>
                  <a:srgbClr val="000000"/>
                </a:solidFill>
                <a:effectLst/>
                <a:latin typeface="futura"/>
              </a:rPr>
              <a:t>The flow may be open, but no service is listening </a:t>
            </a:r>
          </a:p>
          <a:p>
            <a:pPr marL="285750" marR="0" lvl="0" indent="-28575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0" i="0" dirty="0">
                <a:solidFill>
                  <a:srgbClr val="000000"/>
                </a:solidFill>
                <a:effectLst/>
                <a:latin typeface="futura"/>
              </a:rPr>
              <a:t>The flow is defined by: </a:t>
            </a:r>
          </a:p>
          <a:p>
            <a:pPr marL="742950" lvl="1" indent="-285750" hangingPunct="0">
              <a:lnSpc>
                <a:spcPct val="93000"/>
              </a:lnSpc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0" i="0" dirty="0">
                <a:solidFill>
                  <a:srgbClr val="000000"/>
                </a:solidFill>
                <a:effectLst/>
                <a:latin typeface="futura"/>
              </a:rPr>
              <a:t>A source server </a:t>
            </a:r>
          </a:p>
          <a:p>
            <a:pPr marL="742950" lvl="1" indent="-285750" hangingPunct="0">
              <a:lnSpc>
                <a:spcPct val="93000"/>
              </a:lnSpc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0" i="0" dirty="0">
                <a:solidFill>
                  <a:srgbClr val="000000"/>
                </a:solidFill>
                <a:effectLst/>
                <a:latin typeface="futura"/>
              </a:rPr>
              <a:t>A destination server </a:t>
            </a:r>
          </a:p>
          <a:p>
            <a:pPr marL="742950" lvl="1" indent="-285750" hangingPunct="0">
              <a:lnSpc>
                <a:spcPct val="93000"/>
              </a:lnSpc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0" i="0" dirty="0">
                <a:solidFill>
                  <a:srgbClr val="000000"/>
                </a:solidFill>
                <a:effectLst/>
                <a:latin typeface="futura"/>
              </a:rPr>
              <a:t>A network protocol (TCP/UDP/HTTP) </a:t>
            </a:r>
          </a:p>
          <a:p>
            <a:pPr marL="742950" lvl="1" indent="-285750" hangingPunct="0">
              <a:lnSpc>
                <a:spcPct val="93000"/>
              </a:lnSpc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0" i="0" dirty="0">
                <a:solidFill>
                  <a:srgbClr val="000000"/>
                </a:solidFill>
                <a:effectLst/>
                <a:latin typeface="futura"/>
              </a:rPr>
              <a:t>A connection message </a:t>
            </a:r>
            <a:br>
              <a:rPr lang="en-US" dirty="0"/>
            </a:br>
            <a:endParaRPr lang="fr-FR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2843A3-AAE4-6448-560B-B77BE924839F}"/>
              </a:ext>
            </a:extLst>
          </p:cNvPr>
          <p:cNvSpPr txBox="1"/>
          <p:nvPr/>
        </p:nvSpPr>
        <p:spPr>
          <a:xfrm>
            <a:off x="3767933" y="457200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Schema de flux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D51512-FB6D-7E43-58B6-6EB5B44DC4EB}"/>
              </a:ext>
            </a:extLst>
          </p:cNvPr>
          <p:cNvSpPr/>
          <p:nvPr/>
        </p:nvSpPr>
        <p:spPr>
          <a:xfrm>
            <a:off x="1143000" y="3063688"/>
            <a:ext cx="1524000" cy="76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Source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305258-EBE5-5945-D943-4669BCE3C02B}"/>
              </a:ext>
            </a:extLst>
          </p:cNvPr>
          <p:cNvSpPr/>
          <p:nvPr/>
        </p:nvSpPr>
        <p:spPr>
          <a:xfrm>
            <a:off x="6400800" y="3063688"/>
            <a:ext cx="1524000" cy="76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Destination</a:t>
            </a:r>
          </a:p>
        </p:txBody>
      </p:sp>
      <p:sp>
        <p:nvSpPr>
          <p:cNvPr id="5" name="Flowchart: Summing Junction 4">
            <a:extLst>
              <a:ext uri="{FF2B5EF4-FFF2-40B4-BE49-F238E27FC236}">
                <a16:creationId xmlns:a16="http://schemas.microsoft.com/office/drawing/2014/main" id="{55A433E3-6F39-5240-69FF-1EBDE0CCC339}"/>
              </a:ext>
            </a:extLst>
          </p:cNvPr>
          <p:cNvSpPr/>
          <p:nvPr/>
        </p:nvSpPr>
        <p:spPr>
          <a:xfrm>
            <a:off x="4190999" y="1905000"/>
            <a:ext cx="762000" cy="762000"/>
          </a:xfrm>
          <a:prstGeom prst="flowChartSummingJunctio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Bent 5">
            <a:extLst>
              <a:ext uri="{FF2B5EF4-FFF2-40B4-BE49-F238E27FC236}">
                <a16:creationId xmlns:a16="http://schemas.microsoft.com/office/drawing/2014/main" id="{EBD80128-2DA0-D233-7358-0C951DD4F31F}"/>
              </a:ext>
            </a:extLst>
          </p:cNvPr>
          <p:cNvSpPr/>
          <p:nvPr/>
        </p:nvSpPr>
        <p:spPr>
          <a:xfrm>
            <a:off x="2057400" y="2057400"/>
            <a:ext cx="2133599" cy="1006288"/>
          </a:xfrm>
          <a:prstGeom prst="bentArrow">
            <a:avLst>
              <a:gd name="adj1" fmla="val 14310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Arrow: Bent 6">
            <a:extLst>
              <a:ext uri="{FF2B5EF4-FFF2-40B4-BE49-F238E27FC236}">
                <a16:creationId xmlns:a16="http://schemas.microsoft.com/office/drawing/2014/main" id="{1583521E-33A3-20DF-EF52-49DFAF800299}"/>
              </a:ext>
            </a:extLst>
          </p:cNvPr>
          <p:cNvSpPr/>
          <p:nvPr/>
        </p:nvSpPr>
        <p:spPr>
          <a:xfrm rot="5400000">
            <a:off x="5790639" y="1462931"/>
            <a:ext cx="839319" cy="2362200"/>
          </a:xfrm>
          <a:prstGeom prst="bentArrow">
            <a:avLst>
              <a:gd name="adj1" fmla="val 14310"/>
              <a:gd name="adj2" fmla="val 25000"/>
              <a:gd name="adj3" fmla="val 25000"/>
              <a:gd name="adj4" fmla="val 43750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D32E88D-EE9D-8AF1-08D4-A2607C1D44D3}"/>
              </a:ext>
            </a:extLst>
          </p:cNvPr>
          <p:cNvSpPr/>
          <p:nvPr/>
        </p:nvSpPr>
        <p:spPr>
          <a:xfrm>
            <a:off x="2658034" y="3322544"/>
            <a:ext cx="3733800" cy="2442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Top Corners Snipped 8">
            <a:extLst>
              <a:ext uri="{FF2B5EF4-FFF2-40B4-BE49-F238E27FC236}">
                <a16:creationId xmlns:a16="http://schemas.microsoft.com/office/drawing/2014/main" id="{11A07EA2-DD6D-2FFE-E0C0-04AF6D9423B9}"/>
              </a:ext>
            </a:extLst>
          </p:cNvPr>
          <p:cNvSpPr/>
          <p:nvPr/>
        </p:nvSpPr>
        <p:spPr>
          <a:xfrm>
            <a:off x="3429000" y="4800600"/>
            <a:ext cx="2438400" cy="1262244"/>
          </a:xfrm>
          <a:prstGeom prst="snip2SameRect">
            <a:avLst>
              <a:gd name="adj1" fmla="val 33180"/>
              <a:gd name="adj2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Management</a:t>
            </a:r>
          </a:p>
          <a:p>
            <a:pPr algn="ctr"/>
            <a:r>
              <a:rPr lang="en-US" dirty="0"/>
              <a:t>Ansible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16F8F7A-5725-A926-6843-6D111360E63C}"/>
              </a:ext>
            </a:extLst>
          </p:cNvPr>
          <p:cNvCxnSpPr/>
          <p:nvPr/>
        </p:nvCxnSpPr>
        <p:spPr>
          <a:xfrm flipV="1">
            <a:off x="5715000" y="3897868"/>
            <a:ext cx="1219200" cy="10551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ED96265-24EE-3451-9E1B-A67AD8E12150}"/>
              </a:ext>
            </a:extLst>
          </p:cNvPr>
          <p:cNvCxnSpPr>
            <a:cxnSpLocks/>
          </p:cNvCxnSpPr>
          <p:nvPr/>
        </p:nvCxnSpPr>
        <p:spPr>
          <a:xfrm flipH="1" flipV="1">
            <a:off x="2438400" y="3897868"/>
            <a:ext cx="1142999" cy="10551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544918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2843A3-AAE4-6448-560B-B77BE924839F}"/>
              </a:ext>
            </a:extLst>
          </p:cNvPr>
          <p:cNvSpPr txBox="1"/>
          <p:nvPr/>
        </p:nvSpPr>
        <p:spPr>
          <a:xfrm>
            <a:off x="381000" y="381000"/>
            <a:ext cx="1494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Decision TREE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8C988B6-9A55-D907-7887-4E424A5990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8497073"/>
              </p:ext>
            </p:extLst>
          </p:nvPr>
        </p:nvGraphicFramePr>
        <p:xfrm>
          <a:off x="609600" y="1397000"/>
          <a:ext cx="80772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013110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9411D36-E3CB-AA10-05B3-272B4FBF47B0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Cas concret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5CDD5A5-0319-9FC3-3720-5FD4C9F1D56A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D4220F-3633-BDB0-F7EF-6C455E8686DE}"/>
              </a:ext>
            </a:extLst>
          </p:cNvPr>
          <p:cNvSpPr txBox="1"/>
          <p:nvPr/>
        </p:nvSpPr>
        <p:spPr>
          <a:xfrm>
            <a:off x="864000" y="1296000"/>
            <a:ext cx="11498040" cy="286020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>
            <a:sp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1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Données d’entrée 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2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matrix: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- {SRC: 192.0.2.218, DST: 192.0.2.219, Port: 2222, Proto: http, Message: 'http://127.0.0.1'}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- {SRC: 192.0.2.218, DST: 192.0.2.219, Port: 2222, Proto: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udp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, Message: 'test'}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- {SRC: 192.0.2.218, DST: 192.0.2.219, Port: 22, Proto: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tcp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, Message: 'test' }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2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Données de sortie 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matrix: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- {SRC: 192.0.2.218, DST: 192.0.2.219, Port: 2222, Proto: http,\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 Message: 'http://127.0.0.1',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Status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NO ACCESS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with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private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service, Result1: [], Result2: []}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- {SRC: 192.0.2.218, DST: 192.0.2.219, Port: 2222, Proto: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udp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,\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Message: 'test',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Status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OK, Result1: [], Result2: [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u'test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']}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- {SRC: 192.0.2.218, DST: 192.0.2.219, Port: 22, Proto: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tcp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,\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Message: 'test',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Status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OK, Result1: [u'SSH-2.0-OpenSSH_5.3',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u'Protocol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mismatch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.'], Result2: }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2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E87F63C-F7B3-97AA-7ECA-4AAD37948D1A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Cas concret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5956CBC-6069-9E9F-4C31-8D99BB6FB1F8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08337-6DDE-2086-7087-9DA7756B29A0}"/>
              </a:ext>
            </a:extLst>
          </p:cNvPr>
          <p:cNvSpPr txBox="1"/>
          <p:nvPr/>
        </p:nvSpPr>
        <p:spPr>
          <a:xfrm>
            <a:off x="864000" y="1296000"/>
            <a:ext cx="7518703" cy="2094633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>
            <a:sp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1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1) Check the SOURCE server </a:t>
            </a:r>
            <a:r>
              <a:rPr lang="fr-FR" sz="1400" b="1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is</a:t>
            </a:r>
            <a:r>
              <a:rPr lang="fr-FR" sz="1400" b="1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SSH </a:t>
            </a:r>
            <a:r>
              <a:rPr lang="fr-FR" sz="1400" b="1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reachable</a:t>
            </a:r>
            <a:endParaRPr lang="fr-FR" sz="1400" b="1" i="1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400" b="1" i="1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400" b="1" i="1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- </a:t>
            </a:r>
            <a:r>
              <a:rPr lang="fr-FR" sz="1400" b="0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name</a:t>
            </a:r>
            <a:r>
              <a:rPr lang="fr-FR" sz="1400" b="0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 SRC </a:t>
            </a:r>
            <a:r>
              <a:rPr lang="fr-FR" sz="1400" b="0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SSHabble</a:t>
            </a:r>
            <a:endParaRPr lang="fr-FR" sz="1400" b="0" i="1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fr-FR" sz="1400" b="0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wait_for</a:t>
            </a:r>
            <a:r>
              <a:rPr lang="fr-FR" sz="1400" b="0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host="{{</a:t>
            </a:r>
            <a:r>
              <a:rPr lang="fr-FR" sz="1400" b="0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Flux.SRC</a:t>
            </a:r>
            <a:r>
              <a:rPr lang="fr-FR" sz="1400" b="0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}}" port=22 state=</a:t>
            </a:r>
            <a:r>
              <a:rPr lang="fr-FR" sz="1400" b="0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started</a:t>
            </a:r>
            <a:r>
              <a:rPr lang="fr-FR" sz="1400" b="0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400" b="0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delay</a:t>
            </a:r>
            <a:r>
              <a:rPr lang="fr-FR" sz="1400" b="0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=0 timeout=1 </a:t>
            </a:r>
            <a:r>
              <a:rPr lang="fr-FR" sz="1400" b="0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connect_timeout</a:t>
            </a:r>
            <a:r>
              <a:rPr lang="fr-FR" sz="1400" b="0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=1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fr-FR" sz="1400" b="0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register</a:t>
            </a:r>
            <a:r>
              <a:rPr lang="fr-FR" sz="1400" b="0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</a:t>
            </a:r>
            <a:r>
              <a:rPr lang="fr-FR" sz="1400" b="0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SRC_test</a:t>
            </a:r>
            <a:endParaRPr lang="fr-FR" sz="1400" b="0" i="1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fr-FR" sz="1400" b="0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rescue</a:t>
            </a:r>
            <a:r>
              <a:rPr lang="fr-FR" sz="1400" b="0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- </a:t>
            </a:r>
            <a:r>
              <a:rPr lang="fr-FR" sz="1400" b="0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name</a:t>
            </a:r>
            <a:r>
              <a:rPr lang="fr-FR" sz="1400" b="0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SRC not </a:t>
            </a:r>
            <a:r>
              <a:rPr lang="fr-FR" sz="1400" b="0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SSHable</a:t>
            </a:r>
            <a:endParaRPr lang="fr-FR" sz="1400" b="0" i="1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fr-FR" sz="1400" b="0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set_fact</a:t>
            </a:r>
            <a:r>
              <a:rPr lang="fr-FR" sz="1400" b="0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</a:t>
            </a:r>
            <a:r>
              <a:rPr lang="fr-FR" sz="1400" b="0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result</a:t>
            </a:r>
            <a:r>
              <a:rPr lang="fr-FR" sz="1400" b="0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="SRC ERROR"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BBBB305-1DE7-7BD0-31C2-1F827E5A2640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Cas concret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AE09296-5868-DE92-3DBC-B0FB522348CE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D34595-2658-3B74-64A0-4BEF724423CB}"/>
              </a:ext>
            </a:extLst>
          </p:cNvPr>
          <p:cNvSpPr txBox="1"/>
          <p:nvPr/>
        </p:nvSpPr>
        <p:spPr>
          <a:xfrm>
            <a:off x="864000" y="1296000"/>
            <a:ext cx="7725490" cy="1521912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>
            <a:sp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1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2) Check Connectivity </a:t>
            </a:r>
            <a:r>
              <a:rPr lang="fr-FR" sz="1400" b="1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from</a:t>
            </a:r>
            <a:r>
              <a:rPr lang="fr-FR" sz="1400" b="1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SOURCE to DESTINATION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400" b="1" i="1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-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name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1st test TCP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sockClient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BindIP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="{{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Flux.DST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}}" Port="{{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Flux.Port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}}" Protocol="{{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Flux.Proto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}}" Message="{{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Flux.Message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}}"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register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test1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delegate_to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"{{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Flux.SRC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}}"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remote_user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ansible_user</a:t>
            </a:r>
            <a:endParaRPr lang="fr-FR" sz="12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2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E3EFC20-92FF-D85D-6EDE-1A832D7082CD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Cas concret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50EC778-C309-093B-D4D9-80D7620A2450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53DD55-6058-5A83-DAF0-09B157095943}"/>
              </a:ext>
            </a:extLst>
          </p:cNvPr>
          <p:cNvSpPr txBox="1"/>
          <p:nvPr/>
        </p:nvSpPr>
        <p:spPr>
          <a:xfrm>
            <a:off x="864000" y="1296000"/>
            <a:ext cx="6789336" cy="2896134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>
            <a:spAutoFit/>
          </a:bodyPr>
          <a:lstStyle/>
          <a:p>
            <a:pPr hangingPunct="0">
              <a:lnSpc>
                <a:spcPct val="93000"/>
              </a:lnSpc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1" i="1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3</a:t>
            </a:r>
            <a:r>
              <a:rPr lang="fr-FR" sz="1400" b="1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) </a:t>
            </a:r>
            <a:r>
              <a:rPr lang="fr-FR" sz="14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No Connectivity: check </a:t>
            </a:r>
            <a:r>
              <a:rPr lang="fr-FR" sz="14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that</a:t>
            </a:r>
            <a:r>
              <a:rPr lang="fr-FR" sz="14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DESTINATION server </a:t>
            </a:r>
            <a:r>
              <a:rPr lang="fr-FR" sz="14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is</a:t>
            </a:r>
            <a:r>
              <a:rPr lang="fr-FR" sz="14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SSH </a:t>
            </a:r>
            <a:r>
              <a:rPr lang="fr-FR" sz="14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reachable</a:t>
            </a:r>
            <a:endParaRPr lang="fr-FR" sz="1400" b="1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400" b="1" i="1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4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##### SRC </a:t>
            </a:r>
            <a:r>
              <a:rPr lang="fr-FR" sz="14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is</a:t>
            </a: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4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SSHable</a:t>
            </a: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and DST Port not open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  - </a:t>
            </a:r>
            <a:r>
              <a:rPr lang="fr-FR" sz="14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name</a:t>
            </a: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test </a:t>
            </a:r>
            <a:r>
              <a:rPr lang="fr-FR" sz="14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remote</a:t>
            </a: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SSH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    </a:t>
            </a:r>
            <a:r>
              <a:rPr lang="fr-FR" sz="14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wait_for</a:t>
            </a: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host="{{</a:t>
            </a:r>
            <a:r>
              <a:rPr lang="fr-FR" sz="14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Flux.DST|default</a:t>
            </a: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(</a:t>
            </a:r>
            <a:r>
              <a:rPr lang="fr-FR" sz="14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Flux.DST</a:t>
            </a: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)}}" port=22  state=</a:t>
            </a:r>
            <a:r>
              <a:rPr lang="fr-FR" sz="14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started</a:t>
            </a: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4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delay</a:t>
            </a: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=0</a:t>
            </a:r>
            <a:b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</a:b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timeout=1 </a:t>
            </a:r>
            <a:r>
              <a:rPr lang="fr-FR" sz="14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connect_timeout</a:t>
            </a: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=1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  - </a:t>
            </a:r>
            <a:r>
              <a:rPr lang="fr-FR" sz="14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name</a:t>
            </a: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DST Port not </a:t>
            </a:r>
            <a:r>
              <a:rPr lang="fr-FR" sz="14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reachable</a:t>
            </a:r>
            <a:endParaRPr lang="fr-FR" sz="14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    </a:t>
            </a:r>
            <a:r>
              <a:rPr lang="fr-FR" sz="14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set_fact</a:t>
            </a: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</a:t>
            </a:r>
            <a:r>
              <a:rPr lang="fr-FR" sz="14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result</a:t>
            </a: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="PORT CLOSED"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4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  </a:t>
            </a:r>
            <a:r>
              <a:rPr lang="fr-FR" sz="14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rescue</a:t>
            </a: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    - </a:t>
            </a:r>
            <a:r>
              <a:rPr lang="fr-FR" sz="14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name</a:t>
            </a: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DST not </a:t>
            </a:r>
            <a:r>
              <a:rPr lang="fr-FR" sz="14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SSHable</a:t>
            </a:r>
            <a:endParaRPr lang="fr-FR" sz="14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      </a:t>
            </a:r>
            <a:r>
              <a:rPr lang="fr-FR" sz="14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set_fact</a:t>
            </a: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</a:t>
            </a:r>
            <a:r>
              <a:rPr lang="fr-FR" sz="14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result</a:t>
            </a:r>
            <a:r>
              <a:rPr lang="fr-FR" sz="14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="DST ERROR"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12B249D-55D1-01E4-245C-61C489FB2211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Cas concret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3D40ACA-F003-5EF9-9FDA-3D3EFF199974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1974E4-93F8-5537-E708-BB60D6E0C3A9}"/>
              </a:ext>
            </a:extLst>
          </p:cNvPr>
          <p:cNvSpPr txBox="1"/>
          <p:nvPr/>
        </p:nvSpPr>
        <p:spPr>
          <a:xfrm>
            <a:off x="864000" y="1296000"/>
            <a:ext cx="7725490" cy="426933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>
            <a:sp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1" i="1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4</a:t>
            </a:r>
            <a:r>
              <a:rPr lang="fr-FR" sz="1400" b="1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) Check </a:t>
            </a:r>
            <a:r>
              <a:rPr lang="fr-FR" sz="1400" b="1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connectivity</a:t>
            </a:r>
            <a:r>
              <a:rPr lang="fr-FR" sz="1400" b="1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400" b="1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with</a:t>
            </a:r>
            <a:r>
              <a:rPr lang="fr-FR" sz="1400" b="1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400" b="1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our</a:t>
            </a:r>
            <a:r>
              <a:rPr lang="fr-FR" sz="1400" b="1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module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400" b="1" i="1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-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name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setup new server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sockServer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Port="{{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Flux.BACKENDPort|default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(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Flux.Port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)}}" Protocol="{{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Flux.Proto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}}"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async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10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delegate_to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"{{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Flux.BACKEND|default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(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Flux.DST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)}}"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remote_user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ansible_user</a:t>
            </a:r>
            <a:endParaRPr lang="fr-FR" sz="12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become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true</a:t>
            </a:r>
            <a:endParaRPr lang="fr-FR" sz="12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become_user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root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2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-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name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2nd test TCP local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#script: templates/sockClient.py "{{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Flux.DST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}}" "{{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Flux.Port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}}" "{{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Flux.Proto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}}" "toto"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sockClient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BindIP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="{{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Flux.DST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}}" Port="{{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Flux.Port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}}" Protocol="{{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Flux.Proto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}}" Message="{{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Flux.Message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}}"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delegate_to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"{{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Flux.SRC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}}"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register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test2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remote_user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ansible_user</a:t>
            </a:r>
            <a:endParaRPr lang="fr-FR" sz="12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2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-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name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setting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result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OK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set_fact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result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="OK"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20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1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5</a:t>
            </a:r>
            <a:r>
              <a:rPr lang="fr-FR" sz="12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) No </a:t>
            </a:r>
            <a:r>
              <a:rPr lang="fr-FR" sz="12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connection</a:t>
            </a:r>
            <a:r>
              <a:rPr lang="fr-FR" sz="12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the network </a:t>
            </a:r>
            <a:r>
              <a:rPr lang="fr-FR" sz="12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is</a:t>
            </a:r>
            <a:r>
              <a:rPr lang="fr-FR" sz="12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200" b="1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firewalled</a:t>
            </a:r>
            <a:r>
              <a:rPr lang="fr-FR" sz="1200" b="1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 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200" b="1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-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name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setting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result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ERROR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set_fact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result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="NO ACCESS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with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20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private</a:t>
            </a:r>
            <a:r>
              <a:rPr lang="fr-FR" sz="120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service"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5493CFB-CABE-22B9-3577-F7E9E92078FD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Cas concret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D47895-DCB2-1FA9-CAA9-5ABE7CB559EB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207971-E331-76E9-D616-383A752BA120}"/>
              </a:ext>
            </a:extLst>
          </p:cNvPr>
          <p:cNvSpPr txBox="1"/>
          <p:nvPr/>
        </p:nvSpPr>
        <p:spPr>
          <a:xfrm>
            <a:off x="864000" y="1296000"/>
            <a:ext cx="8172728" cy="1343338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>
            <a:spAutoFit/>
          </a:bodyPr>
          <a:lstStyle/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400" b="1" i="1" dirty="0"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6</a:t>
            </a:r>
            <a:r>
              <a:rPr lang="fr-FR" sz="1400" b="1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) Update the file matrix </a:t>
            </a:r>
            <a:r>
              <a:rPr lang="fr-FR" sz="1400" b="1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with</a:t>
            </a:r>
            <a:r>
              <a:rPr lang="fr-FR" sz="1400" b="1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the </a:t>
            </a:r>
            <a:r>
              <a:rPr lang="fr-FR" sz="1400" b="1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resulting</a:t>
            </a:r>
            <a:r>
              <a:rPr lang="fr-FR" sz="1400" b="1" i="1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400" b="1" i="1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status</a:t>
            </a:r>
            <a:endParaRPr lang="fr-FR" sz="1400" b="1" i="1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05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- </a:t>
            </a:r>
            <a:r>
              <a:rPr lang="fr-FR" sz="105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name</a:t>
            </a:r>
            <a:r>
              <a:rPr lang="fr-FR" sz="105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 </a:t>
            </a:r>
            <a:r>
              <a:rPr lang="fr-FR" sz="105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save</a:t>
            </a:r>
            <a:r>
              <a:rPr lang="fr-FR" sz="105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</a:t>
            </a:r>
            <a:r>
              <a:rPr lang="fr-FR" sz="105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result</a:t>
            </a:r>
            <a:endParaRPr lang="fr-FR" sz="105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05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</a:t>
            </a:r>
            <a:r>
              <a:rPr lang="fr-FR" sz="105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lineinfile</a:t>
            </a:r>
            <a:r>
              <a:rPr lang="fr-FR" sz="105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: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05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fr-FR" sz="105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dest</a:t>
            </a:r>
            <a:r>
              <a:rPr lang="fr-FR" sz="105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="{{</a:t>
            </a:r>
            <a:r>
              <a:rPr lang="fr-FR" sz="105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inventory</a:t>
            </a:r>
            <a:r>
              <a:rPr lang="fr-FR" sz="105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}}"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05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</a:t>
            </a:r>
            <a:r>
              <a:rPr lang="fr-FR" sz="105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regexp</a:t>
            </a:r>
            <a:r>
              <a:rPr lang="fr-FR" sz="105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="(?! .#)(?!.*BACKEND.*)( {{Flux.SRC}},.* {{Flux.DST}},.* {{Flux.Port}},.* {{</a:t>
            </a:r>
            <a:r>
              <a:rPr lang="fr-FR" sz="105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Flux.Proto</a:t>
            </a:r>
            <a:r>
              <a:rPr lang="fr-FR" sz="105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}},.*{{</a:t>
            </a:r>
            <a:r>
              <a:rPr lang="fr-FR" sz="105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Flux.Message</a:t>
            </a:r>
            <a:r>
              <a:rPr lang="fr-FR" sz="105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}}.*)$"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fr-FR" sz="105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   line="  - {SRC{{":"}} {{</a:t>
            </a:r>
            <a:r>
              <a:rPr lang="fr-FR" sz="105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Flux.SRC</a:t>
            </a:r>
            <a:r>
              <a:rPr lang="fr-FR" sz="105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}}, DST{{":"}} {{</a:t>
            </a:r>
            <a:r>
              <a:rPr lang="fr-FR" sz="105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Flux.DST</a:t>
            </a:r>
            <a:r>
              <a:rPr lang="fr-FR" sz="105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}}, Port{{":"}} {{</a:t>
            </a:r>
            <a:r>
              <a:rPr lang="fr-FR" sz="105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Flux.Port</a:t>
            </a:r>
            <a:r>
              <a:rPr lang="fr-FR" sz="105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}}, Proto{{":"}} {{</a:t>
            </a:r>
            <a:r>
              <a:rPr lang="fr-FR" sz="105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Flux.Proto</a:t>
            </a:r>
            <a:r>
              <a:rPr lang="fr-FR" sz="105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}}, Message{{":"}}</a:t>
            </a:r>
            <a:br>
              <a:rPr lang="fr-FR" sz="105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</a:br>
            <a:r>
              <a:rPr lang="fr-FR" sz="105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 '{{</a:t>
            </a:r>
            <a:r>
              <a:rPr lang="fr-FR" sz="105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Flux.Message</a:t>
            </a:r>
            <a:r>
              <a:rPr lang="fr-FR" sz="105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}}', </a:t>
            </a:r>
            <a:r>
              <a:rPr lang="fr-FR" sz="105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Status</a:t>
            </a:r>
            <a:r>
              <a:rPr lang="fr-FR" sz="105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{{":"}} {{</a:t>
            </a:r>
            <a:r>
              <a:rPr lang="fr-FR" sz="1050" b="0" i="0" u="none" strike="noStrike" cap="none" baseline="0" dirty="0" err="1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result</a:t>
            </a:r>
            <a:r>
              <a:rPr lang="fr-FR" sz="1050" b="0" i="0" u="none" strike="noStrike" cap="none" baseline="0" dirty="0">
                <a:ln>
                  <a:noFill/>
                </a:ln>
                <a:solidFill>
                  <a:srgbClr val="000000"/>
                </a:solidFill>
                <a:latin typeface="Arial" pitchFamily="18"/>
                <a:ea typeface="WenQuanYi Zen Hei Sharp" pitchFamily="2"/>
                <a:cs typeface="WenQuanYi Zen Hei Sharp" pitchFamily="2"/>
              </a:rPr>
              <a:t>}}, Result1{{":"}} {{test1.stdout_lines|default("")}}, Result2{{":"}} {{test2.stdout_lines|default("")}}}"</a:t>
            </a:r>
          </a:p>
          <a:p>
            <a:pPr marL="0" marR="0" lvl="0" indent="0" algn="l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fr-FR" sz="1050" b="0" i="0" u="none" strike="noStrike" cap="none" baseline="0" dirty="0">
              <a:ln>
                <a:noFill/>
              </a:ln>
              <a:solidFill>
                <a:srgbClr val="000000"/>
              </a:solidFill>
              <a:latin typeface="Arial" pitchFamily="18"/>
              <a:ea typeface="WenQuanYi Zen Hei Sharp" pitchFamily="2"/>
              <a:cs typeface="WenQuanYi Zen Hei Sharp" pitchFamily="2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F3793-A7E6-E002-CED7-71288A5F3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dirty="0"/>
              <a:t>Tasks, Playbooks and Roles MUST be idempotent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dirty="0"/>
              <a:t>Name all plays and tasks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/>
              <a:t>Think that your plays are to be run for ALL hosts with control by LIMITS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>
                <a:highlight>
                  <a:srgbClr val="FFFF00"/>
                </a:highlight>
              </a:rPr>
              <a:t>Split your playbook into plays or roles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>
                <a:highlight>
                  <a:srgbClr val="FFFF00"/>
                </a:highlight>
              </a:rPr>
              <a:t>Use master playbook and include subsequent other playbooks and roles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>
                <a:highlight>
                  <a:srgbClr val="FFFF00"/>
                </a:highlight>
              </a:rPr>
              <a:t>Prefer jinja templates instead of file change</a:t>
            </a:r>
            <a:endParaRPr lang="en-US" sz="900" dirty="0">
              <a:highlight>
                <a:srgbClr val="FFFF00"/>
              </a:highlight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highlight>
                  <a:srgbClr val="FFFF00"/>
                </a:highlight>
              </a:rPr>
              <a:t>Add tags to task to be able to run only part of large and complex playbook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highlight>
                  <a:srgbClr val="FFFF00"/>
                </a:highlight>
              </a:rPr>
              <a:t>Link role instead of copy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highlight>
                  <a:srgbClr val="FFFF00"/>
                </a:highlight>
              </a:rPr>
              <a:t>Git playbooks and roles independently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dirty="0"/>
              <a:t>Lint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highlight>
                  <a:srgbClr val="FFFF00"/>
                </a:highlight>
              </a:rPr>
              <a:t>Galaxy NG/ automation hub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D4980-6D12-1B67-FFF6-2542EB4C04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57250"/>
            <a:ext cx="0" cy="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4" name="AutoShape 2" descr="Control your content with private Automation Hub">
            <a:extLst>
              <a:ext uri="{FF2B5EF4-FFF2-40B4-BE49-F238E27FC236}">
                <a16:creationId xmlns:a16="http://schemas.microsoft.com/office/drawing/2014/main" id="{30197ACA-6667-0FF2-66D6-5C80349DDB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314700"/>
            <a:ext cx="1624637" cy="162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243444316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6CEFCD6-AE5F-0254-CADF-CD6B209A61BB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Cas concret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07FE212-E697-8CCB-6F67-D8BB697F25BC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BEST PRACTICES</a:t>
            </a:r>
          </a:p>
        </p:txBody>
      </p:sp>
    </p:spTree>
    <p:extLst>
      <p:ext uri="{BB962C8B-B14F-4D97-AF65-F5344CB8AC3E}">
        <p14:creationId xmlns:p14="http://schemas.microsoft.com/office/powerpoint/2010/main" val="3736792099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F3793-A7E6-E002-CED7-71288A5F3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/>
              <a:t>Use self explanatory name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/>
              <a:t>Prefix the name with the role name to avoid collision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50" dirty="0"/>
              <a:t>Role1_http_port=80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/>
              <a:t>Prefix the internal used vars with ‘_’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50" dirty="0"/>
              <a:t>_Role1_websocket_port="{{ Role1_http_port + 10 }}"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/>
              <a:t>Define default extra vars  values in vars file or default/</a:t>
            </a:r>
            <a:r>
              <a:rPr lang="en-US" sz="1600" dirty="0" err="1"/>
              <a:t>main.yml</a:t>
            </a:r>
            <a:r>
              <a:rPr lang="en-US" sz="1600" dirty="0"/>
              <a:t> for roles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50" dirty="0"/>
              <a:t>_ Default_Role1_http_port ="8080"</a:t>
            </a:r>
            <a:endParaRPr lang="en-US" altLang="en-US" sz="105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Define the internal used extra var based on default and provided value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50" dirty="0"/>
              <a:t>_ Role1_http_port ="{{ Role1_http_port | default(_ Default_Role1_http_port ) }}"</a:t>
            </a:r>
          </a:p>
          <a:p>
            <a:pPr marL="3429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dirty="0">
              <a:solidFill>
                <a:srgbClr val="404040"/>
              </a:solidFill>
              <a:latin typeface="SFMono-Regular"/>
            </a:endParaRPr>
          </a:p>
          <a:p>
            <a:pPr marL="3429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D4980-6D12-1B67-FFF6-2542EB4C04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57251"/>
            <a:ext cx="8686800" cy="75438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41414"/>
                </a:solidFill>
                <a:latin typeface="Red Hat Display"/>
              </a:rPr>
              <a:t>extra vars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868961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F3793-A7E6-E002-CED7-71288A5F3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524000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Control vars integrity at beginning of playbook / Role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50" dirty="0">
                <a:solidFill>
                  <a:srgbClr val="404040"/>
                </a:solidFill>
                <a:latin typeface="SFMono-Regular"/>
              </a:rPr>
              <a:t>-</a:t>
            </a:r>
            <a:r>
              <a:rPr lang="en-US" altLang="en-US" sz="1050" b="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1050" dirty="0">
                <a:solidFill>
                  <a:srgbClr val="22863A"/>
                </a:solidFill>
                <a:latin typeface="SFMono-Regular"/>
              </a:rPr>
              <a:t>name</a:t>
            </a:r>
            <a:r>
              <a:rPr lang="en-US" altLang="en-US" sz="1050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1050" b="0" dirty="0">
                <a:solidFill>
                  <a:srgbClr val="BBBBBB"/>
                </a:solidFill>
                <a:latin typeface="SFMono-Regular"/>
              </a:rPr>
              <a:t> _</a:t>
            </a:r>
            <a:r>
              <a:rPr lang="en-US" altLang="en-US" sz="1050" b="0" dirty="0" err="1">
                <a:solidFill>
                  <a:srgbClr val="032F62"/>
                </a:solidFill>
                <a:latin typeface="SFMono-Regular"/>
              </a:rPr>
              <a:t>my_param</a:t>
            </a:r>
            <a:r>
              <a:rPr lang="en-US" altLang="en-US" sz="1050" b="0" dirty="0">
                <a:solidFill>
                  <a:srgbClr val="032F62"/>
                </a:solidFill>
                <a:latin typeface="SFMono-Regular"/>
              </a:rPr>
              <a:t> must be less than 100</a:t>
            </a:r>
            <a:endParaRPr lang="en-US" altLang="en-US" sz="1050" b="0" dirty="0">
              <a:solidFill>
                <a:srgbClr val="404040"/>
              </a:solidFill>
              <a:latin typeface="SFMono-Regular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50" dirty="0">
                <a:solidFill>
                  <a:srgbClr val="22863A"/>
                </a:solidFill>
                <a:latin typeface="SFMono-Regular"/>
              </a:rPr>
              <a:t>  </a:t>
            </a:r>
            <a:r>
              <a:rPr lang="en-US" altLang="en-US" sz="1050" dirty="0" err="1">
                <a:solidFill>
                  <a:srgbClr val="22863A"/>
                </a:solidFill>
                <a:latin typeface="SFMono-Regular"/>
              </a:rPr>
              <a:t>ansible.builtin.assert</a:t>
            </a:r>
            <a:r>
              <a:rPr lang="en-US" altLang="en-US" sz="1050" dirty="0">
                <a:solidFill>
                  <a:srgbClr val="404040"/>
                </a:solidFill>
                <a:latin typeface="SFMono-Regular"/>
              </a:rPr>
              <a:t>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50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1050" b="0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1050" dirty="0">
                <a:solidFill>
                  <a:srgbClr val="22863A"/>
                </a:solidFill>
                <a:latin typeface="SFMono-Regular"/>
              </a:rPr>
              <a:t>that</a:t>
            </a:r>
            <a:r>
              <a:rPr lang="en-US" altLang="en-US" sz="1050" dirty="0">
                <a:solidFill>
                  <a:srgbClr val="404040"/>
                </a:solidFill>
                <a:latin typeface="SFMono-Regular"/>
              </a:rPr>
              <a:t>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50" b="0" dirty="0">
                <a:solidFill>
                  <a:srgbClr val="404040"/>
                </a:solidFill>
                <a:latin typeface="SFMono-Regular"/>
              </a:rPr>
              <a:t>    </a:t>
            </a:r>
            <a:r>
              <a:rPr lang="en-US" altLang="en-US" sz="1050" dirty="0">
                <a:solidFill>
                  <a:srgbClr val="404040"/>
                </a:solidFill>
                <a:latin typeface="SFMono-Regular"/>
              </a:rPr>
              <a:t>-</a:t>
            </a:r>
            <a:r>
              <a:rPr lang="en-US" altLang="en-US" sz="1050" b="0" dirty="0">
                <a:solidFill>
                  <a:srgbClr val="BBBBBB"/>
                </a:solidFill>
                <a:latin typeface="SFMono-Regular"/>
              </a:rPr>
              <a:t> _</a:t>
            </a:r>
            <a:r>
              <a:rPr lang="en-US" altLang="en-US" sz="1050" b="0" dirty="0" err="1">
                <a:solidFill>
                  <a:srgbClr val="032F62"/>
                </a:solidFill>
                <a:latin typeface="SFMono-Regular"/>
              </a:rPr>
              <a:t>my_param</a:t>
            </a:r>
            <a:r>
              <a:rPr lang="en-US" altLang="en-US" sz="1050" b="0" dirty="0">
                <a:solidFill>
                  <a:srgbClr val="032F62"/>
                </a:solidFill>
                <a:latin typeface="SFMono-Regular"/>
              </a:rPr>
              <a:t> &lt;= 100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50" dirty="0">
                <a:solidFill>
                  <a:srgbClr val="032F62"/>
                </a:solidFill>
                <a:latin typeface="SFMono-Regular"/>
              </a:rPr>
              <a:t>   </a:t>
            </a:r>
            <a:r>
              <a:rPr lang="en-US" altLang="en-US" sz="1050" b="0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1050" dirty="0">
                <a:solidFill>
                  <a:srgbClr val="404040"/>
                </a:solidFill>
                <a:latin typeface="SFMono-Regular"/>
              </a:rPr>
              <a:t>-</a:t>
            </a:r>
            <a:r>
              <a:rPr lang="en-US" altLang="en-US" sz="1050" b="0" dirty="0">
                <a:solidFill>
                  <a:srgbClr val="BBBBBB"/>
                </a:solidFill>
                <a:latin typeface="SFMono-Regular"/>
              </a:rPr>
              <a:t> _</a:t>
            </a:r>
            <a:r>
              <a:rPr lang="en-US" altLang="en-US" sz="1050" b="0" dirty="0" err="1">
                <a:solidFill>
                  <a:srgbClr val="032F62"/>
                </a:solidFill>
                <a:latin typeface="SFMono-Regular"/>
              </a:rPr>
              <a:t>my_param</a:t>
            </a:r>
            <a:r>
              <a:rPr lang="en-US" altLang="en-US" sz="1050" b="0" dirty="0">
                <a:solidFill>
                  <a:srgbClr val="032F62"/>
                </a:solidFill>
                <a:latin typeface="SFMono-Regular"/>
              </a:rPr>
              <a:t> &gt;= 0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50" b="0" dirty="0">
                <a:solidFill>
                  <a:srgbClr val="404040"/>
                </a:solidFill>
                <a:latin typeface="SFMono-Regular"/>
              </a:rPr>
              <a:t>   fail_msg: "'my_param'= {{ _my_var }} must be between 0 and 100"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50" dirty="0">
                <a:solidFill>
                  <a:srgbClr val="4070A0"/>
                </a:solidFill>
                <a:latin typeface="SFMono-Regular"/>
              </a:rPr>
              <a:t>   success_msg: "'my_param' '= {{ _my_var }} is between 0 and 100"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050" b="0" dirty="0">
              <a:solidFill>
                <a:srgbClr val="404040"/>
              </a:solidFill>
              <a:latin typeface="SFMono-Regular"/>
            </a:endParaRPr>
          </a:p>
          <a:p>
            <a:pPr marL="3429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D4980-6D12-1B67-FFF6-2542EB4C04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57249"/>
            <a:ext cx="8686800" cy="75438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41414"/>
                </a:solidFill>
                <a:latin typeface="Red Hat Display"/>
              </a:rPr>
              <a:t>extra vars integrity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C2566-27FF-50F5-BFDE-1D5E913A2A2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5624513"/>
            <a:ext cx="2133600" cy="273844"/>
          </a:xfrm>
        </p:spPr>
        <p:txBody>
          <a:bodyPr/>
          <a:lstStyle/>
          <a:p>
            <a:fld id="{7048F631-2D74-437D-9509-32BA0A9A0C18}" type="slidenum">
              <a:rPr lang="en-US" smtClean="0"/>
              <a:t>196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6C35F8-0C3F-2E8B-F8FB-DBEE6DF7610D}"/>
              </a:ext>
            </a:extLst>
          </p:cNvPr>
          <p:cNvSpPr txBox="1"/>
          <p:nvPr/>
        </p:nvSpPr>
        <p:spPr>
          <a:xfrm>
            <a:off x="457200" y="3092043"/>
            <a:ext cx="4572852" cy="3516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8588" indent="-128588"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rgbClr val="00437A"/>
                </a:solidFill>
              </a:rPr>
              <a:t>Define vars integrity definition for roles:</a:t>
            </a:r>
          </a:p>
          <a:p>
            <a:endParaRPr lang="en-US" sz="1050" dirty="0"/>
          </a:p>
          <a:p>
            <a:r>
              <a:rPr lang="en-US" sz="1050" dirty="0"/>
              <a:t># roles/</a:t>
            </a:r>
            <a:r>
              <a:rPr lang="en-US" sz="1050" dirty="0" err="1"/>
              <a:t>myapp</a:t>
            </a:r>
            <a:r>
              <a:rPr lang="en-US" sz="1050" dirty="0"/>
              <a:t>/meta/</a:t>
            </a:r>
            <a:r>
              <a:rPr lang="en-US" sz="1050" dirty="0" err="1"/>
              <a:t>argument_specs.yml</a:t>
            </a:r>
            <a:endParaRPr lang="en-US" sz="1050" dirty="0"/>
          </a:p>
          <a:p>
            <a:r>
              <a:rPr lang="en-US" sz="1050" dirty="0"/>
              <a:t>---</a:t>
            </a:r>
          </a:p>
          <a:p>
            <a:r>
              <a:rPr lang="en-US" sz="1200" b="1" dirty="0" err="1">
                <a:solidFill>
                  <a:srgbClr val="22863A"/>
                </a:solidFill>
                <a:latin typeface="SFMono-Regular"/>
              </a:rPr>
              <a:t>argument_specs</a:t>
            </a:r>
            <a:r>
              <a:rPr lang="en-US" sz="1200" b="1" dirty="0">
                <a:solidFill>
                  <a:srgbClr val="22863A"/>
                </a:solidFill>
                <a:latin typeface="SFMono-Regular"/>
              </a:rPr>
              <a:t>:</a:t>
            </a:r>
          </a:p>
          <a:p>
            <a:r>
              <a:rPr lang="en-US" sz="1050" dirty="0"/>
              <a:t>  </a:t>
            </a:r>
            <a:r>
              <a:rPr lang="en-US" sz="1050" i="1" dirty="0"/>
              <a:t># roles/</a:t>
            </a:r>
            <a:r>
              <a:rPr lang="en-US" sz="1050" i="1" dirty="0" err="1"/>
              <a:t>myapp</a:t>
            </a:r>
            <a:r>
              <a:rPr lang="en-US" sz="1050" i="1" dirty="0"/>
              <a:t>/tasks/</a:t>
            </a:r>
            <a:r>
              <a:rPr lang="en-US" sz="1050" i="1" dirty="0" err="1"/>
              <a:t>main.yml</a:t>
            </a:r>
            <a:r>
              <a:rPr lang="en-US" sz="1050" i="1" dirty="0"/>
              <a:t> entry point</a:t>
            </a:r>
          </a:p>
          <a:p>
            <a:r>
              <a:rPr lang="en-US" sz="1050" dirty="0"/>
              <a:t>  </a:t>
            </a:r>
            <a:r>
              <a:rPr lang="en-US" sz="1200" b="1" dirty="0">
                <a:solidFill>
                  <a:srgbClr val="22863A"/>
                </a:solidFill>
                <a:latin typeface="SFMono-Regular"/>
              </a:rPr>
              <a:t>main</a:t>
            </a:r>
            <a:r>
              <a:rPr lang="en-US" sz="1050" dirty="0"/>
              <a:t>:</a:t>
            </a:r>
          </a:p>
          <a:p>
            <a:r>
              <a:rPr lang="en-US" sz="1050" dirty="0"/>
              <a:t>    </a:t>
            </a:r>
            <a:r>
              <a:rPr lang="en-US" sz="1200" b="1" dirty="0" err="1">
                <a:solidFill>
                  <a:srgbClr val="22863A"/>
                </a:solidFill>
                <a:latin typeface="SFMono-Regular"/>
              </a:rPr>
              <a:t>short_description</a:t>
            </a:r>
            <a:r>
              <a:rPr lang="en-US" sz="1050" dirty="0"/>
              <a:t>: The main entry point for the </a:t>
            </a:r>
            <a:r>
              <a:rPr lang="en-US" sz="1050" dirty="0" err="1"/>
              <a:t>myapp</a:t>
            </a:r>
            <a:r>
              <a:rPr lang="en-US" sz="1050" dirty="0"/>
              <a:t> role.</a:t>
            </a:r>
          </a:p>
          <a:p>
            <a:r>
              <a:rPr lang="en-US" sz="1050" dirty="0"/>
              <a:t>    </a:t>
            </a:r>
            <a:r>
              <a:rPr lang="en-US" sz="1200" b="1" dirty="0">
                <a:solidFill>
                  <a:srgbClr val="22863A"/>
                </a:solidFill>
                <a:latin typeface="SFMono-Regular"/>
              </a:rPr>
              <a:t>options</a:t>
            </a:r>
            <a:r>
              <a:rPr lang="en-US" sz="1050" dirty="0"/>
              <a:t>:</a:t>
            </a:r>
          </a:p>
          <a:p>
            <a:r>
              <a:rPr lang="en-US" sz="1050" dirty="0"/>
              <a:t>      </a:t>
            </a:r>
            <a:r>
              <a:rPr lang="en-US" sz="1200" b="1" dirty="0" err="1">
                <a:solidFill>
                  <a:srgbClr val="22863A"/>
                </a:solidFill>
                <a:latin typeface="SFMono-Regular"/>
              </a:rPr>
              <a:t>myapp_int</a:t>
            </a:r>
            <a:r>
              <a:rPr lang="en-US" sz="1050" dirty="0"/>
              <a:t>:</a:t>
            </a:r>
          </a:p>
          <a:p>
            <a:r>
              <a:rPr lang="en-US" sz="1050" dirty="0"/>
              <a:t>        </a:t>
            </a:r>
            <a:r>
              <a:rPr lang="en-US" sz="1200" b="1" dirty="0">
                <a:solidFill>
                  <a:srgbClr val="22863A"/>
                </a:solidFill>
                <a:latin typeface="SFMono-Regular"/>
              </a:rPr>
              <a:t>type</a:t>
            </a:r>
            <a:r>
              <a:rPr lang="en-US" sz="1050" dirty="0"/>
              <a:t>: "int"</a:t>
            </a:r>
          </a:p>
          <a:p>
            <a:r>
              <a:rPr lang="en-US" sz="1050" dirty="0"/>
              <a:t>        </a:t>
            </a:r>
            <a:r>
              <a:rPr lang="en-US" sz="1200" b="1" dirty="0">
                <a:solidFill>
                  <a:srgbClr val="22863A"/>
                </a:solidFill>
                <a:latin typeface="SFMono-Regular"/>
              </a:rPr>
              <a:t>required</a:t>
            </a:r>
            <a:r>
              <a:rPr lang="en-US" sz="1050" dirty="0"/>
              <a:t>: false</a:t>
            </a:r>
          </a:p>
          <a:p>
            <a:r>
              <a:rPr lang="en-US" sz="1050" dirty="0"/>
              <a:t>        </a:t>
            </a:r>
            <a:r>
              <a:rPr lang="en-US" sz="1200" b="1" dirty="0">
                <a:solidFill>
                  <a:srgbClr val="22863A"/>
                </a:solidFill>
                <a:latin typeface="SFMono-Regular"/>
              </a:rPr>
              <a:t>default</a:t>
            </a:r>
            <a:r>
              <a:rPr lang="en-US" sz="1050" dirty="0"/>
              <a:t>: 42</a:t>
            </a:r>
          </a:p>
          <a:p>
            <a:r>
              <a:rPr lang="en-US" sz="1050" dirty="0"/>
              <a:t>        </a:t>
            </a:r>
            <a:r>
              <a:rPr lang="en-US" sz="1200" b="1" dirty="0">
                <a:solidFill>
                  <a:srgbClr val="22863A"/>
                </a:solidFill>
                <a:latin typeface="SFMono-Regular"/>
              </a:rPr>
              <a:t>description</a:t>
            </a:r>
            <a:r>
              <a:rPr lang="en-US" sz="1050" dirty="0"/>
              <a:t>: "The integer value, defaulting to 42."</a:t>
            </a:r>
          </a:p>
          <a:p>
            <a:endParaRPr lang="en-US" sz="1050" dirty="0"/>
          </a:p>
          <a:p>
            <a:r>
              <a:rPr lang="en-US" sz="1050" dirty="0"/>
              <a:t>      </a:t>
            </a:r>
            <a:r>
              <a:rPr lang="en-US" sz="1200" b="1" dirty="0" err="1">
                <a:solidFill>
                  <a:srgbClr val="22863A"/>
                </a:solidFill>
                <a:latin typeface="SFMono-Regular"/>
              </a:rPr>
              <a:t>myapp_str</a:t>
            </a:r>
            <a:r>
              <a:rPr lang="en-US" sz="1050" dirty="0"/>
              <a:t>:</a:t>
            </a:r>
          </a:p>
          <a:p>
            <a:r>
              <a:rPr lang="en-US" sz="1050" dirty="0"/>
              <a:t>        </a:t>
            </a:r>
            <a:r>
              <a:rPr lang="en-US" sz="1200" b="1" dirty="0">
                <a:solidFill>
                  <a:srgbClr val="22863A"/>
                </a:solidFill>
                <a:latin typeface="SFMono-Regular"/>
              </a:rPr>
              <a:t>type</a:t>
            </a:r>
            <a:r>
              <a:rPr lang="en-US" sz="1050" dirty="0"/>
              <a:t>: "str"</a:t>
            </a:r>
          </a:p>
          <a:p>
            <a:r>
              <a:rPr lang="en-US" sz="1050" dirty="0"/>
              <a:t>        </a:t>
            </a:r>
            <a:r>
              <a:rPr lang="en-US" sz="1200" b="1" dirty="0">
                <a:solidFill>
                  <a:srgbClr val="22863A"/>
                </a:solidFill>
                <a:latin typeface="SFMono-Regular"/>
              </a:rPr>
              <a:t>required</a:t>
            </a:r>
            <a:r>
              <a:rPr lang="en-US" sz="1050" dirty="0"/>
              <a:t>: true</a:t>
            </a:r>
          </a:p>
          <a:p>
            <a:r>
              <a:rPr lang="en-US" sz="1050" dirty="0"/>
              <a:t>        </a:t>
            </a:r>
            <a:r>
              <a:rPr lang="en-US" sz="1200" b="1" dirty="0">
                <a:solidFill>
                  <a:srgbClr val="22863A"/>
                </a:solidFill>
                <a:latin typeface="SFMono-Regular"/>
              </a:rPr>
              <a:t>description</a:t>
            </a:r>
            <a:r>
              <a:rPr lang="en-US" sz="1050" dirty="0"/>
              <a:t>: "The string value"</a:t>
            </a:r>
          </a:p>
        </p:txBody>
      </p:sp>
    </p:spTree>
    <p:extLst>
      <p:ext uri="{BB962C8B-B14F-4D97-AF65-F5344CB8AC3E}">
        <p14:creationId xmlns:p14="http://schemas.microsoft.com/office/powerpoint/2010/main" val="1961260052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F3793-A7E6-E002-CED7-71288A5F3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64494"/>
            <a:ext cx="5486401" cy="4079081"/>
          </a:xfrm>
        </p:spPr>
        <p:txBody>
          <a:bodyPr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50" dirty="0"/>
              <a:t>Use the right module ….</a:t>
            </a:r>
            <a:endParaRPr lang="en-US" sz="600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- </a:t>
            </a:r>
            <a:r>
              <a:rPr lang="en-US" sz="600" b="0" dirty="0">
                <a:solidFill>
                  <a:srgbClr val="569CD6"/>
                </a:solidFill>
                <a:latin typeface="Consolas" panose="020B0609020204030204" pitchFamily="49" charset="0"/>
              </a:rPr>
              <a:t>name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Remove package via DNF</a:t>
            </a:r>
            <a:endParaRPr lang="en-US" sz="600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sz="675" dirty="0" err="1">
                <a:solidFill>
                  <a:srgbClr val="569CD6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dnf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600" b="0" dirty="0">
                <a:solidFill>
                  <a:srgbClr val="569CD6"/>
                </a:solidFill>
                <a:latin typeface="Consolas" panose="020B0609020204030204" pitchFamily="49" charset="0"/>
              </a:rPr>
              <a:t>name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"{{ 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yum_package_name_to_remove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 }}"</a:t>
            </a:r>
            <a:endParaRPr lang="en-US" sz="600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600" b="0" dirty="0">
                <a:solidFill>
                  <a:srgbClr val="569CD6"/>
                </a:solidFill>
                <a:latin typeface="Consolas" panose="020B0609020204030204" pitchFamily="49" charset="0"/>
              </a:rPr>
              <a:t>state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absent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spcBef>
                <a:spcPts val="0"/>
              </a:spcBef>
            </a:pP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sz="600" b="0" dirty="0">
                <a:solidFill>
                  <a:srgbClr val="569CD6"/>
                </a:solidFill>
                <a:latin typeface="Consolas" panose="020B0609020204030204" pitchFamily="49" charset="0"/>
              </a:rPr>
              <a:t>when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ansible_pkg_mgr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 == '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dnf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' and 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ansible_distribution_major_version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 &gt;= '8' and 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yum_package_name_to_remove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 is defined</a:t>
            </a:r>
            <a:endParaRPr lang="en-US" sz="600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b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- </a:t>
            </a:r>
            <a:r>
              <a:rPr lang="en-US" sz="600" b="0" dirty="0">
                <a:solidFill>
                  <a:srgbClr val="569CD6"/>
                </a:solidFill>
                <a:latin typeface="Consolas" panose="020B0609020204030204" pitchFamily="49" charset="0"/>
              </a:rPr>
              <a:t>name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Install package via DNF</a:t>
            </a:r>
            <a:endParaRPr lang="en-US" sz="600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sz="675" dirty="0" err="1">
                <a:solidFill>
                  <a:srgbClr val="569CD6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dnf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600" b="0" dirty="0">
                <a:solidFill>
                  <a:srgbClr val="569CD6"/>
                </a:solidFill>
                <a:latin typeface="Consolas" panose="020B0609020204030204" pitchFamily="49" charset="0"/>
              </a:rPr>
              <a:t>name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"{{ 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yum_package_name_to_install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 }}"</a:t>
            </a:r>
            <a:endParaRPr lang="en-US" sz="600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600" b="0" dirty="0">
                <a:solidFill>
                  <a:srgbClr val="569CD6"/>
                </a:solidFill>
                <a:latin typeface="Consolas" panose="020B0609020204030204" pitchFamily="49" charset="0"/>
              </a:rPr>
              <a:t>state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latest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sz="600" b="0" dirty="0">
                <a:solidFill>
                  <a:srgbClr val="569CD6"/>
                </a:solidFill>
                <a:latin typeface="Consolas" panose="020B0609020204030204" pitchFamily="49" charset="0"/>
              </a:rPr>
              <a:t>when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ansible_pkg_mgr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 == '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dnf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' and 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ansible_distribution_major_version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 &gt;= '8'</a:t>
            </a:r>
            <a:endParaRPr lang="en-US" sz="600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b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- </a:t>
            </a:r>
            <a:r>
              <a:rPr lang="en-US" sz="600" b="0" dirty="0">
                <a:solidFill>
                  <a:srgbClr val="569CD6"/>
                </a:solidFill>
                <a:latin typeface="Consolas" panose="020B0609020204030204" pitchFamily="49" charset="0"/>
              </a:rPr>
              <a:t>name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Remove package via YUM</a:t>
            </a:r>
            <a:endParaRPr lang="en-US" sz="600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sz="675" dirty="0">
                <a:solidFill>
                  <a:srgbClr val="569CD6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yum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600" b="0" dirty="0">
                <a:solidFill>
                  <a:srgbClr val="569CD6"/>
                </a:solidFill>
                <a:latin typeface="Consolas" panose="020B0609020204030204" pitchFamily="49" charset="0"/>
              </a:rPr>
              <a:t>name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"{{ 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yum_package_name_to_remove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 }}"</a:t>
            </a:r>
            <a:endParaRPr lang="en-US" sz="600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600" b="0" dirty="0">
                <a:solidFill>
                  <a:srgbClr val="569CD6"/>
                </a:solidFill>
                <a:latin typeface="Consolas" panose="020B0609020204030204" pitchFamily="49" charset="0"/>
              </a:rPr>
              <a:t>state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absent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sz="600" b="0" dirty="0">
                <a:solidFill>
                  <a:srgbClr val="569CD6"/>
                </a:solidFill>
                <a:latin typeface="Consolas" panose="020B0609020204030204" pitchFamily="49" charset="0"/>
              </a:rPr>
              <a:t>when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ansible_pkg_mgr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 == 'yum' and 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ansible_distribution_major_version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 == '7' and 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yum_package_name_to_remove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 is defined</a:t>
            </a:r>
            <a:endParaRPr lang="en-US" sz="600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</a:p>
          <a:p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- </a:t>
            </a:r>
            <a:r>
              <a:rPr lang="en-US" sz="600" b="0" dirty="0">
                <a:solidFill>
                  <a:srgbClr val="569CD6"/>
                </a:solidFill>
                <a:latin typeface="Consolas" panose="020B0609020204030204" pitchFamily="49" charset="0"/>
              </a:rPr>
              <a:t>name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Install package via YUM</a:t>
            </a:r>
            <a:endParaRPr lang="en-US" sz="600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sz="675" dirty="0">
                <a:solidFill>
                  <a:srgbClr val="569CD6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yum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600" b="0" dirty="0">
                <a:solidFill>
                  <a:srgbClr val="569CD6"/>
                </a:solidFill>
                <a:latin typeface="Consolas" panose="020B0609020204030204" pitchFamily="49" charset="0"/>
              </a:rPr>
              <a:t>name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"{{ 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yum_package_name_to_install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 }}"</a:t>
            </a:r>
            <a:endParaRPr lang="en-US" sz="600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600" b="0" dirty="0">
                <a:solidFill>
                  <a:srgbClr val="569CD6"/>
                </a:solidFill>
                <a:latin typeface="Consolas" panose="020B0609020204030204" pitchFamily="49" charset="0"/>
              </a:rPr>
              <a:t>state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latest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sz="600" b="0" dirty="0">
                <a:solidFill>
                  <a:srgbClr val="569CD6"/>
                </a:solidFill>
                <a:latin typeface="Consolas" panose="020B0609020204030204" pitchFamily="49" charset="0"/>
              </a:rPr>
              <a:t>when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ansible_pkg_mgr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 == 'yum' and 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ansible_distribution_major_version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 == '7'</a:t>
            </a:r>
            <a:endParaRPr lang="en-US" sz="600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b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- </a:t>
            </a:r>
            <a:r>
              <a:rPr lang="en-US" sz="600" b="0" dirty="0">
                <a:solidFill>
                  <a:srgbClr val="569CD6"/>
                </a:solidFill>
                <a:latin typeface="Consolas" panose="020B0609020204030204" pitchFamily="49" charset="0"/>
              </a:rPr>
              <a:t>name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Remove package on Old CentOS and RedHat</a:t>
            </a:r>
            <a:endParaRPr lang="en-US" sz="600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sz="600" b="0" dirty="0">
                <a:solidFill>
                  <a:srgbClr val="569CD6"/>
                </a:solidFill>
                <a:latin typeface="Consolas" panose="020B0609020204030204" pitchFamily="49" charset="0"/>
              </a:rPr>
              <a:t>shell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yum -y remove "{{ 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yum_package_name_to_remove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 }}"</a:t>
            </a:r>
            <a:endParaRPr lang="en-US" sz="600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sz="600" b="0" dirty="0">
                <a:solidFill>
                  <a:srgbClr val="569CD6"/>
                </a:solidFill>
                <a:latin typeface="Consolas" panose="020B0609020204030204" pitchFamily="49" charset="0"/>
              </a:rPr>
              <a:t>when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ansible_pkg_mgr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 == 'yum' and 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ansible_distribution_major_version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 &lt;= '6' and 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yum_package_name_to_remove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 is defined</a:t>
            </a:r>
            <a:endParaRPr lang="en-US" sz="600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</a:p>
          <a:p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- </a:t>
            </a:r>
            <a:r>
              <a:rPr lang="en-US" sz="600" b="0" dirty="0">
                <a:solidFill>
                  <a:srgbClr val="569CD6"/>
                </a:solidFill>
                <a:latin typeface="Consolas" panose="020B0609020204030204" pitchFamily="49" charset="0"/>
              </a:rPr>
              <a:t>name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Install package on Old CentOS and RedHat</a:t>
            </a:r>
            <a:endParaRPr lang="en-US" sz="600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sz="600" b="0" dirty="0">
                <a:solidFill>
                  <a:srgbClr val="569CD6"/>
                </a:solidFill>
                <a:latin typeface="Consolas" panose="020B0609020204030204" pitchFamily="49" charset="0"/>
              </a:rPr>
              <a:t>shell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yum -y install --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disablerepo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=* --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enablerepo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="Vault-*" "{{ 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yum_package_name_to_install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 }}"</a:t>
            </a:r>
            <a:endParaRPr lang="en-US" sz="600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sz="600" b="0" dirty="0">
                <a:solidFill>
                  <a:srgbClr val="569CD6"/>
                </a:solidFill>
                <a:latin typeface="Consolas" panose="020B0609020204030204" pitchFamily="49" charset="0"/>
              </a:rPr>
              <a:t>when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ansible_pkg_mgr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 == 'yum' and 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ansible_distribution_major_version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 &lt;= '6'</a:t>
            </a:r>
            <a:endParaRPr lang="en-US" sz="600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b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- </a:t>
            </a:r>
            <a:r>
              <a:rPr lang="en-US" sz="600" b="0" dirty="0">
                <a:solidFill>
                  <a:srgbClr val="569CD6"/>
                </a:solidFill>
                <a:latin typeface="Consolas" panose="020B0609020204030204" pitchFamily="49" charset="0"/>
              </a:rPr>
              <a:t>name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Remove package on apt base Linux</a:t>
            </a:r>
            <a:endParaRPr lang="en-US" sz="600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sz="600" b="0" dirty="0">
                <a:solidFill>
                  <a:srgbClr val="569CD6"/>
                </a:solidFill>
                <a:latin typeface="Consolas" panose="020B0609020204030204" pitchFamily="49" charset="0"/>
              </a:rPr>
              <a:t>apt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     </a:t>
            </a:r>
            <a:r>
              <a:rPr lang="en-US" sz="600" b="0" dirty="0">
                <a:solidFill>
                  <a:srgbClr val="569CD6"/>
                </a:solidFill>
                <a:latin typeface="Consolas" panose="020B0609020204030204" pitchFamily="49" charset="0"/>
              </a:rPr>
              <a:t>name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"{{ 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apt_package_name_to_remove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 }}"</a:t>
            </a:r>
            <a:endParaRPr lang="en-US" sz="600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     </a:t>
            </a:r>
            <a:r>
              <a:rPr lang="en-US" sz="600" b="0" dirty="0">
                <a:solidFill>
                  <a:srgbClr val="569CD6"/>
                </a:solidFill>
                <a:latin typeface="Consolas" panose="020B0609020204030204" pitchFamily="49" charset="0"/>
              </a:rPr>
              <a:t>state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absent</a:t>
            </a:r>
            <a:endParaRPr lang="en-US" sz="600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sz="600" b="0" dirty="0">
                <a:solidFill>
                  <a:srgbClr val="569CD6"/>
                </a:solidFill>
                <a:latin typeface="Consolas" panose="020B0609020204030204" pitchFamily="49" charset="0"/>
              </a:rPr>
              <a:t>when</a:t>
            </a:r>
            <a: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ansible_pkg_mgr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 == 'apt' and 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ansible_distribution_major_version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 != '5' and </a:t>
            </a:r>
            <a:r>
              <a:rPr lang="en-US" sz="600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apt_package_name_to_remove</a:t>
            </a:r>
            <a:r>
              <a:rPr lang="en-US" sz="600" b="0" dirty="0">
                <a:solidFill>
                  <a:srgbClr val="CE9178"/>
                </a:solidFill>
                <a:latin typeface="Consolas" panose="020B0609020204030204" pitchFamily="49" charset="0"/>
              </a:rPr>
              <a:t> is defined</a:t>
            </a:r>
            <a:endParaRPr lang="en-US" sz="600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br>
              <a:rPr lang="en-US" sz="600" b="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endParaRPr lang="en-US" sz="600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525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D4980-6D12-1B67-FFF6-2542EB4C04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57249"/>
            <a:ext cx="8686800" cy="75438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41414"/>
                </a:solidFill>
                <a:latin typeface="Red Hat Display"/>
              </a:rPr>
              <a:t>module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C2566-27FF-50F5-BFDE-1D5E913A2A2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5624513"/>
            <a:ext cx="2133600" cy="273844"/>
          </a:xfrm>
        </p:spPr>
        <p:txBody>
          <a:bodyPr/>
          <a:lstStyle/>
          <a:p>
            <a:fld id="{7048F631-2D74-437D-9509-32BA0A9A0C18}" type="slidenum">
              <a:rPr lang="en-US" smtClean="0"/>
              <a:t>197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6C35F8-0C3F-2E8B-F8FB-DBEE6DF7610D}"/>
              </a:ext>
            </a:extLst>
          </p:cNvPr>
          <p:cNvSpPr txBox="1"/>
          <p:nvPr/>
        </p:nvSpPr>
        <p:spPr>
          <a:xfrm>
            <a:off x="4572000" y="2018891"/>
            <a:ext cx="4572852" cy="334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8588" indent="-128588">
              <a:buFont typeface="Arial" panose="020B0604020202020204" pitchFamily="34" charset="0"/>
              <a:buChar char="•"/>
            </a:pPr>
            <a:endParaRPr lang="en-US" sz="788" dirty="0"/>
          </a:p>
          <a:p>
            <a:pPr marL="128588" indent="-128588">
              <a:buFont typeface="Arial" panose="020B0604020202020204" pitchFamily="34" charset="0"/>
              <a:buChar char="•"/>
            </a:pPr>
            <a:endParaRPr lang="en-US" sz="788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490E2D0-EFC7-9BAE-512E-044205549A47}"/>
              </a:ext>
            </a:extLst>
          </p:cNvPr>
          <p:cNvSpPr txBox="1">
            <a:spLocks/>
          </p:cNvSpPr>
          <p:nvPr/>
        </p:nvSpPr>
        <p:spPr>
          <a:xfrm>
            <a:off x="6195526" y="1611630"/>
            <a:ext cx="2724539" cy="4079081"/>
          </a:xfrm>
          <a:prstGeom prst="rect">
            <a:avLst/>
          </a:prstGeom>
        </p:spPr>
        <p:txBody>
          <a:bodyPr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b="1" kern="1200">
                <a:solidFill>
                  <a:srgbClr val="00437A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rgbClr val="00437A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rgbClr val="00437A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rgbClr val="00437A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rgbClr val="00437A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750" dirty="0"/>
              <a:t>…. </a:t>
            </a:r>
            <a:r>
              <a:rPr lang="en-US" altLang="en-US" sz="900" dirty="0"/>
              <a:t>for the right action</a:t>
            </a:r>
          </a:p>
          <a:p>
            <a:r>
              <a:rPr lang="en-US" sz="675" b="0" dirty="0">
                <a:solidFill>
                  <a:srgbClr val="D4D4D4"/>
                </a:solidFill>
                <a:latin typeface="Consolas" panose="020B0609020204030204" pitchFamily="49" charset="0"/>
              </a:rPr>
              <a:t>---</a:t>
            </a:r>
          </a:p>
          <a:p>
            <a:r>
              <a:rPr lang="en-US" sz="675" b="0" dirty="0">
                <a:solidFill>
                  <a:srgbClr val="D4D4D4"/>
                </a:solidFill>
                <a:latin typeface="Consolas" panose="020B0609020204030204" pitchFamily="49" charset="0"/>
              </a:rPr>
              <a:t>- </a:t>
            </a:r>
            <a:r>
              <a:rPr lang="en-US" sz="675" b="0" dirty="0">
                <a:solidFill>
                  <a:srgbClr val="569CD6"/>
                </a:solidFill>
                <a:latin typeface="Consolas" panose="020B0609020204030204" pitchFamily="49" charset="0"/>
              </a:rPr>
              <a:t>name</a:t>
            </a:r>
            <a:r>
              <a:rPr lang="en-US" sz="675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75" b="0" dirty="0">
                <a:solidFill>
                  <a:srgbClr val="CE9178"/>
                </a:solidFill>
                <a:latin typeface="Consolas" panose="020B0609020204030204" pitchFamily="49" charset="0"/>
              </a:rPr>
              <a:t>Remove </a:t>
            </a:r>
            <a:r>
              <a:rPr lang="en-US" sz="675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packag</a:t>
            </a:r>
            <a:endParaRPr lang="en-US" sz="675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675" b="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sz="750" dirty="0">
                <a:solidFill>
                  <a:srgbClr val="569CD6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package</a:t>
            </a:r>
            <a:r>
              <a:rPr lang="en-US" sz="675" b="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675" b="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675" b="0" dirty="0">
                <a:solidFill>
                  <a:srgbClr val="569CD6"/>
                </a:solidFill>
                <a:latin typeface="Consolas" panose="020B0609020204030204" pitchFamily="49" charset="0"/>
              </a:rPr>
              <a:t>name</a:t>
            </a:r>
            <a:r>
              <a:rPr lang="en-US" sz="675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75" b="0" dirty="0">
                <a:solidFill>
                  <a:srgbClr val="CE9178"/>
                </a:solidFill>
                <a:latin typeface="Consolas" panose="020B0609020204030204" pitchFamily="49" charset="0"/>
              </a:rPr>
              <a:t>"{{ </a:t>
            </a:r>
            <a:r>
              <a:rPr lang="en-US" sz="675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yum_package_name_to_remove</a:t>
            </a:r>
            <a:r>
              <a:rPr lang="en-US" sz="675" b="0" dirty="0">
                <a:solidFill>
                  <a:srgbClr val="CE9178"/>
                </a:solidFill>
                <a:latin typeface="Consolas" panose="020B0609020204030204" pitchFamily="49" charset="0"/>
              </a:rPr>
              <a:t> }}"</a:t>
            </a:r>
            <a:endParaRPr lang="en-US" sz="675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675" b="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675" b="0" dirty="0">
                <a:solidFill>
                  <a:srgbClr val="569CD6"/>
                </a:solidFill>
                <a:latin typeface="Consolas" panose="020B0609020204030204" pitchFamily="49" charset="0"/>
              </a:rPr>
              <a:t>state</a:t>
            </a:r>
            <a:r>
              <a:rPr lang="en-US" sz="675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75" b="0" dirty="0">
                <a:solidFill>
                  <a:srgbClr val="CE9178"/>
                </a:solidFill>
                <a:latin typeface="Consolas" panose="020B0609020204030204" pitchFamily="49" charset="0"/>
              </a:rPr>
              <a:t>absent</a:t>
            </a:r>
            <a:r>
              <a:rPr lang="en-US" sz="675" b="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675" b="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sz="675" b="0" dirty="0">
                <a:solidFill>
                  <a:srgbClr val="569CD6"/>
                </a:solidFill>
                <a:latin typeface="Consolas" panose="020B0609020204030204" pitchFamily="49" charset="0"/>
              </a:rPr>
              <a:t>when</a:t>
            </a:r>
            <a:r>
              <a:rPr lang="en-US" sz="675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75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yum_package_name_to_remove</a:t>
            </a:r>
            <a:r>
              <a:rPr lang="en-US" sz="675" b="0" dirty="0">
                <a:solidFill>
                  <a:srgbClr val="CE9178"/>
                </a:solidFill>
                <a:latin typeface="Consolas" panose="020B0609020204030204" pitchFamily="49" charset="0"/>
              </a:rPr>
              <a:t> is defined</a:t>
            </a:r>
            <a:endParaRPr lang="en-US" sz="675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br>
              <a:rPr lang="en-US" sz="675" b="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675" b="0" dirty="0">
                <a:solidFill>
                  <a:srgbClr val="D4D4D4"/>
                </a:solidFill>
                <a:latin typeface="Consolas" panose="020B0609020204030204" pitchFamily="49" charset="0"/>
              </a:rPr>
              <a:t>- </a:t>
            </a:r>
            <a:r>
              <a:rPr lang="en-US" sz="675" b="0" dirty="0">
                <a:solidFill>
                  <a:srgbClr val="569CD6"/>
                </a:solidFill>
                <a:latin typeface="Consolas" panose="020B0609020204030204" pitchFamily="49" charset="0"/>
              </a:rPr>
              <a:t>name</a:t>
            </a:r>
            <a:r>
              <a:rPr lang="en-US" sz="675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75" b="0" dirty="0">
                <a:solidFill>
                  <a:srgbClr val="CE9178"/>
                </a:solidFill>
                <a:latin typeface="Consolas" panose="020B0609020204030204" pitchFamily="49" charset="0"/>
              </a:rPr>
              <a:t>Install </a:t>
            </a:r>
            <a:r>
              <a:rPr lang="en-US" sz="675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packag</a:t>
            </a:r>
            <a:endParaRPr lang="en-US" sz="675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675" b="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sz="750" dirty="0">
                <a:solidFill>
                  <a:srgbClr val="569CD6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package</a:t>
            </a:r>
            <a:r>
              <a:rPr lang="en-US" sz="675" b="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675" b="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675" b="0" dirty="0">
                <a:solidFill>
                  <a:srgbClr val="569CD6"/>
                </a:solidFill>
                <a:latin typeface="Consolas" panose="020B0609020204030204" pitchFamily="49" charset="0"/>
              </a:rPr>
              <a:t>name</a:t>
            </a:r>
            <a:r>
              <a:rPr lang="en-US" sz="675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75" b="0" dirty="0">
                <a:solidFill>
                  <a:srgbClr val="CE9178"/>
                </a:solidFill>
                <a:latin typeface="Consolas" panose="020B0609020204030204" pitchFamily="49" charset="0"/>
              </a:rPr>
              <a:t>"{{ </a:t>
            </a:r>
            <a:r>
              <a:rPr lang="en-US" sz="675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yum_package_name_to_install</a:t>
            </a:r>
            <a:r>
              <a:rPr lang="en-US" sz="675" b="0" dirty="0">
                <a:solidFill>
                  <a:srgbClr val="CE9178"/>
                </a:solidFill>
                <a:latin typeface="Consolas" panose="020B0609020204030204" pitchFamily="49" charset="0"/>
              </a:rPr>
              <a:t> }}"</a:t>
            </a:r>
            <a:endParaRPr lang="en-US" sz="675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675" b="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675" b="0" dirty="0">
                <a:solidFill>
                  <a:srgbClr val="569CD6"/>
                </a:solidFill>
                <a:latin typeface="Consolas" panose="020B0609020204030204" pitchFamily="49" charset="0"/>
              </a:rPr>
              <a:t>state</a:t>
            </a:r>
            <a:r>
              <a:rPr lang="en-US" sz="675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75" b="0" dirty="0">
                <a:solidFill>
                  <a:srgbClr val="CE9178"/>
                </a:solidFill>
                <a:latin typeface="Consolas" panose="020B0609020204030204" pitchFamily="49" charset="0"/>
              </a:rPr>
              <a:t>latest</a:t>
            </a:r>
            <a:r>
              <a:rPr lang="en-US" sz="675" b="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675" b="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sz="675" b="0" dirty="0">
                <a:solidFill>
                  <a:srgbClr val="569CD6"/>
                </a:solidFill>
                <a:latin typeface="Consolas" panose="020B0609020204030204" pitchFamily="49" charset="0"/>
              </a:rPr>
              <a:t>when</a:t>
            </a:r>
            <a:r>
              <a:rPr lang="en-US" sz="675" b="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675" b="0" dirty="0" err="1">
                <a:solidFill>
                  <a:srgbClr val="CE9178"/>
                </a:solidFill>
                <a:latin typeface="Consolas" panose="020B0609020204030204" pitchFamily="49" charset="0"/>
              </a:rPr>
              <a:t>yum_package_name_to_install</a:t>
            </a:r>
            <a:r>
              <a:rPr lang="en-US" sz="675" b="0" dirty="0">
                <a:solidFill>
                  <a:srgbClr val="CE9178"/>
                </a:solidFill>
                <a:latin typeface="Consolas" panose="020B0609020204030204" pitchFamily="49" charset="0"/>
              </a:rPr>
              <a:t> is defined</a:t>
            </a:r>
            <a:br>
              <a:rPr lang="en-US" sz="525" b="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endParaRPr lang="en-US" sz="525" b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45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531081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F3793-A7E6-E002-CED7-71288A5F3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dirty="0"/>
              <a:t>Vault: encrypt variable rather than file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D4980-6D12-1B67-FFF6-2542EB4C04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57250"/>
            <a:ext cx="8689086" cy="75438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41414"/>
                </a:solidFill>
                <a:latin typeface="Red Hat Display"/>
              </a:rPr>
              <a:t>Playbook Vault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A4C916-A06E-31DA-D572-CD22AD80D06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5624513"/>
            <a:ext cx="2133600" cy="273844"/>
          </a:xfrm>
        </p:spPr>
        <p:txBody>
          <a:bodyPr/>
          <a:lstStyle/>
          <a:p>
            <a:fld id="{7048F631-2D74-437D-9509-32BA0A9A0C18}" type="slidenum">
              <a:rPr lang="en-US" smtClean="0"/>
              <a:t>198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868D2F7-A24B-1F7E-5652-37086F2A520D}"/>
              </a:ext>
            </a:extLst>
          </p:cNvPr>
          <p:cNvSpPr txBox="1">
            <a:spLocks/>
          </p:cNvSpPr>
          <p:nvPr/>
        </p:nvSpPr>
        <p:spPr>
          <a:xfrm>
            <a:off x="628650" y="2834923"/>
            <a:ext cx="3702719" cy="1585394"/>
          </a:xfrm>
          <a:prstGeom prst="rect">
            <a:avLst/>
          </a:prstGeom>
        </p:spPr>
        <p:txBody>
          <a:bodyPr vert="horz" lIns="68580" tIns="34290" rIns="68580" bIns="3429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dirty="0"/>
              <a:t>ansible-vault encrypt_string --vault-id dev@a_password_file 'foobar' --name 'the_secret' &gt;&gt; vars.yml</a:t>
            </a:r>
            <a:endParaRPr lang="en-US" sz="9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75" dirty="0" err="1">
                <a:solidFill>
                  <a:srgbClr val="00B050"/>
                </a:solidFill>
              </a:rPr>
              <a:t>the_secret</a:t>
            </a:r>
            <a:r>
              <a:rPr lang="en-US" sz="900" dirty="0"/>
              <a:t>: !vault |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dirty="0"/>
              <a:t>      $ANSIBLE_VAULT;1.1;AES256;</a:t>
            </a:r>
            <a:r>
              <a:rPr lang="en-US" sz="900" dirty="0">
                <a:solidFill>
                  <a:schemeClr val="accent6">
                    <a:lumMod val="75000"/>
                  </a:schemeClr>
                </a:solidFill>
              </a:rPr>
              <a:t>dev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dirty="0"/>
              <a:t>      62313365396662343061393464336163383764373764613633653634306231386433626436623361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dirty="0"/>
              <a:t>      6134333665353966363534333632666535333761666131620a663537646436643839616531643561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dirty="0"/>
              <a:t>      63396265333966386166373632626539326166353965363262633030333630313338646335303630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dirty="0"/>
              <a:t>      3438626666666137650a353638643435666633633964366338633066623234616432373231333331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dirty="0"/>
              <a:t>      6564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dirty="0"/>
              <a:t>ansible localhost -m </a:t>
            </a:r>
            <a:r>
              <a:rPr lang="en-US" sz="900" dirty="0" err="1"/>
              <a:t>ansible.builtin.debug</a:t>
            </a:r>
            <a:r>
              <a:rPr lang="en-US" sz="900" dirty="0"/>
              <a:t> -a var=" </a:t>
            </a:r>
            <a:r>
              <a:rPr lang="en-US" sz="975" b="1" dirty="0" err="1">
                <a:solidFill>
                  <a:srgbClr val="00B050"/>
                </a:solidFill>
              </a:rPr>
              <a:t>the_secret</a:t>
            </a:r>
            <a:r>
              <a:rPr lang="en-US" sz="975" b="1" dirty="0">
                <a:solidFill>
                  <a:srgbClr val="00B050"/>
                </a:solidFill>
              </a:rPr>
              <a:t> </a:t>
            </a:r>
            <a:r>
              <a:rPr lang="en-US" sz="900" dirty="0"/>
              <a:t>" -e "@</a:t>
            </a:r>
            <a:r>
              <a:rPr lang="en-US" sz="900" dirty="0" err="1"/>
              <a:t>vars.yml</a:t>
            </a:r>
            <a:r>
              <a:rPr lang="en-US" sz="900" dirty="0"/>
              <a:t>" --vault-id </a:t>
            </a:r>
            <a:r>
              <a:rPr lang="en-US" sz="900" dirty="0" err="1">
                <a:solidFill>
                  <a:schemeClr val="accent6">
                    <a:lumMod val="75000"/>
                  </a:schemeClr>
                </a:solidFill>
              </a:rPr>
              <a:t>dev</a:t>
            </a:r>
            <a:r>
              <a:rPr lang="en-US" sz="900" dirty="0" err="1"/>
              <a:t>@a_password_file</a:t>
            </a:r>
            <a:endParaRPr lang="en-US" sz="9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9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C4A2D96-2ED4-965C-F66B-221DD706366E}"/>
              </a:ext>
            </a:extLst>
          </p:cNvPr>
          <p:cNvSpPr txBox="1">
            <a:spLocks/>
          </p:cNvSpPr>
          <p:nvPr/>
        </p:nvSpPr>
        <p:spPr>
          <a:xfrm>
            <a:off x="4812631" y="2834923"/>
            <a:ext cx="3702719" cy="158539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75" dirty="0"/>
              <a:t>ansible-vault encrypt --vault-id dev@a_password_file vars.yml</a:t>
            </a:r>
            <a:endParaRPr lang="en-US" sz="675" b="1" dirty="0">
              <a:solidFill>
                <a:srgbClr val="00B050"/>
              </a:solidFill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675" dirty="0"/>
              <a:t>$ANSIBLE_VAULT;1.1;AES256;</a:t>
            </a:r>
            <a:r>
              <a:rPr lang="en-US" sz="675" dirty="0">
                <a:solidFill>
                  <a:schemeClr val="accent6">
                    <a:lumMod val="75000"/>
                  </a:schemeClr>
                </a:solidFill>
              </a:rPr>
              <a:t>dev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675" dirty="0"/>
              <a:t>      62313365396662343061393464336163383764373764613633653634306231386433626436623361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675" dirty="0"/>
              <a:t>      6134333665353966363534333632666535333761666131620a663537646436643839616531643561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675" dirty="0"/>
              <a:t>      63396265333966386166373632626539326166353965363262633030333630313338646335303630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675" dirty="0"/>
              <a:t>      3438626666666137650a353638643435666633633964366338633066623234616432373231333331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675" dirty="0"/>
              <a:t>      6564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75" dirty="0"/>
              <a:t>ansible-vault view --vault-id dev@a_password_file vars.yml</a:t>
            </a:r>
            <a:endParaRPr lang="en-US" sz="675" b="1" dirty="0">
              <a:solidFill>
                <a:srgbClr val="00B050"/>
              </a:solidFill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675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675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675" dirty="0"/>
          </a:p>
        </p:txBody>
      </p:sp>
    </p:spTree>
    <p:extLst>
      <p:ext uri="{BB962C8B-B14F-4D97-AF65-F5344CB8AC3E}">
        <p14:creationId xmlns:p14="http://schemas.microsoft.com/office/powerpoint/2010/main" val="216050346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F3793-A7E6-E002-CED7-71288A5F3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/>
              <a:t>Split your playbook into more simple plays or roles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/>
              <a:t>Use master playbook and include subsequent other playbooks and roles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/>
              <a:t>Isolate each function on its own directory tree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/>
              <a:t>Ability to run independently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/>
              <a:t>Organize playbooks with: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/>
              <a:t>First one to prepare and validate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/>
              <a:t>Last one to clean up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D4980-6D12-1B67-FFF6-2542EB4C04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57250"/>
            <a:ext cx="8689086" cy="75438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41414"/>
                </a:solidFill>
                <a:latin typeface="Red Hat Display"/>
              </a:rPr>
              <a:t>Playbook Master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C1A12-A60B-B1F5-27B6-0EE860B9D4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5624513"/>
            <a:ext cx="2133600" cy="273844"/>
          </a:xfrm>
        </p:spPr>
        <p:txBody>
          <a:bodyPr/>
          <a:lstStyle/>
          <a:p>
            <a:fld id="{7048F631-2D74-437D-9509-32BA0A9A0C18}" type="slidenum">
              <a:rPr lang="en-US" smtClean="0"/>
              <a:t>199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815116-C81E-2687-1466-E21C9CE4EAF0}"/>
              </a:ext>
            </a:extLst>
          </p:cNvPr>
          <p:cNvSpPr txBox="1"/>
          <p:nvPr/>
        </p:nvSpPr>
        <p:spPr>
          <a:xfrm>
            <a:off x="628650" y="3532762"/>
            <a:ext cx="3158777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/>
              <a:t>---</a:t>
            </a:r>
          </a:p>
          <a:p>
            <a:r>
              <a:rPr lang="en-US" sz="1350" dirty="0"/>
              <a:t># file: </a:t>
            </a:r>
            <a:r>
              <a:rPr lang="en-US" sz="1350" dirty="0" err="1"/>
              <a:t>main.yml</a:t>
            </a:r>
            <a:endParaRPr lang="en-US" sz="1350" dirty="0"/>
          </a:p>
          <a:p>
            <a:r>
              <a:rPr lang="en-US" sz="1350" dirty="0"/>
              <a:t>- </a:t>
            </a:r>
            <a:r>
              <a:rPr lang="en-US" sz="1350" dirty="0" err="1"/>
              <a:t>import_playbook</a:t>
            </a:r>
            <a:r>
              <a:rPr lang="en-US" sz="1350" dirty="0"/>
              <a:t>: </a:t>
            </a:r>
            <a:r>
              <a:rPr lang="en-US" sz="1350" dirty="0" err="1">
                <a:solidFill>
                  <a:schemeClr val="accent6">
                    <a:lumMod val="75000"/>
                  </a:schemeClr>
                </a:solidFill>
              </a:rPr>
              <a:t>requirements.yml</a:t>
            </a:r>
            <a:endParaRPr lang="en-US" sz="135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1350" dirty="0"/>
              <a:t>- </a:t>
            </a:r>
            <a:r>
              <a:rPr lang="en-US" sz="1350" dirty="0" err="1"/>
              <a:t>import_playbook</a:t>
            </a:r>
            <a:r>
              <a:rPr lang="en-US" sz="1350" dirty="0"/>
              <a:t>: </a:t>
            </a:r>
            <a:r>
              <a:rPr lang="en-US" sz="1350" dirty="0" err="1"/>
              <a:t>webservers.yml</a:t>
            </a:r>
            <a:endParaRPr lang="en-US" sz="1350" dirty="0"/>
          </a:p>
          <a:p>
            <a:r>
              <a:rPr lang="en-US" sz="1350" dirty="0"/>
              <a:t>- </a:t>
            </a:r>
            <a:r>
              <a:rPr lang="en-US" sz="1350" dirty="0" err="1"/>
              <a:t>import_playbook</a:t>
            </a:r>
            <a:r>
              <a:rPr lang="en-US" sz="1350" dirty="0"/>
              <a:t>: </a:t>
            </a:r>
            <a:r>
              <a:rPr lang="en-US" sz="1350" dirty="0" err="1"/>
              <a:t>dbservers.yml</a:t>
            </a:r>
            <a:endParaRPr lang="en-US" sz="1350" dirty="0"/>
          </a:p>
          <a:p>
            <a:r>
              <a:rPr lang="en-US" sz="1350" dirty="0"/>
              <a:t>- </a:t>
            </a:r>
            <a:r>
              <a:rPr lang="en-US" sz="1350" dirty="0" err="1"/>
              <a:t>import_playbook</a:t>
            </a:r>
            <a:r>
              <a:rPr lang="en-US" sz="1350" dirty="0"/>
              <a:t>: </a:t>
            </a:r>
            <a:r>
              <a:rPr lang="en-US" sz="1350" dirty="0" err="1">
                <a:solidFill>
                  <a:schemeClr val="accent6">
                    <a:lumMod val="75000"/>
                  </a:schemeClr>
                </a:solidFill>
              </a:rPr>
              <a:t>cleanup.yml</a:t>
            </a:r>
            <a:endParaRPr lang="en-US" sz="1350" dirty="0">
              <a:solidFill>
                <a:schemeClr val="accent6">
                  <a:lumMod val="75000"/>
                </a:schemeClr>
              </a:solidFill>
            </a:endParaRPr>
          </a:p>
          <a:p>
            <a:pPr marL="214313" indent="-214313">
              <a:buFontTx/>
              <a:buChar char="-"/>
            </a:pP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138762275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F3793-A7E6-E002-CED7-71288A5F3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/>
              <a:t>Prefer jinja templates instead of file change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dirty="0"/>
              <a:t>Avoid modifying existing file, prefer pushing a complete built one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9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D4980-6D12-1B67-FFF6-2542EB4C04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57250"/>
            <a:ext cx="8689086" cy="75438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41414"/>
                </a:solidFill>
                <a:latin typeface="Red Hat Display"/>
              </a:rPr>
              <a:t>Playbook Templates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A48F4-47F8-059A-F253-DBD830BBDF1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5624513"/>
            <a:ext cx="2133600" cy="273844"/>
          </a:xfrm>
        </p:spPr>
        <p:txBody>
          <a:bodyPr/>
          <a:lstStyle/>
          <a:p>
            <a:fld id="{7048F631-2D74-437D-9509-32BA0A9A0C18}" type="slidenum">
              <a:rPr lang="en-US" smtClean="0"/>
              <a:t>200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C284AD-9599-EB91-B11F-02A304C2E3C4}"/>
              </a:ext>
            </a:extLst>
          </p:cNvPr>
          <p:cNvSpPr txBox="1"/>
          <p:nvPr/>
        </p:nvSpPr>
        <p:spPr>
          <a:xfrm>
            <a:off x="4786604" y="2950824"/>
            <a:ext cx="3869062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900" dirty="0"/>
              <a:t>- name: Copy a version of </a:t>
            </a:r>
            <a:r>
              <a:rPr lang="en-US" sz="900" dirty="0" err="1"/>
              <a:t>httpd.conf</a:t>
            </a:r>
            <a:r>
              <a:rPr lang="en-US" sz="900" dirty="0"/>
              <a:t> that is dependent on the OS. </a:t>
            </a:r>
          </a:p>
          <a:p>
            <a:r>
              <a:rPr lang="en-US" sz="900" b="1" dirty="0"/>
              <a:t>  </a:t>
            </a:r>
            <a:r>
              <a:rPr lang="en-US" sz="900" b="1" dirty="0" err="1"/>
              <a:t>ansible.builtin.template</a:t>
            </a:r>
            <a:r>
              <a:rPr lang="en-US" sz="900" b="1" dirty="0"/>
              <a:t>: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src</a:t>
            </a:r>
            <a:r>
              <a:rPr lang="en-US" sz="900" dirty="0"/>
              <a:t>: templates/</a:t>
            </a:r>
            <a:r>
              <a:rPr lang="en-US" sz="900" dirty="0" err="1"/>
              <a:t>httpd.conf</a:t>
            </a:r>
            <a:r>
              <a:rPr lang="en-US" sz="900" dirty="0"/>
              <a:t>_{{ </a:t>
            </a:r>
            <a:r>
              <a:rPr lang="en-US" sz="900" dirty="0" err="1"/>
              <a:t>ansible_os_family</a:t>
            </a:r>
            <a:r>
              <a:rPr lang="en-US" sz="900" dirty="0"/>
              <a:t> }}.j2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dest</a:t>
            </a:r>
            <a:r>
              <a:rPr lang="en-US" sz="900" dirty="0"/>
              <a:t>: /</a:t>
            </a:r>
            <a:r>
              <a:rPr lang="en-US" sz="900" dirty="0" err="1"/>
              <a:t>etc</a:t>
            </a:r>
            <a:r>
              <a:rPr lang="en-US" sz="900" dirty="0"/>
              <a:t>/httpd/conf/</a:t>
            </a:r>
            <a:r>
              <a:rPr lang="en-US" sz="900" dirty="0" err="1"/>
              <a:t>httpd.conf</a:t>
            </a:r>
            <a:endParaRPr lang="en-US" sz="900" dirty="0"/>
          </a:p>
          <a:p>
            <a:r>
              <a:rPr lang="en-US" sz="900" dirty="0"/>
              <a:t>    group: httpd</a:t>
            </a:r>
          </a:p>
          <a:p>
            <a:r>
              <a:rPr lang="en-US" sz="900" dirty="0"/>
              <a:t>    mode: 0640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9F5559-D082-3B9B-B990-18CADB733BBA}"/>
              </a:ext>
            </a:extLst>
          </p:cNvPr>
          <p:cNvSpPr txBox="1"/>
          <p:nvPr/>
        </p:nvSpPr>
        <p:spPr>
          <a:xfrm>
            <a:off x="341620" y="2786702"/>
            <a:ext cx="3741194" cy="18928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900" dirty="0"/>
              <a:t>- name: Ensure the default Apache port is 8080</a:t>
            </a:r>
          </a:p>
          <a:p>
            <a:r>
              <a:rPr lang="en-US" sz="900" b="1" dirty="0"/>
              <a:t>  </a:t>
            </a:r>
            <a:r>
              <a:rPr lang="en-US" sz="900" b="1" dirty="0" err="1"/>
              <a:t>ansible.builtin.lineinfile</a:t>
            </a:r>
            <a:r>
              <a:rPr lang="en-US" sz="900" b="1" dirty="0"/>
              <a:t>:</a:t>
            </a:r>
          </a:p>
          <a:p>
            <a:r>
              <a:rPr lang="en-US" sz="900" dirty="0"/>
              <a:t>    path: /</a:t>
            </a:r>
            <a:r>
              <a:rPr lang="en-US" sz="900" dirty="0" err="1"/>
              <a:t>etc</a:t>
            </a:r>
            <a:r>
              <a:rPr lang="en-US" sz="900" dirty="0"/>
              <a:t>/httpd/conf/</a:t>
            </a:r>
            <a:r>
              <a:rPr lang="en-US" sz="900" dirty="0" err="1"/>
              <a:t>httpd.conf</a:t>
            </a:r>
            <a:endParaRPr lang="en-US" sz="900" dirty="0"/>
          </a:p>
          <a:p>
            <a:r>
              <a:rPr lang="en-US" sz="900" dirty="0"/>
              <a:t>    </a:t>
            </a:r>
            <a:r>
              <a:rPr lang="en-US" sz="900" dirty="0" err="1"/>
              <a:t>regexp</a:t>
            </a:r>
            <a:r>
              <a:rPr lang="en-US" sz="900" dirty="0"/>
              <a:t>: '^Listen '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insertafter</a:t>
            </a:r>
            <a:r>
              <a:rPr lang="en-US" sz="900" dirty="0"/>
              <a:t>: '^#Listen '</a:t>
            </a:r>
          </a:p>
          <a:p>
            <a:r>
              <a:rPr lang="en-US" sz="900" dirty="0"/>
              <a:t>    line: Listen 8080</a:t>
            </a:r>
          </a:p>
          <a:p>
            <a:endParaRPr lang="en-US" sz="900" dirty="0"/>
          </a:p>
          <a:p>
            <a:r>
              <a:rPr lang="en-US" sz="900" dirty="0"/>
              <a:t>- name: Ensure </a:t>
            </a:r>
            <a:r>
              <a:rPr lang="en-US" sz="900" dirty="0" err="1"/>
              <a:t>php</a:t>
            </a:r>
            <a:r>
              <a:rPr lang="en-US" sz="900" dirty="0"/>
              <a:t> extension matches new pattern</a:t>
            </a:r>
          </a:p>
          <a:p>
            <a:r>
              <a:rPr lang="en-US" sz="900" dirty="0"/>
              <a:t>  </a:t>
            </a:r>
            <a:r>
              <a:rPr lang="en-US" sz="900" b="1" dirty="0" err="1"/>
              <a:t>ansible.builtin.lineinfile</a:t>
            </a:r>
            <a:r>
              <a:rPr lang="en-US" sz="900" dirty="0"/>
              <a:t>:</a:t>
            </a:r>
          </a:p>
          <a:p>
            <a:r>
              <a:rPr lang="en-US" sz="900" dirty="0"/>
              <a:t>    path: /</a:t>
            </a:r>
            <a:r>
              <a:rPr lang="en-US" sz="900" dirty="0" err="1"/>
              <a:t>etc</a:t>
            </a:r>
            <a:r>
              <a:rPr lang="en-US" sz="900" dirty="0"/>
              <a:t>/httpd/conf/</a:t>
            </a:r>
            <a:r>
              <a:rPr lang="en-US" sz="900" dirty="0" err="1"/>
              <a:t>httpd.conf</a:t>
            </a:r>
            <a:endParaRPr lang="en-US" sz="900" dirty="0"/>
          </a:p>
          <a:p>
            <a:r>
              <a:rPr lang="en-US" sz="900" dirty="0"/>
              <a:t>    </a:t>
            </a:r>
            <a:r>
              <a:rPr lang="en-US" sz="900" dirty="0" err="1"/>
              <a:t>search_string</a:t>
            </a:r>
            <a:r>
              <a:rPr lang="en-US" sz="900" dirty="0"/>
              <a:t>: '&lt;</a:t>
            </a:r>
            <a:r>
              <a:rPr lang="en-US" sz="900" dirty="0" err="1"/>
              <a:t>FilesMatch</a:t>
            </a:r>
            <a:r>
              <a:rPr lang="en-US" sz="900" dirty="0"/>
              <a:t> ".</a:t>
            </a:r>
            <a:r>
              <a:rPr lang="en-US" sz="900" dirty="0" err="1"/>
              <a:t>php</a:t>
            </a:r>
            <a:r>
              <a:rPr lang="en-US" sz="900" dirty="0"/>
              <a:t>[45]?$"&gt;'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insertafter</a:t>
            </a:r>
            <a:r>
              <a:rPr lang="en-US" sz="900" dirty="0"/>
              <a:t>: '^\t&lt;Location \/&gt;\n'</a:t>
            </a:r>
          </a:p>
          <a:p>
            <a:r>
              <a:rPr lang="en-US" sz="900" dirty="0"/>
              <a:t>    line: '        &lt;</a:t>
            </a:r>
            <a:r>
              <a:rPr lang="en-US" sz="900" dirty="0" err="1"/>
              <a:t>FilesMatch</a:t>
            </a:r>
            <a:r>
              <a:rPr lang="en-US" sz="900" dirty="0"/>
              <a:t> ".</a:t>
            </a:r>
            <a:r>
              <a:rPr lang="en-US" sz="900" dirty="0" err="1"/>
              <a:t>php</a:t>
            </a:r>
            <a:r>
              <a:rPr lang="en-US" sz="900" dirty="0"/>
              <a:t>[34]?$"&gt;'</a:t>
            </a:r>
          </a:p>
        </p:txBody>
      </p:sp>
    </p:spTree>
    <p:extLst>
      <p:ext uri="{BB962C8B-B14F-4D97-AF65-F5344CB8AC3E}">
        <p14:creationId xmlns:p14="http://schemas.microsoft.com/office/powerpoint/2010/main" val="1909457903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F3793-A7E6-E002-CED7-71288A5F3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dirty="0"/>
              <a:t>Group tasks with same </a:t>
            </a:r>
            <a:r>
              <a:rPr lang="en-US" sz="900" dirty="0" err="1"/>
              <a:t>behaviour</a:t>
            </a:r>
            <a:r>
              <a:rPr lang="en-US" sz="900" dirty="0"/>
              <a:t> and same conditions attributes</a:t>
            </a:r>
            <a:br>
              <a:rPr lang="en-US" altLang="en-US" sz="225" b="0" dirty="0">
                <a:solidFill>
                  <a:schemeClr val="tx1"/>
                </a:solidFill>
              </a:rPr>
            </a:br>
            <a:endParaRPr lang="en-US" altLang="en-US" sz="9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D4980-6D12-1B67-FFF6-2542EB4C04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57250"/>
            <a:ext cx="8689086" cy="75438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41414"/>
                </a:solidFill>
                <a:latin typeface="Red Hat Display"/>
              </a:rPr>
              <a:t>Blocks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4F7E5-8E92-21E9-4B77-3B943ED5744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5624513"/>
            <a:ext cx="2133600" cy="273844"/>
          </a:xfrm>
        </p:spPr>
        <p:txBody>
          <a:bodyPr/>
          <a:lstStyle/>
          <a:p>
            <a:fld id="{7048F631-2D74-437D-9509-32BA0A9A0C18}" type="slidenum">
              <a:rPr lang="en-US" smtClean="0"/>
              <a:t>201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ADBE201-7971-FDD9-B6AC-F2E287FFEDF6}"/>
              </a:ext>
            </a:extLst>
          </p:cNvPr>
          <p:cNvSpPr txBox="1">
            <a:spLocks/>
          </p:cNvSpPr>
          <p:nvPr/>
        </p:nvSpPr>
        <p:spPr>
          <a:xfrm>
            <a:off x="628651" y="2551927"/>
            <a:ext cx="2224487" cy="31749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68580" tIns="34290" rIns="68580" bIns="3429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b="1" dirty="0">
                <a:solidFill>
                  <a:srgbClr val="22863A"/>
                </a:solidFill>
                <a:latin typeface="SFMono-Regular"/>
              </a:rPr>
              <a:t>tasks</a:t>
            </a: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: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-</a:t>
            </a:r>
            <a:r>
              <a:rPr lang="en-US" altLang="en-US" sz="75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b="1" dirty="0">
                <a:solidFill>
                  <a:srgbClr val="22863A"/>
                </a:solidFill>
                <a:latin typeface="SFMono-Regular"/>
              </a:rPr>
              <a:t>name</a:t>
            </a: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75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dirty="0">
                <a:solidFill>
                  <a:srgbClr val="032F62"/>
                </a:solidFill>
                <a:latin typeface="SFMono-Regular"/>
              </a:rPr>
              <a:t>Install httpd and </a:t>
            </a:r>
            <a:r>
              <a:rPr lang="en-US" altLang="en-US" sz="750" dirty="0" err="1">
                <a:solidFill>
                  <a:srgbClr val="032F62"/>
                </a:solidFill>
                <a:latin typeface="SFMono-Regular"/>
              </a:rPr>
              <a:t>memcached</a:t>
            </a: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        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  </a:t>
            </a:r>
            <a:r>
              <a:rPr lang="en-US" altLang="en-US" sz="750" b="1" dirty="0" err="1">
                <a:solidFill>
                  <a:srgbClr val="22863A"/>
                </a:solidFill>
                <a:latin typeface="SFMono-Regular"/>
              </a:rPr>
              <a:t>ansible.builtin.yum</a:t>
            </a: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: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    </a:t>
            </a:r>
            <a:r>
              <a:rPr lang="en-US" altLang="en-US" sz="750" b="1" dirty="0">
                <a:solidFill>
                  <a:srgbClr val="22863A"/>
                </a:solidFill>
                <a:latin typeface="SFMono-Regular"/>
              </a:rPr>
              <a:t>name</a:t>
            </a: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: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     </a:t>
            </a: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-</a:t>
            </a:r>
            <a:r>
              <a:rPr lang="en-US" altLang="en-US" sz="75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dirty="0">
                <a:solidFill>
                  <a:srgbClr val="032F62"/>
                </a:solidFill>
                <a:latin typeface="SFMono-Regular"/>
              </a:rPr>
              <a:t>httpd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032F62"/>
                </a:solidFill>
                <a:latin typeface="SFMono-Regular"/>
              </a:rPr>
              <a:t>     </a:t>
            </a: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-</a:t>
            </a:r>
            <a:r>
              <a:rPr lang="en-US" altLang="en-US" sz="75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dirty="0">
                <a:solidFill>
                  <a:srgbClr val="032F62"/>
                </a:solidFill>
                <a:latin typeface="SFMono-Regular"/>
              </a:rPr>
              <a:t>Memcached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032F62"/>
                </a:solidFill>
                <a:latin typeface="SFMono-Regular"/>
              </a:rPr>
              <a:t>     </a:t>
            </a: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750" b="1" dirty="0">
                <a:solidFill>
                  <a:srgbClr val="22863A"/>
                </a:solidFill>
                <a:latin typeface="SFMono-Regular"/>
              </a:rPr>
              <a:t>state</a:t>
            </a: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75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dirty="0">
                <a:solidFill>
                  <a:srgbClr val="032F62"/>
                </a:solidFill>
                <a:latin typeface="SFMono-Regular"/>
              </a:rPr>
              <a:t>present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when: ansible_facts['distribution'] == 'CentOS'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750" b="1" dirty="0">
                <a:solidFill>
                  <a:srgbClr val="22863A"/>
                </a:solidFill>
                <a:latin typeface="SFMono-Regular"/>
              </a:rPr>
              <a:t>become</a:t>
            </a: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75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dirty="0">
                <a:solidFill>
                  <a:srgbClr val="032F62"/>
                </a:solidFill>
                <a:latin typeface="SFMono-Regular"/>
              </a:rPr>
              <a:t>true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750" b="1" dirty="0" err="1">
                <a:solidFill>
                  <a:srgbClr val="22863A"/>
                </a:solidFill>
                <a:latin typeface="SFMono-Regular"/>
              </a:rPr>
              <a:t>become_user</a:t>
            </a: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75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dirty="0">
                <a:solidFill>
                  <a:srgbClr val="032F62"/>
                </a:solidFill>
                <a:latin typeface="SFMono-Regular"/>
              </a:rPr>
              <a:t>root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750" b="1" dirty="0" err="1">
                <a:solidFill>
                  <a:srgbClr val="22863A"/>
                </a:solidFill>
                <a:latin typeface="SFMono-Regular"/>
              </a:rPr>
              <a:t>ignore_errors</a:t>
            </a: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75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dirty="0">
                <a:solidFill>
                  <a:srgbClr val="032F62"/>
                </a:solidFill>
                <a:latin typeface="SFMono-Regular"/>
              </a:rPr>
              <a:t>true</a:t>
            </a: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</a:t>
            </a:r>
            <a:endParaRPr lang="en-US" altLang="en-US" sz="525" dirty="0"/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750" dirty="0">
              <a:solidFill>
                <a:srgbClr val="032F62"/>
              </a:solidFill>
              <a:latin typeface="SFMono-Regular"/>
            </a:endParaRP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  </a:t>
            </a: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-</a:t>
            </a:r>
            <a:r>
              <a:rPr lang="en-US" altLang="en-US" sz="75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b="1" dirty="0">
                <a:solidFill>
                  <a:srgbClr val="22863A"/>
                </a:solidFill>
                <a:latin typeface="SFMono-Regular"/>
              </a:rPr>
              <a:t>name</a:t>
            </a: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75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dirty="0">
                <a:solidFill>
                  <a:srgbClr val="032F62"/>
                </a:solidFill>
                <a:latin typeface="SFMono-Regular"/>
              </a:rPr>
              <a:t>Apply the foo config template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032F62"/>
                </a:solidFill>
                <a:latin typeface="SFMono-Regular"/>
              </a:rPr>
              <a:t>    </a:t>
            </a: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750" b="1" dirty="0" err="1">
                <a:solidFill>
                  <a:srgbClr val="22863A"/>
                </a:solidFill>
                <a:latin typeface="SFMono-Regular"/>
              </a:rPr>
              <a:t>ansible.builtin.template</a:t>
            </a: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: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      </a:t>
            </a: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750" b="1" dirty="0" err="1">
                <a:solidFill>
                  <a:srgbClr val="22863A"/>
                </a:solidFill>
                <a:latin typeface="SFMono-Regular"/>
              </a:rPr>
              <a:t>src</a:t>
            </a: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75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dirty="0">
                <a:solidFill>
                  <a:srgbClr val="032F62"/>
                </a:solidFill>
                <a:latin typeface="SFMono-Regular"/>
              </a:rPr>
              <a:t>templates/src.j2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032F62"/>
                </a:solidFill>
                <a:latin typeface="SFMono-Regular"/>
              </a:rPr>
              <a:t>      </a:t>
            </a: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750" b="1" dirty="0" err="1">
                <a:solidFill>
                  <a:srgbClr val="22863A"/>
                </a:solidFill>
                <a:latin typeface="SFMono-Regular"/>
              </a:rPr>
              <a:t>dest</a:t>
            </a: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75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dirty="0">
                <a:solidFill>
                  <a:srgbClr val="032F62"/>
                </a:solidFill>
                <a:latin typeface="SFMono-Regular"/>
              </a:rPr>
              <a:t>/</a:t>
            </a:r>
            <a:r>
              <a:rPr lang="en-US" altLang="en-US" sz="750" dirty="0" err="1">
                <a:solidFill>
                  <a:srgbClr val="032F62"/>
                </a:solidFill>
                <a:latin typeface="SFMono-Regular"/>
              </a:rPr>
              <a:t>etc</a:t>
            </a:r>
            <a:r>
              <a:rPr lang="en-US" altLang="en-US" sz="750" dirty="0">
                <a:solidFill>
                  <a:srgbClr val="032F62"/>
                </a:solidFill>
                <a:latin typeface="SFMono-Regular"/>
              </a:rPr>
              <a:t>/</a:t>
            </a:r>
            <a:r>
              <a:rPr lang="en-US" altLang="en-US" sz="750" dirty="0" err="1">
                <a:solidFill>
                  <a:srgbClr val="032F62"/>
                </a:solidFill>
                <a:latin typeface="SFMono-Regular"/>
              </a:rPr>
              <a:t>foo.conf</a:t>
            </a:r>
            <a:endParaRPr lang="en-US" altLang="en-US" sz="750" dirty="0">
              <a:solidFill>
                <a:srgbClr val="032F62"/>
              </a:solidFill>
              <a:latin typeface="SFMono-Regular"/>
            </a:endParaRP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when: ansible_facts['distribution'] == 'CentOS'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750" b="1" dirty="0">
                <a:solidFill>
                  <a:srgbClr val="22863A"/>
                </a:solidFill>
                <a:latin typeface="SFMono-Regular"/>
              </a:rPr>
              <a:t>become</a:t>
            </a: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75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dirty="0">
                <a:solidFill>
                  <a:srgbClr val="032F62"/>
                </a:solidFill>
                <a:latin typeface="SFMono-Regular"/>
              </a:rPr>
              <a:t>true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750" b="1" dirty="0" err="1">
                <a:solidFill>
                  <a:srgbClr val="22863A"/>
                </a:solidFill>
                <a:latin typeface="SFMono-Regular"/>
              </a:rPr>
              <a:t>become_user</a:t>
            </a: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75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dirty="0">
                <a:solidFill>
                  <a:srgbClr val="032F62"/>
                </a:solidFill>
                <a:latin typeface="SFMono-Regular"/>
              </a:rPr>
              <a:t>root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750" b="1" dirty="0" err="1">
                <a:solidFill>
                  <a:srgbClr val="22863A"/>
                </a:solidFill>
                <a:latin typeface="SFMono-Regular"/>
              </a:rPr>
              <a:t>ignore_errors</a:t>
            </a: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75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dirty="0">
                <a:solidFill>
                  <a:srgbClr val="032F62"/>
                </a:solidFill>
                <a:latin typeface="SFMono-Regular"/>
              </a:rPr>
              <a:t>true</a:t>
            </a: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</a:t>
            </a:r>
            <a:endParaRPr lang="en-US" altLang="en-US" sz="525" dirty="0"/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750" dirty="0">
              <a:solidFill>
                <a:srgbClr val="404040"/>
              </a:solidFill>
              <a:latin typeface="SFMono-Regular"/>
            </a:endParaRP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  </a:t>
            </a: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-</a:t>
            </a:r>
            <a:r>
              <a:rPr lang="en-US" altLang="en-US" sz="75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b="1" dirty="0">
                <a:solidFill>
                  <a:srgbClr val="22863A"/>
                </a:solidFill>
                <a:latin typeface="SFMono-Regular"/>
              </a:rPr>
              <a:t>name</a:t>
            </a: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75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dirty="0">
                <a:solidFill>
                  <a:srgbClr val="032F62"/>
                </a:solidFill>
                <a:latin typeface="SFMono-Regular"/>
              </a:rPr>
              <a:t>Start service bar and enable it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032F62"/>
                </a:solidFill>
                <a:latin typeface="SFMono-Regular"/>
              </a:rPr>
              <a:t>    </a:t>
            </a: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750" b="1" dirty="0" err="1">
                <a:solidFill>
                  <a:srgbClr val="22863A"/>
                </a:solidFill>
                <a:latin typeface="SFMono-Regular"/>
              </a:rPr>
              <a:t>ansible.builtin.service</a:t>
            </a: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: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      </a:t>
            </a: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750" b="1" dirty="0">
                <a:solidFill>
                  <a:srgbClr val="22863A"/>
                </a:solidFill>
                <a:latin typeface="SFMono-Regular"/>
              </a:rPr>
              <a:t>name</a:t>
            </a: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75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dirty="0">
                <a:solidFill>
                  <a:srgbClr val="032F62"/>
                </a:solidFill>
                <a:latin typeface="SFMono-Regular"/>
              </a:rPr>
              <a:t>bar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032F62"/>
                </a:solidFill>
                <a:latin typeface="SFMono-Regular"/>
              </a:rPr>
              <a:t>      </a:t>
            </a: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750" b="1" dirty="0">
                <a:solidFill>
                  <a:srgbClr val="22863A"/>
                </a:solidFill>
                <a:latin typeface="SFMono-Regular"/>
              </a:rPr>
              <a:t>state</a:t>
            </a: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75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dirty="0">
                <a:solidFill>
                  <a:srgbClr val="032F62"/>
                </a:solidFill>
                <a:latin typeface="SFMono-Regular"/>
              </a:rPr>
              <a:t>started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      </a:t>
            </a:r>
            <a:r>
              <a:rPr lang="en-US" altLang="en-US" sz="750" b="1" dirty="0">
                <a:solidFill>
                  <a:srgbClr val="22863A"/>
                </a:solidFill>
                <a:latin typeface="SFMono-Regular"/>
              </a:rPr>
              <a:t>enabled</a:t>
            </a: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75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dirty="0">
                <a:solidFill>
                  <a:srgbClr val="032F62"/>
                </a:solidFill>
                <a:latin typeface="SFMono-Regular"/>
              </a:rPr>
              <a:t>True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when: ansible_facts['distribution'] == 'CentOS'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750" b="1" dirty="0">
                <a:solidFill>
                  <a:srgbClr val="22863A"/>
                </a:solidFill>
                <a:latin typeface="SFMono-Regular"/>
              </a:rPr>
              <a:t>become</a:t>
            </a: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75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dirty="0">
                <a:solidFill>
                  <a:srgbClr val="032F62"/>
                </a:solidFill>
                <a:latin typeface="SFMono-Regular"/>
              </a:rPr>
              <a:t>true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750" b="1" dirty="0" err="1">
                <a:solidFill>
                  <a:srgbClr val="22863A"/>
                </a:solidFill>
                <a:latin typeface="SFMono-Regular"/>
              </a:rPr>
              <a:t>become_user</a:t>
            </a: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75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dirty="0">
                <a:solidFill>
                  <a:srgbClr val="032F62"/>
                </a:solidFill>
                <a:latin typeface="SFMono-Regular"/>
              </a:rPr>
              <a:t>root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750" b="1" dirty="0" err="1">
                <a:solidFill>
                  <a:srgbClr val="22863A"/>
                </a:solidFill>
                <a:latin typeface="SFMono-Regular"/>
              </a:rPr>
              <a:t>ignore_errors</a:t>
            </a:r>
            <a:r>
              <a:rPr lang="en-US" altLang="en-US" sz="750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75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dirty="0">
                <a:solidFill>
                  <a:srgbClr val="032F62"/>
                </a:solidFill>
                <a:latin typeface="SFMono-Regular"/>
              </a:rPr>
              <a:t>true</a:t>
            </a: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</a:t>
            </a:r>
            <a:endParaRPr lang="en-US" altLang="en-US" sz="525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97B889-9585-BC55-42C8-CF21BA3FB260}"/>
              </a:ext>
            </a:extLst>
          </p:cNvPr>
          <p:cNvSpPr txBox="1">
            <a:spLocks/>
          </p:cNvSpPr>
          <p:nvPr/>
        </p:nvSpPr>
        <p:spPr>
          <a:xfrm>
            <a:off x="5730706" y="2480777"/>
            <a:ext cx="2606196" cy="28116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25" b="1" dirty="0">
                <a:solidFill>
                  <a:srgbClr val="22863A"/>
                </a:solidFill>
                <a:latin typeface="SFMono-Regular"/>
              </a:rPr>
              <a:t>tasks</a:t>
            </a:r>
            <a:r>
              <a:rPr lang="en-US" altLang="en-US" sz="825" b="1" dirty="0">
                <a:solidFill>
                  <a:srgbClr val="404040"/>
                </a:solidFill>
                <a:latin typeface="SFMono-Regular"/>
              </a:rPr>
              <a:t>: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25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825" b="1" dirty="0">
                <a:solidFill>
                  <a:srgbClr val="404040"/>
                </a:solidFill>
                <a:latin typeface="SFMono-Regular"/>
              </a:rPr>
              <a:t>-</a:t>
            </a:r>
            <a:r>
              <a:rPr lang="en-US" altLang="en-US" sz="825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825" b="1" dirty="0">
                <a:solidFill>
                  <a:srgbClr val="22863A"/>
                </a:solidFill>
                <a:latin typeface="SFMono-Regular"/>
              </a:rPr>
              <a:t>name</a:t>
            </a:r>
            <a:r>
              <a:rPr lang="en-US" altLang="en-US" sz="825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825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825" dirty="0">
                <a:solidFill>
                  <a:srgbClr val="032F62"/>
                </a:solidFill>
                <a:latin typeface="SFMono-Regular"/>
              </a:rPr>
              <a:t>Install, configure, and start Apache</a:t>
            </a:r>
            <a:r>
              <a:rPr lang="en-US" altLang="en-US" sz="825" dirty="0">
                <a:solidFill>
                  <a:srgbClr val="404040"/>
                </a:solidFill>
                <a:latin typeface="SFMono-Regular"/>
              </a:rPr>
              <a:t> 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50" dirty="0">
                <a:solidFill>
                  <a:srgbClr val="404040"/>
                </a:solidFill>
                <a:latin typeface="SFMono-Regular"/>
              </a:rPr>
              <a:t>   </a:t>
            </a:r>
            <a:r>
              <a:rPr lang="en-US" altLang="en-US" sz="1050" b="1" dirty="0">
                <a:solidFill>
                  <a:srgbClr val="22863A"/>
                </a:solidFill>
                <a:latin typeface="SFMono-Regular"/>
              </a:rPr>
              <a:t>block</a:t>
            </a:r>
            <a:r>
              <a:rPr lang="en-US" altLang="en-US" sz="1050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1050" dirty="0">
                <a:solidFill>
                  <a:srgbClr val="404040"/>
                </a:solidFill>
                <a:latin typeface="SFMono-Regular"/>
              </a:rPr>
              <a:t> 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25" b="1" dirty="0">
                <a:solidFill>
                  <a:srgbClr val="404040"/>
                </a:solidFill>
                <a:latin typeface="SFMono-Regular"/>
              </a:rPr>
              <a:t>      -</a:t>
            </a:r>
            <a:r>
              <a:rPr lang="en-US" altLang="en-US" sz="825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825" b="1" dirty="0">
                <a:solidFill>
                  <a:srgbClr val="22863A"/>
                </a:solidFill>
                <a:latin typeface="SFMono-Regular"/>
              </a:rPr>
              <a:t>name</a:t>
            </a:r>
            <a:r>
              <a:rPr lang="en-US" altLang="en-US" sz="825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825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825" dirty="0">
                <a:solidFill>
                  <a:srgbClr val="032F62"/>
                </a:solidFill>
                <a:latin typeface="SFMono-Regular"/>
              </a:rPr>
              <a:t>Install httpd and </a:t>
            </a:r>
            <a:r>
              <a:rPr lang="en-US" altLang="en-US" sz="825" dirty="0" err="1">
                <a:solidFill>
                  <a:srgbClr val="032F62"/>
                </a:solidFill>
                <a:latin typeface="SFMono-Regular"/>
              </a:rPr>
              <a:t>memcached</a:t>
            </a:r>
            <a:r>
              <a:rPr lang="en-US" altLang="en-US" sz="825" dirty="0">
                <a:solidFill>
                  <a:srgbClr val="404040"/>
                </a:solidFill>
                <a:latin typeface="SFMono-Regular"/>
              </a:rPr>
              <a:t>         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25" dirty="0">
                <a:solidFill>
                  <a:srgbClr val="404040"/>
                </a:solidFill>
                <a:latin typeface="SFMono-Regular"/>
              </a:rPr>
              <a:t>         </a:t>
            </a:r>
            <a:r>
              <a:rPr lang="en-US" altLang="en-US" sz="825" b="1" dirty="0" err="1">
                <a:solidFill>
                  <a:srgbClr val="22863A"/>
                </a:solidFill>
                <a:latin typeface="SFMono-Regular"/>
              </a:rPr>
              <a:t>ansible.builtin.yum</a:t>
            </a:r>
            <a:r>
              <a:rPr lang="en-US" altLang="en-US" sz="825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825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825" b="1" dirty="0">
                <a:solidFill>
                  <a:srgbClr val="22863A"/>
                </a:solidFill>
                <a:latin typeface="SFMono-Regular"/>
              </a:rPr>
              <a:t>name</a:t>
            </a:r>
            <a:r>
              <a:rPr lang="en-US" altLang="en-US" sz="825" b="1" dirty="0">
                <a:solidFill>
                  <a:srgbClr val="404040"/>
                </a:solidFill>
                <a:latin typeface="SFMono-Regular"/>
              </a:rPr>
              <a:t>: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25" b="1" dirty="0">
                <a:solidFill>
                  <a:srgbClr val="404040"/>
                </a:solidFill>
                <a:latin typeface="SFMono-Regular"/>
              </a:rPr>
              <a:t>        </a:t>
            </a:r>
            <a:r>
              <a:rPr lang="en-US" altLang="en-US" sz="825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825" b="1" dirty="0">
                <a:solidFill>
                  <a:srgbClr val="404040"/>
                </a:solidFill>
                <a:latin typeface="SFMono-Regular"/>
              </a:rPr>
              <a:t>-</a:t>
            </a:r>
            <a:r>
              <a:rPr lang="en-US" altLang="en-US" sz="825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825" dirty="0">
                <a:solidFill>
                  <a:srgbClr val="032F62"/>
                </a:solidFill>
                <a:latin typeface="SFMono-Regular"/>
              </a:rPr>
              <a:t>httpd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25" dirty="0">
                <a:solidFill>
                  <a:srgbClr val="032F62"/>
                </a:solidFill>
                <a:latin typeface="SFMono-Regular"/>
              </a:rPr>
              <a:t>        </a:t>
            </a:r>
            <a:r>
              <a:rPr lang="en-US" altLang="en-US" sz="825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825" b="1" dirty="0">
                <a:solidFill>
                  <a:srgbClr val="404040"/>
                </a:solidFill>
                <a:latin typeface="SFMono-Regular"/>
              </a:rPr>
              <a:t>-</a:t>
            </a:r>
            <a:r>
              <a:rPr lang="en-US" altLang="en-US" sz="825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825" dirty="0">
                <a:solidFill>
                  <a:srgbClr val="032F62"/>
                </a:solidFill>
                <a:latin typeface="SFMono-Regular"/>
              </a:rPr>
              <a:t>Memcached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25" dirty="0">
                <a:solidFill>
                  <a:srgbClr val="032F62"/>
                </a:solidFill>
                <a:latin typeface="SFMono-Regular"/>
              </a:rPr>
              <a:t>        </a:t>
            </a:r>
            <a:r>
              <a:rPr lang="en-US" altLang="en-US" sz="825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825" b="1" dirty="0">
                <a:solidFill>
                  <a:srgbClr val="22863A"/>
                </a:solidFill>
                <a:latin typeface="SFMono-Regular"/>
              </a:rPr>
              <a:t>state</a:t>
            </a:r>
            <a:r>
              <a:rPr lang="en-US" altLang="en-US" sz="825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825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825" dirty="0">
                <a:solidFill>
                  <a:srgbClr val="032F62"/>
                </a:solidFill>
                <a:latin typeface="SFMono-Regular"/>
              </a:rPr>
              <a:t>present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25" dirty="0">
                <a:solidFill>
                  <a:srgbClr val="404040"/>
                </a:solidFill>
                <a:latin typeface="SFMono-Regular"/>
              </a:rPr>
              <a:t>     </a:t>
            </a:r>
            <a:r>
              <a:rPr lang="en-US" altLang="en-US" sz="825" b="1" dirty="0">
                <a:solidFill>
                  <a:srgbClr val="404040"/>
                </a:solidFill>
                <a:latin typeface="SFMono-Regular"/>
              </a:rPr>
              <a:t>-</a:t>
            </a:r>
            <a:r>
              <a:rPr lang="en-US" altLang="en-US" sz="825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825" b="1" dirty="0">
                <a:solidFill>
                  <a:srgbClr val="22863A"/>
                </a:solidFill>
                <a:latin typeface="SFMono-Regular"/>
              </a:rPr>
              <a:t>name</a:t>
            </a:r>
            <a:r>
              <a:rPr lang="en-US" altLang="en-US" sz="825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825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825" dirty="0">
                <a:solidFill>
                  <a:srgbClr val="032F62"/>
                </a:solidFill>
                <a:latin typeface="SFMono-Regular"/>
              </a:rPr>
              <a:t>Apply the foo config template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25" dirty="0">
                <a:solidFill>
                  <a:srgbClr val="032F62"/>
                </a:solidFill>
                <a:latin typeface="SFMono-Regular"/>
              </a:rPr>
              <a:t>      </a:t>
            </a:r>
            <a:r>
              <a:rPr lang="en-US" altLang="en-US" sz="825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825" b="1" dirty="0" err="1">
                <a:solidFill>
                  <a:srgbClr val="22863A"/>
                </a:solidFill>
                <a:latin typeface="SFMono-Regular"/>
              </a:rPr>
              <a:t>ansible.builtin.template</a:t>
            </a:r>
            <a:r>
              <a:rPr lang="en-US" altLang="en-US" sz="825" b="1" dirty="0">
                <a:solidFill>
                  <a:srgbClr val="404040"/>
                </a:solidFill>
                <a:latin typeface="SFMono-Regular"/>
              </a:rPr>
              <a:t>: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25" b="1" dirty="0">
                <a:solidFill>
                  <a:srgbClr val="404040"/>
                </a:solidFill>
                <a:latin typeface="SFMono-Regular"/>
              </a:rPr>
              <a:t>        </a:t>
            </a:r>
            <a:r>
              <a:rPr lang="en-US" altLang="en-US" sz="825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825" b="1" dirty="0" err="1">
                <a:solidFill>
                  <a:srgbClr val="22863A"/>
                </a:solidFill>
                <a:latin typeface="SFMono-Regular"/>
              </a:rPr>
              <a:t>src</a:t>
            </a:r>
            <a:r>
              <a:rPr lang="en-US" altLang="en-US" sz="825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825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825" dirty="0">
                <a:solidFill>
                  <a:srgbClr val="032F62"/>
                </a:solidFill>
                <a:latin typeface="SFMono-Regular"/>
              </a:rPr>
              <a:t>templates/src.j2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25" dirty="0">
                <a:solidFill>
                  <a:srgbClr val="032F62"/>
                </a:solidFill>
                <a:latin typeface="SFMono-Regular"/>
              </a:rPr>
              <a:t>        </a:t>
            </a:r>
            <a:r>
              <a:rPr lang="en-US" altLang="en-US" sz="825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825" b="1" dirty="0" err="1">
                <a:solidFill>
                  <a:srgbClr val="22863A"/>
                </a:solidFill>
                <a:latin typeface="SFMono-Regular"/>
              </a:rPr>
              <a:t>dest</a:t>
            </a:r>
            <a:r>
              <a:rPr lang="en-US" altLang="en-US" sz="825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825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825" dirty="0">
                <a:solidFill>
                  <a:srgbClr val="032F62"/>
                </a:solidFill>
                <a:latin typeface="SFMono-Regular"/>
              </a:rPr>
              <a:t>/</a:t>
            </a:r>
            <a:r>
              <a:rPr lang="en-US" altLang="en-US" sz="825" dirty="0" err="1">
                <a:solidFill>
                  <a:srgbClr val="032F62"/>
                </a:solidFill>
                <a:latin typeface="SFMono-Regular"/>
              </a:rPr>
              <a:t>etc</a:t>
            </a:r>
            <a:r>
              <a:rPr lang="en-US" altLang="en-US" sz="825" dirty="0">
                <a:solidFill>
                  <a:srgbClr val="032F62"/>
                </a:solidFill>
                <a:latin typeface="SFMono-Regular"/>
              </a:rPr>
              <a:t>/</a:t>
            </a:r>
            <a:r>
              <a:rPr lang="en-US" altLang="en-US" sz="825" dirty="0" err="1">
                <a:solidFill>
                  <a:srgbClr val="032F62"/>
                </a:solidFill>
                <a:latin typeface="SFMono-Regular"/>
              </a:rPr>
              <a:t>foo.conf</a:t>
            </a:r>
            <a:endParaRPr lang="en-US" altLang="en-US" sz="825" dirty="0">
              <a:solidFill>
                <a:srgbClr val="032F62"/>
              </a:solidFill>
              <a:latin typeface="SFMono-Regular"/>
            </a:endParaRP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25" dirty="0">
                <a:solidFill>
                  <a:srgbClr val="404040"/>
                </a:solidFill>
                <a:latin typeface="SFMono-Regular"/>
              </a:rPr>
              <a:t>     </a:t>
            </a:r>
            <a:r>
              <a:rPr lang="en-US" altLang="en-US" sz="825" b="1" dirty="0">
                <a:solidFill>
                  <a:srgbClr val="404040"/>
                </a:solidFill>
                <a:latin typeface="SFMono-Regular"/>
              </a:rPr>
              <a:t>-</a:t>
            </a:r>
            <a:r>
              <a:rPr lang="en-US" altLang="en-US" sz="825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825" b="1" dirty="0">
                <a:solidFill>
                  <a:srgbClr val="22863A"/>
                </a:solidFill>
                <a:latin typeface="SFMono-Regular"/>
              </a:rPr>
              <a:t>name</a:t>
            </a:r>
            <a:r>
              <a:rPr lang="en-US" altLang="en-US" sz="825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825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825" dirty="0">
                <a:solidFill>
                  <a:srgbClr val="032F62"/>
                </a:solidFill>
                <a:latin typeface="SFMono-Regular"/>
              </a:rPr>
              <a:t>Start service bar and enable it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25" dirty="0">
                <a:solidFill>
                  <a:srgbClr val="032F62"/>
                </a:solidFill>
                <a:latin typeface="SFMono-Regular"/>
              </a:rPr>
              <a:t>      </a:t>
            </a:r>
            <a:r>
              <a:rPr lang="en-US" altLang="en-US" sz="825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825" b="1" dirty="0" err="1">
                <a:solidFill>
                  <a:srgbClr val="22863A"/>
                </a:solidFill>
                <a:latin typeface="SFMono-Regular"/>
              </a:rPr>
              <a:t>ansible.builtin.service</a:t>
            </a:r>
            <a:r>
              <a:rPr lang="en-US" altLang="en-US" sz="825" b="1" dirty="0">
                <a:solidFill>
                  <a:srgbClr val="404040"/>
                </a:solidFill>
                <a:latin typeface="SFMono-Regular"/>
              </a:rPr>
              <a:t>: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25" b="1" dirty="0">
                <a:solidFill>
                  <a:srgbClr val="404040"/>
                </a:solidFill>
                <a:latin typeface="SFMono-Regular"/>
              </a:rPr>
              <a:t>        </a:t>
            </a:r>
            <a:r>
              <a:rPr lang="en-US" altLang="en-US" sz="825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825" b="1" dirty="0">
                <a:solidFill>
                  <a:srgbClr val="22863A"/>
                </a:solidFill>
                <a:latin typeface="SFMono-Regular"/>
              </a:rPr>
              <a:t>name</a:t>
            </a:r>
            <a:r>
              <a:rPr lang="en-US" altLang="en-US" sz="825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825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825" dirty="0">
                <a:solidFill>
                  <a:srgbClr val="032F62"/>
                </a:solidFill>
                <a:latin typeface="SFMono-Regular"/>
              </a:rPr>
              <a:t>bar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25" dirty="0">
                <a:solidFill>
                  <a:srgbClr val="032F62"/>
                </a:solidFill>
                <a:latin typeface="SFMono-Regular"/>
              </a:rPr>
              <a:t>        </a:t>
            </a:r>
            <a:r>
              <a:rPr lang="en-US" altLang="en-US" sz="825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825" b="1" dirty="0">
                <a:solidFill>
                  <a:srgbClr val="22863A"/>
                </a:solidFill>
                <a:latin typeface="SFMono-Regular"/>
              </a:rPr>
              <a:t>state</a:t>
            </a:r>
            <a:r>
              <a:rPr lang="en-US" altLang="en-US" sz="825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825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825" dirty="0">
                <a:solidFill>
                  <a:srgbClr val="032F62"/>
                </a:solidFill>
                <a:latin typeface="SFMono-Regular"/>
              </a:rPr>
              <a:t>started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25" dirty="0">
                <a:solidFill>
                  <a:srgbClr val="404040"/>
                </a:solidFill>
                <a:latin typeface="SFMono-Regular"/>
              </a:rPr>
              <a:t>         </a:t>
            </a:r>
            <a:r>
              <a:rPr lang="en-US" altLang="en-US" sz="825" b="1" dirty="0">
                <a:solidFill>
                  <a:srgbClr val="22863A"/>
                </a:solidFill>
                <a:latin typeface="SFMono-Regular"/>
              </a:rPr>
              <a:t>enabled</a:t>
            </a:r>
            <a:r>
              <a:rPr lang="en-US" altLang="en-US" sz="825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825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825" dirty="0">
                <a:solidFill>
                  <a:srgbClr val="032F62"/>
                </a:solidFill>
                <a:latin typeface="SFMono-Regular"/>
              </a:rPr>
              <a:t>True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25" dirty="0">
                <a:solidFill>
                  <a:srgbClr val="404040"/>
                </a:solidFill>
                <a:latin typeface="SFMono-Regular"/>
              </a:rPr>
              <a:t>  when: ansible_facts['distribution'] == 'CentOS'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25" dirty="0">
                <a:solidFill>
                  <a:srgbClr val="404040"/>
                </a:solidFill>
                <a:latin typeface="SFMono-Regular"/>
              </a:rPr>
              <a:t>  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become</a:t>
            </a:r>
            <a:r>
              <a:rPr lang="en-US" altLang="en-US" sz="825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825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825" dirty="0">
                <a:solidFill>
                  <a:srgbClr val="032F62"/>
                </a:solidFill>
                <a:latin typeface="SFMono-Regular"/>
              </a:rPr>
              <a:t>true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25" dirty="0">
                <a:solidFill>
                  <a:srgbClr val="404040"/>
                </a:solidFill>
                <a:latin typeface="SFMono-Regular"/>
              </a:rPr>
              <a:t> 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become_user</a:t>
            </a:r>
            <a:r>
              <a:rPr lang="en-US" altLang="en-US" sz="825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825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825" dirty="0">
                <a:solidFill>
                  <a:srgbClr val="032F62"/>
                </a:solidFill>
                <a:latin typeface="SFMono-Regular"/>
              </a:rPr>
              <a:t>root</a:t>
            </a:r>
          </a:p>
          <a:p>
            <a:pPr marL="0" indent="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25" dirty="0">
                <a:solidFill>
                  <a:srgbClr val="404040"/>
                </a:solidFill>
                <a:latin typeface="SFMono-Regular"/>
              </a:rPr>
              <a:t> 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ignore_errors</a:t>
            </a:r>
            <a:r>
              <a:rPr lang="en-US" altLang="en-US" sz="825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825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825" dirty="0">
                <a:solidFill>
                  <a:srgbClr val="032F62"/>
                </a:solidFill>
                <a:latin typeface="SFMono-Regular"/>
              </a:rPr>
              <a:t>true</a:t>
            </a:r>
            <a:r>
              <a:rPr lang="en-US" altLang="en-US" sz="825" dirty="0">
                <a:solidFill>
                  <a:srgbClr val="404040"/>
                </a:solidFill>
                <a:latin typeface="SFMono-Regular"/>
              </a:rPr>
              <a:t> </a:t>
            </a:r>
            <a:endParaRPr lang="en-US" altLang="en-US" sz="600" dirty="0"/>
          </a:p>
        </p:txBody>
      </p:sp>
    </p:spTree>
    <p:extLst>
      <p:ext uri="{BB962C8B-B14F-4D97-AF65-F5344CB8AC3E}">
        <p14:creationId xmlns:p14="http://schemas.microsoft.com/office/powerpoint/2010/main" val="2740790285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F3793-A7E6-E002-CED7-71288A5F3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dirty="0"/>
              <a:t>Add tags to task to be able to run only part of large and complex playbook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dirty="0"/>
              <a:t>Tags task, block, play or role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D4980-6D12-1B67-FFF6-2542EB4C04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57250"/>
            <a:ext cx="8689086" cy="75438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41414"/>
                </a:solidFill>
                <a:latin typeface="Red Hat Display"/>
              </a:rPr>
              <a:t>Playbook tags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77955-156A-8923-95FE-EEF193C5423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5624513"/>
            <a:ext cx="2133600" cy="273844"/>
          </a:xfrm>
        </p:spPr>
        <p:txBody>
          <a:bodyPr/>
          <a:lstStyle/>
          <a:p>
            <a:fld id="{7048F631-2D74-437D-9509-32BA0A9A0C18}" type="slidenum">
              <a:rPr lang="en-US" smtClean="0"/>
              <a:t>202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53AAE3-7795-3E9E-EFA8-0E5F2230F1C5}"/>
              </a:ext>
            </a:extLst>
          </p:cNvPr>
          <p:cNvSpPr txBox="1"/>
          <p:nvPr/>
        </p:nvSpPr>
        <p:spPr>
          <a:xfrm>
            <a:off x="705420" y="2541043"/>
            <a:ext cx="145945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50" dirty="0"/>
              <a:t>- name: Install </a:t>
            </a:r>
            <a:r>
              <a:rPr lang="en-US" sz="750" dirty="0" err="1"/>
              <a:t>ntp</a:t>
            </a:r>
            <a:endParaRPr lang="en-US" sz="750" dirty="0"/>
          </a:p>
          <a:p>
            <a:r>
              <a:rPr lang="en-US" sz="750" dirty="0"/>
              <a:t>  </a:t>
            </a:r>
            <a:r>
              <a:rPr lang="en-US" sz="750" dirty="0" err="1"/>
              <a:t>ansible.builtin.yum</a:t>
            </a:r>
            <a:r>
              <a:rPr lang="en-US" sz="750" dirty="0"/>
              <a:t>:</a:t>
            </a:r>
          </a:p>
          <a:p>
            <a:r>
              <a:rPr lang="en-US" sz="750" dirty="0"/>
              <a:t>    name: </a:t>
            </a:r>
            <a:r>
              <a:rPr lang="en-US" sz="750" dirty="0" err="1"/>
              <a:t>ntp</a:t>
            </a:r>
            <a:endParaRPr lang="en-US" sz="750" dirty="0"/>
          </a:p>
          <a:p>
            <a:r>
              <a:rPr lang="en-US" sz="750" dirty="0"/>
              <a:t>    state: present</a:t>
            </a:r>
          </a:p>
          <a:p>
            <a:r>
              <a:rPr lang="en-US" sz="750" dirty="0">
                <a:highlight>
                  <a:srgbClr val="FFFF00"/>
                </a:highlight>
              </a:rPr>
              <a:t>  tags: </a:t>
            </a:r>
            <a:r>
              <a:rPr lang="en-US" sz="750" dirty="0" err="1">
                <a:highlight>
                  <a:srgbClr val="FFFF00"/>
                </a:highlight>
              </a:rPr>
              <a:t>ntp</a:t>
            </a:r>
            <a:endParaRPr lang="en-US" sz="750" dirty="0">
              <a:highlight>
                <a:srgbClr val="FFFF00"/>
              </a:highlight>
            </a:endParaRPr>
          </a:p>
          <a:p>
            <a:endParaRPr lang="en-US" sz="750" dirty="0"/>
          </a:p>
          <a:p>
            <a:r>
              <a:rPr lang="en-US" sz="750" dirty="0"/>
              <a:t>- name: Configure </a:t>
            </a:r>
            <a:r>
              <a:rPr lang="en-US" sz="750" dirty="0" err="1"/>
              <a:t>ntp</a:t>
            </a:r>
            <a:endParaRPr lang="en-US" sz="750" dirty="0"/>
          </a:p>
          <a:p>
            <a:r>
              <a:rPr lang="en-US" sz="750" dirty="0"/>
              <a:t>  </a:t>
            </a:r>
            <a:r>
              <a:rPr lang="en-US" sz="750" dirty="0" err="1"/>
              <a:t>ansible.builtin.template</a:t>
            </a:r>
            <a:r>
              <a:rPr lang="en-US" sz="750" dirty="0"/>
              <a:t>:</a:t>
            </a:r>
          </a:p>
          <a:p>
            <a:r>
              <a:rPr lang="en-US" sz="750" dirty="0"/>
              <a:t>    </a:t>
            </a:r>
            <a:r>
              <a:rPr lang="en-US" sz="750" dirty="0" err="1"/>
              <a:t>src</a:t>
            </a:r>
            <a:r>
              <a:rPr lang="en-US" sz="750" dirty="0"/>
              <a:t>: ntp.conf.j2</a:t>
            </a:r>
          </a:p>
          <a:p>
            <a:r>
              <a:rPr lang="en-US" sz="750" dirty="0"/>
              <a:t>    </a:t>
            </a:r>
            <a:r>
              <a:rPr lang="en-US" sz="750" dirty="0" err="1"/>
              <a:t>dest</a:t>
            </a:r>
            <a:r>
              <a:rPr lang="en-US" sz="750" dirty="0"/>
              <a:t>: /</a:t>
            </a:r>
            <a:r>
              <a:rPr lang="en-US" sz="750" dirty="0" err="1"/>
              <a:t>etc</a:t>
            </a:r>
            <a:r>
              <a:rPr lang="en-US" sz="750" dirty="0"/>
              <a:t>/</a:t>
            </a:r>
            <a:r>
              <a:rPr lang="en-US" sz="750" dirty="0" err="1"/>
              <a:t>ntp.conf</a:t>
            </a:r>
            <a:endParaRPr lang="en-US" sz="750" dirty="0"/>
          </a:p>
          <a:p>
            <a:r>
              <a:rPr lang="en-US" sz="750" dirty="0"/>
              <a:t>  notify:</a:t>
            </a:r>
          </a:p>
          <a:p>
            <a:r>
              <a:rPr lang="en-US" sz="750" dirty="0"/>
              <a:t>  - restart </a:t>
            </a:r>
            <a:r>
              <a:rPr lang="en-US" sz="750" dirty="0" err="1"/>
              <a:t>ntpd</a:t>
            </a:r>
            <a:endParaRPr lang="en-US" sz="750" dirty="0"/>
          </a:p>
          <a:p>
            <a:r>
              <a:rPr lang="en-US" sz="750" dirty="0">
                <a:highlight>
                  <a:srgbClr val="FFFF00"/>
                </a:highlight>
              </a:rPr>
              <a:t>  tags: </a:t>
            </a:r>
            <a:r>
              <a:rPr lang="en-US" sz="750" dirty="0" err="1">
                <a:highlight>
                  <a:srgbClr val="FFFF00"/>
                </a:highlight>
              </a:rPr>
              <a:t>ntp</a:t>
            </a:r>
            <a:endParaRPr lang="en-US" sz="750" dirty="0">
              <a:highlight>
                <a:srgbClr val="FFFF00"/>
              </a:highlight>
            </a:endParaRPr>
          </a:p>
          <a:p>
            <a:endParaRPr lang="en-US" sz="750" dirty="0"/>
          </a:p>
          <a:p>
            <a:r>
              <a:rPr lang="en-US" sz="750" dirty="0"/>
              <a:t>- name: Enable and run </a:t>
            </a:r>
            <a:r>
              <a:rPr lang="en-US" sz="750" dirty="0" err="1"/>
              <a:t>ntpd</a:t>
            </a:r>
            <a:endParaRPr lang="en-US" sz="750" dirty="0"/>
          </a:p>
          <a:p>
            <a:r>
              <a:rPr lang="en-US" sz="750" dirty="0"/>
              <a:t>  </a:t>
            </a:r>
            <a:r>
              <a:rPr lang="en-US" sz="750" dirty="0" err="1"/>
              <a:t>ansible.builtin.service</a:t>
            </a:r>
            <a:r>
              <a:rPr lang="en-US" sz="750" dirty="0"/>
              <a:t>:</a:t>
            </a:r>
          </a:p>
          <a:p>
            <a:r>
              <a:rPr lang="en-US" sz="750" dirty="0"/>
              <a:t>    name: </a:t>
            </a:r>
            <a:r>
              <a:rPr lang="en-US" sz="750" dirty="0" err="1"/>
              <a:t>ntpd</a:t>
            </a:r>
            <a:endParaRPr lang="en-US" sz="750" dirty="0"/>
          </a:p>
          <a:p>
            <a:r>
              <a:rPr lang="en-US" sz="750" dirty="0"/>
              <a:t>    state: started</a:t>
            </a:r>
          </a:p>
          <a:p>
            <a:r>
              <a:rPr lang="en-US" sz="750" dirty="0"/>
              <a:t>    enabled: true</a:t>
            </a:r>
          </a:p>
          <a:p>
            <a:r>
              <a:rPr lang="en-US" sz="750" dirty="0">
                <a:highlight>
                  <a:srgbClr val="FFFF00"/>
                </a:highlight>
              </a:rPr>
              <a:t>  tags: </a:t>
            </a:r>
            <a:r>
              <a:rPr lang="en-US" sz="750" dirty="0" err="1">
                <a:highlight>
                  <a:srgbClr val="FFFF00"/>
                </a:highlight>
              </a:rPr>
              <a:t>ntp</a:t>
            </a:r>
            <a:endParaRPr lang="en-US" sz="750" dirty="0">
              <a:highlight>
                <a:srgbClr val="FFFF00"/>
              </a:highlight>
            </a:endParaRPr>
          </a:p>
          <a:p>
            <a:endParaRPr lang="en-US" sz="750" dirty="0"/>
          </a:p>
          <a:p>
            <a:r>
              <a:rPr lang="en-US" sz="750" dirty="0"/>
              <a:t>- name: Install NFS utils</a:t>
            </a:r>
          </a:p>
          <a:p>
            <a:r>
              <a:rPr lang="en-US" sz="750" dirty="0"/>
              <a:t>  </a:t>
            </a:r>
            <a:r>
              <a:rPr lang="en-US" sz="750" dirty="0" err="1"/>
              <a:t>ansible.builtin.yum</a:t>
            </a:r>
            <a:r>
              <a:rPr lang="en-US" sz="750" dirty="0"/>
              <a:t>:</a:t>
            </a:r>
          </a:p>
          <a:p>
            <a:r>
              <a:rPr lang="en-US" sz="750" dirty="0"/>
              <a:t>    name:</a:t>
            </a:r>
          </a:p>
          <a:p>
            <a:r>
              <a:rPr lang="en-US" sz="750" dirty="0"/>
              <a:t>    - </a:t>
            </a:r>
            <a:r>
              <a:rPr lang="en-US" sz="750" dirty="0" err="1"/>
              <a:t>nfs</a:t>
            </a:r>
            <a:r>
              <a:rPr lang="en-US" sz="750" dirty="0"/>
              <a:t>-utils</a:t>
            </a:r>
          </a:p>
          <a:p>
            <a:r>
              <a:rPr lang="en-US" sz="750" dirty="0"/>
              <a:t>    - </a:t>
            </a:r>
            <a:r>
              <a:rPr lang="en-US" sz="750" dirty="0" err="1"/>
              <a:t>nfs</a:t>
            </a:r>
            <a:r>
              <a:rPr lang="en-US" sz="750" dirty="0"/>
              <a:t>-util-lib</a:t>
            </a:r>
          </a:p>
          <a:p>
            <a:r>
              <a:rPr lang="en-US" sz="750" dirty="0"/>
              <a:t>    state: present</a:t>
            </a:r>
          </a:p>
          <a:p>
            <a:r>
              <a:rPr lang="en-US" sz="750" dirty="0"/>
              <a:t>  tags: filesharing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080FB2-E54B-536B-F490-FE1EF3B028EF}"/>
              </a:ext>
            </a:extLst>
          </p:cNvPr>
          <p:cNvSpPr txBox="1"/>
          <p:nvPr/>
        </p:nvSpPr>
        <p:spPr>
          <a:xfrm>
            <a:off x="2286855" y="2541043"/>
            <a:ext cx="145945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50" dirty="0"/>
              <a:t>- name: NTP</a:t>
            </a:r>
          </a:p>
          <a:p>
            <a:r>
              <a:rPr lang="en-US" sz="750" dirty="0"/>
              <a:t>  </a:t>
            </a:r>
            <a:r>
              <a:rPr lang="en-US" sz="750" dirty="0">
                <a:highlight>
                  <a:srgbClr val="FFFF00"/>
                </a:highlight>
              </a:rPr>
              <a:t>Tags: </a:t>
            </a:r>
            <a:r>
              <a:rPr lang="en-US" sz="750" dirty="0" err="1">
                <a:highlight>
                  <a:srgbClr val="FFFF00"/>
                </a:highlight>
              </a:rPr>
              <a:t>ntp</a:t>
            </a:r>
            <a:endParaRPr lang="en-US" sz="750" dirty="0">
              <a:highlight>
                <a:srgbClr val="FFFF00"/>
              </a:highlight>
            </a:endParaRPr>
          </a:p>
          <a:p>
            <a:r>
              <a:rPr lang="en-US" sz="750" dirty="0">
                <a:highlight>
                  <a:srgbClr val="FFFF00"/>
                </a:highlight>
              </a:rPr>
              <a:t>  block.:</a:t>
            </a:r>
          </a:p>
          <a:p>
            <a:r>
              <a:rPr lang="en-US" sz="750" dirty="0"/>
              <a:t>  - name: Install </a:t>
            </a:r>
            <a:r>
              <a:rPr lang="en-US" sz="750" dirty="0" err="1"/>
              <a:t>ntp</a:t>
            </a:r>
            <a:endParaRPr lang="en-US" sz="750" dirty="0"/>
          </a:p>
          <a:p>
            <a:r>
              <a:rPr lang="en-US" sz="750" dirty="0"/>
              <a:t>    </a:t>
            </a:r>
            <a:r>
              <a:rPr lang="en-US" sz="750" dirty="0" err="1"/>
              <a:t>ansible.builtin.yum</a:t>
            </a:r>
            <a:r>
              <a:rPr lang="en-US" sz="750" dirty="0"/>
              <a:t>:</a:t>
            </a:r>
          </a:p>
          <a:p>
            <a:r>
              <a:rPr lang="en-US" sz="750" dirty="0"/>
              <a:t>      name: </a:t>
            </a:r>
            <a:r>
              <a:rPr lang="en-US" sz="750" dirty="0" err="1"/>
              <a:t>ntp</a:t>
            </a:r>
            <a:endParaRPr lang="en-US" sz="750" dirty="0"/>
          </a:p>
          <a:p>
            <a:r>
              <a:rPr lang="en-US" sz="750" dirty="0"/>
              <a:t>      state: present</a:t>
            </a:r>
          </a:p>
          <a:p>
            <a:endParaRPr lang="en-US" sz="750" dirty="0"/>
          </a:p>
          <a:p>
            <a:r>
              <a:rPr lang="en-US" sz="750" dirty="0"/>
              <a:t>  - name: Configure </a:t>
            </a:r>
            <a:r>
              <a:rPr lang="en-US" sz="750" dirty="0" err="1"/>
              <a:t>ntp</a:t>
            </a:r>
            <a:endParaRPr lang="en-US" sz="750" dirty="0"/>
          </a:p>
          <a:p>
            <a:r>
              <a:rPr lang="en-US" sz="750" dirty="0"/>
              <a:t>    </a:t>
            </a:r>
            <a:r>
              <a:rPr lang="en-US" sz="750" dirty="0" err="1"/>
              <a:t>ansible.builtin.template</a:t>
            </a:r>
            <a:r>
              <a:rPr lang="en-US" sz="750" dirty="0"/>
              <a:t>:</a:t>
            </a:r>
          </a:p>
          <a:p>
            <a:r>
              <a:rPr lang="en-US" sz="750" dirty="0"/>
              <a:t>      </a:t>
            </a:r>
            <a:r>
              <a:rPr lang="en-US" sz="750" dirty="0" err="1"/>
              <a:t>src</a:t>
            </a:r>
            <a:r>
              <a:rPr lang="en-US" sz="750" dirty="0"/>
              <a:t>: ntp.conf.j2</a:t>
            </a:r>
          </a:p>
          <a:p>
            <a:r>
              <a:rPr lang="en-US" sz="750" dirty="0"/>
              <a:t>      </a:t>
            </a:r>
            <a:r>
              <a:rPr lang="en-US" sz="750" dirty="0" err="1"/>
              <a:t>dest</a:t>
            </a:r>
            <a:r>
              <a:rPr lang="en-US" sz="750" dirty="0"/>
              <a:t>: /</a:t>
            </a:r>
            <a:r>
              <a:rPr lang="en-US" sz="750" dirty="0" err="1"/>
              <a:t>etc</a:t>
            </a:r>
            <a:r>
              <a:rPr lang="en-US" sz="750" dirty="0"/>
              <a:t>/</a:t>
            </a:r>
            <a:r>
              <a:rPr lang="en-US" sz="750" dirty="0" err="1"/>
              <a:t>ntp.conf</a:t>
            </a:r>
            <a:endParaRPr lang="en-US" sz="750" dirty="0"/>
          </a:p>
          <a:p>
            <a:r>
              <a:rPr lang="en-US" sz="750" dirty="0"/>
              <a:t>      notify:</a:t>
            </a:r>
          </a:p>
          <a:p>
            <a:r>
              <a:rPr lang="en-US" sz="750" dirty="0"/>
              <a:t>      - restart </a:t>
            </a:r>
            <a:r>
              <a:rPr lang="en-US" sz="750" dirty="0" err="1"/>
              <a:t>ntpd</a:t>
            </a:r>
            <a:endParaRPr lang="en-US" sz="750" dirty="0"/>
          </a:p>
          <a:p>
            <a:endParaRPr lang="en-US" sz="750" dirty="0"/>
          </a:p>
          <a:p>
            <a:r>
              <a:rPr lang="en-US" sz="750" dirty="0"/>
              <a:t>  - name: Enable and run </a:t>
            </a:r>
            <a:r>
              <a:rPr lang="en-US" sz="750" dirty="0" err="1"/>
              <a:t>ntpd</a:t>
            </a:r>
            <a:endParaRPr lang="en-US" sz="750" dirty="0"/>
          </a:p>
          <a:p>
            <a:r>
              <a:rPr lang="en-US" sz="750" dirty="0"/>
              <a:t>    </a:t>
            </a:r>
            <a:r>
              <a:rPr lang="en-US" sz="750" dirty="0" err="1"/>
              <a:t>ansible.builtin.service</a:t>
            </a:r>
            <a:r>
              <a:rPr lang="en-US" sz="750" dirty="0"/>
              <a:t>:</a:t>
            </a:r>
          </a:p>
          <a:p>
            <a:r>
              <a:rPr lang="en-US" sz="750" dirty="0"/>
              <a:t>      name: </a:t>
            </a:r>
            <a:r>
              <a:rPr lang="en-US" sz="750" dirty="0" err="1"/>
              <a:t>ntpd</a:t>
            </a:r>
            <a:endParaRPr lang="en-US" sz="750" dirty="0"/>
          </a:p>
          <a:p>
            <a:r>
              <a:rPr lang="en-US" sz="750" dirty="0"/>
              <a:t>        state: started</a:t>
            </a:r>
          </a:p>
          <a:p>
            <a:r>
              <a:rPr lang="en-US" sz="750" dirty="0"/>
              <a:t>        enabled: true</a:t>
            </a:r>
          </a:p>
          <a:p>
            <a:endParaRPr lang="en-US" sz="750" dirty="0"/>
          </a:p>
          <a:p>
            <a:r>
              <a:rPr lang="en-US" sz="750" dirty="0"/>
              <a:t>  - name: Install NFS utils</a:t>
            </a:r>
          </a:p>
          <a:p>
            <a:r>
              <a:rPr lang="en-US" sz="750" dirty="0"/>
              <a:t>    </a:t>
            </a:r>
            <a:r>
              <a:rPr lang="en-US" sz="750" dirty="0" err="1"/>
              <a:t>ansible.builtin.yum</a:t>
            </a:r>
            <a:r>
              <a:rPr lang="en-US" sz="750" dirty="0"/>
              <a:t>:</a:t>
            </a:r>
          </a:p>
          <a:p>
            <a:r>
              <a:rPr lang="en-US" sz="750" dirty="0"/>
              <a:t>      name:</a:t>
            </a:r>
          </a:p>
          <a:p>
            <a:r>
              <a:rPr lang="en-US" sz="750" dirty="0"/>
              <a:t>      - </a:t>
            </a:r>
            <a:r>
              <a:rPr lang="en-US" sz="750" dirty="0" err="1"/>
              <a:t>nfs</a:t>
            </a:r>
            <a:r>
              <a:rPr lang="en-US" sz="750" dirty="0"/>
              <a:t>-utils</a:t>
            </a:r>
          </a:p>
          <a:p>
            <a:r>
              <a:rPr lang="en-US" sz="750" dirty="0"/>
              <a:t>      - </a:t>
            </a:r>
            <a:r>
              <a:rPr lang="en-US" sz="750" dirty="0" err="1"/>
              <a:t>nfs</a:t>
            </a:r>
            <a:r>
              <a:rPr lang="en-US" sz="750" dirty="0"/>
              <a:t>-util-lib</a:t>
            </a:r>
          </a:p>
          <a:p>
            <a:r>
              <a:rPr lang="en-US" sz="750" dirty="0"/>
              <a:t>    state: present</a:t>
            </a:r>
          </a:p>
          <a:p>
            <a:r>
              <a:rPr lang="en-US" sz="750" dirty="0"/>
              <a:t>  tags: filesharing </a:t>
            </a:r>
          </a:p>
        </p:txBody>
      </p:sp>
    </p:spTree>
    <p:extLst>
      <p:ext uri="{BB962C8B-B14F-4D97-AF65-F5344CB8AC3E}">
        <p14:creationId xmlns:p14="http://schemas.microsoft.com/office/powerpoint/2010/main" val="537841621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F3793-A7E6-E002-CED7-71288A5F3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dirty="0" err="1">
                <a:solidFill>
                  <a:srgbClr val="404040"/>
                </a:solidFill>
                <a:latin typeface="SFMono-Regular"/>
              </a:rPr>
              <a:t>Prefere</a:t>
            </a:r>
            <a:r>
              <a:rPr lang="en-US" altLang="en-US" sz="900" dirty="0">
                <a:solidFill>
                  <a:srgbClr val="404040"/>
                </a:solidFill>
                <a:latin typeface="SFMono-Regular"/>
              </a:rPr>
              <a:t> “loop” instead of “</a:t>
            </a:r>
            <a:r>
              <a:rPr lang="en-US" altLang="en-US" sz="900" dirty="0" err="1">
                <a:solidFill>
                  <a:srgbClr val="404040"/>
                </a:solidFill>
                <a:latin typeface="SFMono-Regular"/>
              </a:rPr>
              <a:t>with_item</a:t>
            </a:r>
            <a:r>
              <a:rPr lang="en-US" altLang="en-US" sz="900" dirty="0">
                <a:solidFill>
                  <a:srgbClr val="404040"/>
                </a:solidFill>
                <a:latin typeface="SFMono-Regular"/>
              </a:rPr>
              <a:t>”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dirty="0">
                <a:solidFill>
                  <a:srgbClr val="22863A"/>
                </a:solidFill>
                <a:latin typeface="SFMono-Regular"/>
              </a:rPr>
              <a:t>- vars</a:t>
            </a:r>
            <a:r>
              <a:rPr lang="en-US" altLang="en-US" sz="900" dirty="0">
                <a:solidFill>
                  <a:srgbClr val="404040"/>
                </a:solidFill>
                <a:latin typeface="SFMono-Regular"/>
              </a:rPr>
              <a:t>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dirty="0">
                <a:solidFill>
                  <a:srgbClr val="404040"/>
                </a:solidFill>
                <a:latin typeface="SFMono-Regular"/>
              </a:rPr>
              <a:t>     </a:t>
            </a:r>
            <a:r>
              <a:rPr lang="en-US" altLang="en-US" sz="900" dirty="0" err="1">
                <a:solidFill>
                  <a:srgbClr val="22863A"/>
                </a:solidFill>
                <a:latin typeface="SFMono-Regular"/>
              </a:rPr>
              <a:t>tag_data</a:t>
            </a:r>
            <a:r>
              <a:rPr lang="en-US" altLang="en-US" sz="900" dirty="0">
                <a:solidFill>
                  <a:srgbClr val="22863A"/>
                </a:solidFill>
                <a:latin typeface="SFMono-Regular"/>
              </a:rPr>
              <a:t>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dirty="0">
                <a:solidFill>
                  <a:srgbClr val="22863A"/>
                </a:solidFill>
                <a:latin typeface="SFMono-Regular"/>
              </a:rPr>
              <a:t>           -  Environment</a:t>
            </a:r>
            <a:endParaRPr lang="en-US" altLang="en-US" sz="900" b="0" dirty="0">
              <a:solidFill>
                <a:srgbClr val="032F62"/>
              </a:solidFill>
              <a:latin typeface="SFMono-Regular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dirty="0">
                <a:solidFill>
                  <a:srgbClr val="032F62"/>
                </a:solidFill>
                <a:latin typeface="SFMono-Regular"/>
              </a:rPr>
              <a:t>           -</a:t>
            </a:r>
            <a:r>
              <a:rPr lang="en-US" altLang="en-US" sz="900" b="0" dirty="0">
                <a:solidFill>
                  <a:srgbClr val="404040"/>
                </a:solidFill>
                <a:latin typeface="SFMono-Regular"/>
              </a:rPr>
              <a:t>  </a:t>
            </a:r>
            <a:r>
              <a:rPr lang="en-US" altLang="en-US" sz="900" dirty="0">
                <a:solidFill>
                  <a:srgbClr val="22863A"/>
                </a:solidFill>
                <a:latin typeface="SFMono-Regular"/>
              </a:rPr>
              <a:t>Application</a:t>
            </a:r>
            <a:endParaRPr lang="en-US" altLang="en-US" sz="900" dirty="0">
              <a:solidFill>
                <a:srgbClr val="404040"/>
              </a:solidFill>
              <a:latin typeface="SFMono-Regular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600" dirty="0"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D4980-6D12-1B67-FFF6-2542EB4C04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57250"/>
            <a:ext cx="8689086" cy="75438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41414"/>
                </a:solidFill>
                <a:latin typeface="Red Hat Display"/>
              </a:rPr>
              <a:t>Loops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FE0BC-1443-D999-7B59-674ED4E1D73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5624513"/>
            <a:ext cx="2133600" cy="273844"/>
          </a:xfrm>
        </p:spPr>
        <p:txBody>
          <a:bodyPr/>
          <a:lstStyle/>
          <a:p>
            <a:fld id="{7048F631-2D74-437D-9509-32BA0A9A0C18}" type="slidenum">
              <a:rPr lang="en-US" smtClean="0"/>
              <a:t>203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793A3AC-A963-A4A5-A7CB-9213C44B47E5}"/>
              </a:ext>
            </a:extLst>
          </p:cNvPr>
          <p:cNvSpPr txBox="1">
            <a:spLocks/>
          </p:cNvSpPr>
          <p:nvPr/>
        </p:nvSpPr>
        <p:spPr>
          <a:xfrm>
            <a:off x="628650" y="3095753"/>
            <a:ext cx="2107892" cy="767699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dirty="0" err="1">
                <a:solidFill>
                  <a:srgbClr val="404040"/>
                </a:solidFill>
                <a:latin typeface="SFMono-Regular"/>
              </a:rPr>
              <a:t>With_dict</a:t>
            </a:r>
            <a:r>
              <a:rPr lang="en-US" altLang="en-US" sz="900" dirty="0">
                <a:solidFill>
                  <a:srgbClr val="404040"/>
                </a:solidFill>
                <a:latin typeface="SFMono-Regular"/>
              </a:rPr>
              <a:t> =&gt; loop + dict2items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- vars</a:t>
            </a:r>
            <a:r>
              <a:rPr lang="en-US" altLang="en-US" sz="900" b="1" dirty="0">
                <a:solidFill>
                  <a:srgbClr val="404040"/>
                </a:solidFill>
                <a:latin typeface="SFMono-Regular"/>
              </a:rPr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900" dirty="0">
                <a:solidFill>
                  <a:srgbClr val="404040"/>
                </a:solidFill>
                <a:latin typeface="SFMono-Regular"/>
              </a:rPr>
              <a:t>  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tag_data</a:t>
            </a:r>
            <a:r>
              <a:rPr lang="en-US" altLang="en-US" sz="900" b="1" dirty="0">
                <a:solidFill>
                  <a:srgbClr val="404040"/>
                </a:solidFill>
                <a:latin typeface="SFMono-Regular"/>
              </a:rPr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404040"/>
                </a:solidFill>
                <a:latin typeface="SFMono-Regular"/>
              </a:rPr>
              <a:t>     </a:t>
            </a:r>
            <a:r>
              <a:rPr lang="en-US" altLang="en-US" sz="900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Environment</a:t>
            </a:r>
            <a:r>
              <a:rPr lang="en-US" altLang="en-US" sz="900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90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900" dirty="0">
                <a:solidFill>
                  <a:srgbClr val="032F62"/>
                </a:solidFill>
                <a:latin typeface="SFMono-Regular"/>
              </a:rPr>
              <a:t>dev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dirty="0">
                <a:solidFill>
                  <a:srgbClr val="032F62"/>
                </a:solidFill>
                <a:latin typeface="SFMono-Regular"/>
              </a:rPr>
              <a:t>    </a:t>
            </a:r>
            <a:r>
              <a:rPr lang="en-US" altLang="en-US" sz="900" dirty="0">
                <a:solidFill>
                  <a:srgbClr val="404040"/>
                </a:solidFill>
                <a:latin typeface="SFMono-Regular"/>
              </a:rPr>
              <a:t>  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Application</a:t>
            </a:r>
            <a:r>
              <a:rPr lang="en-US" altLang="en-US" sz="900" b="1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90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900" dirty="0">
                <a:solidFill>
                  <a:srgbClr val="032F62"/>
                </a:solidFill>
                <a:latin typeface="SFMono-Regular"/>
              </a:rPr>
              <a:t>payment</a:t>
            </a:r>
            <a:r>
              <a:rPr lang="en-US" altLang="en-US" sz="825" dirty="0"/>
              <a:t> </a:t>
            </a:r>
            <a:endParaRPr lang="en-US" altLang="en-US" sz="900" dirty="0">
              <a:solidFill>
                <a:srgbClr val="404040"/>
              </a:solidFill>
              <a:latin typeface="SFMono-Regular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6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2767AB-A584-7354-EFE1-320C4006813C}"/>
              </a:ext>
            </a:extLst>
          </p:cNvPr>
          <p:cNvSpPr txBox="1">
            <a:spLocks/>
          </p:cNvSpPr>
          <p:nvPr/>
        </p:nvSpPr>
        <p:spPr>
          <a:xfrm>
            <a:off x="2939063" y="2226469"/>
            <a:ext cx="2107892" cy="7680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- name: Using with_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ansible.builtin.debug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   msg: "{{ item }}"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with_item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: 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tag_data</a:t>
            </a:r>
            <a:endParaRPr lang="en-US" altLang="en-US" sz="900" b="1" dirty="0">
              <a:solidFill>
                <a:srgbClr val="22863A"/>
              </a:solidFill>
              <a:latin typeface="SFMono-Regular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dirty="0">
              <a:solidFill>
                <a:srgbClr val="404040"/>
              </a:solidFill>
              <a:latin typeface="SFMono-Regular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6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3E9FB3E-77FC-0E0E-0E05-AA192A1871EB}"/>
              </a:ext>
            </a:extLst>
          </p:cNvPr>
          <p:cNvSpPr txBox="1">
            <a:spLocks/>
          </p:cNvSpPr>
          <p:nvPr/>
        </p:nvSpPr>
        <p:spPr>
          <a:xfrm>
            <a:off x="5815429" y="2226469"/>
            <a:ext cx="2107892" cy="76808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- name: Using loop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ansible.builtin.debug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   msg: "{{ item }}"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 loop: "{{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tag_data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}}"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dirty="0">
              <a:solidFill>
                <a:srgbClr val="404040"/>
              </a:solidFill>
              <a:latin typeface="SFMono-Regular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6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0BE8C1B-9E72-20B2-0970-7D80A33E1710}"/>
              </a:ext>
            </a:extLst>
          </p:cNvPr>
          <p:cNvSpPr txBox="1">
            <a:spLocks/>
          </p:cNvSpPr>
          <p:nvPr/>
        </p:nvSpPr>
        <p:spPr>
          <a:xfrm>
            <a:off x="2939063" y="3095753"/>
            <a:ext cx="2107892" cy="7676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- name: Using with_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ansible.builtin.debug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   msg: "{{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item.key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}} - {{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item.value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}}"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with_dict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: "{{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tag_data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}}"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dirty="0">
              <a:solidFill>
                <a:srgbClr val="404040"/>
              </a:solidFill>
              <a:latin typeface="SFMono-Regular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6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4815A07-3AB1-B91D-36B3-74664D65D2A6}"/>
              </a:ext>
            </a:extLst>
          </p:cNvPr>
          <p:cNvSpPr txBox="1">
            <a:spLocks/>
          </p:cNvSpPr>
          <p:nvPr/>
        </p:nvSpPr>
        <p:spPr>
          <a:xfrm>
            <a:off x="5815429" y="3095753"/>
            <a:ext cx="2107892" cy="76769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- name: Using dict2items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ansible.builtin.debug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   msg: "{{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item.key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}} - {{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item.value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}}"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 loop: "{{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tag_data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| dict2items }}"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dirty="0">
              <a:solidFill>
                <a:srgbClr val="404040"/>
              </a:solidFill>
              <a:latin typeface="SFMono-Regular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6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49CAFE-8633-A84F-1DC9-756B41A98079}"/>
              </a:ext>
            </a:extLst>
          </p:cNvPr>
          <p:cNvSpPr txBox="1">
            <a:spLocks/>
          </p:cNvSpPr>
          <p:nvPr/>
        </p:nvSpPr>
        <p:spPr>
          <a:xfrm>
            <a:off x="628650" y="3964655"/>
            <a:ext cx="2107892" cy="767699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dirty="0" err="1">
                <a:solidFill>
                  <a:srgbClr val="404040"/>
                </a:solidFill>
                <a:latin typeface="SFMono-Regular"/>
              </a:rPr>
              <a:t>With_flattened</a:t>
            </a:r>
            <a:r>
              <a:rPr lang="en-US" altLang="en-US" sz="900" dirty="0">
                <a:solidFill>
                  <a:srgbClr val="404040"/>
                </a:solidFill>
                <a:latin typeface="SFMono-Regular"/>
              </a:rPr>
              <a:t> =&gt; loop + flatten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- vars</a:t>
            </a:r>
            <a:r>
              <a:rPr lang="en-US" altLang="en-US" sz="900" b="1" dirty="0">
                <a:solidFill>
                  <a:srgbClr val="404040"/>
                </a:solidFill>
                <a:latin typeface="SFMono-Regular"/>
              </a:rPr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900" dirty="0">
                <a:solidFill>
                  <a:srgbClr val="404040"/>
                </a:solidFill>
                <a:latin typeface="SFMono-Regular"/>
              </a:rPr>
              <a:t>  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tag_data</a:t>
            </a:r>
            <a:r>
              <a:rPr lang="en-US" altLang="en-US" sz="900" b="1" dirty="0">
                <a:solidFill>
                  <a:srgbClr val="404040"/>
                </a:solidFill>
                <a:latin typeface="SFMono-Regular"/>
              </a:rPr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404040"/>
                </a:solidFill>
                <a:latin typeface="SFMono-Regular"/>
              </a:rPr>
              <a:t>     </a:t>
            </a:r>
            <a:r>
              <a:rPr lang="en-US" altLang="en-US" sz="900" dirty="0">
                <a:solidFill>
                  <a:srgbClr val="404040"/>
                </a:solidFill>
                <a:latin typeface="SFMono-Regular"/>
              </a:rPr>
              <a:t> - 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Environment</a:t>
            </a:r>
            <a:endParaRPr lang="en-US" altLang="en-US" sz="900" dirty="0">
              <a:solidFill>
                <a:srgbClr val="032F62"/>
              </a:solidFill>
              <a:latin typeface="SFMono-Regular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dirty="0">
                <a:solidFill>
                  <a:srgbClr val="032F62"/>
                </a:solidFill>
                <a:latin typeface="SFMono-Regular"/>
              </a:rPr>
              <a:t>    </a:t>
            </a:r>
            <a:r>
              <a:rPr lang="en-US" altLang="en-US" sz="900" dirty="0">
                <a:solidFill>
                  <a:srgbClr val="404040"/>
                </a:solidFill>
                <a:latin typeface="SFMono-Regular"/>
              </a:rPr>
              <a:t>  - 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Application</a:t>
            </a:r>
            <a:endParaRPr lang="en-US" altLang="en-US" sz="900" dirty="0">
              <a:solidFill>
                <a:srgbClr val="404040"/>
              </a:solidFill>
              <a:latin typeface="SFMono-Regular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6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B1CCD91-338A-D152-CE7C-0E4F40ADD266}"/>
              </a:ext>
            </a:extLst>
          </p:cNvPr>
          <p:cNvSpPr txBox="1">
            <a:spLocks/>
          </p:cNvSpPr>
          <p:nvPr/>
        </p:nvSpPr>
        <p:spPr>
          <a:xfrm>
            <a:off x="2939063" y="3964655"/>
            <a:ext cx="2107892" cy="7676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- name: Using with_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ansible.builtin.debug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   msg: "{{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item.key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}} - {{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item.value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}}"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with_flatten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: "{{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tag_data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}}"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dirty="0">
              <a:solidFill>
                <a:srgbClr val="404040"/>
              </a:solidFill>
              <a:latin typeface="SFMono-Regular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6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82E2647-B223-173C-A811-0ADC99832CBB}"/>
              </a:ext>
            </a:extLst>
          </p:cNvPr>
          <p:cNvSpPr txBox="1">
            <a:spLocks/>
          </p:cNvSpPr>
          <p:nvPr/>
        </p:nvSpPr>
        <p:spPr>
          <a:xfrm>
            <a:off x="5815429" y="3964655"/>
            <a:ext cx="2107892" cy="76769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- name: Using dict2items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ansible.builtin.debug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   msg: "{{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item.key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}} - {{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item.value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}}"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 loop: "{{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tag_data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| flatten(1) }}"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dirty="0">
              <a:solidFill>
                <a:srgbClr val="404040"/>
              </a:solidFill>
              <a:latin typeface="SFMono-Regular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6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4DAABBB-3A43-EB19-2F9A-6655CC82158B}"/>
              </a:ext>
            </a:extLst>
          </p:cNvPr>
          <p:cNvSpPr txBox="1">
            <a:spLocks/>
          </p:cNvSpPr>
          <p:nvPr/>
        </p:nvSpPr>
        <p:spPr>
          <a:xfrm>
            <a:off x="628650" y="4833557"/>
            <a:ext cx="2107892" cy="767699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dirty="0" err="1">
                <a:solidFill>
                  <a:srgbClr val="404040"/>
                </a:solidFill>
                <a:latin typeface="SFMono-Regular"/>
              </a:rPr>
              <a:t>With_indexed_item</a:t>
            </a:r>
            <a:r>
              <a:rPr lang="en-US" altLang="en-US" sz="900" dirty="0">
                <a:solidFill>
                  <a:srgbClr val="404040"/>
                </a:solidFill>
                <a:latin typeface="SFMono-Regular"/>
              </a:rPr>
              <a:t> =&gt; loop control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- vars</a:t>
            </a:r>
            <a:r>
              <a:rPr lang="en-US" altLang="en-US" sz="900" b="1" dirty="0">
                <a:solidFill>
                  <a:srgbClr val="404040"/>
                </a:solidFill>
                <a:latin typeface="SFMono-Regular"/>
              </a:rPr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900" dirty="0">
                <a:solidFill>
                  <a:srgbClr val="404040"/>
                </a:solidFill>
                <a:latin typeface="SFMono-Regular"/>
              </a:rPr>
              <a:t>  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tag_data</a:t>
            </a:r>
            <a:r>
              <a:rPr lang="en-US" altLang="en-US" sz="900" b="1" dirty="0">
                <a:solidFill>
                  <a:srgbClr val="404040"/>
                </a:solidFill>
                <a:latin typeface="SFMono-Regular"/>
              </a:rPr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404040"/>
                </a:solidFill>
                <a:latin typeface="SFMono-Regular"/>
              </a:rPr>
              <a:t>     </a:t>
            </a:r>
            <a:r>
              <a:rPr lang="en-US" altLang="en-US" sz="900" dirty="0">
                <a:solidFill>
                  <a:srgbClr val="404040"/>
                </a:solidFill>
                <a:latin typeface="SFMono-Regular"/>
              </a:rPr>
              <a:t> - 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Environment</a:t>
            </a:r>
            <a:endParaRPr lang="en-US" altLang="en-US" sz="900" dirty="0">
              <a:solidFill>
                <a:srgbClr val="032F62"/>
              </a:solidFill>
              <a:latin typeface="SFMono-Regular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dirty="0">
                <a:solidFill>
                  <a:srgbClr val="032F62"/>
                </a:solidFill>
                <a:latin typeface="SFMono-Regular"/>
              </a:rPr>
              <a:t>    </a:t>
            </a:r>
            <a:r>
              <a:rPr lang="en-US" altLang="en-US" sz="900" dirty="0">
                <a:solidFill>
                  <a:srgbClr val="404040"/>
                </a:solidFill>
                <a:latin typeface="SFMono-Regular"/>
              </a:rPr>
              <a:t>  - 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Application</a:t>
            </a:r>
            <a:endParaRPr lang="en-US" altLang="en-US" sz="900" dirty="0">
              <a:solidFill>
                <a:srgbClr val="404040"/>
              </a:solidFill>
              <a:latin typeface="SFMono-Regular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6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D2E477B-A430-1A5D-B79B-75EC8FCEB8C9}"/>
              </a:ext>
            </a:extLst>
          </p:cNvPr>
          <p:cNvSpPr txBox="1">
            <a:spLocks/>
          </p:cNvSpPr>
          <p:nvPr/>
        </p:nvSpPr>
        <p:spPr>
          <a:xfrm>
            <a:off x="2939063" y="4833557"/>
            <a:ext cx="2107892" cy="7676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- name: Using with_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ansible.builtin.debug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   msg: "{{ item.0 }} - {{ item.1 }}"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with_indexed_items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: "{{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tag_data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}}"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dirty="0">
              <a:solidFill>
                <a:srgbClr val="404040"/>
              </a:solidFill>
              <a:latin typeface="SFMono-Regular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6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7542757-5E1A-BD3C-59DF-EFB5BF22D1A2}"/>
              </a:ext>
            </a:extLst>
          </p:cNvPr>
          <p:cNvSpPr txBox="1">
            <a:spLocks/>
          </p:cNvSpPr>
          <p:nvPr/>
        </p:nvSpPr>
        <p:spPr>
          <a:xfrm>
            <a:off x="5815429" y="4833557"/>
            <a:ext cx="2107892" cy="76769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68580" tIns="34290" rIns="68580" bIns="3429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- name: Using dict2items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ansible.builtin.debug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   msg: "{{ </a:t>
            </a:r>
            <a:r>
              <a:rPr lang="en-US" altLang="en-US" sz="900" b="1" dirty="0">
                <a:solidFill>
                  <a:schemeClr val="accent5">
                    <a:lumMod val="75000"/>
                  </a:schemeClr>
                </a:solidFill>
                <a:latin typeface="SFMono-Regular"/>
              </a:rPr>
              <a:t>index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}} - {{ item }}"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 loop: "{{ tag_data | flatten(1) }}"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Loop_control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  </a:t>
            </a:r>
            <a:r>
              <a:rPr lang="en-US" altLang="en-US" sz="900" b="1" dirty="0" err="1">
                <a:solidFill>
                  <a:srgbClr val="22863A"/>
                </a:solidFill>
                <a:latin typeface="SFMono-Regular"/>
              </a:rPr>
              <a:t>loop_var</a:t>
            </a:r>
            <a:r>
              <a:rPr lang="en-US" altLang="en-US" sz="900" b="1" dirty="0">
                <a:solidFill>
                  <a:srgbClr val="22863A"/>
                </a:solidFill>
                <a:latin typeface="SFMono-Regular"/>
              </a:rPr>
              <a:t>: </a:t>
            </a:r>
            <a:r>
              <a:rPr lang="en-US" altLang="en-US" sz="900" b="1" dirty="0">
                <a:solidFill>
                  <a:schemeClr val="accent5">
                    <a:lumMod val="75000"/>
                  </a:schemeClr>
                </a:solidFill>
                <a:latin typeface="SFMono-Regular"/>
              </a:rPr>
              <a:t>index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dirty="0">
              <a:solidFill>
                <a:srgbClr val="404040"/>
              </a:solidFill>
              <a:latin typeface="SFMono-Regular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6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33577879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F3793-A7E6-E002-CED7-71288A5F3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57401"/>
            <a:ext cx="4404049" cy="3394472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50" dirty="0"/>
              <a:t>Playbooks and roles syntax and prerequisites must be controlled by Lint (yamllint and ansible-lint, run separately)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50" dirty="0"/>
              <a:t>Playbooks and roles execution must control by </a:t>
            </a:r>
            <a:r>
              <a:rPr lang="en-US" sz="1350" dirty="0">
                <a:highlight>
                  <a:srgbClr val="FFFF00"/>
                </a:highlight>
              </a:rPr>
              <a:t>Molecule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3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D4980-6D12-1B67-FFF6-2542EB4C04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57250"/>
            <a:ext cx="8689086" cy="75438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41414"/>
                </a:solidFill>
                <a:latin typeface="Red Hat Display"/>
              </a:rPr>
              <a:t>Lint + Molecule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82AAE1-6534-60B4-9831-A49E46361AE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5624513"/>
            <a:ext cx="2133600" cy="273844"/>
          </a:xfrm>
        </p:spPr>
        <p:txBody>
          <a:bodyPr/>
          <a:lstStyle/>
          <a:p>
            <a:fld id="{7048F631-2D74-437D-9509-32BA0A9A0C18}" type="slidenum">
              <a:rPr lang="en-US" smtClean="0"/>
              <a:t>204</a:t>
            </a:fld>
            <a:endParaRPr lang="en-US"/>
          </a:p>
        </p:txBody>
      </p:sp>
      <p:sp>
        <p:nvSpPr>
          <p:cNvPr id="4" name="AutoShape 2" descr="Control your content with private Automation Hub">
            <a:extLst>
              <a:ext uri="{FF2B5EF4-FFF2-40B4-BE49-F238E27FC236}">
                <a16:creationId xmlns:a16="http://schemas.microsoft.com/office/drawing/2014/main" id="{30197ACA-6667-0FF2-66D6-5C80349DDB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314700"/>
            <a:ext cx="1624637" cy="162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595067-4D2B-25A9-7801-3CB388C87F8A}"/>
              </a:ext>
            </a:extLst>
          </p:cNvPr>
          <p:cNvSpPr txBox="1"/>
          <p:nvPr/>
        </p:nvSpPr>
        <p:spPr>
          <a:xfrm>
            <a:off x="5200651" y="1872005"/>
            <a:ext cx="2926313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/>
              <a:t>$ vi molecule/default/</a:t>
            </a:r>
            <a:r>
              <a:rPr lang="en-US" sz="1350" dirty="0" err="1"/>
              <a:t>molecule.yml</a:t>
            </a:r>
            <a:endParaRPr lang="en-US" sz="1350" dirty="0"/>
          </a:p>
          <a:p>
            <a:r>
              <a:rPr lang="en-US" sz="750" dirty="0"/>
              <a:t>---</a:t>
            </a:r>
          </a:p>
          <a:p>
            <a:r>
              <a:rPr lang="en-US" sz="750" dirty="0"/>
              <a:t>dependency:</a:t>
            </a:r>
          </a:p>
          <a:p>
            <a:r>
              <a:rPr lang="en-US" sz="750" dirty="0"/>
              <a:t>  name: galaxy</a:t>
            </a:r>
          </a:p>
          <a:p>
            <a:r>
              <a:rPr lang="en-US" sz="750" dirty="0"/>
              <a:t>driver:</a:t>
            </a:r>
          </a:p>
          <a:p>
            <a:r>
              <a:rPr lang="en-US" sz="750" dirty="0"/>
              <a:t>  name: podman</a:t>
            </a:r>
            <a:endParaRPr lang="en-US" sz="750" dirty="0"/>
          </a:p>
          <a:p>
            <a:r>
              <a:rPr lang="en-US" sz="750" dirty="0"/>
              <a:t>platforms:</a:t>
            </a:r>
          </a:p>
          <a:p>
            <a:r>
              <a:rPr lang="en-US" sz="750" dirty="0"/>
              <a:t>  - name: rhel9</a:t>
            </a:r>
          </a:p>
          <a:p>
            <a:r>
              <a:rPr lang="en-US" sz="750" dirty="0"/>
              <a:t>    image: registry.access.redhat.com/ubi9/ubi-init</a:t>
            </a:r>
            <a:endParaRPr lang="en-US" sz="750" dirty="0"/>
          </a:p>
          <a:p>
            <a:r>
              <a:rPr lang="en-US" sz="750" dirty="0"/>
              <a:t>    </a:t>
            </a:r>
            <a:r>
              <a:rPr lang="en-US" sz="750" dirty="0" err="1"/>
              <a:t>tmpfs</a:t>
            </a:r>
            <a:r>
              <a:rPr lang="en-US" sz="750" dirty="0"/>
              <a:t>:</a:t>
            </a:r>
          </a:p>
          <a:p>
            <a:r>
              <a:rPr lang="en-US" sz="750" dirty="0"/>
              <a:t>      - /run</a:t>
            </a:r>
          </a:p>
          <a:p>
            <a:r>
              <a:rPr lang="en-US" sz="750" dirty="0"/>
              <a:t>      - /</a:t>
            </a:r>
            <a:r>
              <a:rPr lang="en-US" sz="750" dirty="0" err="1"/>
              <a:t>tmp</a:t>
            </a:r>
            <a:endParaRPr lang="en-US" sz="750" dirty="0"/>
          </a:p>
          <a:p>
            <a:r>
              <a:rPr lang="en-US" sz="750" dirty="0"/>
              <a:t>    volumes:</a:t>
            </a:r>
          </a:p>
          <a:p>
            <a:r>
              <a:rPr lang="en-US" sz="750" dirty="0"/>
              <a:t>      - /sys/fs/</a:t>
            </a:r>
            <a:r>
              <a:rPr lang="en-US" sz="750" dirty="0" err="1"/>
              <a:t>cgroup</a:t>
            </a:r>
            <a:r>
              <a:rPr lang="en-US" sz="750" dirty="0"/>
              <a:t>:/sys/fs/</a:t>
            </a:r>
            <a:r>
              <a:rPr lang="en-US" sz="750" dirty="0" err="1"/>
              <a:t>cgroup:ro</a:t>
            </a:r>
            <a:endParaRPr lang="en-US" sz="750" dirty="0"/>
          </a:p>
          <a:p>
            <a:r>
              <a:rPr lang="en-US" sz="750" dirty="0"/>
              <a:t>    capabilities:</a:t>
            </a:r>
          </a:p>
          <a:p>
            <a:r>
              <a:rPr lang="en-US" sz="750" dirty="0"/>
              <a:t>      - SYS_ADMIN</a:t>
            </a:r>
          </a:p>
          <a:p>
            <a:r>
              <a:rPr lang="en-US" sz="750" dirty="0"/>
              <a:t>    command: "/</a:t>
            </a:r>
            <a:r>
              <a:rPr lang="en-US" sz="750" dirty="0" err="1"/>
              <a:t>usr</a:t>
            </a:r>
            <a:r>
              <a:rPr lang="en-US" sz="750" dirty="0"/>
              <a:t>/</a:t>
            </a:r>
            <a:r>
              <a:rPr lang="en-US" sz="750" dirty="0" err="1"/>
              <a:t>sbin</a:t>
            </a:r>
            <a:r>
              <a:rPr lang="en-US" sz="750" dirty="0"/>
              <a:t>/</a:t>
            </a:r>
            <a:r>
              <a:rPr lang="en-US" sz="750" dirty="0" err="1"/>
              <a:t>init</a:t>
            </a:r>
            <a:r>
              <a:rPr lang="en-US" sz="750" dirty="0"/>
              <a:t>"</a:t>
            </a:r>
          </a:p>
          <a:p>
            <a:r>
              <a:rPr lang="en-US" sz="750" dirty="0"/>
              <a:t>    </a:t>
            </a:r>
            <a:r>
              <a:rPr lang="en-US" sz="750" dirty="0" err="1"/>
              <a:t>pre_build_image</a:t>
            </a:r>
            <a:r>
              <a:rPr lang="en-US" sz="750" dirty="0"/>
              <a:t>: true</a:t>
            </a:r>
          </a:p>
          <a:p>
            <a:r>
              <a:rPr lang="en-US" sz="750" dirty="0"/>
              <a:t>provisioner:</a:t>
            </a:r>
          </a:p>
          <a:p>
            <a:r>
              <a:rPr lang="en-US" sz="750" dirty="0"/>
              <a:t>  name: ansible</a:t>
            </a:r>
          </a:p>
          <a:p>
            <a:r>
              <a:rPr lang="en-US" sz="750" dirty="0"/>
              <a:t>  </a:t>
            </a:r>
            <a:r>
              <a:rPr lang="en-US" sz="750" dirty="0" err="1"/>
              <a:t>config_options</a:t>
            </a:r>
            <a:r>
              <a:rPr lang="en-US" sz="750" dirty="0"/>
              <a:t>:</a:t>
            </a:r>
          </a:p>
          <a:p>
            <a:r>
              <a:rPr lang="en-US" sz="750" dirty="0"/>
              <a:t>    defaults:</a:t>
            </a:r>
          </a:p>
          <a:p>
            <a:r>
              <a:rPr lang="en-US" sz="750" dirty="0"/>
              <a:t>      </a:t>
            </a:r>
            <a:r>
              <a:rPr lang="en-US" sz="750" dirty="0" err="1"/>
              <a:t>interpreter_python</a:t>
            </a:r>
            <a:r>
              <a:rPr lang="en-US" sz="750" dirty="0"/>
              <a:t>: </a:t>
            </a:r>
            <a:r>
              <a:rPr lang="en-US" sz="750" dirty="0" err="1"/>
              <a:t>auto_silent</a:t>
            </a:r>
            <a:endParaRPr lang="en-US" sz="750" dirty="0"/>
          </a:p>
          <a:p>
            <a:r>
              <a:rPr lang="en-US" sz="750" dirty="0"/>
              <a:t>      callbacks_enabled: profile_tasks, timer</a:t>
            </a:r>
            <a:endParaRPr lang="en-US" sz="750" dirty="0"/>
          </a:p>
          <a:p>
            <a:r>
              <a:rPr lang="en-US" sz="750" dirty="0"/>
              <a:t>    </a:t>
            </a:r>
            <a:r>
              <a:rPr lang="en-US" sz="750" dirty="0" err="1"/>
              <a:t>ssh_connection</a:t>
            </a:r>
            <a:r>
              <a:rPr lang="en-US" sz="750" dirty="0"/>
              <a:t>:</a:t>
            </a:r>
          </a:p>
          <a:p>
            <a:r>
              <a:rPr lang="en-US" sz="750" dirty="0"/>
              <a:t>      pipelining: false</a:t>
            </a:r>
          </a:p>
          <a:p>
            <a:r>
              <a:rPr lang="en-US" sz="750" dirty="0"/>
              <a:t>verifier:</a:t>
            </a:r>
          </a:p>
          <a:p>
            <a:r>
              <a:rPr lang="en-US" sz="750" dirty="0"/>
              <a:t>  name: ansible</a:t>
            </a:r>
          </a:p>
        </p:txBody>
      </p:sp>
    </p:spTree>
    <p:extLst>
      <p:ext uri="{BB962C8B-B14F-4D97-AF65-F5344CB8AC3E}">
        <p14:creationId xmlns:p14="http://schemas.microsoft.com/office/powerpoint/2010/main" val="157859688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F3793-A7E6-E002-CED7-71288A5F3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57401"/>
            <a:ext cx="3852254" cy="3394472"/>
          </a:xfrm>
        </p:spPr>
        <p:txBody>
          <a:bodyPr>
            <a:normAutofit/>
          </a:bodyPr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dirty="0"/>
              <a:t>If vars are common across environments/inventory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b="0" dirty="0" err="1"/>
              <a:t>hosts_production</a:t>
            </a:r>
            <a:r>
              <a:rPr lang="en-US" sz="900" b="0" dirty="0"/>
              <a:t>                     # inventory file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b="0" dirty="0" err="1"/>
              <a:t>hosts_staging</a:t>
            </a:r>
            <a:r>
              <a:rPr lang="en-US" sz="900" b="0" dirty="0"/>
              <a:t>                            # inventory file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b="0" dirty="0"/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b="0" dirty="0" err="1"/>
              <a:t>group_vars</a:t>
            </a:r>
            <a:r>
              <a:rPr lang="en-US" sz="900" b="0" dirty="0"/>
              <a:t>/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b="0" dirty="0"/>
              <a:t>   group1.yml             # here we assign variables to particular groups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b="0" dirty="0"/>
              <a:t>   group2.yml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b="0" dirty="0" err="1"/>
              <a:t>host_vars</a:t>
            </a:r>
            <a:r>
              <a:rPr lang="en-US" sz="900" b="0" dirty="0"/>
              <a:t>/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b="0" dirty="0"/>
              <a:t>   hostname1.yml          # here we assign variables to particular systems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b="0" dirty="0"/>
              <a:t>   hostname2.yml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b="0" dirty="0"/>
              <a:t>templates/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b="0" dirty="0"/>
              <a:t>library/                  # if any custom modules, put them here (optional)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b="0" dirty="0" err="1"/>
              <a:t>module_utils</a:t>
            </a:r>
            <a:r>
              <a:rPr lang="en-US" sz="900" b="0" dirty="0"/>
              <a:t>/             # if any custom </a:t>
            </a:r>
            <a:r>
              <a:rPr lang="en-US" sz="900" b="0" dirty="0" err="1"/>
              <a:t>module_utils</a:t>
            </a:r>
            <a:r>
              <a:rPr lang="en-US" sz="900" b="0" dirty="0"/>
              <a:t> to support modules, put them here (optional)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b="0" dirty="0" err="1"/>
              <a:t>filter_plugins</a:t>
            </a:r>
            <a:r>
              <a:rPr lang="en-US" sz="900" b="0" dirty="0"/>
              <a:t>/           # if any custom filter plugins, put them here (optional)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b="0" dirty="0"/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b="0" dirty="0" err="1"/>
              <a:t>site.yml</a:t>
            </a:r>
            <a:r>
              <a:rPr lang="en-US" sz="900" b="0" dirty="0"/>
              <a:t>                  # master playbook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b="0" dirty="0" err="1"/>
              <a:t>webservers.yml</a:t>
            </a:r>
            <a:r>
              <a:rPr lang="en-US" sz="900" b="0" dirty="0"/>
              <a:t>            # playbook for webservers role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b="0" dirty="0" err="1"/>
              <a:t>dbservers.yml</a:t>
            </a:r>
            <a:r>
              <a:rPr lang="en-US" sz="900" b="0" dirty="0"/>
              <a:t>             # playbook for </a:t>
            </a:r>
            <a:r>
              <a:rPr lang="en-US" sz="900" b="0" dirty="0" err="1"/>
              <a:t>dbservers</a:t>
            </a:r>
            <a:r>
              <a:rPr lang="en-US" sz="900" b="0" dirty="0"/>
              <a:t> role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b="0" dirty="0" err="1"/>
              <a:t>fooapp.yml</a:t>
            </a:r>
            <a:r>
              <a:rPr lang="en-US" sz="900" b="0" dirty="0"/>
              <a:t>                # playbook for foo app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b="0" dirty="0"/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b="0" dirty="0"/>
              <a:t>roles/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D4980-6D12-1B67-FFF6-2542EB4C04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57250"/>
            <a:ext cx="8689086" cy="75438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41414"/>
                </a:solidFill>
                <a:latin typeface="Red Hat Display"/>
              </a:rPr>
              <a:t>Directory Layout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7D6CD-400C-B61A-4ED2-EAC1FFAF520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5624513"/>
            <a:ext cx="2133600" cy="273844"/>
          </a:xfrm>
        </p:spPr>
        <p:txBody>
          <a:bodyPr/>
          <a:lstStyle/>
          <a:p>
            <a:fld id="{7048F631-2D74-437D-9509-32BA0A9A0C18}" type="slidenum">
              <a:rPr lang="en-US" smtClean="0"/>
              <a:t>205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E9230E7-417B-15D2-A40C-9125CC9DE5FC}"/>
              </a:ext>
            </a:extLst>
          </p:cNvPr>
          <p:cNvSpPr txBox="1">
            <a:spLocks/>
          </p:cNvSpPr>
          <p:nvPr/>
        </p:nvSpPr>
        <p:spPr>
          <a:xfrm>
            <a:off x="4572000" y="2057401"/>
            <a:ext cx="4189445" cy="374973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75" b="1" dirty="0"/>
              <a:t>If vars are dependent across environments/inventory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75" dirty="0"/>
              <a:t>inventories/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75" dirty="0"/>
              <a:t>   production/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75" dirty="0"/>
              <a:t>      hosts               # inventory file for production servers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75" dirty="0"/>
              <a:t>      </a:t>
            </a:r>
            <a:r>
              <a:rPr lang="en-US" sz="975" dirty="0" err="1"/>
              <a:t>group_vars</a:t>
            </a:r>
            <a:r>
              <a:rPr lang="en-US" sz="975" dirty="0"/>
              <a:t>/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75" dirty="0"/>
              <a:t>         group1.yml       # here we assign variables to particular groups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75" dirty="0"/>
              <a:t>         group2.yml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75" dirty="0"/>
              <a:t>      </a:t>
            </a:r>
            <a:r>
              <a:rPr lang="en-US" sz="975" dirty="0" err="1"/>
              <a:t>host_vars</a:t>
            </a:r>
            <a:r>
              <a:rPr lang="en-US" sz="975" dirty="0"/>
              <a:t>/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75" dirty="0"/>
              <a:t>         hostname1.yml    # here we assign variables to particular systems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75" dirty="0"/>
              <a:t>         hostname2.yml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975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75" dirty="0"/>
              <a:t>   staging/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75" dirty="0"/>
              <a:t>      hosts               # inventory file for staging environment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75" dirty="0"/>
              <a:t>      </a:t>
            </a:r>
            <a:r>
              <a:rPr lang="en-US" sz="975" dirty="0" err="1"/>
              <a:t>group_vars</a:t>
            </a:r>
            <a:r>
              <a:rPr lang="en-US" sz="975" dirty="0"/>
              <a:t>/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75" dirty="0"/>
              <a:t>         group1.yml       # here we assign variables to particular groups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75" dirty="0"/>
              <a:t>         group2.yml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75" dirty="0"/>
              <a:t>      </a:t>
            </a:r>
            <a:r>
              <a:rPr lang="en-US" sz="975" dirty="0" err="1"/>
              <a:t>host_vars</a:t>
            </a:r>
            <a:r>
              <a:rPr lang="en-US" sz="975" dirty="0"/>
              <a:t>/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75" dirty="0"/>
              <a:t>         stagehost1.yml   # here we assign variables to particular systems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75" dirty="0"/>
              <a:t>         stagehost2.yml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75" dirty="0"/>
              <a:t>templates/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75" dirty="0"/>
              <a:t>library/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75" dirty="0" err="1"/>
              <a:t>module_utils</a:t>
            </a:r>
            <a:r>
              <a:rPr lang="en-US" sz="975" dirty="0"/>
              <a:t>/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75" dirty="0" err="1"/>
              <a:t>filter_plugins</a:t>
            </a:r>
            <a:r>
              <a:rPr lang="en-US" sz="975" dirty="0"/>
              <a:t>/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975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75" dirty="0" err="1"/>
              <a:t>site.yml</a:t>
            </a:r>
            <a:endParaRPr lang="en-US" sz="975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75" dirty="0" err="1"/>
              <a:t>webservers.yml</a:t>
            </a:r>
            <a:endParaRPr lang="en-US" sz="975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75" dirty="0" err="1"/>
              <a:t>dbservers.yml</a:t>
            </a:r>
            <a:endParaRPr lang="en-US" sz="975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975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75" dirty="0"/>
              <a:t>roles/</a:t>
            </a:r>
          </a:p>
        </p:txBody>
      </p:sp>
    </p:spTree>
    <p:extLst>
      <p:ext uri="{BB962C8B-B14F-4D97-AF65-F5344CB8AC3E}">
        <p14:creationId xmlns:p14="http://schemas.microsoft.com/office/powerpoint/2010/main" val="2430623267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F3793-A7E6-E002-CED7-71288A5F3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900" b="0" dirty="0"/>
              <a:t>Roles are individual projects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900" b="0" dirty="0"/>
              <a:t>Must be set as reusable and sharable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900" b="0" dirty="0"/>
              <a:t>version via git independently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900" b="0" dirty="0"/>
              <a:t>Roles are now part of collections: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dirty="0"/>
              <a:t>	#ansible-galaxy collection </a:t>
            </a:r>
            <a:r>
              <a:rPr lang="en-US" sz="900" dirty="0" err="1"/>
              <a:t>init</a:t>
            </a:r>
            <a:r>
              <a:rPr lang="en-US" sz="900" dirty="0"/>
              <a:t> </a:t>
            </a:r>
            <a:r>
              <a:rPr lang="en-US" sz="900" dirty="0" err="1"/>
              <a:t>my_namespace.my_collection</a:t>
            </a:r>
            <a:endParaRPr lang="en-US" sz="900" dirty="0"/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dirty="0">
              <a:solidFill>
                <a:srgbClr val="404040"/>
              </a:solidFill>
              <a:latin typeface="SFMono-Regular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600" dirty="0">
                <a:latin typeface="Arial" panose="020B0604020202020204" pitchFamily="34" charset="0"/>
              </a:rPr>
              <a:t>collection/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600" dirty="0">
                <a:latin typeface="Arial" panose="020B0604020202020204" pitchFamily="34" charset="0"/>
              </a:rPr>
              <a:t>├── docs/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600" dirty="0">
                <a:latin typeface="Arial" panose="020B0604020202020204" pitchFamily="34" charset="0"/>
              </a:rPr>
              <a:t>├── </a:t>
            </a:r>
            <a:r>
              <a:rPr lang="en-US" altLang="en-US" sz="600" dirty="0" err="1">
                <a:latin typeface="Arial" panose="020B0604020202020204" pitchFamily="34" charset="0"/>
              </a:rPr>
              <a:t>galaxy.yml</a:t>
            </a:r>
            <a:endParaRPr lang="en-US" altLang="en-US" sz="600" dirty="0"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600" dirty="0">
                <a:latin typeface="Arial" panose="020B0604020202020204" pitchFamily="34" charset="0"/>
              </a:rPr>
              <a:t>├── meta/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600" dirty="0">
                <a:latin typeface="Arial" panose="020B0604020202020204" pitchFamily="34" charset="0"/>
              </a:rPr>
              <a:t>│   └── </a:t>
            </a:r>
            <a:r>
              <a:rPr lang="en-US" altLang="en-US" sz="600" dirty="0" err="1">
                <a:latin typeface="Arial" panose="020B0604020202020204" pitchFamily="34" charset="0"/>
              </a:rPr>
              <a:t>runtime.yml</a:t>
            </a:r>
            <a:endParaRPr lang="en-US" altLang="en-US" sz="600" dirty="0"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600" dirty="0">
                <a:latin typeface="Arial" panose="020B0604020202020204" pitchFamily="34" charset="0"/>
              </a:rPr>
              <a:t>├── plugins/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600" dirty="0">
                <a:latin typeface="Arial" panose="020B0604020202020204" pitchFamily="34" charset="0"/>
              </a:rPr>
              <a:t>│   ├── modules/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600" dirty="0">
                <a:latin typeface="Arial" panose="020B0604020202020204" pitchFamily="34" charset="0"/>
              </a:rPr>
              <a:t>│   │   └── module1.py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600" dirty="0">
                <a:latin typeface="Arial" panose="020B0604020202020204" pitchFamily="34" charset="0"/>
              </a:rPr>
              <a:t>│   ├── inventory/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600" dirty="0">
                <a:latin typeface="Arial" panose="020B0604020202020204" pitchFamily="34" charset="0"/>
              </a:rPr>
              <a:t>│   └── .../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600" dirty="0">
                <a:latin typeface="Arial" panose="020B0604020202020204" pitchFamily="34" charset="0"/>
              </a:rPr>
              <a:t>├── README.md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600" dirty="0">
                <a:latin typeface="Arial" panose="020B0604020202020204" pitchFamily="34" charset="0"/>
              </a:rPr>
              <a:t>├── roles/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600" dirty="0">
                <a:latin typeface="Arial" panose="020B0604020202020204" pitchFamily="34" charset="0"/>
              </a:rPr>
              <a:t>│   ├── role1/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600" dirty="0">
                <a:latin typeface="Arial" panose="020B0604020202020204" pitchFamily="34" charset="0"/>
              </a:rPr>
              <a:t>│   ├── role2/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600" dirty="0">
                <a:latin typeface="Arial" panose="020B0604020202020204" pitchFamily="34" charset="0"/>
              </a:rPr>
              <a:t>│   └── .../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600" dirty="0">
                <a:latin typeface="Arial" panose="020B0604020202020204" pitchFamily="34" charset="0"/>
              </a:rPr>
              <a:t>├── playbooks/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600" dirty="0">
                <a:latin typeface="Arial" panose="020B0604020202020204" pitchFamily="34" charset="0"/>
              </a:rPr>
              <a:t>│   ├── files/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600" dirty="0">
                <a:latin typeface="Arial" panose="020B0604020202020204" pitchFamily="34" charset="0"/>
              </a:rPr>
              <a:t>│   ├── vars/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600" dirty="0">
                <a:latin typeface="Arial" panose="020B0604020202020204" pitchFamily="34" charset="0"/>
              </a:rPr>
              <a:t>│   ├── templates/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600" dirty="0">
                <a:latin typeface="Arial" panose="020B0604020202020204" pitchFamily="34" charset="0"/>
              </a:rPr>
              <a:t>│   └── tasks/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600" dirty="0">
                <a:latin typeface="Arial" panose="020B0604020202020204" pitchFamily="34" charset="0"/>
              </a:rPr>
              <a:t>└── tests/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600" dirty="0"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D4980-6D12-1B67-FFF6-2542EB4C04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57250"/>
            <a:ext cx="8689086" cy="754380"/>
          </a:xfrm>
        </p:spPr>
        <p:txBody>
          <a:bodyPr>
            <a:normAutofit fontScale="90000"/>
          </a:bodyPr>
          <a:lstStyle/>
          <a:p>
            <a:r>
              <a:rPr lang="en-US" dirty="0"/>
              <a:t>Roles and collections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B274D-68EE-DD9C-6DA3-785F54AF7DC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5624513"/>
            <a:ext cx="2133600" cy="273844"/>
          </a:xfrm>
        </p:spPr>
        <p:txBody>
          <a:bodyPr/>
          <a:lstStyle/>
          <a:p>
            <a:fld id="{7048F631-2D74-437D-9509-32BA0A9A0C18}" type="slidenum">
              <a:rPr lang="en-US" smtClean="0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2756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F3793-A7E6-E002-CED7-71288A5F3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dirty="0"/>
              <a:t>Use the directory layout based on the Galaxy/Molecule recommendation inside the collection: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0" dirty="0">
                <a:solidFill>
                  <a:srgbClr val="404040"/>
                </a:solidFill>
                <a:latin typeface="SFMono-Regular"/>
              </a:rPr>
              <a:t># ansible-galaxy role init myRole</a:t>
            </a:r>
            <a:endParaRPr lang="en-US" altLang="en-US" sz="900" dirty="0">
              <a:solidFill>
                <a:srgbClr val="404040"/>
              </a:solidFill>
              <a:latin typeface="SFMono-Regular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dirty="0">
              <a:solidFill>
                <a:srgbClr val="404040"/>
              </a:solidFill>
              <a:latin typeface="SFMono-Regular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dirty="0">
              <a:solidFill>
                <a:srgbClr val="404040"/>
              </a:solidFill>
              <a:latin typeface="SFMono-Regular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D4980-6D12-1B67-FFF6-2542EB4C04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57250"/>
            <a:ext cx="8689086" cy="75438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41414"/>
                </a:solidFill>
                <a:latin typeface="Red Hat Display"/>
              </a:rPr>
              <a:t>Directory Layout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EF892C-E1D9-7142-F88E-562F623A5CA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5624513"/>
            <a:ext cx="2133600" cy="273844"/>
          </a:xfrm>
        </p:spPr>
        <p:txBody>
          <a:bodyPr/>
          <a:lstStyle/>
          <a:p>
            <a:fld id="{7048F631-2D74-437D-9509-32BA0A9A0C18}" type="slidenum">
              <a:rPr lang="en-US" smtClean="0"/>
              <a:t>207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E9230E7-417B-15D2-A40C-9125CC9DE5FC}"/>
              </a:ext>
            </a:extLst>
          </p:cNvPr>
          <p:cNvSpPr txBox="1">
            <a:spLocks/>
          </p:cNvSpPr>
          <p:nvPr/>
        </p:nvSpPr>
        <p:spPr>
          <a:xfrm>
            <a:off x="4572000" y="3652934"/>
            <a:ext cx="3852254" cy="1121319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dirty="0">
                <a:solidFill>
                  <a:schemeClr val="accent1"/>
                </a:solidFill>
              </a:rPr>
              <a:t>Documents the role by describing: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sz="900" dirty="0">
                <a:solidFill>
                  <a:schemeClr val="accent1"/>
                </a:solidFill>
              </a:rPr>
              <a:t>The context of the role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sz="900" dirty="0">
                <a:solidFill>
                  <a:schemeClr val="accent1"/>
                </a:solidFill>
              </a:rPr>
              <a:t>What the role do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sz="900" dirty="0">
                <a:solidFill>
                  <a:schemeClr val="accent1"/>
                </a:solidFill>
              </a:rPr>
              <a:t>What the role NOT do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sz="900" dirty="0">
                <a:solidFill>
                  <a:schemeClr val="accent1"/>
                </a:solidFill>
              </a:rPr>
              <a:t>The list of usable vars with their default values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sz="900" dirty="0">
                <a:solidFill>
                  <a:schemeClr val="accent1"/>
                </a:solidFill>
              </a:rPr>
              <a:t>The list of tags available and their meanings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sz="900" dirty="0">
                <a:solidFill>
                  <a:schemeClr val="accent1"/>
                </a:solidFill>
              </a:rPr>
              <a:t>Examples how to use it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8B087F2-FF95-43DD-0EB1-8CCE14C20C4F}"/>
              </a:ext>
            </a:extLst>
          </p:cNvPr>
          <p:cNvSpPr txBox="1">
            <a:spLocks/>
          </p:cNvSpPr>
          <p:nvPr/>
        </p:nvSpPr>
        <p:spPr>
          <a:xfrm>
            <a:off x="4572000" y="3096598"/>
            <a:ext cx="3852254" cy="44829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Use the “common” specific role name to define default values for all the subsequent roles. These values can be overridden by the roles settings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8DA6AEC-D828-5235-02BB-E23DEEA21056}"/>
              </a:ext>
            </a:extLst>
          </p:cNvPr>
          <p:cNvSpPr txBox="1">
            <a:spLocks/>
          </p:cNvSpPr>
          <p:nvPr/>
        </p:nvSpPr>
        <p:spPr>
          <a:xfrm>
            <a:off x="4572000" y="4833582"/>
            <a:ext cx="3852254" cy="448298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dirty="0">
                <a:solidFill>
                  <a:schemeClr val="accent2"/>
                </a:solidFill>
              </a:rPr>
              <a:t>Define in tests directory list of playbooks, Inventory, vars… to test and validate role individually.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dirty="0">
                <a:solidFill>
                  <a:schemeClr val="accent2"/>
                </a:solidFill>
              </a:rPr>
              <a:t>These testing playbooks must be run by the CI/CD pipeline for validation.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885121-0D39-D8DA-641D-FD113BF225C8}"/>
              </a:ext>
            </a:extLst>
          </p:cNvPr>
          <p:cNvSpPr txBox="1"/>
          <p:nvPr/>
        </p:nvSpPr>
        <p:spPr>
          <a:xfrm>
            <a:off x="594703" y="2646380"/>
            <a:ext cx="27876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404040"/>
                </a:solidFill>
                <a:latin typeface="SFMono-Regular"/>
              </a:rPr>
              <a:t>molecule init scenario  # run inside the role directory</a:t>
            </a:r>
            <a:endParaRPr lang="en-US" sz="900" dirty="0">
              <a:solidFill>
                <a:srgbClr val="404040"/>
              </a:solidFill>
              <a:latin typeface="SFMono-Regula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B8BC48-F9E1-8F5D-F73A-B7A90AF314F4}"/>
              </a:ext>
            </a:extLst>
          </p:cNvPr>
          <p:cNvSpPr txBox="1"/>
          <p:nvPr/>
        </p:nvSpPr>
        <p:spPr>
          <a:xfrm>
            <a:off x="978486" y="2860729"/>
            <a:ext cx="2020078" cy="2746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50" dirty="0" err="1">
                <a:solidFill>
                  <a:schemeClr val="accent6"/>
                </a:solidFill>
              </a:rPr>
              <a:t>myRole</a:t>
            </a:r>
            <a:endParaRPr lang="en-US" sz="750" dirty="0">
              <a:solidFill>
                <a:schemeClr val="accent6"/>
              </a:solidFill>
              <a:latin typeface="Lucida Console" panose="020B0609040504020204" pitchFamily="49" charset="0"/>
            </a:endParaRPr>
          </a:p>
          <a:p>
            <a:r>
              <a:rPr lang="en-US" sz="750" dirty="0">
                <a:latin typeface="Lucida Console" panose="020B0609040504020204" pitchFamily="49" charset="0"/>
              </a:rPr>
              <a:t>├── defaults</a:t>
            </a:r>
          </a:p>
          <a:p>
            <a:r>
              <a:rPr lang="en-US" sz="750" dirty="0">
                <a:latin typeface="Lucida Console" panose="020B0609040504020204" pitchFamily="49" charset="0"/>
              </a:rPr>
              <a:t>│   └── </a:t>
            </a:r>
            <a:r>
              <a:rPr lang="en-US" sz="750" dirty="0" err="1">
                <a:latin typeface="Lucida Console" panose="020B0609040504020204" pitchFamily="49" charset="0"/>
              </a:rPr>
              <a:t>main.yml</a:t>
            </a:r>
            <a:endParaRPr lang="en-US" sz="750" dirty="0">
              <a:latin typeface="Lucida Console" panose="020B0609040504020204" pitchFamily="49" charset="0"/>
            </a:endParaRPr>
          </a:p>
          <a:p>
            <a:r>
              <a:rPr lang="en-US" sz="750" dirty="0">
                <a:latin typeface="Lucida Console" panose="020B0609040504020204" pitchFamily="49" charset="0"/>
              </a:rPr>
              <a:t>├── files</a:t>
            </a:r>
          </a:p>
          <a:p>
            <a:r>
              <a:rPr lang="en-US" sz="750" dirty="0">
                <a:latin typeface="Lucida Console" panose="020B0609040504020204" pitchFamily="49" charset="0"/>
              </a:rPr>
              <a:t>├── handlers</a:t>
            </a:r>
          </a:p>
          <a:p>
            <a:r>
              <a:rPr lang="en-US" sz="750" dirty="0">
                <a:latin typeface="Lucida Console" panose="020B0609040504020204" pitchFamily="49" charset="0"/>
              </a:rPr>
              <a:t>│   └── </a:t>
            </a:r>
            <a:r>
              <a:rPr lang="en-US" sz="750" dirty="0" err="1">
                <a:latin typeface="Lucida Console" panose="020B0609040504020204" pitchFamily="49" charset="0"/>
              </a:rPr>
              <a:t>main.yml</a:t>
            </a:r>
            <a:endParaRPr lang="en-US" sz="750" dirty="0">
              <a:latin typeface="Lucida Console" panose="020B0609040504020204" pitchFamily="49" charset="0"/>
            </a:endParaRPr>
          </a:p>
          <a:p>
            <a:r>
              <a:rPr lang="en-US" sz="750" dirty="0">
                <a:latin typeface="Lucida Console" panose="020B0609040504020204" pitchFamily="49" charset="0"/>
              </a:rPr>
              <a:t>├── meta</a:t>
            </a:r>
          </a:p>
          <a:p>
            <a:r>
              <a:rPr lang="en-US" sz="750" dirty="0">
                <a:latin typeface="Lucida Console" panose="020B0609040504020204" pitchFamily="49" charset="0"/>
              </a:rPr>
              <a:t>│   └── </a:t>
            </a:r>
            <a:r>
              <a:rPr lang="en-US" sz="750" dirty="0" err="1">
                <a:latin typeface="Lucida Console" panose="020B0609040504020204" pitchFamily="49" charset="0"/>
              </a:rPr>
              <a:t>main.yml</a:t>
            </a:r>
            <a:endParaRPr lang="en-US" sz="750" dirty="0">
              <a:latin typeface="Lucida Console" panose="020B0609040504020204" pitchFamily="49" charset="0"/>
            </a:endParaRPr>
          </a:p>
          <a:p>
            <a:r>
              <a:rPr lang="en-US" sz="750" dirty="0">
                <a:latin typeface="Lucida Console" panose="020B0609040504020204" pitchFamily="49" charset="0"/>
              </a:rPr>
              <a:t>├── molecule</a:t>
            </a:r>
          </a:p>
          <a:p>
            <a:r>
              <a:rPr lang="en-US" sz="750" dirty="0">
                <a:latin typeface="Lucida Console" panose="020B0609040504020204" pitchFamily="49" charset="0"/>
              </a:rPr>
              <a:t>│   └── default</a:t>
            </a:r>
          </a:p>
          <a:p>
            <a:r>
              <a:rPr lang="en-US" sz="750" dirty="0">
                <a:latin typeface="Lucida Console" panose="020B0609040504020204" pitchFamily="49" charset="0"/>
              </a:rPr>
              <a:t>│       ├── </a:t>
            </a:r>
            <a:r>
              <a:rPr lang="en-US" sz="750" dirty="0" err="1">
                <a:latin typeface="Lucida Console" panose="020B0609040504020204" pitchFamily="49" charset="0"/>
              </a:rPr>
              <a:t>converge.yml</a:t>
            </a:r>
            <a:endParaRPr lang="en-US" sz="750" dirty="0">
              <a:latin typeface="Lucida Console" panose="020B0609040504020204" pitchFamily="49" charset="0"/>
            </a:endParaRPr>
          </a:p>
          <a:p>
            <a:r>
              <a:rPr lang="en-US" sz="750" dirty="0">
                <a:latin typeface="Lucida Console" panose="020B0609040504020204" pitchFamily="49" charset="0"/>
              </a:rPr>
              <a:t>│       ├── create.yml</a:t>
            </a:r>
            <a:endParaRPr lang="en-US" sz="750" dirty="0">
              <a:latin typeface="Lucida Console" panose="020B0609040504020204" pitchFamily="49" charset="0"/>
            </a:endParaRPr>
          </a:p>
          <a:p>
            <a:r>
              <a:rPr lang="en-US" sz="750" dirty="0">
                <a:latin typeface="Lucida Console" panose="020B0609040504020204" pitchFamily="49" charset="0"/>
              </a:rPr>
              <a:t>│       ├── destroy.yml</a:t>
            </a:r>
            <a:endParaRPr lang="en-US" sz="750" dirty="0">
              <a:latin typeface="Lucida Console" panose="020B0609040504020204" pitchFamily="49" charset="0"/>
            </a:endParaRPr>
          </a:p>
          <a:p>
            <a:r>
              <a:rPr lang="en-US" sz="750" dirty="0">
                <a:latin typeface="Lucida Console" panose="020B0609040504020204" pitchFamily="49" charset="0"/>
              </a:rPr>
              <a:t>│       ├── </a:t>
            </a:r>
            <a:r>
              <a:rPr lang="en-US" sz="750" dirty="0" err="1">
                <a:latin typeface="Lucida Console" panose="020B0609040504020204" pitchFamily="49" charset="0"/>
              </a:rPr>
              <a:t>molecule.yml</a:t>
            </a:r>
            <a:endParaRPr lang="en-US" sz="750" dirty="0">
              <a:latin typeface="Lucida Console" panose="020B0609040504020204" pitchFamily="49" charset="0"/>
            </a:endParaRPr>
          </a:p>
          <a:p>
            <a:r>
              <a:rPr lang="en-US" sz="750" dirty="0">
                <a:latin typeface="Lucida Console" panose="020B0609040504020204" pitchFamily="49" charset="0"/>
              </a:rPr>
              <a:t>│       └── </a:t>
            </a:r>
            <a:r>
              <a:rPr lang="en-US" sz="750" dirty="0" err="1">
                <a:latin typeface="Lucida Console" panose="020B0609040504020204" pitchFamily="49" charset="0"/>
              </a:rPr>
              <a:t>verify.yml</a:t>
            </a:r>
            <a:endParaRPr lang="en-US" sz="750" dirty="0">
              <a:latin typeface="Lucida Console" panose="020B0609040504020204" pitchFamily="49" charset="0"/>
            </a:endParaRPr>
          </a:p>
          <a:p>
            <a:r>
              <a:rPr lang="en-US" sz="750" dirty="0">
                <a:latin typeface="Lucida Console" panose="020B0609040504020204" pitchFamily="49" charset="0"/>
              </a:rPr>
              <a:t>├── </a:t>
            </a:r>
            <a:r>
              <a:rPr lang="en-US" sz="750" dirty="0">
                <a:solidFill>
                  <a:schemeClr val="accent1"/>
                </a:solidFill>
                <a:latin typeface="Lucida Console" panose="020B0609040504020204" pitchFamily="49" charset="0"/>
              </a:rPr>
              <a:t>README.md</a:t>
            </a:r>
          </a:p>
          <a:p>
            <a:r>
              <a:rPr lang="en-US" sz="750" dirty="0">
                <a:latin typeface="Lucida Console" panose="020B0609040504020204" pitchFamily="49" charset="0"/>
              </a:rPr>
              <a:t>├── tasks</a:t>
            </a:r>
          </a:p>
          <a:p>
            <a:r>
              <a:rPr lang="en-US" sz="750" dirty="0">
                <a:latin typeface="Lucida Console" panose="020B0609040504020204" pitchFamily="49" charset="0"/>
              </a:rPr>
              <a:t>│   └── </a:t>
            </a:r>
            <a:r>
              <a:rPr lang="en-US" sz="750" dirty="0" err="1">
                <a:latin typeface="Lucida Console" panose="020B0609040504020204" pitchFamily="49" charset="0"/>
              </a:rPr>
              <a:t>main.yml</a:t>
            </a:r>
            <a:endParaRPr lang="en-US" sz="750" dirty="0">
              <a:latin typeface="Lucida Console" panose="020B0609040504020204" pitchFamily="49" charset="0"/>
            </a:endParaRPr>
          </a:p>
          <a:p>
            <a:r>
              <a:rPr lang="en-US" sz="750" dirty="0">
                <a:latin typeface="Lucida Console" panose="020B0609040504020204" pitchFamily="49" charset="0"/>
              </a:rPr>
              <a:t>├── templates</a:t>
            </a:r>
          </a:p>
          <a:p>
            <a:r>
              <a:rPr lang="en-US" sz="750" dirty="0">
                <a:latin typeface="Lucida Console" panose="020B0609040504020204" pitchFamily="49" charset="0"/>
              </a:rPr>
              <a:t>├── </a:t>
            </a:r>
            <a:r>
              <a:rPr lang="en-US" sz="750" dirty="0">
                <a:solidFill>
                  <a:schemeClr val="accent2"/>
                </a:solidFill>
                <a:latin typeface="Lucida Console" panose="020B0609040504020204" pitchFamily="49" charset="0"/>
              </a:rPr>
              <a:t>tests</a:t>
            </a:r>
          </a:p>
          <a:p>
            <a:r>
              <a:rPr lang="en-US" sz="750" dirty="0">
                <a:solidFill>
                  <a:schemeClr val="accent2"/>
                </a:solidFill>
                <a:latin typeface="Lucida Console" panose="020B0609040504020204" pitchFamily="49" charset="0"/>
              </a:rPr>
              <a:t>│   ├── inventory</a:t>
            </a:r>
          </a:p>
          <a:p>
            <a:r>
              <a:rPr lang="en-US" sz="750" dirty="0">
                <a:solidFill>
                  <a:schemeClr val="accent2"/>
                </a:solidFill>
                <a:latin typeface="Lucida Console" panose="020B0609040504020204" pitchFamily="49" charset="0"/>
              </a:rPr>
              <a:t>│   └── </a:t>
            </a:r>
            <a:r>
              <a:rPr lang="en-US" sz="75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test.yml</a:t>
            </a:r>
            <a:endParaRPr lang="en-US" sz="75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r>
              <a:rPr lang="en-US" sz="750" dirty="0">
                <a:latin typeface="Lucida Console" panose="020B0609040504020204" pitchFamily="49" charset="0"/>
              </a:rPr>
              <a:t>└── vars</a:t>
            </a:r>
          </a:p>
          <a:p>
            <a:r>
              <a:rPr lang="en-US" sz="750" dirty="0">
                <a:latin typeface="Lucida Console" panose="020B0609040504020204" pitchFamily="49" charset="0"/>
              </a:rPr>
              <a:t>    └── </a:t>
            </a:r>
            <a:r>
              <a:rPr lang="en-US" sz="750" dirty="0" err="1">
                <a:latin typeface="Lucida Console" panose="020B0609040504020204" pitchFamily="49" charset="0"/>
              </a:rPr>
              <a:t>main.yml</a:t>
            </a:r>
            <a:endParaRPr lang="en-US" sz="75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107935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F3793-A7E6-E002-CED7-71288A5F3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dirty="0"/>
              <a:t>Link role instead of import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dirty="0"/>
              <a:t>Reference a </a:t>
            </a:r>
            <a:r>
              <a:rPr lang="en-US" sz="900" dirty="0" err="1"/>
              <a:t>gitted</a:t>
            </a:r>
            <a:r>
              <a:rPr lang="en-US" sz="900" dirty="0"/>
              <a:t> version of the role to be </a:t>
            </a:r>
            <a:r>
              <a:rPr lang="en-US" sz="900" dirty="0" err="1"/>
              <a:t>uptodate</a:t>
            </a:r>
            <a:endParaRPr lang="en-US" sz="900" dirty="0"/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50" dirty="0"/>
              <a:t>Or the internal galaxy one if deployed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9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D4980-6D12-1B67-FFF6-2542EB4C04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57250"/>
            <a:ext cx="8689086" cy="75438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41414"/>
                </a:solidFill>
                <a:latin typeface="Red Hat Display"/>
              </a:rPr>
              <a:t>Role import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31B82-3F8A-E155-868B-499206ED7A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5624513"/>
            <a:ext cx="2133600" cy="273844"/>
          </a:xfrm>
        </p:spPr>
        <p:txBody>
          <a:bodyPr/>
          <a:lstStyle/>
          <a:p>
            <a:fld id="{7048F631-2D74-437D-9509-32BA0A9A0C18}" type="slidenum">
              <a:rPr lang="en-US" smtClean="0"/>
              <a:t>208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723DC7-9A3A-7E18-75F4-068F8F8E1958}"/>
              </a:ext>
            </a:extLst>
          </p:cNvPr>
          <p:cNvSpPr txBox="1"/>
          <p:nvPr/>
        </p:nvSpPr>
        <p:spPr>
          <a:xfrm>
            <a:off x="822705" y="2945137"/>
            <a:ext cx="4572852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/>
              <a:t>#roles/requirements.yml</a:t>
            </a:r>
          </a:p>
          <a:p>
            <a:r>
              <a:rPr lang="en-US" sz="1350" dirty="0"/>
              <a:t>---    </a:t>
            </a:r>
          </a:p>
          <a:p>
            <a:r>
              <a:rPr lang="en-US" sz="1350" dirty="0"/>
              <a:t>- </a:t>
            </a:r>
            <a:r>
              <a:rPr lang="en-US" sz="1350" dirty="0" err="1"/>
              <a:t>src</a:t>
            </a:r>
            <a:r>
              <a:rPr lang="en-US" sz="1350" dirty="0"/>
              <a:t>: https://git.example.com/my-ansible-roles/role1.git</a:t>
            </a:r>
          </a:p>
          <a:p>
            <a:r>
              <a:rPr lang="en-US" sz="1350" dirty="0"/>
              <a:t>  </a:t>
            </a:r>
            <a:r>
              <a:rPr lang="en-US" sz="1350" dirty="0" err="1"/>
              <a:t>scm</a:t>
            </a:r>
            <a:r>
              <a:rPr lang="en-US" sz="1350" dirty="0"/>
              <a:t>: git</a:t>
            </a:r>
          </a:p>
          <a:p>
            <a:r>
              <a:rPr lang="en-US" sz="1350" dirty="0"/>
              <a:t>  version: master</a:t>
            </a:r>
          </a:p>
          <a:p>
            <a:r>
              <a:rPr lang="en-US" sz="1350" dirty="0"/>
              <a:t>  name: role1</a:t>
            </a:r>
          </a:p>
        </p:txBody>
      </p:sp>
    </p:spTree>
    <p:extLst>
      <p:ext uri="{BB962C8B-B14F-4D97-AF65-F5344CB8AC3E}">
        <p14:creationId xmlns:p14="http://schemas.microsoft.com/office/powerpoint/2010/main" val="307803930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F3793-A7E6-E002-CED7-71288A5F3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Using a private automation hub provides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An internal access to Galaxy roles / collections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An internal access to home made roles / collections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Access control to roles / collections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An approbation life cycle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4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6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D4980-6D12-1B67-FFF6-2542EB4C04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57250"/>
            <a:ext cx="8689086" cy="754380"/>
          </a:xfrm>
        </p:spPr>
        <p:txBody>
          <a:bodyPr>
            <a:normAutofit/>
          </a:bodyPr>
          <a:lstStyle/>
          <a:p>
            <a:r>
              <a:rPr lang="en-US" sz="3300" b="1" dirty="0"/>
              <a:t>Galaxy NG/ automation hub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584E5-7814-DD96-1F0E-06727026863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5624513"/>
            <a:ext cx="2133600" cy="273844"/>
          </a:xfrm>
        </p:spPr>
        <p:txBody>
          <a:bodyPr/>
          <a:lstStyle/>
          <a:p>
            <a:fld id="{7048F631-2D74-437D-9509-32BA0A9A0C18}" type="slidenum">
              <a:rPr lang="en-US" smtClean="0"/>
              <a:t>209</a:t>
            </a:fld>
            <a:endParaRPr lang="en-US"/>
          </a:p>
        </p:txBody>
      </p:sp>
      <p:sp>
        <p:nvSpPr>
          <p:cNvPr id="4" name="AutoShape 2" descr="Control your content with private Automation Hub">
            <a:extLst>
              <a:ext uri="{FF2B5EF4-FFF2-40B4-BE49-F238E27FC236}">
                <a16:creationId xmlns:a16="http://schemas.microsoft.com/office/drawing/2014/main" id="{30197ACA-6667-0FF2-66D6-5C80349DDB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314700"/>
            <a:ext cx="1624637" cy="162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05D91A-9955-80A2-A550-BB5FD23A2A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569" b="43540"/>
          <a:stretch/>
        </p:blipFill>
        <p:spPr>
          <a:xfrm>
            <a:off x="1958078" y="2782220"/>
            <a:ext cx="5708694" cy="2904008"/>
          </a:xfrm>
          <a:prstGeom prst="rect">
            <a:avLst/>
          </a:prstGeom>
        </p:spPr>
      </p:pic>
      <p:sp>
        <p:nvSpPr>
          <p:cNvPr id="8" name="Caption historique"/>
          <p:cNvSpPr txBox="1"/>
          <p:nvPr/>
        </p:nvSpPr>
        <p:spPr>
          <a:xfrm>
            <a:off x="1958078" y="5700000"/>
            <a:ext cx="4800000" cy="3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000" i="1" dirty="0">
                <a:solidFill>
                  <a:srgbClr val="595959"/>
                </a:solidFill>
              </a:rPr>
              <a:t>capture historique (schéma d'architecture)</a:t>
            </a:r>
          </a:p>
        </p:txBody>
      </p:sp>
    </p:spTree>
    <p:extLst>
      <p:ext uri="{BB962C8B-B14F-4D97-AF65-F5344CB8AC3E}">
        <p14:creationId xmlns:p14="http://schemas.microsoft.com/office/powerpoint/2010/main" val="1960695123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F3793-A7E6-E002-CED7-71288A5F3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0" dirty="0">
                <a:solidFill>
                  <a:srgbClr val="141414"/>
                </a:solidFill>
                <a:latin typeface="Red Hat Text"/>
              </a:rPr>
              <a:t>Configure </a:t>
            </a:r>
            <a:r>
              <a:rPr lang="en-US" altLang="en-US" sz="900" b="0" dirty="0" err="1">
                <a:solidFill>
                  <a:srgbClr val="E83E8C"/>
                </a:solidFill>
                <a:latin typeface="Overpass Mono"/>
              </a:rPr>
              <a:t>ansible.cfg</a:t>
            </a:r>
            <a:r>
              <a:rPr lang="en-US" altLang="en-US" sz="900" b="0" dirty="0">
                <a:solidFill>
                  <a:srgbClr val="141414"/>
                </a:solidFill>
                <a:latin typeface="Red Hat Text"/>
              </a:rPr>
              <a:t> with the plugins: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dirty="0">
              <a:solidFill>
                <a:srgbClr val="990000"/>
              </a:solidFill>
              <a:latin typeface="Overpass Mono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latin typeface="Lucida Sans Typewriter" panose="020B0509030504030204" pitchFamily="49" charset="0"/>
              </a:rPr>
              <a:t>[defaults]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b="0" dirty="0">
                <a:solidFill>
                  <a:srgbClr val="333333"/>
                </a:solidFill>
                <a:latin typeface="Lucida Sans Typewriter" panose="020B0509030504030204" pitchFamily="49" charset="0"/>
              </a:rPr>
              <a:t>inventory = ./hosts 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b="0" dirty="0" err="1">
                <a:solidFill>
                  <a:srgbClr val="333333"/>
                </a:solidFill>
                <a:latin typeface="Lucida Sans Typewriter" panose="020B0509030504030204" pitchFamily="49" charset="0"/>
              </a:rPr>
              <a:t>callbacks_enabled</a:t>
            </a:r>
            <a:r>
              <a:rPr lang="en-US" altLang="en-US" sz="750" b="0" dirty="0">
                <a:solidFill>
                  <a:srgbClr val="333333"/>
                </a:solidFill>
                <a:latin typeface="Lucida Sans Typewriter" panose="020B0509030504030204" pitchFamily="49" charset="0"/>
              </a:rPr>
              <a:t> = </a:t>
            </a:r>
            <a:r>
              <a:rPr lang="en-US" altLang="en-US" sz="750" b="0" dirty="0">
                <a:solidFill>
                  <a:srgbClr val="333333"/>
                </a:solidFill>
                <a:highlight>
                  <a:srgbClr val="00FF00"/>
                </a:highlight>
                <a:latin typeface="Lucida Sans Typewriter" panose="020B0509030504030204" pitchFamily="49" charset="0"/>
              </a:rPr>
              <a:t>timer</a:t>
            </a:r>
            <a:r>
              <a:rPr lang="en-US" altLang="en-US" sz="750" b="0" dirty="0">
                <a:solidFill>
                  <a:srgbClr val="333333"/>
                </a:solidFill>
                <a:latin typeface="Lucida Sans Typewriter" panose="020B0509030504030204" pitchFamily="49" charset="0"/>
              </a:rPr>
              <a:t>, </a:t>
            </a:r>
            <a:r>
              <a:rPr lang="en-US" altLang="en-US" sz="750" b="0" dirty="0" err="1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profile_tasks</a:t>
            </a:r>
            <a:r>
              <a:rPr lang="en-US" altLang="en-US" sz="750" b="0" dirty="0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, </a:t>
            </a:r>
            <a:r>
              <a:rPr lang="en-US" altLang="en-US" sz="750" b="0" dirty="0" err="1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profile_roles</a:t>
            </a:r>
            <a:endParaRPr lang="en-US" altLang="en-US" sz="750" b="0" dirty="0">
              <a:solidFill>
                <a:srgbClr val="333333"/>
              </a:solidFill>
              <a:highlight>
                <a:srgbClr val="00FFFF"/>
              </a:highlight>
              <a:latin typeface="Lucida Sans Typewriter" panose="020B0509030504030204" pitchFamily="49" charset="0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D4980-6D12-1B67-FFF6-2542EB4C04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57250"/>
            <a:ext cx="8689086" cy="754380"/>
          </a:xfrm>
        </p:spPr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141414"/>
                </a:solidFill>
                <a:effectLst/>
                <a:latin typeface="Red Hat Display"/>
              </a:rPr>
              <a:t>slow tasks + callback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BE153-F46B-E322-8CDD-66E035C5660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5624513"/>
            <a:ext cx="2133600" cy="273844"/>
          </a:xfrm>
        </p:spPr>
        <p:txBody>
          <a:bodyPr/>
          <a:lstStyle/>
          <a:p>
            <a:fld id="{7048F631-2D74-437D-9509-32BA0A9A0C18}" type="slidenum">
              <a:rPr lang="en-US" smtClean="0"/>
              <a:t>210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77767F3-96B4-3A1C-DF6C-3E16320FF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1" y="2535317"/>
            <a:ext cx="3718967" cy="2954655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b="1" dirty="0">
                <a:solidFill>
                  <a:srgbClr val="999999"/>
                </a:solidFill>
                <a:latin typeface="Lucida Sans Typewriter" panose="020B0509030504030204" pitchFamily="49" charset="0"/>
              </a:rPr>
              <a:t>$</a:t>
            </a:r>
            <a:r>
              <a:rPr lang="en-US" altLang="en-US" sz="600" dirty="0">
                <a:solidFill>
                  <a:srgbClr val="333333"/>
                </a:solidFill>
                <a:latin typeface="Lucida Sans Typewriter" panose="020B0509030504030204" pitchFamily="49" charset="0"/>
              </a:rPr>
              <a:t> ansible-playbook </a:t>
            </a:r>
            <a:r>
              <a:rPr lang="en-US" altLang="en-US" sz="600" dirty="0" err="1">
                <a:solidFill>
                  <a:srgbClr val="333333"/>
                </a:solidFill>
                <a:latin typeface="Lucida Sans Typewriter" panose="020B0509030504030204" pitchFamily="49" charset="0"/>
              </a:rPr>
              <a:t>site.yml</a:t>
            </a:r>
            <a:r>
              <a:rPr lang="en-US" altLang="en-US" sz="600" dirty="0">
                <a:solidFill>
                  <a:srgbClr val="333333"/>
                </a:solidFill>
                <a:latin typeface="Lucida Sans Typewriter" panose="020B0509030504030204" pitchFamily="49" charset="0"/>
              </a:rPr>
              <a:t>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>
                <a:solidFill>
                  <a:srgbClr val="333333"/>
                </a:solidFill>
                <a:latin typeface="Lucida Sans Typewriter" panose="020B0509030504030204" pitchFamily="49" charset="0"/>
              </a:rPr>
              <a:t>PLAY [Deploying Web Server] ************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>
                <a:solidFill>
                  <a:srgbClr val="333333"/>
                </a:solidFill>
                <a:latin typeface="Lucida Sans Typewriter" panose="020B0509030504030204" pitchFamily="49" charset="0"/>
              </a:rPr>
              <a:t>TASK [Gathering Facts] **********************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>
                <a:solidFill>
                  <a:srgbClr val="333333"/>
                </a:solidFill>
                <a:highlight>
                  <a:srgbClr val="00FF00"/>
                </a:highlight>
                <a:latin typeface="Lucida Sans Typewriter" panose="020B0509030504030204" pitchFamily="49" charset="0"/>
              </a:rPr>
              <a:t>Thursday 23 December 2021 22:55:58 +0800 (0:00:00.055) 0:00:00.055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>
                <a:solidFill>
                  <a:srgbClr val="333333"/>
                </a:solidFill>
                <a:highlight>
                  <a:srgbClr val="00FF00"/>
                </a:highlight>
                <a:latin typeface="Lucida Sans Typewriter" panose="020B0509030504030204" pitchFamily="49" charset="0"/>
              </a:rPr>
              <a:t>Thursday 23 December 2021 22:55:58 +0800 (0:00:00.054) 0:00:00.054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>
                <a:solidFill>
                  <a:srgbClr val="333333"/>
                </a:solidFill>
                <a:latin typeface="Lucida Sans Typewriter" panose="020B0509030504030204" pitchFamily="49" charset="0"/>
              </a:rPr>
              <a:t>ok: [node1] TASK [Deploy Web service] *******************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>
                <a:solidFill>
                  <a:srgbClr val="333333"/>
                </a:solidFill>
                <a:highlight>
                  <a:srgbClr val="00FF00"/>
                </a:highlight>
                <a:latin typeface="Lucida Sans Typewriter" panose="020B0509030504030204" pitchFamily="49" charset="0"/>
              </a:rPr>
              <a:t>Thursday 23 December 2021 22:56:00 +0800 (0:00:01.603) 0:00:01.659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>
                <a:solidFill>
                  <a:srgbClr val="333333"/>
                </a:solidFill>
                <a:highlight>
                  <a:srgbClr val="00FF00"/>
                </a:highlight>
                <a:latin typeface="Lucida Sans Typewriter" panose="020B0509030504030204" pitchFamily="49" charset="0"/>
              </a:rPr>
              <a:t>Thursday 23 December 2021 22:56:00 +0800 (0:00:01.603) 0:00:01.658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>
                <a:solidFill>
                  <a:srgbClr val="333333"/>
                </a:solidFill>
                <a:latin typeface="Lucida Sans Typewriter" panose="020B0509030504030204" pitchFamily="49" charset="0"/>
              </a:rPr>
              <a:t>...&lt;output removed&gt;...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>
                <a:solidFill>
                  <a:srgbClr val="333333"/>
                </a:solidFill>
                <a:latin typeface="Lucida Sans Typewriter" panose="020B0509030504030204" pitchFamily="49" charset="0"/>
              </a:rPr>
              <a:t>PLAY RECAP **********************************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>
                <a:solidFill>
                  <a:srgbClr val="333333"/>
                </a:solidFill>
                <a:latin typeface="Lucida Sans Typewriter" panose="020B0509030504030204" pitchFamily="49" charset="0"/>
              </a:rPr>
              <a:t>node1: ok=9 changed=4 unreachable=0 failed=0 skipped=0 rescued=0 ignored=0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>
                <a:solidFill>
                  <a:srgbClr val="333333"/>
                </a:solidFill>
                <a:latin typeface="Lucida Sans Typewriter" panose="020B0509030504030204" pitchFamily="49" charset="0"/>
              </a:rPr>
              <a:t>Playbook run took 0 days, 0 hours, 0 minutes, 14 seconds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Thursday 23 December 2021 22:56:12 +0800 (0:00:00.541) 0:00:14.100 *****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===============================================================================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deploy-web-server : Install httpd and </a:t>
            </a:r>
            <a:r>
              <a:rPr lang="en-US" altLang="en-US" sz="600" dirty="0" err="1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firewalld</a:t>
            </a:r>
            <a:r>
              <a:rPr lang="en-US" altLang="en-US" sz="600" dirty="0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 ------- 5.42s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deploy-web-server : Git checkout ---------------------- 3.40s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Gathering Facts --------------------------------------- 1.60s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deploy-web-server : Enable and Run </a:t>
            </a:r>
            <a:r>
              <a:rPr lang="en-US" altLang="en-US" sz="600" dirty="0" err="1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Firewalld</a:t>
            </a:r>
            <a:r>
              <a:rPr lang="en-US" altLang="en-US" sz="600" dirty="0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 ---------- 0.82s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deploy-web-server : </a:t>
            </a:r>
            <a:r>
              <a:rPr lang="en-US" altLang="en-US" sz="600" dirty="0" err="1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firewalld</a:t>
            </a:r>
            <a:r>
              <a:rPr lang="en-US" altLang="en-US" sz="600" dirty="0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 </a:t>
            </a:r>
            <a:r>
              <a:rPr lang="en-US" altLang="en-US" sz="600" dirty="0" err="1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permitt</a:t>
            </a:r>
            <a:r>
              <a:rPr lang="en-US" altLang="en-US" sz="600" dirty="0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 httpd service --- 0.72s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deploy-web-server : httpd enabled and running --------- 0.55s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deploy-web-server : Set Hostname on Site -------------- 0.54s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deploy-web-server : Delete content &amp; directory -------- 0.52s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deploy-web-server : Create directory ------------------ 0.41s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Deploy Web service ------------------------------------ 0.04s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Thursday 23 December 2021 22:56:12 +0800 (0:00:00.541) 0:00:14.099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=====================================================================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deploy-web-server ------------------------- 12.40s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 err="1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gather_facts</a:t>
            </a:r>
            <a:r>
              <a:rPr lang="en-US" altLang="en-US" sz="600" dirty="0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 ------------------------------- 1.60s I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 err="1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nclude_role</a:t>
            </a:r>
            <a:r>
              <a:rPr lang="en-US" altLang="en-US" sz="600" dirty="0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 ------------------------------- 0.04s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~~~~~~~~~~~~~~~~~~~~~~~~~~~~~~~~~~~~~~~~~~~~~~~~~~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00" dirty="0">
                <a:solidFill>
                  <a:srgbClr val="333333"/>
                </a:solidFill>
                <a:highlight>
                  <a:srgbClr val="00FFFF"/>
                </a:highlight>
                <a:latin typeface="Lucida Sans Typewriter" panose="020B0509030504030204" pitchFamily="49" charset="0"/>
              </a:rPr>
              <a:t>total ------------------------------------- 14.04s</a:t>
            </a:r>
            <a:br>
              <a:rPr lang="en-US" altLang="en-US" sz="600" dirty="0">
                <a:latin typeface="Lucida Sans Typewriter" panose="020B0509030504030204" pitchFamily="49" charset="0"/>
              </a:rPr>
            </a:br>
            <a:endParaRPr lang="en-US" altLang="en-US" sz="600" dirty="0"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7957337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F3793-A7E6-E002-CED7-71288A5F3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0" dirty="0">
                <a:solidFill>
                  <a:srgbClr val="141414"/>
                </a:solidFill>
                <a:latin typeface="Red Hat Text"/>
              </a:rPr>
              <a:t>Facts are gathered on top of ALL Playbook/Plays. It connects to Every servers and collects many information.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b="0" dirty="0">
              <a:solidFill>
                <a:srgbClr val="141414"/>
              </a:solidFill>
              <a:latin typeface="Red Hat Text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0" dirty="0">
                <a:solidFill>
                  <a:srgbClr val="141414"/>
                </a:solidFill>
                <a:latin typeface="Red Hat Text"/>
              </a:rPr>
              <a:t>If none of these facts are required for the play, it is wise to disable it: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b="0" dirty="0">
              <a:solidFill>
                <a:srgbClr val="141414"/>
              </a:solidFill>
              <a:latin typeface="Red Hat Text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b="0" dirty="0">
                <a:solidFill>
                  <a:srgbClr val="141414"/>
                </a:solidFill>
                <a:latin typeface="Red Hat Text"/>
              </a:rPr>
              <a:t>Configure Playbook with: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900" dirty="0">
              <a:solidFill>
                <a:srgbClr val="990000"/>
              </a:solidFill>
              <a:latin typeface="Overpass Mono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900" dirty="0" err="1">
                <a:solidFill>
                  <a:srgbClr val="141414"/>
                </a:solidFill>
                <a:latin typeface="Red Hat Text"/>
              </a:rPr>
              <a:t>gather_facts</a:t>
            </a:r>
            <a:r>
              <a:rPr lang="en-US" altLang="en-US" sz="900" dirty="0">
                <a:solidFill>
                  <a:srgbClr val="141414"/>
                </a:solidFill>
                <a:latin typeface="Red Hat Text"/>
              </a:rPr>
              <a:t>: False  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dirty="0"/>
              <a:t>Running multiple plays: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sz="900" dirty="0"/>
              <a:t>activate the </a:t>
            </a:r>
            <a:r>
              <a:rPr lang="en-US" sz="900" dirty="0">
                <a:highlight>
                  <a:srgbClr val="00FF00"/>
                </a:highlight>
              </a:rPr>
              <a:t>gather facts caching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sz="900" dirty="0" err="1">
                <a:highlight>
                  <a:srgbClr val="00FF00"/>
                </a:highlight>
              </a:rPr>
              <a:t>gather_facts</a:t>
            </a:r>
            <a:r>
              <a:rPr lang="en-US" sz="900" dirty="0">
                <a:highlight>
                  <a:srgbClr val="00FF00"/>
                </a:highlight>
              </a:rPr>
              <a:t>: true =&gt; only once per playbook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D4980-6D12-1B67-FFF6-2542EB4C04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57250"/>
            <a:ext cx="8689086" cy="75438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41414"/>
                </a:solidFill>
                <a:latin typeface="Red Hat Display"/>
              </a:rPr>
              <a:t>F</a:t>
            </a:r>
            <a:r>
              <a:rPr lang="en-US" b="0" i="0" dirty="0">
                <a:solidFill>
                  <a:srgbClr val="141414"/>
                </a:solidFill>
                <a:effectLst/>
                <a:latin typeface="Red Hat Display"/>
              </a:rPr>
              <a:t>acts </a:t>
            </a:r>
            <a:r>
              <a:rPr lang="en-US" dirty="0">
                <a:solidFill>
                  <a:srgbClr val="141414"/>
                </a:solidFill>
                <a:latin typeface="Red Hat Display"/>
              </a:rPr>
              <a:t>G</a:t>
            </a:r>
            <a:r>
              <a:rPr lang="en-US" b="0" i="0" dirty="0">
                <a:solidFill>
                  <a:srgbClr val="141414"/>
                </a:solidFill>
                <a:effectLst/>
                <a:latin typeface="Red Hat Display"/>
              </a:rPr>
              <a:t>athering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3A6D0-9BAF-84ED-9F06-8E7CD5959DD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5624513"/>
            <a:ext cx="2133600" cy="273844"/>
          </a:xfrm>
        </p:spPr>
        <p:txBody>
          <a:bodyPr/>
          <a:lstStyle/>
          <a:p>
            <a:fld id="{7048F631-2D74-437D-9509-32BA0A9A0C18}" type="slidenum">
              <a:rPr lang="en-US" smtClean="0"/>
              <a:t>211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F5EFDF-7ECC-083C-60FE-2ADA68E935DF}"/>
              </a:ext>
            </a:extLst>
          </p:cNvPr>
          <p:cNvSpPr txBox="1"/>
          <p:nvPr/>
        </p:nvSpPr>
        <p:spPr>
          <a:xfrm>
            <a:off x="5218267" y="2533730"/>
            <a:ext cx="34534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50" b="1" dirty="0">
                <a:solidFill>
                  <a:srgbClr val="999999"/>
                </a:solidFill>
                <a:latin typeface="Overpass Mono"/>
              </a:rPr>
              <a:t>$</a:t>
            </a:r>
            <a:r>
              <a:rPr lang="en-US" sz="750" dirty="0">
                <a:solidFill>
                  <a:srgbClr val="333333"/>
                </a:solidFill>
                <a:latin typeface="Overpass Mono"/>
              </a:rPr>
              <a:t> time ansible-playbook </a:t>
            </a:r>
            <a:r>
              <a:rPr lang="en-US" sz="750" dirty="0" err="1">
                <a:solidFill>
                  <a:srgbClr val="333333"/>
                </a:solidFill>
                <a:latin typeface="Overpass Mono"/>
              </a:rPr>
              <a:t>site.yml</a:t>
            </a:r>
            <a:r>
              <a:rPr lang="en-US" sz="750" dirty="0">
                <a:solidFill>
                  <a:srgbClr val="333333"/>
                </a:solidFill>
                <a:latin typeface="Overpass Mono"/>
              </a:rPr>
              <a:t> </a:t>
            </a:r>
          </a:p>
          <a:p>
            <a:r>
              <a:rPr lang="en-US" sz="750" dirty="0">
                <a:solidFill>
                  <a:srgbClr val="333333"/>
                </a:solidFill>
                <a:latin typeface="Overpass Mono"/>
              </a:rPr>
              <a:t>PLAY [Deploying Web Server] ********************* </a:t>
            </a:r>
          </a:p>
          <a:p>
            <a:r>
              <a:rPr lang="en-US" sz="750" dirty="0">
                <a:solidFill>
                  <a:srgbClr val="333333"/>
                </a:solidFill>
                <a:highlight>
                  <a:srgbClr val="FF00FF"/>
                </a:highlight>
                <a:latin typeface="Overpass Mono"/>
              </a:rPr>
              <a:t>TASK [Gathering Facts] ************************** </a:t>
            </a:r>
          </a:p>
          <a:p>
            <a:r>
              <a:rPr lang="en-US" sz="750" dirty="0">
                <a:solidFill>
                  <a:srgbClr val="333333"/>
                </a:solidFill>
                <a:highlight>
                  <a:srgbClr val="FF00FF"/>
                </a:highlight>
                <a:latin typeface="Overpass Mono"/>
              </a:rPr>
              <a:t>ok: [node1] </a:t>
            </a:r>
          </a:p>
          <a:p>
            <a:r>
              <a:rPr lang="en-US" sz="750" i="1" dirty="0">
                <a:solidFill>
                  <a:srgbClr val="333333"/>
                </a:solidFill>
                <a:latin typeface="Overpass Mono"/>
              </a:rPr>
              <a:t>...&lt;output removed&gt;... </a:t>
            </a:r>
          </a:p>
          <a:p>
            <a:r>
              <a:rPr lang="en-US" sz="750" dirty="0">
                <a:solidFill>
                  <a:srgbClr val="333333"/>
                </a:solidFill>
                <a:latin typeface="Overpass Mono"/>
              </a:rPr>
              <a:t>PLAY RECAP ************************************** </a:t>
            </a:r>
          </a:p>
          <a:p>
            <a:r>
              <a:rPr lang="en-US" sz="750" dirty="0">
                <a:solidFill>
                  <a:srgbClr val="333333"/>
                </a:solidFill>
                <a:latin typeface="Overpass Mono"/>
              </a:rPr>
              <a:t>node1: </a:t>
            </a:r>
            <a:r>
              <a:rPr lang="en-US" sz="750" b="1" dirty="0">
                <a:solidFill>
                  <a:srgbClr val="333333"/>
                </a:solidFill>
                <a:latin typeface="Overpass Mono"/>
              </a:rPr>
              <a:t>ok=9</a:t>
            </a:r>
            <a:r>
              <a:rPr lang="en-US" sz="750" dirty="0">
                <a:solidFill>
                  <a:srgbClr val="333333"/>
                </a:solidFill>
                <a:latin typeface="Overpass Mono"/>
              </a:rPr>
              <a:t> changed=4 unreachable=0 failed=0 skipped=0 rescued=0 ignored=0 </a:t>
            </a:r>
          </a:p>
          <a:p>
            <a:r>
              <a:rPr lang="en-US" sz="750" dirty="0">
                <a:solidFill>
                  <a:srgbClr val="333333"/>
                </a:solidFill>
                <a:latin typeface="Overpass Mono"/>
              </a:rPr>
              <a:t>ansible-playbook </a:t>
            </a:r>
            <a:r>
              <a:rPr lang="en-US" sz="750" dirty="0" err="1">
                <a:solidFill>
                  <a:srgbClr val="333333"/>
                </a:solidFill>
                <a:latin typeface="Overpass Mono"/>
              </a:rPr>
              <a:t>site.yml</a:t>
            </a:r>
            <a:r>
              <a:rPr lang="en-US" sz="750" dirty="0">
                <a:solidFill>
                  <a:srgbClr val="333333"/>
                </a:solidFill>
                <a:latin typeface="Overpass Mono"/>
              </a:rPr>
              <a:t> </a:t>
            </a:r>
            <a:r>
              <a:rPr lang="en-US" sz="750" b="1" dirty="0">
                <a:solidFill>
                  <a:srgbClr val="333333"/>
                </a:solidFill>
                <a:latin typeface="Overpass Mono"/>
              </a:rPr>
              <a:t>30.03s</a:t>
            </a:r>
            <a:r>
              <a:rPr lang="en-US" sz="750" dirty="0">
                <a:solidFill>
                  <a:srgbClr val="333333"/>
                </a:solidFill>
                <a:latin typeface="Overpass Mono"/>
              </a:rPr>
              <a:t> user 0.93s system 25% </a:t>
            </a:r>
            <a:r>
              <a:rPr lang="en-US" sz="750" dirty="0" err="1">
                <a:solidFill>
                  <a:srgbClr val="333333"/>
                </a:solidFill>
                <a:latin typeface="Overpass Mono"/>
              </a:rPr>
              <a:t>cpu</a:t>
            </a:r>
            <a:r>
              <a:rPr lang="en-US" sz="750" dirty="0">
                <a:solidFill>
                  <a:srgbClr val="333333"/>
                </a:solidFill>
                <a:latin typeface="Overpass Mono"/>
              </a:rPr>
              <a:t> 15.526 total</a:t>
            </a:r>
            <a:endParaRPr lang="en-US" sz="7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54F68D-AF60-0F2F-143F-A8D5AD913BD4}"/>
              </a:ext>
            </a:extLst>
          </p:cNvPr>
          <p:cNvSpPr txBox="1"/>
          <p:nvPr/>
        </p:nvSpPr>
        <p:spPr>
          <a:xfrm>
            <a:off x="5218267" y="4350272"/>
            <a:ext cx="345349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50" b="1" dirty="0">
                <a:solidFill>
                  <a:srgbClr val="999999"/>
                </a:solidFill>
                <a:latin typeface="Overpass Mono"/>
              </a:rPr>
              <a:t>$</a:t>
            </a:r>
            <a:r>
              <a:rPr lang="en-US" sz="750" dirty="0">
                <a:solidFill>
                  <a:srgbClr val="333333"/>
                </a:solidFill>
                <a:latin typeface="Overpass Mono"/>
              </a:rPr>
              <a:t> time ansible-playbook </a:t>
            </a:r>
            <a:r>
              <a:rPr lang="en-US" sz="750" dirty="0" err="1">
                <a:solidFill>
                  <a:srgbClr val="333333"/>
                </a:solidFill>
                <a:latin typeface="Overpass Mono"/>
              </a:rPr>
              <a:t>site.yml</a:t>
            </a:r>
            <a:r>
              <a:rPr lang="en-US" sz="750" dirty="0">
                <a:solidFill>
                  <a:srgbClr val="333333"/>
                </a:solidFill>
                <a:latin typeface="Overpass Mono"/>
              </a:rPr>
              <a:t> </a:t>
            </a:r>
          </a:p>
          <a:p>
            <a:r>
              <a:rPr lang="en-US" sz="750" dirty="0">
                <a:solidFill>
                  <a:srgbClr val="333333"/>
                </a:solidFill>
                <a:latin typeface="Overpass Mono"/>
              </a:rPr>
              <a:t>PLAY [Deploying Web Server] **************** </a:t>
            </a:r>
          </a:p>
          <a:p>
            <a:r>
              <a:rPr lang="en-US" sz="750" i="1" dirty="0">
                <a:solidFill>
                  <a:srgbClr val="333333"/>
                </a:solidFill>
                <a:latin typeface="Overpass Mono"/>
              </a:rPr>
              <a:t>...&lt;output removed&gt;... </a:t>
            </a:r>
          </a:p>
          <a:p>
            <a:r>
              <a:rPr lang="en-US" sz="750" dirty="0">
                <a:solidFill>
                  <a:srgbClr val="333333"/>
                </a:solidFill>
                <a:latin typeface="Overpass Mono"/>
              </a:rPr>
              <a:t>PLAY RECAP ************************************** </a:t>
            </a:r>
          </a:p>
          <a:p>
            <a:r>
              <a:rPr lang="en-US" sz="750" dirty="0">
                <a:solidFill>
                  <a:srgbClr val="333333"/>
                </a:solidFill>
                <a:latin typeface="Overpass Mono"/>
              </a:rPr>
              <a:t>node1: </a:t>
            </a:r>
            <a:r>
              <a:rPr lang="en-US" sz="750" b="1" dirty="0">
                <a:solidFill>
                  <a:srgbClr val="333333"/>
                </a:solidFill>
                <a:latin typeface="Overpass Mono"/>
              </a:rPr>
              <a:t>ok=8</a:t>
            </a:r>
            <a:r>
              <a:rPr lang="en-US" sz="750" dirty="0">
                <a:solidFill>
                  <a:srgbClr val="333333"/>
                </a:solidFill>
                <a:latin typeface="Overpass Mono"/>
              </a:rPr>
              <a:t> changed=4 unreachable=0 failed=0 skipped=0 rescued=0 ignored=0 </a:t>
            </a:r>
          </a:p>
          <a:p>
            <a:r>
              <a:rPr lang="en-US" sz="750" dirty="0">
                <a:solidFill>
                  <a:srgbClr val="333333"/>
                </a:solidFill>
                <a:latin typeface="Overpass Mono"/>
              </a:rPr>
              <a:t>ansible-playbook </a:t>
            </a:r>
            <a:r>
              <a:rPr lang="en-US" sz="750" dirty="0" err="1">
                <a:solidFill>
                  <a:srgbClr val="333333"/>
                </a:solidFill>
                <a:latin typeface="Overpass Mono"/>
              </a:rPr>
              <a:t>site.yml</a:t>
            </a:r>
            <a:r>
              <a:rPr lang="en-US" sz="750" dirty="0">
                <a:solidFill>
                  <a:srgbClr val="333333"/>
                </a:solidFill>
                <a:latin typeface="Overpass Mono"/>
              </a:rPr>
              <a:t> </a:t>
            </a:r>
            <a:r>
              <a:rPr lang="en-US" sz="750" b="1" dirty="0">
                <a:solidFill>
                  <a:srgbClr val="333333"/>
                </a:solidFill>
                <a:latin typeface="Overpass Mono"/>
              </a:rPr>
              <a:t>20.96s</a:t>
            </a:r>
            <a:r>
              <a:rPr lang="en-US" sz="750" dirty="0">
                <a:solidFill>
                  <a:srgbClr val="333333"/>
                </a:solidFill>
                <a:latin typeface="Overpass Mono"/>
              </a:rPr>
              <a:t> user 1.00s system 26% </a:t>
            </a:r>
            <a:r>
              <a:rPr lang="en-US" sz="750" dirty="0" err="1">
                <a:solidFill>
                  <a:srgbClr val="333333"/>
                </a:solidFill>
                <a:latin typeface="Overpass Mono"/>
              </a:rPr>
              <a:t>cpu</a:t>
            </a:r>
            <a:r>
              <a:rPr lang="en-US" sz="750" dirty="0">
                <a:solidFill>
                  <a:srgbClr val="333333"/>
                </a:solidFill>
                <a:latin typeface="Overpass Mono"/>
              </a:rPr>
              <a:t> 14.992 total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3089412701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F3793-A7E6-E002-CED7-71288A5F3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dirty="0" err="1"/>
              <a:t>Ssh</a:t>
            </a:r>
            <a:r>
              <a:rPr lang="en-US" sz="900" dirty="0"/>
              <a:t> is time consuming while establishing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dirty="0" err="1">
                <a:highlight>
                  <a:srgbClr val="FFFF00"/>
                </a:highlight>
              </a:rPr>
              <a:t>ControlMaster</a:t>
            </a:r>
            <a:r>
              <a:rPr lang="en-US" sz="900" dirty="0"/>
              <a:t> helps by using the same network connection for multiple session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dirty="0" err="1">
                <a:highlight>
                  <a:srgbClr val="FFFF00"/>
                </a:highlight>
              </a:rPr>
              <a:t>ControlPersist</a:t>
            </a:r>
            <a:r>
              <a:rPr lang="en-US" sz="900" dirty="0"/>
              <a:t> makes an unused network connection opened for future uses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50" b="0" dirty="0">
                <a:solidFill>
                  <a:srgbClr val="333333"/>
                </a:solidFill>
                <a:latin typeface="Overpass Mono"/>
              </a:rPr>
              <a:t>[</a:t>
            </a:r>
            <a:r>
              <a:rPr lang="en-US" sz="750" b="0" dirty="0" err="1">
                <a:solidFill>
                  <a:srgbClr val="333333"/>
                </a:solidFill>
                <a:latin typeface="Overpass Mono"/>
              </a:rPr>
              <a:t>ssh_connection</a:t>
            </a:r>
            <a:r>
              <a:rPr lang="en-US" sz="750" b="0" dirty="0">
                <a:solidFill>
                  <a:srgbClr val="333333"/>
                </a:solidFill>
                <a:latin typeface="Overpass Mono"/>
              </a:rPr>
              <a:t>] 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50" b="0" dirty="0" err="1">
                <a:solidFill>
                  <a:srgbClr val="333333"/>
                </a:solidFill>
                <a:latin typeface="Overpass Mono"/>
              </a:rPr>
              <a:t>ssh_args</a:t>
            </a:r>
            <a:r>
              <a:rPr lang="en-US" sz="750" b="0" dirty="0">
                <a:solidFill>
                  <a:srgbClr val="333333"/>
                </a:solidFill>
                <a:latin typeface="Overpass Mono"/>
              </a:rPr>
              <a:t> = -o </a:t>
            </a:r>
            <a:r>
              <a:rPr lang="en-US" sz="750" b="0" dirty="0" err="1">
                <a:solidFill>
                  <a:srgbClr val="333333"/>
                </a:solidFill>
                <a:latin typeface="Overpass Mono"/>
              </a:rPr>
              <a:t>ControlMaster</a:t>
            </a:r>
            <a:r>
              <a:rPr lang="en-US" sz="750" b="0" dirty="0">
                <a:solidFill>
                  <a:srgbClr val="333333"/>
                </a:solidFill>
                <a:latin typeface="Overpass Mono"/>
              </a:rPr>
              <a:t>=auto -o </a:t>
            </a:r>
            <a:r>
              <a:rPr lang="en-US" sz="750" b="0" dirty="0" err="1">
                <a:solidFill>
                  <a:srgbClr val="333333"/>
                </a:solidFill>
                <a:latin typeface="Overpass Mono"/>
              </a:rPr>
              <a:t>ControlPersist</a:t>
            </a:r>
            <a:r>
              <a:rPr lang="en-US" sz="750" b="0" dirty="0">
                <a:solidFill>
                  <a:srgbClr val="333333"/>
                </a:solidFill>
                <a:latin typeface="Overpass Mono"/>
              </a:rPr>
              <a:t>=60s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50" b="0" dirty="0">
                <a:solidFill>
                  <a:srgbClr val="333333"/>
                </a:solidFill>
                <a:latin typeface="Overpass Mono"/>
              </a:rPr>
              <a:t>Pipelining = True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750" dirty="0">
              <a:solidFill>
                <a:srgbClr val="333333"/>
              </a:solidFill>
              <a:latin typeface="Overpass Mono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dirty="0"/>
              <a:t>By default SSH check the SSH host keys to prevent spoofing or Man-in-the-middle, which consume time. It can be disabled 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750" dirty="0">
              <a:solidFill>
                <a:srgbClr val="333333"/>
              </a:solidFill>
              <a:latin typeface="Overpass Mono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50" b="0" dirty="0">
                <a:solidFill>
                  <a:srgbClr val="333333"/>
                </a:solidFill>
                <a:latin typeface="Overpass Mono"/>
              </a:rPr>
              <a:t>[defaults] 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50" b="0" dirty="0" err="1">
                <a:solidFill>
                  <a:srgbClr val="333333"/>
                </a:solidFill>
                <a:latin typeface="Overpass Mono"/>
              </a:rPr>
              <a:t>host_key_checking</a:t>
            </a:r>
            <a:r>
              <a:rPr lang="en-US" sz="750" b="0" dirty="0">
                <a:solidFill>
                  <a:srgbClr val="333333"/>
                </a:solidFill>
                <a:latin typeface="Overpass Mono"/>
              </a:rPr>
              <a:t> = False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750" dirty="0">
              <a:solidFill>
                <a:srgbClr val="333333"/>
              </a:solidFill>
              <a:latin typeface="Overpass Mono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D4980-6D12-1B67-FFF6-2542EB4C04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57250"/>
            <a:ext cx="8689086" cy="754380"/>
          </a:xfrm>
        </p:spPr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141414"/>
                </a:solidFill>
                <a:effectLst/>
                <a:latin typeface="Red Hat Display"/>
              </a:rPr>
              <a:t>Connection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098C7-1078-6911-11BB-10A74D7282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5624513"/>
            <a:ext cx="2133600" cy="273844"/>
          </a:xfrm>
        </p:spPr>
        <p:txBody>
          <a:bodyPr/>
          <a:lstStyle/>
          <a:p>
            <a:fld id="{7048F631-2D74-437D-9509-32BA0A9A0C18}" type="slidenum">
              <a:rPr lang="en-US" smtClean="0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208278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F3793-A7E6-E002-CED7-71288A5F3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dirty="0"/>
              <a:t>By default, Ansible use </a:t>
            </a:r>
            <a:r>
              <a:rPr lang="en-US" sz="900" dirty="0">
                <a:highlight>
                  <a:srgbClr val="FF00FF"/>
                </a:highlight>
              </a:rPr>
              <a:t>linear</a:t>
            </a:r>
            <a:r>
              <a:rPr lang="en-US" sz="900" dirty="0"/>
              <a:t> strategy : runs tasks on all servers and wait for the tasks to finish on all servers before running the next task.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dirty="0"/>
              <a:t>This is that, the delay of the task is the time of the slowest executed task.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dirty="0"/>
              <a:t>When all the tasks have no relation between all servers, they can be run independently with the strategy </a:t>
            </a:r>
            <a:r>
              <a:rPr lang="en-US" sz="900" dirty="0">
                <a:highlight>
                  <a:srgbClr val="FF00FF"/>
                </a:highlight>
              </a:rPr>
              <a:t>free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D4980-6D12-1B67-FFF6-2542EB4C04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57250"/>
            <a:ext cx="8689086" cy="754380"/>
          </a:xfrm>
        </p:spPr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141414"/>
                </a:solidFill>
                <a:effectLst/>
                <a:latin typeface="Red Hat Display"/>
              </a:rPr>
              <a:t>Strategy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F8DCFEE-E241-626B-65FF-D78613FC95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5624513"/>
            <a:ext cx="2133600" cy="273844"/>
          </a:xfrm>
        </p:spPr>
        <p:txBody>
          <a:bodyPr/>
          <a:lstStyle/>
          <a:p>
            <a:fld id="{7048F631-2D74-437D-9509-32BA0A9A0C18}" type="slidenum">
              <a:rPr lang="en-US" smtClean="0"/>
              <a:t>213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9410CA-FDE6-622F-785E-62CDF81ECE4C}"/>
              </a:ext>
            </a:extLst>
          </p:cNvPr>
          <p:cNvSpPr/>
          <p:nvPr/>
        </p:nvSpPr>
        <p:spPr>
          <a:xfrm>
            <a:off x="5439993" y="2964824"/>
            <a:ext cx="350635" cy="103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C59BB3-6D3A-B40A-5B01-861B3F62C8C1}"/>
              </a:ext>
            </a:extLst>
          </p:cNvPr>
          <p:cNvSpPr/>
          <p:nvPr/>
        </p:nvSpPr>
        <p:spPr>
          <a:xfrm>
            <a:off x="6161888" y="2964824"/>
            <a:ext cx="660018" cy="103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6E4F8B-CBAA-9E95-3AD5-388BC58ADE16}"/>
              </a:ext>
            </a:extLst>
          </p:cNvPr>
          <p:cNvSpPr/>
          <p:nvPr/>
        </p:nvSpPr>
        <p:spPr>
          <a:xfrm>
            <a:off x="6899252" y="2964824"/>
            <a:ext cx="335166" cy="103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5E31D3-8B18-F3F0-F6FD-2B99F61B105A}"/>
              </a:ext>
            </a:extLst>
          </p:cNvPr>
          <p:cNvSpPr txBox="1"/>
          <p:nvPr/>
        </p:nvSpPr>
        <p:spPr>
          <a:xfrm>
            <a:off x="4908884" y="2912513"/>
            <a:ext cx="6342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Host 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C8ACBC-A33E-E53C-37CC-B9A0701ED317}"/>
              </a:ext>
            </a:extLst>
          </p:cNvPr>
          <p:cNvSpPr/>
          <p:nvPr/>
        </p:nvSpPr>
        <p:spPr>
          <a:xfrm>
            <a:off x="5439992" y="3172573"/>
            <a:ext cx="634236" cy="10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0CE13E-4123-2DB9-3EA0-0AAE73918D24}"/>
              </a:ext>
            </a:extLst>
          </p:cNvPr>
          <p:cNvSpPr/>
          <p:nvPr/>
        </p:nvSpPr>
        <p:spPr>
          <a:xfrm>
            <a:off x="6161888" y="3172573"/>
            <a:ext cx="427980" cy="10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2C6DD5-1FE7-495A-7672-7C74CD006B43}"/>
              </a:ext>
            </a:extLst>
          </p:cNvPr>
          <p:cNvSpPr/>
          <p:nvPr/>
        </p:nvSpPr>
        <p:spPr>
          <a:xfrm>
            <a:off x="6899251" y="3172573"/>
            <a:ext cx="520796" cy="103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99053F-BC6F-0AF3-DABA-F25E778C5FD4}"/>
              </a:ext>
            </a:extLst>
          </p:cNvPr>
          <p:cNvSpPr txBox="1"/>
          <p:nvPr/>
        </p:nvSpPr>
        <p:spPr>
          <a:xfrm>
            <a:off x="4908884" y="3120262"/>
            <a:ext cx="6342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Host 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042EEE-1D0C-256E-D36E-7488A00C2502}"/>
              </a:ext>
            </a:extLst>
          </p:cNvPr>
          <p:cNvSpPr/>
          <p:nvPr/>
        </p:nvSpPr>
        <p:spPr>
          <a:xfrm>
            <a:off x="5439993" y="3380321"/>
            <a:ext cx="350635" cy="103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AF7DC0-345A-4860-4891-9AEE55582635}"/>
              </a:ext>
            </a:extLst>
          </p:cNvPr>
          <p:cNvSpPr/>
          <p:nvPr/>
        </p:nvSpPr>
        <p:spPr>
          <a:xfrm>
            <a:off x="6161888" y="3380322"/>
            <a:ext cx="489857" cy="10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C49F1D-30BB-D8B3-ED4D-AEC972DA4357}"/>
              </a:ext>
            </a:extLst>
          </p:cNvPr>
          <p:cNvSpPr/>
          <p:nvPr/>
        </p:nvSpPr>
        <p:spPr>
          <a:xfrm>
            <a:off x="6899251" y="3380322"/>
            <a:ext cx="1376756" cy="10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12AF6B-17E6-246E-F547-0CD155EDC90C}"/>
              </a:ext>
            </a:extLst>
          </p:cNvPr>
          <p:cNvSpPr txBox="1"/>
          <p:nvPr/>
        </p:nvSpPr>
        <p:spPr>
          <a:xfrm>
            <a:off x="4908884" y="3328010"/>
            <a:ext cx="6342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Host 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808C81-9F6A-B276-282A-D23FD33AB727}"/>
              </a:ext>
            </a:extLst>
          </p:cNvPr>
          <p:cNvSpPr/>
          <p:nvPr/>
        </p:nvSpPr>
        <p:spPr>
          <a:xfrm>
            <a:off x="5439993" y="4183122"/>
            <a:ext cx="350635" cy="103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D3A383-DBDD-ECDA-BA76-B10C2480275F}"/>
              </a:ext>
            </a:extLst>
          </p:cNvPr>
          <p:cNvSpPr/>
          <p:nvPr/>
        </p:nvSpPr>
        <p:spPr>
          <a:xfrm>
            <a:off x="5852504" y="4183122"/>
            <a:ext cx="660018" cy="103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F1EC2A-3300-B8F8-6E65-075AEB603AB9}"/>
              </a:ext>
            </a:extLst>
          </p:cNvPr>
          <p:cNvSpPr txBox="1"/>
          <p:nvPr/>
        </p:nvSpPr>
        <p:spPr>
          <a:xfrm>
            <a:off x="4908884" y="4130811"/>
            <a:ext cx="6342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Host 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471105-1AE4-24DE-C2BD-3F033A23A0C1}"/>
              </a:ext>
            </a:extLst>
          </p:cNvPr>
          <p:cNvSpPr/>
          <p:nvPr/>
        </p:nvSpPr>
        <p:spPr>
          <a:xfrm>
            <a:off x="5439992" y="4390872"/>
            <a:ext cx="634236" cy="10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B46C8D-146F-34D1-825B-2C842A4A5652}"/>
              </a:ext>
            </a:extLst>
          </p:cNvPr>
          <p:cNvSpPr/>
          <p:nvPr/>
        </p:nvSpPr>
        <p:spPr>
          <a:xfrm>
            <a:off x="6130949" y="4390872"/>
            <a:ext cx="427980" cy="10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E35CB2-7CA3-832F-6850-9123B3BB385B}"/>
              </a:ext>
            </a:extLst>
          </p:cNvPr>
          <p:cNvSpPr/>
          <p:nvPr/>
        </p:nvSpPr>
        <p:spPr>
          <a:xfrm>
            <a:off x="6605336" y="4390871"/>
            <a:ext cx="520796" cy="103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8E88E9-9CE1-2B0C-ADAC-DC5061F83155}"/>
              </a:ext>
            </a:extLst>
          </p:cNvPr>
          <p:cNvSpPr txBox="1"/>
          <p:nvPr/>
        </p:nvSpPr>
        <p:spPr>
          <a:xfrm>
            <a:off x="4908884" y="4338560"/>
            <a:ext cx="6342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Host 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0F747A-AD07-64DF-1687-C9449D3D1D4E}"/>
              </a:ext>
            </a:extLst>
          </p:cNvPr>
          <p:cNvSpPr/>
          <p:nvPr/>
        </p:nvSpPr>
        <p:spPr>
          <a:xfrm>
            <a:off x="5439993" y="4598620"/>
            <a:ext cx="350635" cy="103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57A831-9D59-9225-A0EA-C759A0D6C08A}"/>
              </a:ext>
            </a:extLst>
          </p:cNvPr>
          <p:cNvSpPr/>
          <p:nvPr/>
        </p:nvSpPr>
        <p:spPr>
          <a:xfrm>
            <a:off x="5855082" y="4598620"/>
            <a:ext cx="489857" cy="10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6E57F2-E394-351A-1155-7CBDDB3271CC}"/>
              </a:ext>
            </a:extLst>
          </p:cNvPr>
          <p:cNvSpPr txBox="1"/>
          <p:nvPr/>
        </p:nvSpPr>
        <p:spPr>
          <a:xfrm>
            <a:off x="4908884" y="4546309"/>
            <a:ext cx="6342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Host C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DCD877-C892-F796-9686-6E6922B38AC5}"/>
              </a:ext>
            </a:extLst>
          </p:cNvPr>
          <p:cNvSpPr/>
          <p:nvPr/>
        </p:nvSpPr>
        <p:spPr>
          <a:xfrm>
            <a:off x="6564085" y="4183121"/>
            <a:ext cx="335166" cy="103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8C07D9C-A003-908B-0123-C6AA1D5CB38D}"/>
              </a:ext>
            </a:extLst>
          </p:cNvPr>
          <p:cNvSpPr/>
          <p:nvPr/>
        </p:nvSpPr>
        <p:spPr>
          <a:xfrm>
            <a:off x="6406816" y="4598620"/>
            <a:ext cx="1376756" cy="10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3</a:t>
            </a:r>
          </a:p>
        </p:txBody>
      </p:sp>
      <p:sp>
        <p:nvSpPr>
          <p:cNvPr id="26" name="Arrow: Striped Right 25">
            <a:extLst>
              <a:ext uri="{FF2B5EF4-FFF2-40B4-BE49-F238E27FC236}">
                <a16:creationId xmlns:a16="http://schemas.microsoft.com/office/drawing/2014/main" id="{E46C3D0E-74AC-FF62-01CA-7B5FFF000655}"/>
              </a:ext>
            </a:extLst>
          </p:cNvPr>
          <p:cNvSpPr/>
          <p:nvPr/>
        </p:nvSpPr>
        <p:spPr>
          <a:xfrm>
            <a:off x="5809655" y="2964824"/>
            <a:ext cx="331607" cy="103127"/>
          </a:xfrm>
          <a:prstGeom prst="stripedRigh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Arrow: Striped Right 27">
            <a:extLst>
              <a:ext uri="{FF2B5EF4-FFF2-40B4-BE49-F238E27FC236}">
                <a16:creationId xmlns:a16="http://schemas.microsoft.com/office/drawing/2014/main" id="{A5F78440-D700-03CA-2D1A-55F7F3E50C62}"/>
              </a:ext>
            </a:extLst>
          </p:cNvPr>
          <p:cNvSpPr/>
          <p:nvPr/>
        </p:nvSpPr>
        <p:spPr>
          <a:xfrm>
            <a:off x="5809655" y="3380322"/>
            <a:ext cx="331607" cy="103127"/>
          </a:xfrm>
          <a:prstGeom prst="stripedRigh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9" name="Arrow: Striped Right 28">
            <a:extLst>
              <a:ext uri="{FF2B5EF4-FFF2-40B4-BE49-F238E27FC236}">
                <a16:creationId xmlns:a16="http://schemas.microsoft.com/office/drawing/2014/main" id="{F75973C1-1911-B3B3-2A79-8C443A98BE7F}"/>
              </a:ext>
            </a:extLst>
          </p:cNvPr>
          <p:cNvSpPr/>
          <p:nvPr/>
        </p:nvSpPr>
        <p:spPr>
          <a:xfrm>
            <a:off x="6672371" y="3380322"/>
            <a:ext cx="208847" cy="103127"/>
          </a:xfrm>
          <a:prstGeom prst="stripedRigh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32" name="Arrow: Striped Right 31">
            <a:extLst>
              <a:ext uri="{FF2B5EF4-FFF2-40B4-BE49-F238E27FC236}">
                <a16:creationId xmlns:a16="http://schemas.microsoft.com/office/drawing/2014/main" id="{BE1A42F7-0736-23BC-A3CD-14EDB1BDB57E}"/>
              </a:ext>
            </a:extLst>
          </p:cNvPr>
          <p:cNvSpPr/>
          <p:nvPr/>
        </p:nvSpPr>
        <p:spPr>
          <a:xfrm>
            <a:off x="6605336" y="3172573"/>
            <a:ext cx="275882" cy="103127"/>
          </a:xfrm>
          <a:prstGeom prst="stripedRigh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33" name="Arrow: Striped Right 32">
            <a:extLst>
              <a:ext uri="{FF2B5EF4-FFF2-40B4-BE49-F238E27FC236}">
                <a16:creationId xmlns:a16="http://schemas.microsoft.com/office/drawing/2014/main" id="{969598BA-64AE-AE50-5349-E937D7F85D52}"/>
              </a:ext>
            </a:extLst>
          </p:cNvPr>
          <p:cNvSpPr/>
          <p:nvPr/>
        </p:nvSpPr>
        <p:spPr>
          <a:xfrm>
            <a:off x="7438081" y="3172573"/>
            <a:ext cx="837926" cy="103127"/>
          </a:xfrm>
          <a:prstGeom prst="stripedRigh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34" name="Arrow: Striped Right 33">
            <a:extLst>
              <a:ext uri="{FF2B5EF4-FFF2-40B4-BE49-F238E27FC236}">
                <a16:creationId xmlns:a16="http://schemas.microsoft.com/office/drawing/2014/main" id="{59FDD727-2B6C-5410-2788-A72E70F92680}"/>
              </a:ext>
            </a:extLst>
          </p:cNvPr>
          <p:cNvSpPr/>
          <p:nvPr/>
        </p:nvSpPr>
        <p:spPr>
          <a:xfrm>
            <a:off x="7256265" y="2964823"/>
            <a:ext cx="1019742" cy="103127"/>
          </a:xfrm>
          <a:prstGeom prst="stripedRigh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34545329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37A5257B-F76A-D620-184C-8A4DA6E334C6}"/>
              </a:ext>
            </a:extLst>
          </p:cNvPr>
          <p:cNvSpPr/>
          <p:nvPr/>
        </p:nvSpPr>
        <p:spPr>
          <a:xfrm>
            <a:off x="235475" y="4349787"/>
            <a:ext cx="8673050" cy="127472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350" dirty="0"/>
              <a:t>Strategy: Free</a:t>
            </a:r>
            <a:br>
              <a:rPr lang="en-US" sz="1350" dirty="0"/>
            </a:br>
            <a:r>
              <a:rPr lang="en-US" sz="1350" dirty="0"/>
              <a:t>Fork: 6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847C747-3C77-09BF-2B45-66848B2FF28F}"/>
              </a:ext>
            </a:extLst>
          </p:cNvPr>
          <p:cNvSpPr/>
          <p:nvPr/>
        </p:nvSpPr>
        <p:spPr>
          <a:xfrm>
            <a:off x="235475" y="3596554"/>
            <a:ext cx="8673050" cy="656954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350" dirty="0"/>
              <a:t>Strategy: Free</a:t>
            </a:r>
            <a:br>
              <a:rPr lang="en-US" sz="1350" dirty="0"/>
            </a:br>
            <a:r>
              <a:rPr lang="en-US" sz="1350" dirty="0"/>
              <a:t>Fork: 3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2D58BB68-A3F0-9076-F1CB-12D1DA437C75}"/>
              </a:ext>
            </a:extLst>
          </p:cNvPr>
          <p:cNvSpPr/>
          <p:nvPr/>
        </p:nvSpPr>
        <p:spPr>
          <a:xfrm>
            <a:off x="235475" y="2812041"/>
            <a:ext cx="8673050" cy="71434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350" dirty="0"/>
              <a:t>Strategy: Linear</a:t>
            </a:r>
            <a:br>
              <a:rPr lang="en-US" sz="1350" dirty="0"/>
            </a:br>
            <a:r>
              <a:rPr lang="en-US" sz="1350" dirty="0"/>
              <a:t>Fork: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F3793-A7E6-E002-CED7-71288A5F3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dirty="0"/>
              <a:t>Split the server list in multiple batches: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dirty="0"/>
              <a:t>By default, each tasks are split in batch of 5; wait for the batch to complete and then run the task again with the next batch.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dirty="0"/>
              <a:t>Increase the FORK value to reduce the waiting time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D4980-6D12-1B67-FFF6-2542EB4C04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57250"/>
            <a:ext cx="8689086" cy="754380"/>
          </a:xfrm>
        </p:spPr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141414"/>
                </a:solidFill>
                <a:effectLst/>
                <a:latin typeface="Red Hat Display"/>
              </a:rPr>
              <a:t>Parallelism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E1F04-DB39-CBBD-05AE-81FA0080D04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5624513"/>
            <a:ext cx="2133600" cy="273844"/>
          </a:xfrm>
        </p:spPr>
        <p:txBody>
          <a:bodyPr/>
          <a:lstStyle/>
          <a:p>
            <a:fld id="{7048F631-2D74-437D-9509-32BA0A9A0C18}" type="slidenum">
              <a:rPr lang="en-US" smtClean="0"/>
              <a:t>214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006B23-16B2-102C-8453-83E7309C6E5C}"/>
              </a:ext>
            </a:extLst>
          </p:cNvPr>
          <p:cNvSpPr/>
          <p:nvPr/>
        </p:nvSpPr>
        <p:spPr>
          <a:xfrm>
            <a:off x="2426512" y="3671804"/>
            <a:ext cx="350635" cy="103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492D2A-8EA2-F9A7-471B-501C71DB5F0A}"/>
              </a:ext>
            </a:extLst>
          </p:cNvPr>
          <p:cNvSpPr/>
          <p:nvPr/>
        </p:nvSpPr>
        <p:spPr>
          <a:xfrm>
            <a:off x="2839024" y="3671804"/>
            <a:ext cx="660018" cy="103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B4A7EF-046C-3D50-58CF-BFDAAF1D55B7}"/>
              </a:ext>
            </a:extLst>
          </p:cNvPr>
          <p:cNvSpPr txBox="1"/>
          <p:nvPr/>
        </p:nvSpPr>
        <p:spPr>
          <a:xfrm>
            <a:off x="1895404" y="3619493"/>
            <a:ext cx="6342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Host: 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EE83D9-0387-84FD-FCC7-F9A807FBE17D}"/>
              </a:ext>
            </a:extLst>
          </p:cNvPr>
          <p:cNvSpPr/>
          <p:nvPr/>
        </p:nvSpPr>
        <p:spPr>
          <a:xfrm>
            <a:off x="2426512" y="3879553"/>
            <a:ext cx="634236" cy="10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1FB4FD-D8AF-B963-7CCB-14AD366A231B}"/>
              </a:ext>
            </a:extLst>
          </p:cNvPr>
          <p:cNvSpPr/>
          <p:nvPr/>
        </p:nvSpPr>
        <p:spPr>
          <a:xfrm>
            <a:off x="3117468" y="3879553"/>
            <a:ext cx="427980" cy="10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EC62B7-F778-26D6-11A2-C4392D24C71C}"/>
              </a:ext>
            </a:extLst>
          </p:cNvPr>
          <p:cNvSpPr/>
          <p:nvPr/>
        </p:nvSpPr>
        <p:spPr>
          <a:xfrm>
            <a:off x="3591856" y="3879553"/>
            <a:ext cx="520796" cy="103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6D1519-25BD-AF5C-CBD0-CA949EC60701}"/>
              </a:ext>
            </a:extLst>
          </p:cNvPr>
          <p:cNvSpPr txBox="1"/>
          <p:nvPr/>
        </p:nvSpPr>
        <p:spPr>
          <a:xfrm>
            <a:off x="1895404" y="3827242"/>
            <a:ext cx="6342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Host: 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E01B2A-9DB7-0F8E-A1FE-6B199E7C5C20}"/>
              </a:ext>
            </a:extLst>
          </p:cNvPr>
          <p:cNvSpPr/>
          <p:nvPr/>
        </p:nvSpPr>
        <p:spPr>
          <a:xfrm>
            <a:off x="2426512" y="4087301"/>
            <a:ext cx="350635" cy="103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F8C48A1-402C-8035-44DB-BE55C91251CE}"/>
              </a:ext>
            </a:extLst>
          </p:cNvPr>
          <p:cNvSpPr/>
          <p:nvPr/>
        </p:nvSpPr>
        <p:spPr>
          <a:xfrm>
            <a:off x="2841601" y="4087302"/>
            <a:ext cx="489857" cy="10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0CCEE7-EE8C-02E3-996D-6F3FF1C042B7}"/>
              </a:ext>
            </a:extLst>
          </p:cNvPr>
          <p:cNvSpPr txBox="1"/>
          <p:nvPr/>
        </p:nvSpPr>
        <p:spPr>
          <a:xfrm>
            <a:off x="1895404" y="4034990"/>
            <a:ext cx="6342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Host: C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B14B76A-3E8C-17B8-AE6A-33080AE0C918}"/>
              </a:ext>
            </a:extLst>
          </p:cNvPr>
          <p:cNvSpPr/>
          <p:nvPr/>
        </p:nvSpPr>
        <p:spPr>
          <a:xfrm>
            <a:off x="3550604" y="3671803"/>
            <a:ext cx="335166" cy="103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E8F604-E416-AA4A-9E1D-9537D5983E39}"/>
              </a:ext>
            </a:extLst>
          </p:cNvPr>
          <p:cNvSpPr/>
          <p:nvPr/>
        </p:nvSpPr>
        <p:spPr>
          <a:xfrm>
            <a:off x="3393336" y="4087302"/>
            <a:ext cx="1376756" cy="10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AAE829-C75E-46FC-A242-983890B1A78F}"/>
              </a:ext>
            </a:extLst>
          </p:cNvPr>
          <p:cNvSpPr/>
          <p:nvPr/>
        </p:nvSpPr>
        <p:spPr>
          <a:xfrm>
            <a:off x="2426512" y="2930299"/>
            <a:ext cx="350635" cy="103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9F40986-C4F8-FFB2-FB02-AB52A25FD4D6}"/>
              </a:ext>
            </a:extLst>
          </p:cNvPr>
          <p:cNvSpPr/>
          <p:nvPr/>
        </p:nvSpPr>
        <p:spPr>
          <a:xfrm>
            <a:off x="3148407" y="2930299"/>
            <a:ext cx="660018" cy="103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82516F-073D-2A1E-9CE2-926732E1D1EA}"/>
              </a:ext>
            </a:extLst>
          </p:cNvPr>
          <p:cNvSpPr/>
          <p:nvPr/>
        </p:nvSpPr>
        <p:spPr>
          <a:xfrm>
            <a:off x="3885771" y="2930299"/>
            <a:ext cx="335166" cy="103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EE31CD-A471-0217-C657-CB42BAFC5BB8}"/>
              </a:ext>
            </a:extLst>
          </p:cNvPr>
          <p:cNvSpPr txBox="1"/>
          <p:nvPr/>
        </p:nvSpPr>
        <p:spPr>
          <a:xfrm>
            <a:off x="1895404" y="2877988"/>
            <a:ext cx="6342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Host: 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FCD6DA5-D7A6-2E7C-BFF1-3823E3A546A3}"/>
              </a:ext>
            </a:extLst>
          </p:cNvPr>
          <p:cNvSpPr/>
          <p:nvPr/>
        </p:nvSpPr>
        <p:spPr>
          <a:xfrm>
            <a:off x="2426512" y="3138049"/>
            <a:ext cx="634236" cy="10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862CD74-3720-C7E9-CBEE-6F7C1BD5DBFA}"/>
              </a:ext>
            </a:extLst>
          </p:cNvPr>
          <p:cNvSpPr/>
          <p:nvPr/>
        </p:nvSpPr>
        <p:spPr>
          <a:xfrm>
            <a:off x="3148407" y="3138049"/>
            <a:ext cx="427980" cy="10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CB43AD-C739-C433-2A46-AE63F6ACE33F}"/>
              </a:ext>
            </a:extLst>
          </p:cNvPr>
          <p:cNvSpPr/>
          <p:nvPr/>
        </p:nvSpPr>
        <p:spPr>
          <a:xfrm>
            <a:off x="3885771" y="3138048"/>
            <a:ext cx="520796" cy="103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653542-AF26-4992-7F79-C93C1A4099FA}"/>
              </a:ext>
            </a:extLst>
          </p:cNvPr>
          <p:cNvSpPr txBox="1"/>
          <p:nvPr/>
        </p:nvSpPr>
        <p:spPr>
          <a:xfrm>
            <a:off x="1895404" y="3085737"/>
            <a:ext cx="6342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Host: B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1A15EF-69AA-59F6-1BD2-4F89C626CB5B}"/>
              </a:ext>
            </a:extLst>
          </p:cNvPr>
          <p:cNvSpPr/>
          <p:nvPr/>
        </p:nvSpPr>
        <p:spPr>
          <a:xfrm>
            <a:off x="2426512" y="3345797"/>
            <a:ext cx="350635" cy="103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8947A92-5E46-AE4A-1DB6-1FBBE89A43B7}"/>
              </a:ext>
            </a:extLst>
          </p:cNvPr>
          <p:cNvSpPr/>
          <p:nvPr/>
        </p:nvSpPr>
        <p:spPr>
          <a:xfrm>
            <a:off x="3148408" y="3345797"/>
            <a:ext cx="489857" cy="10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08F0A87-4C9F-434F-54B1-1923DCECDD21}"/>
              </a:ext>
            </a:extLst>
          </p:cNvPr>
          <p:cNvSpPr/>
          <p:nvPr/>
        </p:nvSpPr>
        <p:spPr>
          <a:xfrm>
            <a:off x="3885771" y="3345797"/>
            <a:ext cx="1376756" cy="10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D651FD-05FC-3ECD-1139-79AE9F8CD1C1}"/>
              </a:ext>
            </a:extLst>
          </p:cNvPr>
          <p:cNvSpPr txBox="1"/>
          <p:nvPr/>
        </p:nvSpPr>
        <p:spPr>
          <a:xfrm>
            <a:off x="1895404" y="3293486"/>
            <a:ext cx="6342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Host: C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CBF7589-0916-C0F2-C7DD-83963B1EE7C5}"/>
              </a:ext>
            </a:extLst>
          </p:cNvPr>
          <p:cNvSpPr/>
          <p:nvPr/>
        </p:nvSpPr>
        <p:spPr>
          <a:xfrm>
            <a:off x="5583084" y="2930299"/>
            <a:ext cx="407785" cy="10312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A4E1108-643B-F521-E0C8-F8B532B0F356}"/>
              </a:ext>
            </a:extLst>
          </p:cNvPr>
          <p:cNvSpPr/>
          <p:nvPr/>
        </p:nvSpPr>
        <p:spPr>
          <a:xfrm>
            <a:off x="6304979" y="2930299"/>
            <a:ext cx="335166" cy="10312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2E589DD-C4DC-4D32-DDB1-0EBC56FF746A}"/>
              </a:ext>
            </a:extLst>
          </p:cNvPr>
          <p:cNvSpPr txBox="1"/>
          <p:nvPr/>
        </p:nvSpPr>
        <p:spPr>
          <a:xfrm>
            <a:off x="5339873" y="2877988"/>
            <a:ext cx="6342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D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53CBBF2-BBFE-4A46-772D-51F7EF9B9ABE}"/>
              </a:ext>
            </a:extLst>
          </p:cNvPr>
          <p:cNvSpPr/>
          <p:nvPr/>
        </p:nvSpPr>
        <p:spPr>
          <a:xfrm>
            <a:off x="5583083" y="3138049"/>
            <a:ext cx="634236" cy="10312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1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2998124-B70B-288C-702E-68BC6FB08D93}"/>
              </a:ext>
            </a:extLst>
          </p:cNvPr>
          <p:cNvSpPr/>
          <p:nvPr/>
        </p:nvSpPr>
        <p:spPr>
          <a:xfrm>
            <a:off x="6304979" y="3138049"/>
            <a:ext cx="427980" cy="10312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2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845D975-CA70-BB65-0674-8D10F2E30106}"/>
              </a:ext>
            </a:extLst>
          </p:cNvPr>
          <p:cNvSpPr/>
          <p:nvPr/>
        </p:nvSpPr>
        <p:spPr>
          <a:xfrm>
            <a:off x="7042342" y="3138048"/>
            <a:ext cx="520796" cy="10312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8C87B49-3A72-2AE9-9686-D075C00C8310}"/>
              </a:ext>
            </a:extLst>
          </p:cNvPr>
          <p:cNvSpPr txBox="1"/>
          <p:nvPr/>
        </p:nvSpPr>
        <p:spPr>
          <a:xfrm>
            <a:off x="5339873" y="3085737"/>
            <a:ext cx="6342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642C0F9-BDB2-EB0E-1BA1-ADE29CB14ACC}"/>
              </a:ext>
            </a:extLst>
          </p:cNvPr>
          <p:cNvSpPr/>
          <p:nvPr/>
        </p:nvSpPr>
        <p:spPr>
          <a:xfrm>
            <a:off x="5583084" y="3345797"/>
            <a:ext cx="350635" cy="10312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1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378B860-401E-D3E5-75DD-DFF1D295127B}"/>
              </a:ext>
            </a:extLst>
          </p:cNvPr>
          <p:cNvSpPr/>
          <p:nvPr/>
        </p:nvSpPr>
        <p:spPr>
          <a:xfrm>
            <a:off x="6304979" y="3345797"/>
            <a:ext cx="665605" cy="10312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2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79EE071-1E50-8745-69D0-E16BC06814D3}"/>
              </a:ext>
            </a:extLst>
          </p:cNvPr>
          <p:cNvSpPr/>
          <p:nvPr/>
        </p:nvSpPr>
        <p:spPr>
          <a:xfrm>
            <a:off x="7042343" y="3345797"/>
            <a:ext cx="335166" cy="10312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BEA101B-01C7-680B-084A-AB22CF4D8E75}"/>
              </a:ext>
            </a:extLst>
          </p:cNvPr>
          <p:cNvSpPr txBox="1"/>
          <p:nvPr/>
        </p:nvSpPr>
        <p:spPr>
          <a:xfrm>
            <a:off x="5339873" y="3293486"/>
            <a:ext cx="6342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48867B3-AC1F-A673-C805-192EE9BDB203}"/>
              </a:ext>
            </a:extLst>
          </p:cNvPr>
          <p:cNvSpPr/>
          <p:nvPr/>
        </p:nvSpPr>
        <p:spPr>
          <a:xfrm>
            <a:off x="4984358" y="3671804"/>
            <a:ext cx="407785" cy="10312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1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BF79C68-AFDD-8909-359B-1B5ED88724C8}"/>
              </a:ext>
            </a:extLst>
          </p:cNvPr>
          <p:cNvSpPr/>
          <p:nvPr/>
        </p:nvSpPr>
        <p:spPr>
          <a:xfrm>
            <a:off x="5445640" y="3671804"/>
            <a:ext cx="335166" cy="10312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2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0B401F8-3B12-B7B1-B96C-8D52C2409DFE}"/>
              </a:ext>
            </a:extLst>
          </p:cNvPr>
          <p:cNvSpPr/>
          <p:nvPr/>
        </p:nvSpPr>
        <p:spPr>
          <a:xfrm>
            <a:off x="5830006" y="3671804"/>
            <a:ext cx="1330349" cy="10312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D70F041-F947-99FA-795D-AB9E23E0C53A}"/>
              </a:ext>
            </a:extLst>
          </p:cNvPr>
          <p:cNvSpPr txBox="1"/>
          <p:nvPr/>
        </p:nvSpPr>
        <p:spPr>
          <a:xfrm>
            <a:off x="4771871" y="3619493"/>
            <a:ext cx="6342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D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47888AF-5637-AC37-CFE3-742C53EEDA54}"/>
              </a:ext>
            </a:extLst>
          </p:cNvPr>
          <p:cNvSpPr/>
          <p:nvPr/>
        </p:nvSpPr>
        <p:spPr>
          <a:xfrm>
            <a:off x="4982578" y="3879553"/>
            <a:ext cx="634236" cy="10312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1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EE85D0C-5DF3-1FDE-541B-C93365E8BCC4}"/>
              </a:ext>
            </a:extLst>
          </p:cNvPr>
          <p:cNvSpPr/>
          <p:nvPr/>
        </p:nvSpPr>
        <p:spPr>
          <a:xfrm>
            <a:off x="5660213" y="3879553"/>
            <a:ext cx="427980" cy="10312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2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EFEA2EC-09E3-AA89-E2DF-EC727577C6AB}"/>
              </a:ext>
            </a:extLst>
          </p:cNvPr>
          <p:cNvSpPr/>
          <p:nvPr/>
        </p:nvSpPr>
        <p:spPr>
          <a:xfrm>
            <a:off x="6131591" y="3879553"/>
            <a:ext cx="520796" cy="10312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08D9975-EB02-2B65-8A81-1E6CD8DDAAEF}"/>
              </a:ext>
            </a:extLst>
          </p:cNvPr>
          <p:cNvSpPr txBox="1"/>
          <p:nvPr/>
        </p:nvSpPr>
        <p:spPr>
          <a:xfrm>
            <a:off x="4770092" y="3827242"/>
            <a:ext cx="6342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E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F659D67-B0E2-0A94-C650-0461050E3D86}"/>
              </a:ext>
            </a:extLst>
          </p:cNvPr>
          <p:cNvSpPr/>
          <p:nvPr/>
        </p:nvSpPr>
        <p:spPr>
          <a:xfrm>
            <a:off x="4959374" y="4087302"/>
            <a:ext cx="350635" cy="10312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1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8212FAD-D30C-9DC2-AA7F-7AB5D7F3AACA}"/>
              </a:ext>
            </a:extLst>
          </p:cNvPr>
          <p:cNvSpPr/>
          <p:nvPr/>
        </p:nvSpPr>
        <p:spPr>
          <a:xfrm>
            <a:off x="5363935" y="4087302"/>
            <a:ext cx="665605" cy="10312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2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4034FB5-27EF-D00E-44BD-57D4791F382D}"/>
              </a:ext>
            </a:extLst>
          </p:cNvPr>
          <p:cNvSpPr/>
          <p:nvPr/>
        </p:nvSpPr>
        <p:spPr>
          <a:xfrm>
            <a:off x="6083466" y="4087302"/>
            <a:ext cx="335166" cy="10312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15182D2-1AA5-DD11-C265-FAE772A36A6B}"/>
              </a:ext>
            </a:extLst>
          </p:cNvPr>
          <p:cNvSpPr txBox="1"/>
          <p:nvPr/>
        </p:nvSpPr>
        <p:spPr>
          <a:xfrm>
            <a:off x="4773662" y="4034990"/>
            <a:ext cx="6342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E77E1E2-23A6-3613-C5AD-E6FD9243A84D}"/>
              </a:ext>
            </a:extLst>
          </p:cNvPr>
          <p:cNvSpPr/>
          <p:nvPr/>
        </p:nvSpPr>
        <p:spPr>
          <a:xfrm>
            <a:off x="7039333" y="2933258"/>
            <a:ext cx="1330349" cy="10312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3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FB582CD-A0B0-877F-800E-FA36FD56BD0B}"/>
              </a:ext>
            </a:extLst>
          </p:cNvPr>
          <p:cNvSpPr/>
          <p:nvPr/>
        </p:nvSpPr>
        <p:spPr>
          <a:xfrm>
            <a:off x="2426512" y="4411186"/>
            <a:ext cx="350635" cy="103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1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C04240A-2782-FD8C-69C4-D860C2C9ECD3}"/>
              </a:ext>
            </a:extLst>
          </p:cNvPr>
          <p:cNvSpPr/>
          <p:nvPr/>
        </p:nvSpPr>
        <p:spPr>
          <a:xfrm>
            <a:off x="2839024" y="4411186"/>
            <a:ext cx="660018" cy="103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D2EA437-C90F-F840-D1A5-F88C4788EC1E}"/>
              </a:ext>
            </a:extLst>
          </p:cNvPr>
          <p:cNvSpPr txBox="1"/>
          <p:nvPr/>
        </p:nvSpPr>
        <p:spPr>
          <a:xfrm>
            <a:off x="1895404" y="4358875"/>
            <a:ext cx="6342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Host A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5FE2954-013C-93A1-1E35-91E51F2D63CD}"/>
              </a:ext>
            </a:extLst>
          </p:cNvPr>
          <p:cNvSpPr/>
          <p:nvPr/>
        </p:nvSpPr>
        <p:spPr>
          <a:xfrm>
            <a:off x="2426512" y="4618936"/>
            <a:ext cx="634236" cy="10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543CD40-BF56-5DE5-806A-79F6017E01B9}"/>
              </a:ext>
            </a:extLst>
          </p:cNvPr>
          <p:cNvSpPr/>
          <p:nvPr/>
        </p:nvSpPr>
        <p:spPr>
          <a:xfrm>
            <a:off x="3117468" y="4618936"/>
            <a:ext cx="427980" cy="10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2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5E4D3B3-173D-6634-DE95-446697B6FB97}"/>
              </a:ext>
            </a:extLst>
          </p:cNvPr>
          <p:cNvSpPr/>
          <p:nvPr/>
        </p:nvSpPr>
        <p:spPr>
          <a:xfrm>
            <a:off x="3591856" y="4618935"/>
            <a:ext cx="520796" cy="103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3B48A66-8D2A-9D70-117C-8D169225F420}"/>
              </a:ext>
            </a:extLst>
          </p:cNvPr>
          <p:cNvSpPr txBox="1"/>
          <p:nvPr/>
        </p:nvSpPr>
        <p:spPr>
          <a:xfrm>
            <a:off x="1895404" y="4566624"/>
            <a:ext cx="6342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Host B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65713C5-5005-4517-4B69-879CEFDF7990}"/>
              </a:ext>
            </a:extLst>
          </p:cNvPr>
          <p:cNvSpPr/>
          <p:nvPr/>
        </p:nvSpPr>
        <p:spPr>
          <a:xfrm>
            <a:off x="2426512" y="4826684"/>
            <a:ext cx="350635" cy="103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1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CF5A26A-C1A1-FFAF-3279-F66286588C5A}"/>
              </a:ext>
            </a:extLst>
          </p:cNvPr>
          <p:cNvSpPr/>
          <p:nvPr/>
        </p:nvSpPr>
        <p:spPr>
          <a:xfrm>
            <a:off x="2841601" y="4826684"/>
            <a:ext cx="489857" cy="10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2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55E4683-CE62-D2C2-ED47-37139982BDB9}"/>
              </a:ext>
            </a:extLst>
          </p:cNvPr>
          <p:cNvSpPr txBox="1"/>
          <p:nvPr/>
        </p:nvSpPr>
        <p:spPr>
          <a:xfrm>
            <a:off x="1895404" y="4774373"/>
            <a:ext cx="6342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Host C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F37950E-8700-0294-F1A5-8AE6CB4BD7EC}"/>
              </a:ext>
            </a:extLst>
          </p:cNvPr>
          <p:cNvSpPr/>
          <p:nvPr/>
        </p:nvSpPr>
        <p:spPr>
          <a:xfrm>
            <a:off x="3550604" y="4411185"/>
            <a:ext cx="335166" cy="103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3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624E800-341B-2CCB-2267-0E9743E10597}"/>
              </a:ext>
            </a:extLst>
          </p:cNvPr>
          <p:cNvSpPr/>
          <p:nvPr/>
        </p:nvSpPr>
        <p:spPr>
          <a:xfrm>
            <a:off x="3393336" y="4826684"/>
            <a:ext cx="1376756" cy="10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3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6DD031E-CC46-80DC-8223-7CF409F967D8}"/>
              </a:ext>
            </a:extLst>
          </p:cNvPr>
          <p:cNvSpPr/>
          <p:nvPr/>
        </p:nvSpPr>
        <p:spPr>
          <a:xfrm>
            <a:off x="2413621" y="5035179"/>
            <a:ext cx="407785" cy="10312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1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5CA7F88-34A8-07C4-6EE4-40B0701CBEB9}"/>
              </a:ext>
            </a:extLst>
          </p:cNvPr>
          <p:cNvSpPr/>
          <p:nvPr/>
        </p:nvSpPr>
        <p:spPr>
          <a:xfrm>
            <a:off x="2874903" y="5035179"/>
            <a:ext cx="335166" cy="10312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2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B386DB39-0CF4-9D97-38FA-83B523BE1CE8}"/>
              </a:ext>
            </a:extLst>
          </p:cNvPr>
          <p:cNvSpPr/>
          <p:nvPr/>
        </p:nvSpPr>
        <p:spPr>
          <a:xfrm>
            <a:off x="3259269" y="5035179"/>
            <a:ext cx="1330349" cy="10312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3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A926974-1654-D84D-2622-1ACA57B8B362}"/>
              </a:ext>
            </a:extLst>
          </p:cNvPr>
          <p:cNvSpPr txBox="1"/>
          <p:nvPr/>
        </p:nvSpPr>
        <p:spPr>
          <a:xfrm>
            <a:off x="1882513" y="4982867"/>
            <a:ext cx="6342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Host D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E594ADF9-EB84-D54D-8601-10DAD447AC9F}"/>
              </a:ext>
            </a:extLst>
          </p:cNvPr>
          <p:cNvSpPr/>
          <p:nvPr/>
        </p:nvSpPr>
        <p:spPr>
          <a:xfrm>
            <a:off x="2426512" y="5254443"/>
            <a:ext cx="634236" cy="10312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1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4A40126-3A22-8572-3AA2-1555CC706F8B}"/>
              </a:ext>
            </a:extLst>
          </p:cNvPr>
          <p:cNvSpPr/>
          <p:nvPr/>
        </p:nvSpPr>
        <p:spPr>
          <a:xfrm>
            <a:off x="3104147" y="5254443"/>
            <a:ext cx="427980" cy="10312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2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1A084EE1-D510-C965-B3D0-78E1E8A56ABB}"/>
              </a:ext>
            </a:extLst>
          </p:cNvPr>
          <p:cNvSpPr/>
          <p:nvPr/>
        </p:nvSpPr>
        <p:spPr>
          <a:xfrm>
            <a:off x="3575525" y="5254442"/>
            <a:ext cx="520796" cy="10312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3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2AAB012-4038-6D65-02A7-C1A7E0DF805C}"/>
              </a:ext>
            </a:extLst>
          </p:cNvPr>
          <p:cNvSpPr txBox="1"/>
          <p:nvPr/>
        </p:nvSpPr>
        <p:spPr>
          <a:xfrm>
            <a:off x="1895404" y="5202131"/>
            <a:ext cx="6342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Host E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9640D309-069D-BF31-ABD0-067343A6FA55}"/>
              </a:ext>
            </a:extLst>
          </p:cNvPr>
          <p:cNvSpPr/>
          <p:nvPr/>
        </p:nvSpPr>
        <p:spPr>
          <a:xfrm>
            <a:off x="2431239" y="5450677"/>
            <a:ext cx="350635" cy="10312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1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CB08C4D-0EDC-ED7C-A014-3782D293F041}"/>
              </a:ext>
            </a:extLst>
          </p:cNvPr>
          <p:cNvSpPr/>
          <p:nvPr/>
        </p:nvSpPr>
        <p:spPr>
          <a:xfrm>
            <a:off x="2835800" y="5450677"/>
            <a:ext cx="665605" cy="10312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2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FA6C107-549B-4946-2A79-84E2FA2B2674}"/>
              </a:ext>
            </a:extLst>
          </p:cNvPr>
          <p:cNvSpPr/>
          <p:nvPr/>
        </p:nvSpPr>
        <p:spPr>
          <a:xfrm>
            <a:off x="3555331" y="5450677"/>
            <a:ext cx="335166" cy="10312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3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2021A10-08E1-6AF1-B888-A7ED5020D107}"/>
              </a:ext>
            </a:extLst>
          </p:cNvPr>
          <p:cNvSpPr txBox="1"/>
          <p:nvPr/>
        </p:nvSpPr>
        <p:spPr>
          <a:xfrm>
            <a:off x="1900130" y="5398365"/>
            <a:ext cx="6342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Host F</a:t>
            </a:r>
          </a:p>
        </p:txBody>
      </p:sp>
    </p:spTree>
    <p:extLst>
      <p:ext uri="{BB962C8B-B14F-4D97-AF65-F5344CB8AC3E}">
        <p14:creationId xmlns:p14="http://schemas.microsoft.com/office/powerpoint/2010/main" val="4213028292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F3793-A7E6-E002-CED7-71288A5F3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dirty="0"/>
              <a:t>A long duration task can be not blocking as other task can be run in parallel: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b="0" dirty="0">
              <a:solidFill>
                <a:srgbClr val="333333"/>
              </a:solidFill>
              <a:latin typeface="Overpass Mono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750" b="0" dirty="0">
              <a:solidFill>
                <a:srgbClr val="333333"/>
              </a:solidFill>
              <a:latin typeface="Overpass Mono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b="0" dirty="0">
                <a:solidFill>
                  <a:srgbClr val="333333"/>
                </a:solidFill>
                <a:latin typeface="Overpass Mono"/>
              </a:rPr>
              <a:t>tasks: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b="0" dirty="0">
                <a:solidFill>
                  <a:srgbClr val="333333"/>
                </a:solidFill>
                <a:latin typeface="Overpass Mono"/>
              </a:rPr>
              <a:t>  - </a:t>
            </a:r>
            <a:r>
              <a:rPr lang="en-US" altLang="en-US" sz="750" dirty="0">
                <a:solidFill>
                  <a:srgbClr val="C00000"/>
                </a:solidFill>
                <a:latin typeface="Overpass Mono"/>
              </a:rPr>
              <a:t>name</a:t>
            </a:r>
            <a:r>
              <a:rPr lang="en-US" altLang="en-US" sz="750" b="0" dirty="0">
                <a:solidFill>
                  <a:srgbClr val="333333"/>
                </a:solidFill>
                <a:latin typeface="Overpass Mono"/>
              </a:rPr>
              <a:t>: </a:t>
            </a:r>
            <a:r>
              <a:rPr lang="en-US" altLang="en-US" sz="750" b="0" dirty="0">
                <a:solidFill>
                  <a:srgbClr val="DD1144"/>
                </a:solidFill>
                <a:latin typeface="Overpass Mono"/>
              </a:rPr>
              <a:t>Initiate</a:t>
            </a:r>
            <a:r>
              <a:rPr lang="en-US" altLang="en-US" sz="750" b="0" dirty="0">
                <a:solidFill>
                  <a:srgbClr val="333333"/>
                </a:solidFill>
                <a:latin typeface="Overpass Mono"/>
              </a:rPr>
              <a:t> </a:t>
            </a:r>
            <a:r>
              <a:rPr lang="en-US" altLang="en-US" sz="750" b="0" dirty="0">
                <a:solidFill>
                  <a:srgbClr val="DD1144"/>
                </a:solidFill>
                <a:latin typeface="Overpass Mono"/>
              </a:rPr>
              <a:t>custom</a:t>
            </a:r>
            <a:r>
              <a:rPr lang="en-US" altLang="en-US" sz="750" b="0" dirty="0">
                <a:solidFill>
                  <a:srgbClr val="333333"/>
                </a:solidFill>
                <a:latin typeface="Overpass Mono"/>
              </a:rPr>
              <a:t> </a:t>
            </a:r>
            <a:r>
              <a:rPr lang="en-US" altLang="en-US" sz="750" b="0" dirty="0">
                <a:solidFill>
                  <a:srgbClr val="DD1144"/>
                </a:solidFill>
                <a:latin typeface="Overpass Mono"/>
              </a:rPr>
              <a:t>snapshot take long time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b="0" dirty="0">
                <a:solidFill>
                  <a:srgbClr val="333333"/>
                </a:solidFill>
                <a:latin typeface="Overpass Mono"/>
              </a:rPr>
              <a:t>    </a:t>
            </a:r>
            <a:r>
              <a:rPr lang="en-US" altLang="en-US" sz="750" dirty="0">
                <a:solidFill>
                  <a:srgbClr val="C00000"/>
                </a:solidFill>
                <a:latin typeface="Overpass Mono"/>
              </a:rPr>
              <a:t>shell</a:t>
            </a:r>
            <a:r>
              <a:rPr lang="en-US" altLang="en-US" sz="750" b="0" dirty="0">
                <a:solidFill>
                  <a:srgbClr val="333333"/>
                </a:solidFill>
                <a:latin typeface="Overpass Mono"/>
              </a:rPr>
              <a:t>: </a:t>
            </a:r>
            <a:r>
              <a:rPr lang="en-US" altLang="en-US" sz="750" b="0" dirty="0">
                <a:solidFill>
                  <a:srgbClr val="DD1144"/>
                </a:solidFill>
                <a:latin typeface="Overpass Mono"/>
              </a:rPr>
              <a:t>"/opt/diskutils/snapshot.sh </a:t>
            </a:r>
            <a:r>
              <a:rPr lang="en-US" altLang="en-US" sz="750" b="0" dirty="0" err="1">
                <a:solidFill>
                  <a:srgbClr val="DD1144"/>
                </a:solidFill>
                <a:latin typeface="Overpass Mono"/>
              </a:rPr>
              <a:t>init</a:t>
            </a:r>
            <a:r>
              <a:rPr lang="en-US" altLang="en-US" sz="750" b="0" dirty="0">
                <a:solidFill>
                  <a:srgbClr val="DD1144"/>
                </a:solidFill>
                <a:latin typeface="Overpass Mono"/>
              </a:rPr>
              <a:t>"</a:t>
            </a:r>
            <a:r>
              <a:rPr lang="en-US" altLang="en-US" sz="750" b="0" dirty="0">
                <a:solidFill>
                  <a:srgbClr val="333333"/>
                </a:solidFill>
                <a:latin typeface="Overpass Mono"/>
              </a:rPr>
              <a:t>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333333"/>
                </a:solidFill>
                <a:latin typeface="Overpass Mono"/>
              </a:rPr>
              <a:t>    </a:t>
            </a:r>
            <a:r>
              <a:rPr lang="en-US" altLang="en-US" sz="750" dirty="0">
                <a:solidFill>
                  <a:srgbClr val="C00000"/>
                </a:solidFill>
                <a:latin typeface="Overpass Mono"/>
              </a:rPr>
              <a:t>async</a:t>
            </a:r>
            <a:r>
              <a:rPr lang="en-US" altLang="en-US" sz="750" b="0" dirty="0">
                <a:solidFill>
                  <a:srgbClr val="333333"/>
                </a:solidFill>
                <a:latin typeface="Overpass Mono"/>
              </a:rPr>
              <a:t>: </a:t>
            </a:r>
            <a:r>
              <a:rPr lang="en-US" altLang="en-US" sz="750" b="0" dirty="0">
                <a:solidFill>
                  <a:srgbClr val="008080"/>
                </a:solidFill>
                <a:latin typeface="Overpass Mono"/>
              </a:rPr>
              <a:t>120</a:t>
            </a:r>
            <a:r>
              <a:rPr lang="en-US" altLang="en-US" sz="750" b="0" dirty="0">
                <a:solidFill>
                  <a:srgbClr val="333333"/>
                </a:solidFill>
                <a:latin typeface="Overpass Mono"/>
              </a:rPr>
              <a:t> </a:t>
            </a:r>
            <a:r>
              <a:rPr lang="en-US" altLang="en-US" sz="750" b="0" i="1" dirty="0">
                <a:solidFill>
                  <a:srgbClr val="999988"/>
                </a:solidFill>
                <a:latin typeface="Overpass Mono"/>
              </a:rPr>
              <a:t># Maximum allowed time in Seconds</a:t>
            </a:r>
            <a:r>
              <a:rPr lang="en-US" altLang="en-US" sz="750" b="0" dirty="0">
                <a:solidFill>
                  <a:srgbClr val="333333"/>
                </a:solidFill>
                <a:latin typeface="Overpass Mono"/>
              </a:rPr>
              <a:t>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333333"/>
                </a:solidFill>
                <a:latin typeface="Overpass Mono"/>
              </a:rPr>
              <a:t>    </a:t>
            </a:r>
            <a:r>
              <a:rPr lang="en-US" altLang="en-US" sz="750" dirty="0">
                <a:solidFill>
                  <a:srgbClr val="C00000"/>
                </a:solidFill>
                <a:latin typeface="Overpass Mono"/>
              </a:rPr>
              <a:t>poll</a:t>
            </a:r>
            <a:r>
              <a:rPr lang="en-US" altLang="en-US" sz="750" b="0" dirty="0">
                <a:solidFill>
                  <a:srgbClr val="333333"/>
                </a:solidFill>
                <a:latin typeface="Overpass Mono"/>
              </a:rPr>
              <a:t>: </a:t>
            </a:r>
            <a:r>
              <a:rPr lang="en-US" altLang="en-US" sz="750" b="0" dirty="0">
                <a:solidFill>
                  <a:srgbClr val="008080"/>
                </a:solidFill>
                <a:latin typeface="Overpass Mono"/>
              </a:rPr>
              <a:t>05</a:t>
            </a:r>
            <a:r>
              <a:rPr lang="en-US" altLang="en-US" sz="750" b="0" dirty="0">
                <a:solidFill>
                  <a:srgbClr val="333333"/>
                </a:solidFill>
                <a:latin typeface="Overpass Mono"/>
              </a:rPr>
              <a:t> </a:t>
            </a:r>
            <a:r>
              <a:rPr lang="en-US" altLang="en-US" sz="750" b="0" i="1" dirty="0">
                <a:solidFill>
                  <a:srgbClr val="999988"/>
                </a:solidFill>
                <a:latin typeface="Overpass Mono"/>
              </a:rPr>
              <a:t># Polling Interval in Seconds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i="1" dirty="0">
                <a:solidFill>
                  <a:srgbClr val="999988"/>
                </a:solidFill>
                <a:latin typeface="Overpass Mono"/>
              </a:rPr>
              <a:t>    </a:t>
            </a:r>
            <a:r>
              <a:rPr lang="en-US" altLang="en-US" sz="750" i="1" dirty="0">
                <a:solidFill>
                  <a:srgbClr val="C00000"/>
                </a:solidFill>
                <a:latin typeface="Overpass Mono"/>
              </a:rPr>
              <a:t>register</a:t>
            </a:r>
            <a:r>
              <a:rPr lang="en-US" altLang="en-US" sz="750" i="1" dirty="0">
                <a:solidFill>
                  <a:srgbClr val="999988"/>
                </a:solidFill>
                <a:latin typeface="Overpass Mono"/>
              </a:rPr>
              <a:t>: </a:t>
            </a:r>
            <a:r>
              <a:rPr lang="en-US" altLang="en-US" sz="750" i="1" dirty="0" err="1">
                <a:solidFill>
                  <a:srgbClr val="999988"/>
                </a:solidFill>
                <a:latin typeface="Overpass Mono"/>
              </a:rPr>
              <a:t>snapshot_job_id</a:t>
            </a:r>
            <a:endParaRPr lang="en-US" altLang="en-US" sz="750" b="0" i="1" dirty="0">
              <a:solidFill>
                <a:srgbClr val="999988"/>
              </a:solidFill>
              <a:latin typeface="Overpass Mono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750" i="1" dirty="0">
              <a:solidFill>
                <a:srgbClr val="999988"/>
              </a:solidFill>
              <a:latin typeface="Overpass Mono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b="0" i="1" dirty="0">
                <a:solidFill>
                  <a:srgbClr val="999988"/>
                </a:solidFill>
                <a:latin typeface="Overpass Mono"/>
              </a:rPr>
              <a:t>  - </a:t>
            </a:r>
            <a:r>
              <a:rPr lang="en-US" altLang="en-US" sz="750" b="0" i="1" dirty="0">
                <a:solidFill>
                  <a:schemeClr val="bg1">
                    <a:lumMod val="75000"/>
                  </a:schemeClr>
                </a:solidFill>
                <a:latin typeface="Overpass Mono"/>
              </a:rPr>
              <a:t>name: other task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i="1" dirty="0">
                <a:solidFill>
                  <a:srgbClr val="999988"/>
                </a:solidFill>
                <a:latin typeface="Overpass Mono"/>
              </a:rPr>
              <a:t>    ….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b="0" i="1" dirty="0">
                <a:solidFill>
                  <a:srgbClr val="999988"/>
                </a:solidFill>
                <a:latin typeface="Overpass Mono"/>
              </a:rPr>
              <a:t> - </a:t>
            </a:r>
            <a:r>
              <a:rPr lang="en-US" altLang="en-US" sz="750" b="0" i="1" dirty="0">
                <a:solidFill>
                  <a:schemeClr val="bg1">
                    <a:lumMod val="75000"/>
                  </a:schemeClr>
                </a:solidFill>
                <a:latin typeface="Overpass Mono"/>
              </a:rPr>
              <a:t>name: other task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i="1" dirty="0">
                <a:solidFill>
                  <a:srgbClr val="999988"/>
                </a:solidFill>
                <a:latin typeface="Overpass Mono"/>
              </a:rPr>
              <a:t>    ….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 -</a:t>
            </a:r>
            <a:r>
              <a:rPr lang="en-US" altLang="en-US" sz="750" b="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dirty="0">
                <a:solidFill>
                  <a:srgbClr val="22863A"/>
                </a:solidFill>
                <a:latin typeface="SFMono-Regular"/>
              </a:rPr>
              <a:t>name</a:t>
            </a: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750" b="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b="0" dirty="0">
                <a:solidFill>
                  <a:srgbClr val="032F62"/>
                </a:solidFill>
                <a:latin typeface="SFMono-Regular"/>
              </a:rPr>
              <a:t>Check on an async task</a:t>
            </a:r>
            <a:r>
              <a:rPr lang="en-US" altLang="en-US" sz="750" b="0" dirty="0">
                <a:solidFill>
                  <a:srgbClr val="404040"/>
                </a:solidFill>
                <a:latin typeface="SFMono-Regular"/>
              </a:rPr>
              <a:t> 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22863A"/>
                </a:solidFill>
                <a:latin typeface="SFMono-Regular"/>
              </a:rPr>
              <a:t>    </a:t>
            </a:r>
            <a:r>
              <a:rPr lang="en-US" altLang="en-US" sz="750" dirty="0" err="1">
                <a:solidFill>
                  <a:srgbClr val="22863A"/>
                </a:solidFill>
                <a:latin typeface="SFMono-Regular"/>
              </a:rPr>
              <a:t>async_status</a:t>
            </a: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750" b="0" dirty="0">
                <a:solidFill>
                  <a:srgbClr val="404040"/>
                </a:solidFill>
                <a:latin typeface="SFMono-Regular"/>
              </a:rPr>
              <a:t> </a:t>
            </a:r>
            <a:r>
              <a:rPr lang="en-US" altLang="en-US" sz="750" dirty="0" err="1">
                <a:solidFill>
                  <a:srgbClr val="22863A"/>
                </a:solidFill>
                <a:latin typeface="SFMono-Regular"/>
              </a:rPr>
              <a:t>jid</a:t>
            </a: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750" b="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b="0" dirty="0">
                <a:solidFill>
                  <a:srgbClr val="4070A0"/>
                </a:solidFill>
                <a:latin typeface="SFMono-Regular"/>
              </a:rPr>
              <a:t>"</a:t>
            </a:r>
            <a:r>
              <a:rPr lang="en-US" altLang="en-US" sz="750" b="0" dirty="0">
                <a:solidFill>
                  <a:srgbClr val="007020"/>
                </a:solidFill>
                <a:latin typeface="SFMono-Regular"/>
              </a:rPr>
              <a:t>{{</a:t>
            </a:r>
            <a:r>
              <a:rPr lang="en-US" altLang="en-US" sz="750" i="1" dirty="0" err="1">
                <a:solidFill>
                  <a:srgbClr val="999988"/>
                </a:solidFill>
                <a:latin typeface="Overpass Mono"/>
              </a:rPr>
              <a:t>snapshot_job_id</a:t>
            </a:r>
            <a:r>
              <a:rPr lang="en-US" altLang="en-US" sz="750" b="0" dirty="0">
                <a:solidFill>
                  <a:srgbClr val="007020"/>
                </a:solidFill>
                <a:latin typeface="SFMono-Regular"/>
              </a:rPr>
              <a:t>}}</a:t>
            </a:r>
            <a:r>
              <a:rPr lang="en-US" altLang="en-US" sz="750" b="0" dirty="0">
                <a:solidFill>
                  <a:srgbClr val="4070A0"/>
                </a:solidFill>
                <a:latin typeface="SFMono-Regular"/>
              </a:rPr>
              <a:t>"</a:t>
            </a:r>
            <a:r>
              <a:rPr lang="en-US" altLang="en-US" sz="750" b="0" dirty="0">
                <a:solidFill>
                  <a:srgbClr val="404040"/>
                </a:solidFill>
                <a:latin typeface="SFMono-Regular"/>
              </a:rPr>
              <a:t> 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   </a:t>
            </a:r>
            <a:r>
              <a:rPr lang="en-US" altLang="en-US" sz="750" dirty="0">
                <a:solidFill>
                  <a:srgbClr val="22863A"/>
                </a:solidFill>
                <a:latin typeface="SFMono-Regular"/>
              </a:rPr>
              <a:t>register</a:t>
            </a: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750" b="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b="0" dirty="0" err="1">
                <a:solidFill>
                  <a:srgbClr val="032F62"/>
                </a:solidFill>
                <a:latin typeface="SFMono-Regular"/>
              </a:rPr>
              <a:t>job_result</a:t>
            </a:r>
            <a:r>
              <a:rPr lang="en-US" altLang="en-US" sz="750" b="0" dirty="0">
                <a:solidFill>
                  <a:srgbClr val="404040"/>
                </a:solidFill>
                <a:latin typeface="SFMono-Regular"/>
              </a:rPr>
              <a:t> 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   </a:t>
            </a:r>
            <a:r>
              <a:rPr lang="en-US" altLang="en-US" sz="750" dirty="0">
                <a:solidFill>
                  <a:srgbClr val="22863A"/>
                </a:solidFill>
                <a:latin typeface="SFMono-Regular"/>
              </a:rPr>
              <a:t>until</a:t>
            </a: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750" b="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b="0" dirty="0" err="1">
                <a:solidFill>
                  <a:srgbClr val="032F62"/>
                </a:solidFill>
                <a:latin typeface="SFMono-Regular"/>
              </a:rPr>
              <a:t>job_result.finished</a:t>
            </a:r>
            <a:r>
              <a:rPr lang="en-US" altLang="en-US" sz="750" b="0" dirty="0">
                <a:solidFill>
                  <a:srgbClr val="404040"/>
                </a:solidFill>
                <a:latin typeface="SFMono-Regular"/>
              </a:rPr>
              <a:t> 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   </a:t>
            </a:r>
            <a:r>
              <a:rPr lang="en-US" altLang="en-US" sz="750" dirty="0">
                <a:solidFill>
                  <a:srgbClr val="22863A"/>
                </a:solidFill>
                <a:latin typeface="SFMono-Regular"/>
              </a:rPr>
              <a:t>retries</a:t>
            </a: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750" b="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b="0" dirty="0">
                <a:solidFill>
                  <a:srgbClr val="032F62"/>
                </a:solidFill>
                <a:latin typeface="SFMono-Regular"/>
              </a:rPr>
              <a:t>100</a:t>
            </a:r>
            <a:r>
              <a:rPr lang="en-US" altLang="en-US" sz="750" b="0" dirty="0">
                <a:solidFill>
                  <a:srgbClr val="404040"/>
                </a:solidFill>
                <a:latin typeface="SFMono-Regular"/>
              </a:rPr>
              <a:t> # Max checks 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    </a:t>
            </a:r>
            <a:r>
              <a:rPr lang="en-US" altLang="en-US" sz="750" dirty="0">
                <a:solidFill>
                  <a:srgbClr val="22863A"/>
                </a:solidFill>
                <a:latin typeface="SFMono-Regular"/>
              </a:rPr>
              <a:t>delay</a:t>
            </a:r>
            <a:r>
              <a:rPr lang="en-US" altLang="en-US" sz="750" dirty="0">
                <a:solidFill>
                  <a:srgbClr val="404040"/>
                </a:solidFill>
                <a:latin typeface="SFMono-Regular"/>
              </a:rPr>
              <a:t>:</a:t>
            </a:r>
            <a:r>
              <a:rPr lang="en-US" altLang="en-US" sz="750" b="0" dirty="0">
                <a:solidFill>
                  <a:srgbClr val="BBBBBB"/>
                </a:solidFill>
                <a:latin typeface="SFMono-Regular"/>
              </a:rPr>
              <a:t> </a:t>
            </a:r>
            <a:r>
              <a:rPr lang="en-US" altLang="en-US" sz="750" b="0" dirty="0">
                <a:solidFill>
                  <a:srgbClr val="032F62"/>
                </a:solidFill>
                <a:latin typeface="SFMono-Regular"/>
              </a:rPr>
              <a:t>10</a:t>
            </a:r>
            <a:r>
              <a:rPr lang="en-US" altLang="en-US" sz="750" b="0" dirty="0">
                <a:solidFill>
                  <a:srgbClr val="404040"/>
                </a:solidFill>
                <a:latin typeface="SFMono-Regular"/>
              </a:rPr>
              <a:t> # Waits 10 seconds between checks</a:t>
            </a:r>
            <a:endParaRPr lang="en-US" altLang="en-US" sz="525" b="0" dirty="0">
              <a:solidFill>
                <a:schemeClr val="tx1"/>
              </a:solidFill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750" dirty="0">
              <a:solidFill>
                <a:srgbClr val="333333"/>
              </a:solidFill>
              <a:latin typeface="Overpass Mono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D4980-6D12-1B67-FFF6-2542EB4C04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57250"/>
            <a:ext cx="8689086" cy="754380"/>
          </a:xfrm>
        </p:spPr>
        <p:txBody>
          <a:bodyPr>
            <a:normAutofit fontScale="90000"/>
          </a:bodyPr>
          <a:lstStyle/>
          <a:p>
            <a:r>
              <a:rPr lang="en-US" b="0" i="0" dirty="0" err="1">
                <a:solidFill>
                  <a:srgbClr val="141414"/>
                </a:solidFill>
                <a:effectLst/>
                <a:latin typeface="Red Hat Display"/>
              </a:rPr>
              <a:t>Asynchroneous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B39A3-9780-45A7-DFC5-DBBFD894E4C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5624513"/>
            <a:ext cx="2133600" cy="273844"/>
          </a:xfrm>
        </p:spPr>
        <p:txBody>
          <a:bodyPr/>
          <a:lstStyle/>
          <a:p>
            <a:fld id="{7048F631-2D74-437D-9509-32BA0A9A0C18}" type="slidenum">
              <a:rPr lang="en-US" smtClean="0"/>
              <a:t>215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7C7A00-36B4-34B2-73F2-C22BCD766E7D}"/>
              </a:ext>
            </a:extLst>
          </p:cNvPr>
          <p:cNvSpPr/>
          <p:nvPr/>
        </p:nvSpPr>
        <p:spPr>
          <a:xfrm>
            <a:off x="4572000" y="2284810"/>
            <a:ext cx="2281702" cy="10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8B5C83-939F-5C21-E186-1A65214A3DF0}"/>
              </a:ext>
            </a:extLst>
          </p:cNvPr>
          <p:cNvSpPr/>
          <p:nvPr/>
        </p:nvSpPr>
        <p:spPr>
          <a:xfrm>
            <a:off x="6915580" y="2284810"/>
            <a:ext cx="334307" cy="10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0ECED7-5E6B-149E-FC1B-097987A107CE}"/>
              </a:ext>
            </a:extLst>
          </p:cNvPr>
          <p:cNvSpPr/>
          <p:nvPr/>
        </p:nvSpPr>
        <p:spPr>
          <a:xfrm>
            <a:off x="7311765" y="2284810"/>
            <a:ext cx="1532306" cy="10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40B6E2-3405-98C1-B498-24162B0A33E3}"/>
              </a:ext>
            </a:extLst>
          </p:cNvPr>
          <p:cNvSpPr/>
          <p:nvPr/>
        </p:nvSpPr>
        <p:spPr>
          <a:xfrm>
            <a:off x="4906307" y="2871876"/>
            <a:ext cx="2281702" cy="29936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solidFill>
              <a:schemeClr val="accent2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A176A0-4B51-4975-B6AA-0C5A96BA97A6}"/>
              </a:ext>
            </a:extLst>
          </p:cNvPr>
          <p:cNvSpPr/>
          <p:nvPr/>
        </p:nvSpPr>
        <p:spPr>
          <a:xfrm>
            <a:off x="6686548" y="2975004"/>
            <a:ext cx="334307" cy="10312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check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BE211C-431C-B85D-772A-F17F20AED457}"/>
              </a:ext>
            </a:extLst>
          </p:cNvPr>
          <p:cNvSpPr/>
          <p:nvPr/>
        </p:nvSpPr>
        <p:spPr>
          <a:xfrm>
            <a:off x="4968185" y="2975766"/>
            <a:ext cx="334307" cy="10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C566A1-DF14-9E39-1B70-E370E9498807}"/>
              </a:ext>
            </a:extLst>
          </p:cNvPr>
          <p:cNvSpPr/>
          <p:nvPr/>
        </p:nvSpPr>
        <p:spPr>
          <a:xfrm>
            <a:off x="5364371" y="2975004"/>
            <a:ext cx="1265035" cy="103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E29119-93BB-6E30-FDC6-2B7E302EA6C3}"/>
              </a:ext>
            </a:extLst>
          </p:cNvPr>
          <p:cNvSpPr/>
          <p:nvPr/>
        </p:nvSpPr>
        <p:spPr>
          <a:xfrm>
            <a:off x="4572000" y="2871114"/>
            <a:ext cx="334307" cy="29936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Task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0225DB-B2AB-6F5B-E220-A35B3282BDF1}"/>
              </a:ext>
            </a:extLst>
          </p:cNvPr>
          <p:cNvSpPr/>
          <p:nvPr/>
        </p:nvSpPr>
        <p:spPr>
          <a:xfrm>
            <a:off x="7015698" y="2975004"/>
            <a:ext cx="334307" cy="10312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check</a:t>
            </a:r>
          </a:p>
        </p:txBody>
      </p:sp>
    </p:spTree>
    <p:extLst>
      <p:ext uri="{BB962C8B-B14F-4D97-AF65-F5344CB8AC3E}">
        <p14:creationId xmlns:p14="http://schemas.microsoft.com/office/powerpoint/2010/main" val="3913909123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F3793-A7E6-E002-CED7-71288A5F3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dirty="0"/>
              <a:t>Avoid repetitive tasks or loops when the native </a:t>
            </a:r>
            <a:r>
              <a:rPr lang="en-US" sz="900" dirty="0" err="1"/>
              <a:t>multivalue</a:t>
            </a:r>
            <a:r>
              <a:rPr lang="en-US" sz="900" dirty="0"/>
              <a:t> module feature is available</a:t>
            </a:r>
            <a:br>
              <a:rPr lang="en-US" altLang="en-US" sz="225" b="0" dirty="0">
                <a:solidFill>
                  <a:schemeClr val="tx1"/>
                </a:solidFill>
              </a:rPr>
            </a:br>
            <a:endParaRPr lang="en-US" altLang="en-US" sz="9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D4980-6D12-1B67-FFF6-2542EB4C04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57250"/>
            <a:ext cx="8689086" cy="75438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41414"/>
                </a:solidFill>
                <a:latin typeface="Red Hat Display"/>
              </a:rPr>
              <a:t>Tasks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0FDDA-4593-BEC7-7150-629BB8E4CED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5624513"/>
            <a:ext cx="2133600" cy="273844"/>
          </a:xfrm>
        </p:spPr>
        <p:txBody>
          <a:bodyPr/>
          <a:lstStyle/>
          <a:p>
            <a:fld id="{7048F631-2D74-437D-9509-32BA0A9A0C18}" type="slidenum">
              <a:rPr lang="en-US" smtClean="0"/>
              <a:t>216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ADBE201-7971-FDD9-B6AC-F2E287FFEDF6}"/>
              </a:ext>
            </a:extLst>
          </p:cNvPr>
          <p:cNvSpPr txBox="1">
            <a:spLocks/>
          </p:cNvSpPr>
          <p:nvPr/>
        </p:nvSpPr>
        <p:spPr>
          <a:xfrm>
            <a:off x="628651" y="2504679"/>
            <a:ext cx="2224487" cy="146297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latin typeface="SF Mono"/>
              </a:rPr>
              <a:t>  - name: install the latest version of nginx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latin typeface="SF Mono"/>
              </a:rPr>
              <a:t>    yum: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latin typeface="SF Mono"/>
              </a:rPr>
              <a:t>      name: nginx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latin typeface="SF Mono"/>
              </a:rPr>
              <a:t>      state: latest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latin typeface="SF Mono"/>
              </a:rPr>
              <a:t> - name: install the latest version of </a:t>
            </a:r>
            <a:r>
              <a:rPr lang="en-US" altLang="en-US" sz="750" dirty="0" err="1">
                <a:latin typeface="SF Mono"/>
              </a:rPr>
              <a:t>postgresql</a:t>
            </a:r>
            <a:endParaRPr lang="en-US" altLang="en-US" sz="750" dirty="0">
              <a:latin typeface="SF Mono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latin typeface="SF Mono"/>
              </a:rPr>
              <a:t>   yum: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latin typeface="SF Mono"/>
              </a:rPr>
              <a:t>     name: </a:t>
            </a:r>
            <a:r>
              <a:rPr lang="en-US" altLang="en-US" sz="750" dirty="0" err="1">
                <a:latin typeface="SF Mono"/>
              </a:rPr>
              <a:t>postgresql</a:t>
            </a:r>
            <a:endParaRPr lang="en-US" altLang="en-US" sz="750" dirty="0">
              <a:latin typeface="SF Mono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latin typeface="SF Mono"/>
              </a:rPr>
              <a:t>     state: latest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latin typeface="SF Mono"/>
              </a:rPr>
              <a:t> - name: install the latest version of </a:t>
            </a:r>
            <a:r>
              <a:rPr lang="en-US" altLang="en-US" sz="750" dirty="0" err="1">
                <a:latin typeface="SF Mono"/>
              </a:rPr>
              <a:t>postgresql</a:t>
            </a:r>
            <a:r>
              <a:rPr lang="en-US" altLang="en-US" sz="750" dirty="0">
                <a:latin typeface="SF Mono"/>
              </a:rPr>
              <a:t>-server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latin typeface="SF Mono"/>
              </a:rPr>
              <a:t>   yum: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latin typeface="SF Mono"/>
              </a:rPr>
              <a:t>     name: </a:t>
            </a:r>
            <a:r>
              <a:rPr lang="en-US" altLang="en-US" sz="750" dirty="0" err="1">
                <a:latin typeface="SF Mono"/>
              </a:rPr>
              <a:t>postgresql</a:t>
            </a:r>
            <a:r>
              <a:rPr lang="en-US" altLang="en-US" sz="750" dirty="0">
                <a:latin typeface="SF Mono"/>
              </a:rPr>
              <a:t>-server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latin typeface="SF Mono"/>
              </a:rPr>
              <a:t>     state: latest </a:t>
            </a:r>
            <a:endParaRPr lang="en-US" altLang="en-US" sz="900" dirty="0">
              <a:latin typeface="Arial" panose="020B060402020202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75FACBA-7112-413C-F0B6-AADF6724C636}"/>
              </a:ext>
            </a:extLst>
          </p:cNvPr>
          <p:cNvSpPr txBox="1">
            <a:spLocks/>
          </p:cNvSpPr>
          <p:nvPr/>
        </p:nvSpPr>
        <p:spPr>
          <a:xfrm>
            <a:off x="3731983" y="2741011"/>
            <a:ext cx="1680035" cy="9903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latin typeface="SF Mono"/>
              </a:rPr>
              <a:t>  - name: install the latest versions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latin typeface="SF Mono"/>
              </a:rPr>
              <a:t>    yum: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latin typeface="SF Mono"/>
              </a:rPr>
              <a:t>      name: '{{ item }}"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latin typeface="SF Mono"/>
              </a:rPr>
              <a:t>      state: latest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latin typeface="SF Mono"/>
              </a:rPr>
              <a:t>    loop: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latin typeface="SF Mono"/>
              </a:rPr>
              <a:t>    - nginx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latin typeface="SF Mono"/>
              </a:rPr>
              <a:t>    - </a:t>
            </a:r>
            <a:r>
              <a:rPr lang="en-US" altLang="en-US" sz="750" dirty="0" err="1">
                <a:latin typeface="SF Mono"/>
              </a:rPr>
              <a:t>postgresql</a:t>
            </a:r>
            <a:endParaRPr lang="en-US" altLang="en-US" sz="750" dirty="0">
              <a:latin typeface="SF Mono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latin typeface="SF Mono"/>
              </a:rPr>
              <a:t>    - </a:t>
            </a:r>
            <a:r>
              <a:rPr lang="en-US" altLang="en-US" sz="750" dirty="0" err="1">
                <a:latin typeface="SF Mono"/>
              </a:rPr>
              <a:t>postgresql</a:t>
            </a:r>
            <a:r>
              <a:rPr lang="en-US" altLang="en-US" sz="750" dirty="0">
                <a:latin typeface="SF Mono"/>
              </a:rPr>
              <a:t>-server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97B889-9585-BC55-42C8-CF21BA3FB260}"/>
              </a:ext>
            </a:extLst>
          </p:cNvPr>
          <p:cNvSpPr txBox="1">
            <a:spLocks/>
          </p:cNvSpPr>
          <p:nvPr/>
        </p:nvSpPr>
        <p:spPr>
          <a:xfrm>
            <a:off x="6290863" y="2798596"/>
            <a:ext cx="1680035" cy="87514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latin typeface="SF Mono"/>
              </a:rPr>
              <a:t>  - name: install the latest versions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latin typeface="SF Mono"/>
              </a:rPr>
              <a:t>    yum: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latin typeface="SF Mono"/>
              </a:rPr>
              <a:t>      name: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latin typeface="SF Mono"/>
              </a:rPr>
              <a:t>        - nginx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latin typeface="SF Mono"/>
              </a:rPr>
              <a:t>        - </a:t>
            </a:r>
            <a:r>
              <a:rPr lang="en-US" altLang="en-US" sz="750" dirty="0" err="1">
                <a:latin typeface="SF Mono"/>
              </a:rPr>
              <a:t>postgresql</a:t>
            </a:r>
            <a:endParaRPr lang="en-US" altLang="en-US" sz="750" dirty="0">
              <a:latin typeface="SF Mono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latin typeface="SF Mono"/>
              </a:rPr>
              <a:t>        - </a:t>
            </a:r>
            <a:r>
              <a:rPr lang="en-US" altLang="en-US" sz="750" dirty="0" err="1">
                <a:latin typeface="SF Mono"/>
              </a:rPr>
              <a:t>postgresql</a:t>
            </a:r>
            <a:r>
              <a:rPr lang="en-US" altLang="en-US" sz="750" dirty="0">
                <a:latin typeface="SF Mono"/>
              </a:rPr>
              <a:t>-server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750" dirty="0">
                <a:latin typeface="SF Mono"/>
              </a:rPr>
              <a:t>      state: latest    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A737831-9BF8-8650-41A6-C6A907099532}"/>
              </a:ext>
            </a:extLst>
          </p:cNvPr>
          <p:cNvSpPr txBox="1">
            <a:spLocks/>
          </p:cNvSpPr>
          <p:nvPr/>
        </p:nvSpPr>
        <p:spPr>
          <a:xfrm>
            <a:off x="628650" y="4078273"/>
            <a:ext cx="3852254" cy="36884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900" dirty="0"/>
              <a:t>Avoid using </a:t>
            </a:r>
            <a:r>
              <a:rPr lang="en-US" sz="900" b="1" dirty="0">
                <a:solidFill>
                  <a:srgbClr val="C00000"/>
                </a:solidFill>
              </a:rPr>
              <a:t>shell or command tasks</a:t>
            </a:r>
            <a:r>
              <a:rPr lang="en-US" sz="900" dirty="0"/>
              <a:t>, always check if native module exists</a:t>
            </a:r>
            <a:br>
              <a:rPr lang="en-US" altLang="en-US" sz="225" dirty="0"/>
            </a:br>
            <a:endParaRPr lang="en-US" altLang="en-US" sz="9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17164192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13CC24-CE26-B1DB-51A0-A0AB07480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800" dirty="0"/>
              <a:t>Role guidelines:</a:t>
            </a:r>
          </a:p>
          <a:p>
            <a:r>
              <a:rPr lang="en-US" sz="800" dirty="0"/>
              <a:t>- </a:t>
            </a:r>
            <a:r>
              <a:rPr lang="en-US" sz="800" dirty="0">
                <a:highlight>
                  <a:srgbClr val="FFFF00"/>
                </a:highlight>
              </a:rPr>
              <a:t>tools should be as a Role</a:t>
            </a:r>
          </a:p>
          <a:p>
            <a:r>
              <a:rPr lang="en-US" sz="800" dirty="0"/>
              <a:t>- VM references should be taken from the </a:t>
            </a:r>
            <a:r>
              <a:rPr lang="en-US" sz="800" dirty="0" err="1"/>
              <a:t>hostvars</a:t>
            </a:r>
            <a:r>
              <a:rPr lang="en-US" sz="800" dirty="0"/>
              <a:t> inventory</a:t>
            </a:r>
          </a:p>
          <a:p>
            <a:r>
              <a:rPr lang="en-US" sz="800" dirty="0"/>
              <a:t>- </a:t>
            </a:r>
            <a:r>
              <a:rPr lang="en-US" sz="800" dirty="0">
                <a:highlight>
                  <a:srgbClr val="FFFF00"/>
                </a:highlight>
              </a:rPr>
              <a:t>the role must be used from PROVISIONING as well as RETIREMENT</a:t>
            </a:r>
          </a:p>
          <a:p>
            <a:r>
              <a:rPr lang="en-US" sz="800" dirty="0"/>
              <a:t>- </a:t>
            </a:r>
            <a:r>
              <a:rPr lang="en-US" sz="800" dirty="0">
                <a:highlight>
                  <a:srgbClr val="FFFF00"/>
                </a:highlight>
              </a:rPr>
              <a:t>to avoid fact naming conflicts:</a:t>
            </a:r>
          </a:p>
          <a:p>
            <a:r>
              <a:rPr lang="en-US" sz="800" dirty="0">
                <a:highlight>
                  <a:srgbClr val="FFFF00"/>
                </a:highlight>
              </a:rPr>
              <a:t>	- internal role vars should be like _&lt;</a:t>
            </a:r>
            <a:r>
              <a:rPr lang="en-US" sz="800" dirty="0" err="1">
                <a:highlight>
                  <a:srgbClr val="FFFF00"/>
                </a:highlight>
              </a:rPr>
              <a:t>role_name</a:t>
            </a:r>
            <a:r>
              <a:rPr lang="en-US" sz="800" dirty="0">
                <a:highlight>
                  <a:srgbClr val="FFFF00"/>
                </a:highlight>
              </a:rPr>
              <a:t>&gt;_&lt;</a:t>
            </a:r>
            <a:r>
              <a:rPr lang="en-US" sz="800" dirty="0" err="1">
                <a:highlight>
                  <a:srgbClr val="FFFF00"/>
                </a:highlight>
              </a:rPr>
              <a:t>var_name</a:t>
            </a:r>
            <a:r>
              <a:rPr lang="en-US" sz="800" dirty="0">
                <a:highlight>
                  <a:srgbClr val="FFFF00"/>
                </a:highlight>
              </a:rPr>
              <a:t>&gt;</a:t>
            </a:r>
          </a:p>
          <a:p>
            <a:r>
              <a:rPr lang="en-US" sz="800" dirty="0">
                <a:highlight>
                  <a:srgbClr val="FFFF00"/>
                </a:highlight>
              </a:rPr>
              <a:t>	- internal role vars MUST be declared in the </a:t>
            </a:r>
            <a:r>
              <a:rPr lang="en-US" sz="800" dirty="0" err="1">
                <a:highlight>
                  <a:srgbClr val="FFFF00"/>
                </a:highlight>
              </a:rPr>
              <a:t>defaul</a:t>
            </a:r>
            <a:r>
              <a:rPr lang="en-US" sz="800" dirty="0">
                <a:highlight>
                  <a:srgbClr val="FFFF00"/>
                </a:highlight>
              </a:rPr>
              <a:t>/</a:t>
            </a:r>
            <a:r>
              <a:rPr lang="en-US" sz="800" dirty="0" err="1">
                <a:highlight>
                  <a:srgbClr val="FFFF00"/>
                </a:highlight>
              </a:rPr>
              <a:t>main.yml</a:t>
            </a:r>
            <a:r>
              <a:rPr lang="en-US" sz="800" dirty="0">
                <a:highlight>
                  <a:srgbClr val="FFFF00"/>
                </a:highlight>
              </a:rPr>
              <a:t> and initialized from external role vars:</a:t>
            </a:r>
          </a:p>
          <a:p>
            <a:r>
              <a:rPr lang="en-US" sz="800" dirty="0">
                <a:highlight>
                  <a:srgbClr val="FFFF00"/>
                </a:highlight>
              </a:rPr>
              <a:t>		_myRole_var1: myRole_var1|default("</a:t>
            </a:r>
            <a:r>
              <a:rPr lang="en-US" sz="800" dirty="0" err="1">
                <a:highlight>
                  <a:srgbClr val="FFFF00"/>
                </a:highlight>
              </a:rPr>
              <a:t>default_var</a:t>
            </a:r>
            <a:r>
              <a:rPr lang="en-US" sz="800" dirty="0">
                <a:highlight>
                  <a:srgbClr val="FFFF00"/>
                </a:highlight>
              </a:rPr>
              <a:t>")</a:t>
            </a:r>
          </a:p>
          <a:p>
            <a:r>
              <a:rPr lang="en-US" sz="800" dirty="0"/>
              <a:t>- </a:t>
            </a:r>
            <a:r>
              <a:rPr lang="en-US" sz="800" dirty="0">
                <a:highlight>
                  <a:srgbClr val="FFFF00"/>
                </a:highlight>
              </a:rPr>
              <a:t>don't reference environment variables</a:t>
            </a:r>
          </a:p>
          <a:p>
            <a:r>
              <a:rPr lang="en-US" sz="800" dirty="0"/>
              <a:t>- </a:t>
            </a:r>
            <a:r>
              <a:rPr lang="en-US" sz="800" dirty="0">
                <a:highlight>
                  <a:srgbClr val="FFFF00"/>
                </a:highlight>
              </a:rPr>
              <a:t>no secrets in the role</a:t>
            </a:r>
          </a:p>
          <a:p>
            <a:r>
              <a:rPr lang="en-US" sz="800" dirty="0"/>
              <a:t>- It should be convenient to Implement a CRUD (Create, Read, Update, Delete)</a:t>
            </a:r>
          </a:p>
          <a:p>
            <a:r>
              <a:rPr lang="en-US" sz="800" dirty="0">
                <a:highlight>
                  <a:srgbClr val="FFFF00"/>
                </a:highlight>
              </a:rPr>
              <a:t>- a </a:t>
            </a:r>
            <a:r>
              <a:rPr lang="en-US" sz="800" dirty="0" err="1">
                <a:highlight>
                  <a:srgbClr val="FFFF00"/>
                </a:highlight>
              </a:rPr>
              <a:t>Sanity.yml</a:t>
            </a:r>
            <a:r>
              <a:rPr lang="en-US" sz="800" dirty="0">
                <a:highlight>
                  <a:srgbClr val="FFFF00"/>
                </a:highlight>
              </a:rPr>
              <a:t> may be called at starting to do some checks and validation of the extra vars and context</a:t>
            </a:r>
          </a:p>
          <a:p>
            <a:r>
              <a:rPr lang="en-US" sz="800" dirty="0">
                <a:highlight>
                  <a:srgbClr val="FFFF00"/>
                </a:highlight>
              </a:rPr>
              <a:t>- the </a:t>
            </a:r>
            <a:r>
              <a:rPr lang="en-US" sz="800" dirty="0" err="1">
                <a:highlight>
                  <a:srgbClr val="FFFF00"/>
                </a:highlight>
              </a:rPr>
              <a:t>main.yml</a:t>
            </a:r>
            <a:r>
              <a:rPr lang="en-US" sz="800" dirty="0">
                <a:highlight>
                  <a:srgbClr val="FFFF00"/>
                </a:highlight>
              </a:rPr>
              <a:t> will check and call the corresponding task file</a:t>
            </a:r>
          </a:p>
          <a:p>
            <a:endParaRPr lang="en-US" sz="800" dirty="0"/>
          </a:p>
          <a:p>
            <a:r>
              <a:rPr lang="en-US" sz="800" dirty="0"/>
              <a:t>- </a:t>
            </a:r>
            <a:r>
              <a:rPr lang="en-US" sz="800" dirty="0">
                <a:highlight>
                  <a:srgbClr val="FFFF00"/>
                </a:highlight>
              </a:rPr>
              <a:t>groups are defined as one group per Solution, </a:t>
            </a:r>
            <a:r>
              <a:rPr lang="en-US" sz="800" dirty="0" err="1">
                <a:highlight>
                  <a:srgbClr val="FFFF00"/>
                </a:highlight>
              </a:rPr>
              <a:t>Environement</a:t>
            </a:r>
            <a:r>
              <a:rPr lang="en-US" sz="800" dirty="0">
                <a:highlight>
                  <a:srgbClr val="FFFF00"/>
                </a:highlight>
              </a:rPr>
              <a:t> and Function, as well as a group for each tags</a:t>
            </a:r>
          </a:p>
          <a:p>
            <a:r>
              <a:rPr lang="en-US" sz="800" dirty="0"/>
              <a:t>- </a:t>
            </a:r>
            <a:r>
              <a:rPr lang="en-US" sz="800" dirty="0" err="1">
                <a:highlight>
                  <a:srgbClr val="FFFF00"/>
                </a:highlight>
              </a:rPr>
              <a:t>miq</a:t>
            </a:r>
            <a:r>
              <a:rPr lang="en-US" sz="800" dirty="0">
                <a:highlight>
                  <a:srgbClr val="FFFF00"/>
                </a:highlight>
              </a:rPr>
              <a:t> tags are </a:t>
            </a:r>
            <a:r>
              <a:rPr lang="en-US" sz="800" dirty="0" err="1">
                <a:highlight>
                  <a:srgbClr val="FFFF00"/>
                </a:highlight>
              </a:rPr>
              <a:t>availlable</a:t>
            </a:r>
            <a:r>
              <a:rPr lang="en-US" sz="800" dirty="0">
                <a:highlight>
                  <a:srgbClr val="FFFF00"/>
                </a:highlight>
              </a:rPr>
              <a:t> in </a:t>
            </a:r>
            <a:r>
              <a:rPr lang="en-US" sz="800" dirty="0" err="1">
                <a:highlight>
                  <a:srgbClr val="FFFF00"/>
                </a:highlight>
              </a:rPr>
              <a:t>miq_tags</a:t>
            </a:r>
            <a:r>
              <a:rPr lang="en-US" sz="800" dirty="0">
                <a:highlight>
                  <a:srgbClr val="FFFF00"/>
                </a:highlight>
              </a:rPr>
              <a:t>:{&lt;classification name&gt;:{'name': &lt;tag name&gt;, '</a:t>
            </a:r>
            <a:r>
              <a:rPr lang="en-US" sz="800" dirty="0" err="1">
                <a:highlight>
                  <a:srgbClr val="FFFF00"/>
                </a:highlight>
              </a:rPr>
              <a:t>descritpion</a:t>
            </a:r>
            <a:r>
              <a:rPr lang="en-US" sz="800" dirty="0">
                <a:highlight>
                  <a:srgbClr val="FFFF00"/>
                </a:highlight>
              </a:rPr>
              <a:t>':&lt;tag </a:t>
            </a:r>
            <a:r>
              <a:rPr lang="en-US" sz="800" dirty="0" err="1">
                <a:highlight>
                  <a:srgbClr val="FFFF00"/>
                </a:highlight>
              </a:rPr>
              <a:t>descritpion</a:t>
            </a:r>
            <a:r>
              <a:rPr lang="en-US" sz="800" dirty="0">
                <a:highlight>
                  <a:srgbClr val="FFFF00"/>
                </a:highlight>
              </a:rPr>
              <a:t>&gt;}}</a:t>
            </a:r>
          </a:p>
          <a:p>
            <a:r>
              <a:rPr lang="en-US" sz="800" dirty="0"/>
              <a:t>- </a:t>
            </a:r>
            <a:r>
              <a:rPr lang="en-US" sz="800" dirty="0" err="1">
                <a:highlight>
                  <a:srgbClr val="FFFF00"/>
                </a:highlight>
              </a:rPr>
              <a:t>miq_action</a:t>
            </a:r>
            <a:r>
              <a:rPr lang="en-US" sz="800" dirty="0">
                <a:highlight>
                  <a:srgbClr val="FFFF00"/>
                </a:highlight>
              </a:rPr>
              <a:t> provides </a:t>
            </a:r>
            <a:r>
              <a:rPr lang="en-US" sz="800" dirty="0" err="1">
                <a:highlight>
                  <a:srgbClr val="FFFF00"/>
                </a:highlight>
              </a:rPr>
              <a:t>wether</a:t>
            </a:r>
            <a:r>
              <a:rPr lang="en-US" sz="800" dirty="0">
                <a:highlight>
                  <a:srgbClr val="FFFF00"/>
                </a:highlight>
              </a:rPr>
              <a:t> </a:t>
            </a:r>
            <a:r>
              <a:rPr lang="en-US" sz="800" dirty="0" err="1">
                <a:highlight>
                  <a:srgbClr val="FFFF00"/>
                </a:highlight>
              </a:rPr>
              <a:t>provisionning</a:t>
            </a:r>
            <a:r>
              <a:rPr lang="en-US" sz="800" dirty="0">
                <a:highlight>
                  <a:srgbClr val="FFFF00"/>
                </a:highlight>
              </a:rPr>
              <a:t>, </a:t>
            </a:r>
            <a:r>
              <a:rPr lang="en-US" sz="800" dirty="0" err="1">
                <a:highlight>
                  <a:srgbClr val="FFFF00"/>
                </a:highlight>
              </a:rPr>
              <a:t>retirering</a:t>
            </a:r>
            <a:r>
              <a:rPr lang="en-US" sz="800" dirty="0">
                <a:highlight>
                  <a:srgbClr val="FFFF00"/>
                </a:highlight>
              </a:rPr>
              <a:t>, </a:t>
            </a:r>
            <a:r>
              <a:rPr lang="en-US" sz="800" dirty="0" err="1">
                <a:highlight>
                  <a:srgbClr val="FFFF00"/>
                </a:highlight>
              </a:rPr>
              <a:t>reconfigurering</a:t>
            </a:r>
            <a:endParaRPr lang="en-US" sz="800" dirty="0">
              <a:highlight>
                <a:srgbClr val="FFFF00"/>
              </a:highlight>
            </a:endParaRPr>
          </a:p>
          <a:p>
            <a:r>
              <a:rPr lang="en-US" sz="800" dirty="0"/>
              <a:t>- playbooks/roles are run from awx.example.com via "-J" option</a:t>
            </a:r>
          </a:p>
          <a:p>
            <a:r>
              <a:rPr lang="en-US" sz="800" dirty="0"/>
              <a:t>	- name: delegate action</a:t>
            </a:r>
          </a:p>
          <a:p>
            <a:r>
              <a:rPr lang="en-US" sz="800" dirty="0"/>
              <a:t>	  vars:</a:t>
            </a:r>
          </a:p>
          <a:p>
            <a:r>
              <a:rPr lang="en-US" sz="800" dirty="0"/>
              <a:t>	    </a:t>
            </a:r>
            <a:r>
              <a:rPr lang="en-US" sz="800" dirty="0" err="1"/>
              <a:t>ansible_ssh_user</a:t>
            </a:r>
            <a:r>
              <a:rPr lang="en-US" sz="800" dirty="0"/>
              <a:t>: 'root'</a:t>
            </a:r>
          </a:p>
          <a:p>
            <a:r>
              <a:rPr lang="en-US" sz="800" dirty="0"/>
              <a:t>	    </a:t>
            </a:r>
            <a:r>
              <a:rPr lang="en-US" sz="800" dirty="0" err="1"/>
              <a:t>ansible_ssh_common_args</a:t>
            </a:r>
            <a:r>
              <a:rPr lang="en-US" sz="800" dirty="0"/>
              <a:t>: ''</a:t>
            </a:r>
          </a:p>
          <a:p>
            <a:r>
              <a:rPr lang="en-US" sz="800" dirty="0"/>
              <a:t>	  </a:t>
            </a:r>
            <a:r>
              <a:rPr lang="en-US" sz="800" dirty="0" err="1"/>
              <a:t>delegate_to</a:t>
            </a:r>
            <a:r>
              <a:rPr lang="en-US" sz="800" dirty="0"/>
              <a:t>: awx.example.com</a:t>
            </a:r>
          </a:p>
          <a:p>
            <a:r>
              <a:rPr lang="en-US" sz="800" dirty="0"/>
              <a:t>	  shell: </a:t>
            </a:r>
            <a:r>
              <a:rPr lang="en-US" sz="800" dirty="0" err="1"/>
              <a:t>xxxxx</a:t>
            </a:r>
            <a:endParaRPr lang="en-US" sz="800" dirty="0"/>
          </a:p>
          <a:p>
            <a:r>
              <a:rPr lang="en-US" sz="800" dirty="0"/>
              <a:t>	  </a:t>
            </a:r>
          </a:p>
          <a:p>
            <a:r>
              <a:rPr lang="en-US" sz="800" dirty="0"/>
              <a:t>	  </a:t>
            </a:r>
          </a:p>
          <a:p>
            <a:r>
              <a:rPr lang="en-US" sz="800" dirty="0" err="1"/>
              <a:t>MyRole</a:t>
            </a:r>
            <a:r>
              <a:rPr lang="en-US" sz="800" dirty="0"/>
              <a:t>/</a:t>
            </a:r>
          </a:p>
          <a:p>
            <a:r>
              <a:rPr lang="en-US" sz="800" dirty="0"/>
              <a:t>	vars/</a:t>
            </a:r>
          </a:p>
          <a:p>
            <a:r>
              <a:rPr lang="en-US" sz="800" dirty="0"/>
              <a:t>		</a:t>
            </a:r>
            <a:r>
              <a:rPr lang="en-US" sz="800" dirty="0" err="1"/>
              <a:t>default.yml</a:t>
            </a:r>
            <a:endParaRPr lang="en-US" sz="800" dirty="0"/>
          </a:p>
          <a:p>
            <a:r>
              <a:rPr lang="en-US" sz="800" dirty="0"/>
              <a:t>	tasks/</a:t>
            </a:r>
          </a:p>
          <a:p>
            <a:r>
              <a:rPr lang="en-US" sz="800" dirty="0"/>
              <a:t>		</a:t>
            </a:r>
            <a:r>
              <a:rPr lang="en-US" sz="800" dirty="0" err="1"/>
              <a:t>sanity.yml</a:t>
            </a:r>
            <a:endParaRPr lang="en-US" sz="800" dirty="0"/>
          </a:p>
          <a:p>
            <a:r>
              <a:rPr lang="en-US" sz="800" dirty="0"/>
              <a:t>		</a:t>
            </a:r>
            <a:r>
              <a:rPr lang="en-US" sz="800" dirty="0" err="1"/>
              <a:t>main.yml</a:t>
            </a:r>
            <a:endParaRPr lang="en-US" sz="800" dirty="0"/>
          </a:p>
          <a:p>
            <a:r>
              <a:rPr lang="en-US" sz="800" dirty="0"/>
              <a:t>		</a:t>
            </a:r>
            <a:r>
              <a:rPr lang="en-US" sz="800" dirty="0" err="1"/>
              <a:t>Create.yml</a:t>
            </a:r>
            <a:endParaRPr lang="en-US" sz="800" dirty="0"/>
          </a:p>
          <a:p>
            <a:r>
              <a:rPr lang="en-US" sz="800" dirty="0"/>
              <a:t>		</a:t>
            </a:r>
            <a:r>
              <a:rPr lang="en-US" sz="800" dirty="0" err="1"/>
              <a:t>Read.yml</a:t>
            </a:r>
            <a:endParaRPr lang="en-US" sz="800" dirty="0"/>
          </a:p>
          <a:p>
            <a:r>
              <a:rPr lang="en-US" sz="800" dirty="0"/>
              <a:t>		</a:t>
            </a:r>
            <a:r>
              <a:rPr lang="en-US" sz="800" dirty="0" err="1"/>
              <a:t>Update.yml</a:t>
            </a:r>
            <a:endParaRPr lang="en-US" sz="800" dirty="0"/>
          </a:p>
          <a:p>
            <a:r>
              <a:rPr lang="en-US" sz="800" dirty="0"/>
              <a:t>		</a:t>
            </a:r>
            <a:r>
              <a:rPr lang="en-US" sz="800" dirty="0" err="1"/>
              <a:t>Delete.yml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386683904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6CEFCD6-AE5F-0254-CADF-CD6B209A61BB}"/>
              </a:ext>
            </a:extLst>
          </p:cNvPr>
          <p:cNvSpPr/>
          <p:nvPr/>
        </p:nvSpPr>
        <p:spPr>
          <a:xfrm>
            <a:off x="291960" y="274680"/>
            <a:ext cx="5408640" cy="355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0" tIns="0" rIns="0" bIns="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i="0" u="none" strike="noStrike" cap="none" baseline="0">
                <a:ln>
                  <a:noFill/>
                </a:ln>
                <a:solidFill>
                  <a:srgbClr val="FFFFFF"/>
                </a:solidFill>
                <a:latin typeface="Open Sans" pitchFamily="18"/>
                <a:ea typeface="WenQuanYi Zen Hei Sharp" pitchFamily="2"/>
                <a:cs typeface="WenQuanYi Zen Hei Sharp" pitchFamily="2"/>
              </a:rPr>
              <a:t>Cas concret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07FE212-E697-8CCB-6F67-D8BB697F25BC}"/>
              </a:ext>
            </a:extLst>
          </p:cNvPr>
          <p:cNvSpPr/>
          <p:nvPr/>
        </p:nvSpPr>
        <p:spPr>
          <a:xfrm>
            <a:off x="736559" y="1143000"/>
            <a:ext cx="7632719" cy="5030640"/>
          </a:xfrm>
          <a:custGeom>
            <a:avLst/>
            <a:gdLst>
              <a:gd name="f0" fmla="val w"/>
              <a:gd name="f1" fmla="val h"/>
              <a:gd name="f2" fmla="val 0"/>
              <a:gd name="f3" fmla="val 13977"/>
              <a:gd name="f4" fmla="val 21202"/>
              <a:gd name="f5" fmla="*/ f0 1 0"/>
              <a:gd name="f6" fmla="*/ f1 1 0"/>
              <a:gd name="f7" fmla="*/ 0 f5 1"/>
              <a:gd name="f8" fmla="*/ f4 f5 1"/>
              <a:gd name="f9" fmla="*/ f3 f6 1"/>
              <a:gd name="f10" fmla="*/ 0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" t="f10" r="f8" b="f9"/>
            <a:pathLst>
              <a:path>
                <a:moveTo>
                  <a:pt x="f2" y="f2"/>
                </a:moveTo>
                <a:lnTo>
                  <a:pt x="f4" y="f2"/>
                </a:lnTo>
                <a:lnTo>
                  <a:pt x="f4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1F1F2"/>
          </a:solidFill>
          <a:ln w="9360">
            <a:solidFill>
              <a:srgbClr val="4CB1B2"/>
            </a:solidFill>
            <a:prstDash val="solid"/>
            <a:round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b="0" i="0" u="none" strike="noStrike" cap="none" baseline="0" dirty="0">
                <a:ln>
                  <a:noFill/>
                </a:ln>
                <a:solidFill>
                  <a:srgbClr val="0E1012"/>
                </a:solidFill>
                <a:latin typeface="Courier New" pitchFamily="18"/>
                <a:ea typeface="WenQuanYi Zen Hei Sharp" pitchFamily="2"/>
                <a:cs typeface="WenQuanYi Zen Hei Sharp" pitchFamily="2"/>
              </a:rPr>
              <a:t>Automation Integration Rules</a:t>
            </a:r>
          </a:p>
        </p:txBody>
      </p:sp>
    </p:spTree>
    <p:extLst>
      <p:ext uri="{BB962C8B-B14F-4D97-AF65-F5344CB8AC3E}">
        <p14:creationId xmlns:p14="http://schemas.microsoft.com/office/powerpoint/2010/main" val="2797388089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0F1C67-794E-8A9B-A8E4-AB971E721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2"/>
            <a:ext cx="8458200" cy="4525963"/>
          </a:xfrm>
        </p:spPr>
        <p:txBody>
          <a:bodyPr/>
          <a:lstStyle/>
          <a:p>
            <a:r>
              <a:rPr lang="en-US" sz="2400" dirty="0"/>
              <a:t>Playbooks</a:t>
            </a:r>
          </a:p>
          <a:p>
            <a:pPr lvl="1"/>
            <a:r>
              <a:rPr lang="en-US" sz="2000" dirty="0"/>
              <a:t>Don’t use VM in host lists, use group intersection</a:t>
            </a:r>
          </a:p>
          <a:p>
            <a:pPr lvl="2"/>
            <a:r>
              <a:rPr lang="en-US" sz="1600" dirty="0" err="1"/>
              <a:t>Vms</a:t>
            </a:r>
            <a:r>
              <a:rPr lang="en-US" sz="1600" dirty="0"/>
              <a:t> are grouped by solution/environment/function</a:t>
            </a:r>
          </a:p>
          <a:p>
            <a:pPr lvl="2"/>
            <a:r>
              <a:rPr lang="en-US" sz="1600" dirty="0"/>
              <a:t>Hosts: "&lt;solution&gt;:&amp;&lt;environment&gt;:&amp;&lt;function&gt;"</a:t>
            </a:r>
          </a:p>
          <a:p>
            <a:pPr lvl="1"/>
            <a:r>
              <a:rPr lang="en-US" sz="2000" dirty="0"/>
              <a:t>Don't reference environment variables</a:t>
            </a:r>
          </a:p>
          <a:p>
            <a:pPr lvl="1"/>
            <a:r>
              <a:rPr lang="en-US" sz="2000" i="1" dirty="0" err="1"/>
              <a:t>miq_action</a:t>
            </a:r>
            <a:r>
              <a:rPr lang="en-US" sz="2000" i="1" dirty="0"/>
              <a:t> </a:t>
            </a:r>
            <a:r>
              <a:rPr lang="en-US" sz="2000" dirty="0"/>
              <a:t>provides whether </a:t>
            </a:r>
            <a:r>
              <a:rPr lang="en-US" sz="2000" dirty="0" err="1"/>
              <a:t>provisionning</a:t>
            </a:r>
            <a:r>
              <a:rPr lang="en-US" sz="2000" dirty="0"/>
              <a:t>, retiring, </a:t>
            </a:r>
            <a:r>
              <a:rPr lang="en-US" sz="2000" dirty="0" err="1"/>
              <a:t>reconfigurering</a:t>
            </a:r>
            <a:endParaRPr lang="en-US" sz="2000" dirty="0"/>
          </a:p>
          <a:p>
            <a:pPr lvl="1"/>
            <a:r>
              <a:rPr lang="en-US" sz="2000" dirty="0" err="1"/>
              <a:t>miq</a:t>
            </a:r>
            <a:r>
              <a:rPr lang="en-US" sz="2000" dirty="0"/>
              <a:t> tags are available in </a:t>
            </a:r>
          </a:p>
          <a:p>
            <a:pPr lvl="2"/>
            <a:r>
              <a:rPr lang="en-US" sz="1600" i="1" dirty="0" err="1"/>
              <a:t>miq_tags</a:t>
            </a:r>
            <a:r>
              <a:rPr lang="en-US" sz="1600" dirty="0"/>
              <a:t>:{&lt;classification name&gt;:{'name': &lt;tag name&gt;, description':&lt;tag description&gt;}}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90360021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C9F750-6813-4233-DD5C-C21A48A2B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929982"/>
          </a:xfrm>
        </p:spPr>
        <p:txBody>
          <a:bodyPr/>
          <a:lstStyle/>
          <a:p>
            <a:r>
              <a:rPr lang="en-US" sz="1100" dirty="0"/>
              <a:t># My Playbook: Network Tester</a:t>
            </a:r>
          </a:p>
          <a:p>
            <a:r>
              <a:rPr lang="en-US" sz="1100" dirty="0"/>
              <a:t>================================</a:t>
            </a:r>
          </a:p>
          <a:p>
            <a:endParaRPr lang="en-US" sz="1100" dirty="0"/>
          </a:p>
          <a:p>
            <a:r>
              <a:rPr lang="en-US" sz="1100" dirty="0"/>
              <a:t>## Overview</a:t>
            </a:r>
          </a:p>
          <a:p>
            <a:r>
              <a:rPr lang="en-US" sz="1100" dirty="0"/>
              <a:t>This playbook tests network connectivity between two servers using a custom module.</a:t>
            </a:r>
          </a:p>
          <a:p>
            <a:endParaRPr lang="en-US" sz="1100" dirty="0"/>
          </a:p>
          <a:p>
            <a:r>
              <a:rPr lang="en-US" sz="1100" dirty="0"/>
              <a:t>## Requirements</a:t>
            </a:r>
          </a:p>
          <a:p>
            <a:r>
              <a:rPr lang="en-US" sz="1100" dirty="0"/>
              <a:t>* ansible-core 2.20 or later</a:t>
            </a:r>
          </a:p>
          <a:p>
            <a:r>
              <a:rPr lang="en-US" sz="1100" dirty="0"/>
              <a:t>* Python 3.12 or later (control node)</a:t>
            </a:r>
          </a:p>
          <a:p>
            <a:r>
              <a:rPr lang="en-US" sz="1100" dirty="0"/>
              <a:t>* The `</a:t>
            </a:r>
            <a:r>
              <a:rPr lang="en-US" sz="1100" dirty="0" err="1"/>
              <a:t>network_tester</a:t>
            </a:r>
            <a:r>
              <a:rPr lang="en-US" sz="1100" dirty="0"/>
              <a:t>` custom module (included in this repository)</a:t>
            </a:r>
          </a:p>
          <a:p>
            <a:endParaRPr lang="en-US" sz="1100" dirty="0"/>
          </a:p>
          <a:p>
            <a:r>
              <a:rPr lang="en-US" sz="1100" dirty="0"/>
              <a:t>## Role Variables</a:t>
            </a:r>
          </a:p>
          <a:p>
            <a:endParaRPr lang="en-US" sz="1100" dirty="0"/>
          </a:p>
          <a:p>
            <a:r>
              <a:rPr lang="en-US" sz="1100" dirty="0"/>
              <a:t>The following variables are required:</a:t>
            </a:r>
          </a:p>
          <a:p>
            <a:r>
              <a:rPr lang="en-US" sz="1100" dirty="0"/>
              <a:t>* `</a:t>
            </a:r>
            <a:r>
              <a:rPr lang="en-US" sz="1100" dirty="0" err="1"/>
              <a:t>src_server</a:t>
            </a:r>
            <a:r>
              <a:rPr lang="en-US" sz="1100" dirty="0"/>
              <a:t>`: The source server IP or hostname</a:t>
            </a:r>
          </a:p>
          <a:p>
            <a:r>
              <a:rPr lang="en-US" sz="1100" dirty="0"/>
              <a:t>* `</a:t>
            </a:r>
            <a:r>
              <a:rPr lang="en-US" sz="1100" dirty="0" err="1"/>
              <a:t>dst_server</a:t>
            </a:r>
            <a:r>
              <a:rPr lang="en-US" sz="1100" dirty="0"/>
              <a:t>`: The destination server IP or hostname</a:t>
            </a:r>
          </a:p>
          <a:p>
            <a:r>
              <a:rPr lang="en-US" sz="1100" dirty="0"/>
              <a:t>* `protocol`: The network protocol to use (TCP, UDP, etc.) (default: TCP)</a:t>
            </a:r>
          </a:p>
          <a:p>
            <a:endParaRPr lang="en-US" sz="1100" dirty="0"/>
          </a:p>
          <a:p>
            <a:r>
              <a:rPr lang="en-US" sz="1100" dirty="0"/>
              <a:t>Optional variables:</a:t>
            </a:r>
          </a:p>
          <a:p>
            <a:r>
              <a:rPr lang="en-US" sz="1100" dirty="0"/>
              <a:t>* `</a:t>
            </a:r>
            <a:r>
              <a:rPr lang="en-US" sz="1100" dirty="0" err="1"/>
              <a:t>connection_message</a:t>
            </a:r>
            <a:r>
              <a:rPr lang="en-US" sz="1100" dirty="0"/>
              <a:t>`: The connection message to send (default: "Hello, world!")</a:t>
            </a:r>
          </a:p>
          <a:p>
            <a:endParaRPr lang="en-US" sz="1100" dirty="0"/>
          </a:p>
          <a:p>
            <a:r>
              <a:rPr lang="en-US" sz="1100" dirty="0"/>
              <a:t>## Example Usage</a:t>
            </a:r>
          </a:p>
          <a:p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16421386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AFD62E-7707-77E7-A952-E8A64D5BC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Roles</a:t>
            </a:r>
          </a:p>
          <a:p>
            <a:pPr lvl="1"/>
            <a:r>
              <a:rPr lang="en-US" sz="2800" dirty="0"/>
              <a:t>tools should be as a Role</a:t>
            </a:r>
          </a:p>
          <a:p>
            <a:pPr lvl="1"/>
            <a:r>
              <a:rPr lang="en-US" dirty="0"/>
              <a:t>Meta information set for documentation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75DB11-9941-215A-1A82-469D99D46904}"/>
              </a:ext>
            </a:extLst>
          </p:cNvPr>
          <p:cNvSpPr txBox="1"/>
          <p:nvPr/>
        </p:nvSpPr>
        <p:spPr>
          <a:xfrm>
            <a:off x="919065" y="3276600"/>
            <a:ext cx="2705100" cy="3162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 err="1"/>
              <a:t>galaxy_info</a:t>
            </a:r>
            <a:r>
              <a:rPr lang="en-US" sz="1050" dirty="0"/>
              <a:t>:</a:t>
            </a:r>
          </a:p>
          <a:p>
            <a:r>
              <a:rPr lang="en-US" sz="1050" dirty="0"/>
              <a:t>  author: Your Name</a:t>
            </a:r>
          </a:p>
          <a:p>
            <a:r>
              <a:rPr lang="en-US" sz="1050" dirty="0"/>
              <a:t>  description: A brief description of the role</a:t>
            </a:r>
          </a:p>
          <a:p>
            <a:r>
              <a:rPr lang="en-US" sz="1050" dirty="0"/>
              <a:t>  company: Your Company (optional)</a:t>
            </a:r>
          </a:p>
          <a:p>
            <a:r>
              <a:rPr lang="en-US" sz="1050" dirty="0"/>
              <a:t>  license: license (e.g. GPLv3, MIT, etc.)</a:t>
            </a:r>
          </a:p>
          <a:p>
            <a:r>
              <a:rPr lang="en-US" sz="1050" dirty="0"/>
              <a:t>  min_ansible_version: "2.20"</a:t>
            </a:r>
          </a:p>
          <a:p>
            <a:r>
              <a:rPr lang="en-US" sz="1050" dirty="0"/>
              <a:t>  platforms:</a:t>
            </a:r>
          </a:p>
          <a:p>
            <a:r>
              <a:rPr lang="en-US" sz="1050" dirty="0"/>
              <a:t>    - name: EL</a:t>
            </a:r>
          </a:p>
          <a:p>
            <a:r>
              <a:rPr lang="en-US" sz="1050" dirty="0"/>
              <a:t>      versions:</a:t>
            </a:r>
          </a:p>
          <a:p>
            <a:r>
              <a:rPr lang="en-US" sz="1050" dirty="0"/>
              <a:t>        - "9"</a:t>
            </a:r>
            <a:endParaRPr lang="en-US" sz="1050" dirty="0"/>
          </a:p>
          <a:p>
            <a:r>
              <a:rPr lang="en-US" sz="1050" dirty="0"/>
              <a:t>    - name: Ubuntu</a:t>
            </a:r>
          </a:p>
          <a:p>
            <a:r>
              <a:rPr lang="en-US" sz="1050" dirty="0"/>
              <a:t>      versions:</a:t>
            </a:r>
          </a:p>
          <a:p>
            <a:r>
              <a:rPr lang="en-US" sz="1050" dirty="0"/>
              <a:t>        - jammy</a:t>
            </a:r>
          </a:p>
          <a:p>
            <a:r>
              <a:rPr lang="en-US" sz="1050" dirty="0"/>
              <a:t>        - noble</a:t>
            </a:r>
          </a:p>
          <a:p>
            <a:r>
              <a:rPr lang="en-US" sz="1050" dirty="0"/>
              <a:t>    - name: Debian</a:t>
            </a:r>
          </a:p>
          <a:p>
            <a:r>
              <a:rPr lang="en-US" sz="1050" dirty="0"/>
              <a:t>      versions:</a:t>
            </a:r>
          </a:p>
          <a:p>
            <a:r>
              <a:rPr lang="en-US" sz="1050" dirty="0"/>
              <a:t>        - bookworm</a:t>
            </a:r>
          </a:p>
          <a:p>
            <a:r>
              <a:rPr lang="en-US" sz="1050" dirty="0"/>
              <a:t>  </a:t>
            </a:r>
            <a:r>
              <a:rPr lang="en-US" sz="1050" dirty="0" err="1"/>
              <a:t>galaxy_tags</a:t>
            </a:r>
            <a:r>
              <a:rPr lang="en-US" sz="1050" dirty="0"/>
              <a:t>:</a:t>
            </a:r>
          </a:p>
          <a:p>
            <a:r>
              <a:rPr lang="en-US" sz="1050" dirty="0"/>
              <a:t>    - network</a:t>
            </a:r>
          </a:p>
          <a:p>
            <a:r>
              <a:rPr lang="en-US" sz="1050" dirty="0"/>
              <a:t>    - security</a:t>
            </a:r>
          </a:p>
          <a:p>
            <a:r>
              <a:rPr lang="en-US" sz="1050" dirty="0"/>
              <a:t>    - testing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1640D4-9B6A-55A1-A59E-01928B152F49}"/>
              </a:ext>
            </a:extLst>
          </p:cNvPr>
          <p:cNvSpPr txBox="1"/>
          <p:nvPr/>
        </p:nvSpPr>
        <p:spPr>
          <a:xfrm>
            <a:off x="4191000" y="3276600"/>
            <a:ext cx="4581330" cy="2839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 err="1"/>
              <a:t>role_vars</a:t>
            </a:r>
            <a:r>
              <a:rPr lang="en-US" sz="1050" dirty="0"/>
              <a:t>:</a:t>
            </a:r>
          </a:p>
          <a:p>
            <a:r>
              <a:rPr lang="en-US" sz="1050" dirty="0"/>
              <a:t>    - </a:t>
            </a:r>
            <a:r>
              <a:rPr lang="en-US" sz="1050" dirty="0" err="1"/>
              <a:t>src_server</a:t>
            </a:r>
            <a:r>
              <a:rPr lang="en-US" sz="1050" dirty="0"/>
              <a:t>:</a:t>
            </a:r>
          </a:p>
          <a:p>
            <a:r>
              <a:rPr lang="en-US" sz="1050" dirty="0"/>
              <a:t>        description: The source server IP or hostname</a:t>
            </a:r>
          </a:p>
          <a:p>
            <a:r>
              <a:rPr lang="en-US" sz="1050" dirty="0"/>
              <a:t>        required: true</a:t>
            </a:r>
          </a:p>
          <a:p>
            <a:r>
              <a:rPr lang="en-US" sz="1050" dirty="0"/>
              <a:t>    - </a:t>
            </a:r>
            <a:r>
              <a:rPr lang="en-US" sz="1050" dirty="0" err="1"/>
              <a:t>dst_server</a:t>
            </a:r>
            <a:r>
              <a:rPr lang="en-US" sz="1050" dirty="0"/>
              <a:t>:</a:t>
            </a:r>
          </a:p>
          <a:p>
            <a:r>
              <a:rPr lang="en-US" sz="1050" dirty="0"/>
              <a:t>        description: The destination server IP or hostname</a:t>
            </a:r>
          </a:p>
          <a:p>
            <a:r>
              <a:rPr lang="en-US" sz="1050" dirty="0"/>
              <a:t>        required: true</a:t>
            </a:r>
          </a:p>
          <a:p>
            <a:r>
              <a:rPr lang="en-US" sz="1050" dirty="0"/>
              <a:t>    - protocol:</a:t>
            </a:r>
          </a:p>
          <a:p>
            <a:r>
              <a:rPr lang="en-US" sz="1050" dirty="0"/>
              <a:t>        description: The network protocol to use (TCP, UDP, etc.)</a:t>
            </a:r>
          </a:p>
          <a:p>
            <a:r>
              <a:rPr lang="en-US" sz="1050" dirty="0"/>
              <a:t>        required: true</a:t>
            </a:r>
          </a:p>
          <a:p>
            <a:r>
              <a:rPr lang="en-US" sz="1050" dirty="0"/>
              <a:t>        default: TCP</a:t>
            </a:r>
          </a:p>
          <a:p>
            <a:r>
              <a:rPr lang="en-US" sz="1050" dirty="0"/>
              <a:t>    - </a:t>
            </a:r>
            <a:r>
              <a:rPr lang="en-US" sz="1050" dirty="0" err="1"/>
              <a:t>connection_message</a:t>
            </a:r>
            <a:r>
              <a:rPr lang="en-US" sz="1050" dirty="0"/>
              <a:t>:</a:t>
            </a:r>
          </a:p>
          <a:p>
            <a:r>
              <a:rPr lang="en-US" sz="1050" dirty="0"/>
              <a:t>        description: The connection message to send</a:t>
            </a:r>
          </a:p>
          <a:p>
            <a:r>
              <a:rPr lang="en-US" sz="1050" dirty="0"/>
              <a:t>        required: false</a:t>
            </a:r>
          </a:p>
          <a:p>
            <a:r>
              <a:rPr lang="en-US" sz="1050" dirty="0"/>
              <a:t>        default: "Hello, world!"</a:t>
            </a:r>
          </a:p>
          <a:p>
            <a:endParaRPr lang="en-US" sz="1050" dirty="0"/>
          </a:p>
          <a:p>
            <a:r>
              <a:rPr lang="en-US" sz="1050" dirty="0"/>
              <a:t>dependencies: []</a:t>
            </a:r>
          </a:p>
        </p:txBody>
      </p:sp>
    </p:spTree>
    <p:extLst>
      <p:ext uri="{BB962C8B-B14F-4D97-AF65-F5344CB8AC3E}">
        <p14:creationId xmlns:p14="http://schemas.microsoft.com/office/powerpoint/2010/main" val="225532500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382B2B-36C8-90BC-CABE-155D33557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r>
              <a:rPr lang="en-US" sz="2400" dirty="0"/>
              <a:t>One for All</a:t>
            </a:r>
          </a:p>
          <a:p>
            <a:pPr lvl="1"/>
            <a:r>
              <a:rPr lang="en-US" sz="2400" dirty="0"/>
              <a:t>no secrets in the role/playbooks =&gt; VAULT</a:t>
            </a:r>
          </a:p>
          <a:p>
            <a:pPr lvl="1"/>
            <a:r>
              <a:rPr lang="en-US" sz="2400" dirty="0"/>
              <a:t>fact naming conflicts:</a:t>
            </a:r>
          </a:p>
          <a:p>
            <a:pPr lvl="2"/>
            <a:r>
              <a:rPr lang="en-US" sz="2000" dirty="0"/>
              <a:t>internal role vars should be like _&lt;</a:t>
            </a:r>
            <a:r>
              <a:rPr lang="en-US" sz="2000" dirty="0" err="1"/>
              <a:t>role_name</a:t>
            </a:r>
            <a:r>
              <a:rPr lang="en-US" sz="2000" dirty="0"/>
              <a:t>&gt;_&lt;</a:t>
            </a:r>
            <a:r>
              <a:rPr lang="en-US" sz="2000" dirty="0" err="1"/>
              <a:t>var_name</a:t>
            </a:r>
            <a:r>
              <a:rPr lang="en-US" sz="2000" dirty="0"/>
              <a:t>&gt;</a:t>
            </a:r>
          </a:p>
          <a:p>
            <a:pPr lvl="2"/>
            <a:r>
              <a:rPr lang="en-US" sz="2000" dirty="0"/>
              <a:t>internal role vars MUST be declared in the </a:t>
            </a:r>
            <a:r>
              <a:rPr lang="en-US" sz="2000" b="1" dirty="0"/>
              <a:t>default/</a:t>
            </a:r>
            <a:r>
              <a:rPr lang="en-US" sz="2000" b="1" dirty="0" err="1"/>
              <a:t>main.yml</a:t>
            </a:r>
            <a:r>
              <a:rPr lang="en-US" sz="2000" b="1" dirty="0"/>
              <a:t> </a:t>
            </a:r>
            <a:r>
              <a:rPr lang="en-US" sz="2000" dirty="0"/>
              <a:t>and initialized from external role vars:</a:t>
            </a:r>
          </a:p>
          <a:p>
            <a:pPr lvl="3"/>
            <a:r>
              <a:rPr lang="en-US" sz="1600" dirty="0"/>
              <a:t>_myRole_var1: myRole_var1|default("</a:t>
            </a:r>
            <a:r>
              <a:rPr lang="en-US" sz="1600" dirty="0" err="1"/>
              <a:t>default_var</a:t>
            </a:r>
            <a:r>
              <a:rPr lang="en-US" sz="1600" dirty="0"/>
              <a:t>")</a:t>
            </a:r>
          </a:p>
          <a:p>
            <a:pPr lvl="1"/>
            <a:r>
              <a:rPr lang="en-US" sz="2400" b="1" dirty="0" err="1"/>
              <a:t>Sanity.yml</a:t>
            </a:r>
            <a:r>
              <a:rPr lang="en-US" sz="2400" b="1" dirty="0"/>
              <a:t>:</a:t>
            </a:r>
          </a:p>
          <a:p>
            <a:pPr lvl="2"/>
            <a:r>
              <a:rPr lang="en-US" sz="2000" dirty="0"/>
              <a:t>do some checks, assertion and validation of the extra vars and context</a:t>
            </a:r>
          </a:p>
          <a:p>
            <a:pPr lvl="2"/>
            <a:r>
              <a:rPr lang="en-US" sz="2000" dirty="0"/>
              <a:t>Use a dedicated fact to assert/validate role execution </a:t>
            </a:r>
            <a:r>
              <a:rPr lang="en-US" sz="1400" i="1" dirty="0"/>
              <a:t>(&lt;role&gt;_execution: [true/false])</a:t>
            </a:r>
          </a:p>
          <a:p>
            <a:pPr lvl="1"/>
            <a:r>
              <a:rPr lang="en-US" sz="2400" dirty="0"/>
              <a:t>the </a:t>
            </a:r>
            <a:r>
              <a:rPr lang="en-US" sz="2400" b="1" dirty="0" err="1"/>
              <a:t>main.yml</a:t>
            </a:r>
            <a:r>
              <a:rPr lang="en-US" sz="2400" b="1" dirty="0"/>
              <a:t> </a:t>
            </a:r>
            <a:r>
              <a:rPr lang="en-US" sz="2400" dirty="0"/>
              <a:t> must call</a:t>
            </a:r>
          </a:p>
          <a:p>
            <a:pPr lvl="2"/>
            <a:r>
              <a:rPr lang="en-US" sz="2000" dirty="0"/>
              <a:t>Sanity check files</a:t>
            </a:r>
          </a:p>
          <a:p>
            <a:pPr lvl="2"/>
            <a:r>
              <a:rPr lang="en-US" sz="2000" dirty="0"/>
              <a:t>the corresponding task files</a:t>
            </a:r>
          </a:p>
          <a:p>
            <a:pPr lvl="2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76795671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A3D122-679F-329F-E80B-F50094205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2400" dirty="0"/>
              <a:t>It should be convenient to Implement a CRUD (Create, Read, Update, Delete)</a:t>
            </a:r>
          </a:p>
          <a:p>
            <a:pPr lvl="2"/>
            <a:r>
              <a:rPr lang="en-US" sz="1500" dirty="0" err="1"/>
              <a:t>MyRole</a:t>
            </a:r>
            <a:r>
              <a:rPr lang="en-US" sz="1500" dirty="0"/>
              <a:t>/</a:t>
            </a:r>
          </a:p>
          <a:p>
            <a:pPr lvl="3"/>
            <a:r>
              <a:rPr lang="en-US" sz="1100" dirty="0"/>
              <a:t>vars/</a:t>
            </a:r>
          </a:p>
          <a:p>
            <a:pPr lvl="4"/>
            <a:r>
              <a:rPr lang="en-US" sz="1100" dirty="0" err="1"/>
              <a:t>default.yml</a:t>
            </a:r>
            <a:endParaRPr lang="en-US" sz="1100" dirty="0"/>
          </a:p>
          <a:p>
            <a:pPr lvl="3"/>
            <a:r>
              <a:rPr lang="en-US" sz="1100" dirty="0"/>
              <a:t>tasks/</a:t>
            </a:r>
          </a:p>
          <a:p>
            <a:pPr lvl="4"/>
            <a:r>
              <a:rPr lang="en-US" sz="1100" dirty="0" err="1"/>
              <a:t>sanity.yml</a:t>
            </a:r>
            <a:endParaRPr lang="en-US" sz="1100" dirty="0"/>
          </a:p>
          <a:p>
            <a:pPr lvl="4"/>
            <a:r>
              <a:rPr lang="en-US" sz="1100" dirty="0" err="1"/>
              <a:t>main.yml</a:t>
            </a:r>
            <a:endParaRPr lang="en-US" sz="1100" dirty="0"/>
          </a:p>
          <a:p>
            <a:pPr lvl="4"/>
            <a:r>
              <a:rPr lang="en-US" sz="1100" dirty="0" err="1"/>
              <a:t>Create.yml</a:t>
            </a:r>
            <a:endParaRPr lang="en-US" sz="1100" dirty="0"/>
          </a:p>
          <a:p>
            <a:pPr lvl="4"/>
            <a:r>
              <a:rPr lang="en-US" sz="1100" dirty="0" err="1"/>
              <a:t>Read.yml</a:t>
            </a:r>
            <a:endParaRPr lang="en-US" sz="1100" dirty="0"/>
          </a:p>
          <a:p>
            <a:pPr lvl="4"/>
            <a:r>
              <a:rPr lang="en-US" sz="1100" dirty="0" err="1"/>
              <a:t>Update.yml</a:t>
            </a:r>
            <a:endParaRPr lang="en-US" sz="1100" dirty="0"/>
          </a:p>
          <a:p>
            <a:pPr lvl="4"/>
            <a:r>
              <a:rPr lang="en-US" sz="1100" dirty="0" err="1"/>
              <a:t>Delete.yml</a:t>
            </a:r>
            <a:endParaRPr lang="en-US" sz="1800" dirty="0"/>
          </a:p>
          <a:p>
            <a:pPr lvl="1"/>
            <a:r>
              <a:rPr lang="en-US" sz="2400" dirty="0"/>
              <a:t>Set well descriptive name for all tasks and plays</a:t>
            </a:r>
          </a:p>
          <a:p>
            <a:pPr lvl="1"/>
            <a:r>
              <a:rPr lang="en-US" sz="2400" dirty="0"/>
              <a:t>Avoid useless tasks, use conditions (</a:t>
            </a:r>
            <a:r>
              <a:rPr lang="en-US" sz="2400" i="1" dirty="0"/>
              <a:t>when</a:t>
            </a:r>
            <a:r>
              <a:rPr lang="en-US" sz="2400" dirty="0"/>
              <a:t>)</a:t>
            </a:r>
          </a:p>
          <a:p>
            <a:pPr lvl="1"/>
            <a:r>
              <a:rPr lang="en-US" sz="2400" dirty="0"/>
              <a:t>Use the </a:t>
            </a:r>
            <a:r>
              <a:rPr lang="en-US" sz="2400" i="1" dirty="0"/>
              <a:t>handlers </a:t>
            </a:r>
            <a:r>
              <a:rPr lang="en-US" sz="2400" dirty="0"/>
              <a:t>to avoid multiple runs of a single </a:t>
            </a:r>
            <a:r>
              <a:rPr lang="en-US" sz="2400" dirty="0" err="1"/>
              <a:t>tache</a:t>
            </a:r>
            <a:endParaRPr lang="en-US" sz="2400" dirty="0"/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55900964"/>
      </p:ext>
    </p:extLst>
  </p:cSld>
  <p:clrMapOvr>
    <a:masterClrMapping/>
  </p:clrMapOvr>
</p:sld>
</file>

<file path=ppt/theme/theme1.xml><?xml version="1.0" encoding="utf-8"?>
<a:theme xmlns:a="http://schemas.openxmlformats.org/drawingml/2006/main" name="Ansible Training">
  <a:themeElements>
    <a:clrScheme name="Personnalisé 2">
      <a:dk1>
        <a:srgbClr val="00437A"/>
      </a:dk1>
      <a:lt1>
        <a:srgbClr val="00437A"/>
      </a:lt1>
      <a:dk2>
        <a:srgbClr val="00437A"/>
      </a:dk2>
      <a:lt2>
        <a:srgbClr val="00437A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Ansible Training</Template>
  <TotalTime>10034</TotalTime>
  <Words>23735</Words>
  <Application>Microsoft Office PowerPoint</Application>
  <PresentationFormat>On-screen Show (4:3)</PresentationFormat>
  <Paragraphs>4117</Paragraphs>
  <Slides>223</Slides>
  <Notes>120</Notes>
  <HiddenSlides>3</HiddenSlides>
  <MMClips>0</MMClips>
  <ScaleCrop>false</ScaleCrop>
  <HeadingPairs>
    <vt:vector size="6" baseType="variant">
      <vt:variant>
        <vt:lpstr>Fonts Used</vt:lpstr>
      </vt:variant>
      <vt:variant>
        <vt:i4>26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223</vt:i4>
      </vt:variant>
    </vt:vector>
  </HeadingPairs>
  <TitlesOfParts>
    <vt:vector size="250" baseType="lpstr">
      <vt:lpstr>-apple-system</vt:lpstr>
      <vt:lpstr>Arial</vt:lpstr>
      <vt:lpstr>Arial Unicode MS</vt:lpstr>
      <vt:lpstr>calibri</vt:lpstr>
      <vt:lpstr>calibri</vt:lpstr>
      <vt:lpstr>Consolas</vt:lpstr>
      <vt:lpstr>Courier New</vt:lpstr>
      <vt:lpstr>FontAwesome</vt:lpstr>
      <vt:lpstr>futura</vt:lpstr>
      <vt:lpstr>inherit</vt:lpstr>
      <vt:lpstr>Lato</vt:lpstr>
      <vt:lpstr>Liberation Mono</vt:lpstr>
      <vt:lpstr>Lucida Console</vt:lpstr>
      <vt:lpstr>Lucida Sans Typewriter</vt:lpstr>
      <vt:lpstr>Open Sans</vt:lpstr>
      <vt:lpstr>OpenSymbol</vt:lpstr>
      <vt:lpstr>Overpass</vt:lpstr>
      <vt:lpstr>Overpass Mono</vt:lpstr>
      <vt:lpstr>Red Hat Display</vt:lpstr>
      <vt:lpstr>Red Hat Text</vt:lpstr>
      <vt:lpstr>Roboto Slab</vt:lpstr>
      <vt:lpstr>SF Mono</vt:lpstr>
      <vt:lpstr>SFMono-Regular</vt:lpstr>
      <vt:lpstr>StarSymbol</vt:lpstr>
      <vt:lpstr>ui-monospace</vt:lpstr>
      <vt:lpstr>Wingdings</vt:lpstr>
      <vt:lpstr>Ansible Training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 vars</vt:lpstr>
      <vt:lpstr>extra vars integrity</vt:lpstr>
      <vt:lpstr>module</vt:lpstr>
      <vt:lpstr>Playbook Vault</vt:lpstr>
      <vt:lpstr>Playbook Master</vt:lpstr>
      <vt:lpstr>Playbook Templates</vt:lpstr>
      <vt:lpstr>Blocks</vt:lpstr>
      <vt:lpstr>Playbook tags</vt:lpstr>
      <vt:lpstr>Loops</vt:lpstr>
      <vt:lpstr>Lint + Molecule</vt:lpstr>
      <vt:lpstr>Directory Layout</vt:lpstr>
      <vt:lpstr>Roles and collections</vt:lpstr>
      <vt:lpstr>Directory Layout</vt:lpstr>
      <vt:lpstr>Role import</vt:lpstr>
      <vt:lpstr>Galaxy NG/ automation hub</vt:lpstr>
      <vt:lpstr>slow tasks + callback</vt:lpstr>
      <vt:lpstr>Facts Gathering</vt:lpstr>
      <vt:lpstr>Connection</vt:lpstr>
      <vt:lpstr>Strategy</vt:lpstr>
      <vt:lpstr>Parallelism</vt:lpstr>
      <vt:lpstr>Asynchroneous</vt:lpstr>
      <vt:lpstr>Tasks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COUPEL Cyril</dc:creator>
  <cp:lastModifiedBy>COUPEL Cyril</cp:lastModifiedBy>
  <cp:revision>153</cp:revision>
  <dcterms:created xsi:type="dcterms:W3CDTF">2024-07-01T08:19:30Z</dcterms:created>
  <dcterms:modified xsi:type="dcterms:W3CDTF">2025-05-14T14:47:29Z</dcterms:modified>
</cp:coreProperties>
</file>